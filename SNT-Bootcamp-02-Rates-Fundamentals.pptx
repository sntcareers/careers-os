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80" r:id="rId2"/>
    <p:sldId id="1352" r:id="rId3"/>
    <p:sldId id="1353" r:id="rId4"/>
    <p:sldId id="1349" r:id="rId5"/>
    <p:sldId id="257" r:id="rId6"/>
    <p:sldId id="1366" r:id="rId7"/>
    <p:sldId id="1350" r:id="rId8"/>
    <p:sldId id="1351" r:id="rId9"/>
    <p:sldId id="258" r:id="rId10"/>
    <p:sldId id="1359" r:id="rId11"/>
    <p:sldId id="1354" r:id="rId12"/>
    <p:sldId id="1358" r:id="rId13"/>
    <p:sldId id="1357" r:id="rId14"/>
    <p:sldId id="1360" r:id="rId15"/>
    <p:sldId id="1361" r:id="rId16"/>
    <p:sldId id="1362" r:id="rId17"/>
    <p:sldId id="1356" r:id="rId18"/>
    <p:sldId id="1364" r:id="rId19"/>
    <p:sldId id="264" r:id="rId20"/>
    <p:sldId id="281" r:id="rId21"/>
    <p:sldId id="266" r:id="rId22"/>
    <p:sldId id="267" r:id="rId23"/>
    <p:sldId id="1367" r:id="rId24"/>
    <p:sldId id="1370" r:id="rId25"/>
    <p:sldId id="1369" r:id="rId26"/>
    <p:sldId id="1363" r:id="rId27"/>
    <p:sldId id="1368" r:id="rId28"/>
    <p:sldId id="270" r:id="rId29"/>
    <p:sldId id="271" r:id="rId30"/>
    <p:sldId id="273" r:id="rId3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ghxr2qg51UC4w+j45Td2fZR6DA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lcp.com/media/1150122/202008-rpi-will-be-aligned-to-cpih-from-2030-with-no-compensation-for-holders-of-index-linked-gilts.pdf"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5E83A486-BE95-00FF-160D-58F0E6BB080F}"/>
            </a:ext>
          </a:extLst>
        </p:cNvPr>
        <p:cNvGrpSpPr/>
        <p:nvPr/>
      </p:nvGrpSpPr>
      <p:grpSpPr>
        <a:xfrm>
          <a:off x="0" y="0"/>
          <a:ext cx="0" cy="0"/>
          <a:chOff x="0" y="0"/>
          <a:chExt cx="0" cy="0"/>
        </a:xfrm>
      </p:grpSpPr>
      <p:sp>
        <p:nvSpPr>
          <p:cNvPr id="66" name="Google Shape;66;p3:notes">
            <a:extLst>
              <a:ext uri="{FF2B5EF4-FFF2-40B4-BE49-F238E27FC236}">
                <a16:creationId xmlns:a16="http://schemas.microsoft.com/office/drawing/2014/main" id="{363317E1-6E71-23F7-4EF0-05DB68F927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notes">
            <a:extLst>
              <a:ext uri="{FF2B5EF4-FFF2-40B4-BE49-F238E27FC236}">
                <a16:creationId xmlns:a16="http://schemas.microsoft.com/office/drawing/2014/main" id="{F2EFCA5B-6E40-0C60-8F50-02CE61E7D4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1214201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FA155C42-CBAE-5C4B-187C-080BECBAAFE3}"/>
            </a:ext>
          </a:extLst>
        </p:cNvPr>
        <p:cNvGrpSpPr/>
        <p:nvPr/>
      </p:nvGrpSpPr>
      <p:grpSpPr>
        <a:xfrm>
          <a:off x="0" y="0"/>
          <a:ext cx="0" cy="0"/>
          <a:chOff x="0" y="0"/>
          <a:chExt cx="0" cy="0"/>
        </a:xfrm>
      </p:grpSpPr>
      <p:sp>
        <p:nvSpPr>
          <p:cNvPr id="66" name="Google Shape;66;p3:notes">
            <a:extLst>
              <a:ext uri="{FF2B5EF4-FFF2-40B4-BE49-F238E27FC236}">
                <a16:creationId xmlns:a16="http://schemas.microsoft.com/office/drawing/2014/main" id="{6AAE0CCD-7390-E0BC-50BB-52BC80ADA9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notes">
            <a:extLst>
              <a:ext uri="{FF2B5EF4-FFF2-40B4-BE49-F238E27FC236}">
                <a16:creationId xmlns:a16="http://schemas.microsoft.com/office/drawing/2014/main" id="{767F3510-30CF-492B-AC20-EA558FF1F7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3243602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7FB1EDC9-9393-FA56-2887-B18EC601C390}"/>
            </a:ext>
          </a:extLst>
        </p:cNvPr>
        <p:cNvGrpSpPr/>
        <p:nvPr/>
      </p:nvGrpSpPr>
      <p:grpSpPr>
        <a:xfrm>
          <a:off x="0" y="0"/>
          <a:ext cx="0" cy="0"/>
          <a:chOff x="0" y="0"/>
          <a:chExt cx="0" cy="0"/>
        </a:xfrm>
      </p:grpSpPr>
      <p:sp>
        <p:nvSpPr>
          <p:cNvPr id="66" name="Google Shape;66;p3:notes">
            <a:extLst>
              <a:ext uri="{FF2B5EF4-FFF2-40B4-BE49-F238E27FC236}">
                <a16:creationId xmlns:a16="http://schemas.microsoft.com/office/drawing/2014/main" id="{12E4AF3E-BBF3-438E-252E-B3A0CB047B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notes">
            <a:extLst>
              <a:ext uri="{FF2B5EF4-FFF2-40B4-BE49-F238E27FC236}">
                <a16:creationId xmlns:a16="http://schemas.microsoft.com/office/drawing/2014/main" id="{DFA1EF2F-EBCD-7F54-BF22-32D33C06D9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58161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DDE9F813-2D95-7B4C-260E-BB2981C4CFAB}"/>
            </a:ext>
          </a:extLst>
        </p:cNvPr>
        <p:cNvGrpSpPr/>
        <p:nvPr/>
      </p:nvGrpSpPr>
      <p:grpSpPr>
        <a:xfrm>
          <a:off x="0" y="0"/>
          <a:ext cx="0" cy="0"/>
          <a:chOff x="0" y="0"/>
          <a:chExt cx="0" cy="0"/>
        </a:xfrm>
      </p:grpSpPr>
      <p:sp>
        <p:nvSpPr>
          <p:cNvPr id="66" name="Google Shape;66;p3:notes">
            <a:extLst>
              <a:ext uri="{FF2B5EF4-FFF2-40B4-BE49-F238E27FC236}">
                <a16:creationId xmlns:a16="http://schemas.microsoft.com/office/drawing/2014/main" id="{B47BE3A5-268D-6038-412E-43D18740D4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notes">
            <a:extLst>
              <a:ext uri="{FF2B5EF4-FFF2-40B4-BE49-F238E27FC236}">
                <a16:creationId xmlns:a16="http://schemas.microsoft.com/office/drawing/2014/main" id="{59BCCC86-B793-55C3-D87F-91BFAA5E679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1610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8E2E566B-281D-13CA-4510-7E08B9B949C3}"/>
            </a:ext>
          </a:extLst>
        </p:cNvPr>
        <p:cNvGrpSpPr/>
        <p:nvPr/>
      </p:nvGrpSpPr>
      <p:grpSpPr>
        <a:xfrm>
          <a:off x="0" y="0"/>
          <a:ext cx="0" cy="0"/>
          <a:chOff x="0" y="0"/>
          <a:chExt cx="0" cy="0"/>
        </a:xfrm>
      </p:grpSpPr>
      <p:sp>
        <p:nvSpPr>
          <p:cNvPr id="66" name="Google Shape;66;p3:notes">
            <a:extLst>
              <a:ext uri="{FF2B5EF4-FFF2-40B4-BE49-F238E27FC236}">
                <a16:creationId xmlns:a16="http://schemas.microsoft.com/office/drawing/2014/main" id="{865AD2A7-F4F6-2F9F-A02A-8DCF15C4BB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notes">
            <a:extLst>
              <a:ext uri="{FF2B5EF4-FFF2-40B4-BE49-F238E27FC236}">
                <a16:creationId xmlns:a16="http://schemas.microsoft.com/office/drawing/2014/main" id="{5919FD5C-2887-D705-44A1-F5DCA278F6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130999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4BE0498A-EAB1-0E2C-E91D-0C1F81B8752E}"/>
            </a:ext>
          </a:extLst>
        </p:cNvPr>
        <p:cNvGrpSpPr/>
        <p:nvPr/>
      </p:nvGrpSpPr>
      <p:grpSpPr>
        <a:xfrm>
          <a:off x="0" y="0"/>
          <a:ext cx="0" cy="0"/>
          <a:chOff x="0" y="0"/>
          <a:chExt cx="0" cy="0"/>
        </a:xfrm>
      </p:grpSpPr>
      <p:sp>
        <p:nvSpPr>
          <p:cNvPr id="76" name="Google Shape;76;p4:notes">
            <a:extLst>
              <a:ext uri="{FF2B5EF4-FFF2-40B4-BE49-F238E27FC236}">
                <a16:creationId xmlns:a16="http://schemas.microsoft.com/office/drawing/2014/main" id="{DD0BEE22-D060-EE59-0F30-CB731C4579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4:notes">
            <a:extLst>
              <a:ext uri="{FF2B5EF4-FFF2-40B4-BE49-F238E27FC236}">
                <a16:creationId xmlns:a16="http://schemas.microsoft.com/office/drawing/2014/main" id="{84F18E76-A7F4-5F13-FE15-DDB7413B67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66585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B9150C13-4A2C-EDDC-A93E-9E3208A6B253}"/>
            </a:ext>
          </a:extLst>
        </p:cNvPr>
        <p:cNvGrpSpPr/>
        <p:nvPr/>
      </p:nvGrpSpPr>
      <p:grpSpPr>
        <a:xfrm>
          <a:off x="0" y="0"/>
          <a:ext cx="0" cy="0"/>
          <a:chOff x="0" y="0"/>
          <a:chExt cx="0" cy="0"/>
        </a:xfrm>
      </p:grpSpPr>
      <p:sp>
        <p:nvSpPr>
          <p:cNvPr id="139" name="Google Shape;139;p13:notes">
            <a:extLst>
              <a:ext uri="{FF2B5EF4-FFF2-40B4-BE49-F238E27FC236}">
                <a16:creationId xmlns:a16="http://schemas.microsoft.com/office/drawing/2014/main" id="{F78DDD5A-618D-2AE6-4697-43B8D65471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p13:notes">
            <a:extLst>
              <a:ext uri="{FF2B5EF4-FFF2-40B4-BE49-F238E27FC236}">
                <a16:creationId xmlns:a16="http://schemas.microsoft.com/office/drawing/2014/main" id="{0C657A2C-A40E-D012-8D3A-5CDFC54721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52078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0f61ab1a0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0f61ab1a0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SG">
                <a:solidFill>
                  <a:schemeClr val="dk1"/>
                </a:solidFill>
              </a:rPr>
              <a:t>Note that a steepener trade can be </a:t>
            </a:r>
            <a:r>
              <a:rPr lang="en-SG" sz="1200">
                <a:solidFill>
                  <a:schemeClr val="dk1"/>
                </a:solidFill>
              </a:rPr>
              <a:t>DV01 neutral depending on the sizing of the trades (DV01 refers to the dollar value of one basis point move in interest rates, and therefore DV01 neutral trade means that it neutralises interest rate risk).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513B5EB3-6E8B-8061-95C8-0BD1109AC46F}"/>
            </a:ext>
          </a:extLst>
        </p:cNvPr>
        <p:cNvGrpSpPr/>
        <p:nvPr/>
      </p:nvGrpSpPr>
      <p:grpSpPr>
        <a:xfrm>
          <a:off x="0" y="0"/>
          <a:ext cx="0" cy="0"/>
          <a:chOff x="0" y="0"/>
          <a:chExt cx="0" cy="0"/>
        </a:xfrm>
      </p:grpSpPr>
      <p:sp>
        <p:nvSpPr>
          <p:cNvPr id="126" name="Google Shape;126;p10:notes">
            <a:extLst>
              <a:ext uri="{FF2B5EF4-FFF2-40B4-BE49-F238E27FC236}">
                <a16:creationId xmlns:a16="http://schemas.microsoft.com/office/drawing/2014/main" id="{DF9B03D9-B130-D457-0D32-E176679EB1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0:notes">
            <a:extLst>
              <a:ext uri="{FF2B5EF4-FFF2-40B4-BE49-F238E27FC236}">
                <a16:creationId xmlns:a16="http://schemas.microsoft.com/office/drawing/2014/main" id="{DD68C7E8-D9AD-C3E0-2942-A976CF60DB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1720536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48C27722-3294-5537-E29F-F22AA7DF2A35}"/>
            </a:ext>
          </a:extLst>
        </p:cNvPr>
        <p:cNvGrpSpPr/>
        <p:nvPr/>
      </p:nvGrpSpPr>
      <p:grpSpPr>
        <a:xfrm>
          <a:off x="0" y="0"/>
          <a:ext cx="0" cy="0"/>
          <a:chOff x="0" y="0"/>
          <a:chExt cx="0" cy="0"/>
        </a:xfrm>
      </p:grpSpPr>
      <p:sp>
        <p:nvSpPr>
          <p:cNvPr id="126" name="Google Shape;126;p10:notes">
            <a:extLst>
              <a:ext uri="{FF2B5EF4-FFF2-40B4-BE49-F238E27FC236}">
                <a16:creationId xmlns:a16="http://schemas.microsoft.com/office/drawing/2014/main" id="{043911C4-61E6-0DE7-BCB4-17C74198B8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0:notes">
            <a:extLst>
              <a:ext uri="{FF2B5EF4-FFF2-40B4-BE49-F238E27FC236}">
                <a16:creationId xmlns:a16="http://schemas.microsoft.com/office/drawing/2014/main" id="{8B85A446-FAFC-52D0-8E49-045B96268B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252245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F90E0762-55EF-70B0-FF93-70BB0F6E793B}"/>
            </a:ext>
          </a:extLst>
        </p:cNvPr>
        <p:cNvGrpSpPr/>
        <p:nvPr/>
      </p:nvGrpSpPr>
      <p:grpSpPr>
        <a:xfrm>
          <a:off x="0" y="0"/>
          <a:ext cx="0" cy="0"/>
          <a:chOff x="0" y="0"/>
          <a:chExt cx="0" cy="0"/>
        </a:xfrm>
      </p:grpSpPr>
      <p:sp>
        <p:nvSpPr>
          <p:cNvPr id="126" name="Google Shape;126;p10:notes">
            <a:extLst>
              <a:ext uri="{FF2B5EF4-FFF2-40B4-BE49-F238E27FC236}">
                <a16:creationId xmlns:a16="http://schemas.microsoft.com/office/drawing/2014/main" id="{69C3A72A-0FD0-9E23-3999-42E8B9E6FE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0:notes">
            <a:extLst>
              <a:ext uri="{FF2B5EF4-FFF2-40B4-BE49-F238E27FC236}">
                <a16:creationId xmlns:a16="http://schemas.microsoft.com/office/drawing/2014/main" id="{1092E6CB-D4CF-BEC7-BBAB-656101EACF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3567048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7C8E84B7-4E87-E51C-EC12-559F1F2E68B1}"/>
            </a:ext>
          </a:extLst>
        </p:cNvPr>
        <p:cNvGrpSpPr/>
        <p:nvPr/>
      </p:nvGrpSpPr>
      <p:grpSpPr>
        <a:xfrm>
          <a:off x="0" y="0"/>
          <a:ext cx="0" cy="0"/>
          <a:chOff x="0" y="0"/>
          <a:chExt cx="0" cy="0"/>
        </a:xfrm>
      </p:grpSpPr>
      <p:sp>
        <p:nvSpPr>
          <p:cNvPr id="126" name="Google Shape;126;p10:notes">
            <a:extLst>
              <a:ext uri="{FF2B5EF4-FFF2-40B4-BE49-F238E27FC236}">
                <a16:creationId xmlns:a16="http://schemas.microsoft.com/office/drawing/2014/main" id="{96D34F59-BC12-4609-CFBC-98561864D7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0:notes">
            <a:extLst>
              <a:ext uri="{FF2B5EF4-FFF2-40B4-BE49-F238E27FC236}">
                <a16:creationId xmlns:a16="http://schemas.microsoft.com/office/drawing/2014/main" id="{51706710-7BF8-4525-6AF2-B39BBFF7AD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3245586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4F3AA7F2-103B-6594-B761-49385EBF3D20}"/>
            </a:ext>
          </a:extLst>
        </p:cNvPr>
        <p:cNvGrpSpPr/>
        <p:nvPr/>
      </p:nvGrpSpPr>
      <p:grpSpPr>
        <a:xfrm>
          <a:off x="0" y="0"/>
          <a:ext cx="0" cy="0"/>
          <a:chOff x="0" y="0"/>
          <a:chExt cx="0" cy="0"/>
        </a:xfrm>
      </p:grpSpPr>
      <p:sp>
        <p:nvSpPr>
          <p:cNvPr id="126" name="Google Shape;126;p10:notes">
            <a:extLst>
              <a:ext uri="{FF2B5EF4-FFF2-40B4-BE49-F238E27FC236}">
                <a16:creationId xmlns:a16="http://schemas.microsoft.com/office/drawing/2014/main" id="{FF62882D-C28E-07C3-6260-866CBD077A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0:notes">
            <a:extLst>
              <a:ext uri="{FF2B5EF4-FFF2-40B4-BE49-F238E27FC236}">
                <a16:creationId xmlns:a16="http://schemas.microsoft.com/office/drawing/2014/main" id="{813EF235-8750-C5E2-FAAB-10D9AC983A0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746580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t>to learn more about RPI vs CPIH: </a:t>
            </a:r>
            <a:r>
              <a:rPr lang="en-SG" u="sng">
                <a:solidFill>
                  <a:schemeClr val="hlink"/>
                </a:solidFill>
                <a:hlinkClick r:id="rId3"/>
              </a:rPr>
              <a:t>https://www.lcp.com/media/1150122/202008-rpi-will-be-aligned-to-cpih-from-2030-with-no-compensation-for-holders-of-index-linked-gilts.pdf</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dirty="0"/>
              <a:t>inflation swap: one party transfers inflation risk to a counterparty in exchange for a fixed payment (other party receives variable payment linked to inflation rate)</a:t>
            </a:r>
            <a:endParaRPr dirty="0"/>
          </a:p>
          <a:p>
            <a:pPr marL="0" lvl="0" indent="0" algn="l" rtl="0">
              <a:lnSpc>
                <a:spcPct val="100000"/>
              </a:lnSpc>
              <a:spcBef>
                <a:spcPts val="0"/>
              </a:spcBef>
              <a:spcAft>
                <a:spcPts val="0"/>
              </a:spcAft>
              <a:buSzPts val="1100"/>
              <a:buNone/>
            </a:pPr>
            <a:r>
              <a:rPr lang="en-SG" dirty="0"/>
              <a:t>The principal (face value) of TIPS increases with inflation and decreases with deflation, based on the CPI. If inflation rises, the principal of TIPS goes up, and if there's deflation, it goes down.</a:t>
            </a:r>
            <a:endParaRPr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
        <p:nvSpPr>
          <p:cNvPr id="21" name="Google Shape;21;p28"/>
          <p:cNvSpPr txBox="1">
            <a:spLocks noGrp="1"/>
          </p:cNvSpPr>
          <p:nvPr>
            <p:ph type="sldNum" idx="2"/>
          </p:nvPr>
        </p:nvSpPr>
        <p:spPr>
          <a:xfrm>
            <a:off x="79237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2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2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
        <p:nvSpPr>
          <p:cNvPr id="28" name="Google Shape;28;p29"/>
          <p:cNvSpPr txBox="1">
            <a:spLocks noGrp="1"/>
          </p:cNvSpPr>
          <p:nvPr>
            <p:ph type="sldNum" idx="3"/>
          </p:nvPr>
        </p:nvSpPr>
        <p:spPr>
          <a:xfrm>
            <a:off x="79237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
        <p:nvSpPr>
          <p:cNvPr id="33" name="Google Shape;33;p30"/>
          <p:cNvSpPr txBox="1">
            <a:spLocks noGrp="1"/>
          </p:cNvSpPr>
          <p:nvPr>
            <p:ph type="sldNum" idx="2"/>
          </p:nvPr>
        </p:nvSpPr>
        <p:spPr>
          <a:xfrm>
            <a:off x="79237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p3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6" name="Google Shape;36;p3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
        <p:nvSpPr>
          <p:cNvPr id="39" name="Google Shape;39;p31"/>
          <p:cNvSpPr txBox="1">
            <a:spLocks noGrp="1"/>
          </p:cNvSpPr>
          <p:nvPr>
            <p:ph type="sldNum" idx="2"/>
          </p:nvPr>
        </p:nvSpPr>
        <p:spPr>
          <a:xfrm>
            <a:off x="79237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2" name="Google Shape;4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6" name="Google Shape;46;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7" name="Google Shape;47;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8" name="Google Shape;48;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3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1" name="Google Shape;51;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3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3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5" name="Google Shape;55;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104F1-9D2F-530F-F03F-C3EEC21078A1}"/>
              </a:ext>
            </a:extLst>
          </p:cNvPr>
          <p:cNvSpPr>
            <a:spLocks noGrp="1"/>
          </p:cNvSpPr>
          <p:nvPr>
            <p:ph type="title"/>
          </p:nvPr>
        </p:nvSpPr>
        <p:spPr/>
        <p:txBody>
          <a:bodyPr/>
          <a:lstStyle/>
          <a:p>
            <a:r>
              <a:rPr lang="en-GB" dirty="0"/>
              <a:t>Rates Fundamentals</a:t>
            </a:r>
          </a:p>
        </p:txBody>
      </p:sp>
    </p:spTree>
    <p:extLst>
      <p:ext uri="{BB962C8B-B14F-4D97-AF65-F5344CB8AC3E}">
        <p14:creationId xmlns:p14="http://schemas.microsoft.com/office/powerpoint/2010/main" val="1581096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1F7101BE-5CD8-50AB-0E6F-A482EDFEA6E6}"/>
            </a:ext>
          </a:extLst>
        </p:cNvPr>
        <p:cNvGrpSpPr/>
        <p:nvPr/>
      </p:nvGrpSpPr>
      <p:grpSpPr>
        <a:xfrm>
          <a:off x="0" y="0"/>
          <a:ext cx="0" cy="0"/>
          <a:chOff x="0" y="0"/>
          <a:chExt cx="0" cy="0"/>
        </a:xfrm>
      </p:grpSpPr>
      <p:sp>
        <p:nvSpPr>
          <p:cNvPr id="69" name="Google Shape;69;p3">
            <a:extLst>
              <a:ext uri="{FF2B5EF4-FFF2-40B4-BE49-F238E27FC236}">
                <a16:creationId xmlns:a16="http://schemas.microsoft.com/office/drawing/2014/main" id="{4CCE8900-9D0C-E298-A153-AA1D34DA564D}"/>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Table of Contents</a:t>
            </a:r>
            <a:endParaRPr b="1" dirty="0"/>
          </a:p>
        </p:txBody>
      </p:sp>
      <p:sp>
        <p:nvSpPr>
          <p:cNvPr id="35843" name="Content Placeholder 2">
            <a:extLst>
              <a:ext uri="{FF2B5EF4-FFF2-40B4-BE49-F238E27FC236}">
                <a16:creationId xmlns:a16="http://schemas.microsoft.com/office/drawing/2014/main" id="{9FC9B151-45E9-DD8D-F759-2C973E7104D2}"/>
              </a:ext>
            </a:extLst>
          </p:cNvPr>
          <p:cNvSpPr txBox="1">
            <a:spLocks noChangeArrowheads="1"/>
          </p:cNvSpPr>
          <p:nvPr/>
        </p:nvSpPr>
        <p:spPr>
          <a:xfrm>
            <a:off x="311700" y="1055736"/>
            <a:ext cx="6107906" cy="326945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a:buClr>
                <a:schemeClr val="tx1"/>
              </a:buClr>
              <a:buSzPct val="100000"/>
            </a:pPr>
            <a:r>
              <a:rPr lang="en-GB" altLang="en-US" sz="1350" dirty="0">
                <a:solidFill>
                  <a:schemeClr val="tx1"/>
                </a:solidFill>
                <a:latin typeface="+mj-lt"/>
                <a:ea typeface="ＭＳ Ｐゴシック" panose="020B0600070205080204" pitchFamily="34" charset="-128"/>
              </a:rPr>
              <a:t>Fixed income basics</a:t>
            </a:r>
          </a:p>
          <a:p>
            <a:pPr>
              <a:buClr>
                <a:schemeClr val="tx1"/>
              </a:buClr>
              <a:buSzPct val="100000"/>
            </a:pPr>
            <a:r>
              <a:rPr lang="en-GB" altLang="en-US" sz="1350" dirty="0">
                <a:solidFill>
                  <a:schemeClr val="tx1"/>
                </a:solidFill>
                <a:latin typeface="+mj-lt"/>
                <a:ea typeface="ＭＳ Ｐゴシック" panose="020B0600070205080204" pitchFamily="34" charset="-128"/>
              </a:rPr>
              <a:t>Post-08 changes in monetary policy</a:t>
            </a:r>
          </a:p>
          <a:p>
            <a:pPr>
              <a:buClr>
                <a:schemeClr val="tx1"/>
              </a:buClr>
              <a:buSzPct val="100000"/>
            </a:pPr>
            <a:r>
              <a:rPr lang="en-GB" altLang="en-US" sz="1350" dirty="0">
                <a:solidFill>
                  <a:schemeClr val="tx1"/>
                </a:solidFill>
                <a:latin typeface="+mj-lt"/>
                <a:ea typeface="ＭＳ Ｐゴシック" panose="020B0600070205080204" pitchFamily="34" charset="-128"/>
              </a:rPr>
              <a:t>Different “bets” in rates markets</a:t>
            </a:r>
          </a:p>
          <a:p>
            <a:pPr lvl="1"/>
            <a:endParaRPr lang="en-GB" altLang="en-US" sz="1350" dirty="0">
              <a:solidFill>
                <a:schemeClr val="tx1"/>
              </a:solidFill>
              <a:latin typeface="+mj-lt"/>
              <a:ea typeface="ＭＳ Ｐゴシック" panose="020B0600070205080204" pitchFamily="34" charset="-128"/>
            </a:endParaRPr>
          </a:p>
          <a:p>
            <a:pPr lvl="1"/>
            <a:endParaRPr lang="en-GB" altLang="en-US" sz="1350" dirty="0">
              <a:latin typeface="+mn-lt"/>
              <a:ea typeface="ＭＳ Ｐゴシック" panose="020B0600070205080204" pitchFamily="34" charset="-128"/>
            </a:endParaRPr>
          </a:p>
        </p:txBody>
      </p:sp>
    </p:spTree>
    <p:extLst>
      <p:ext uri="{BB962C8B-B14F-4D97-AF65-F5344CB8AC3E}">
        <p14:creationId xmlns:p14="http://schemas.microsoft.com/office/powerpoint/2010/main" val="2989204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ECDBBE-5116-5398-8EC9-168333B0E764}"/>
              </a:ext>
            </a:extLst>
          </p:cNvPr>
          <p:cNvSpPr>
            <a:spLocks noGrp="1"/>
          </p:cNvSpPr>
          <p:nvPr>
            <p:ph type="title"/>
          </p:nvPr>
        </p:nvSpPr>
        <p:spPr/>
        <p:txBody>
          <a:bodyPr/>
          <a:lstStyle/>
          <a:p>
            <a:r>
              <a:rPr lang="en-GB" b="1" dirty="0"/>
              <a:t>Fixed income basics</a:t>
            </a:r>
          </a:p>
        </p:txBody>
      </p:sp>
    </p:spTree>
    <p:extLst>
      <p:ext uri="{BB962C8B-B14F-4D97-AF65-F5344CB8AC3E}">
        <p14:creationId xmlns:p14="http://schemas.microsoft.com/office/powerpoint/2010/main" val="2020595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71B96309-7EE9-7334-786C-B86288BBCFB4}"/>
            </a:ext>
          </a:extLst>
        </p:cNvPr>
        <p:cNvGrpSpPr/>
        <p:nvPr/>
      </p:nvGrpSpPr>
      <p:grpSpPr>
        <a:xfrm>
          <a:off x="0" y="0"/>
          <a:ext cx="0" cy="0"/>
          <a:chOff x="0" y="0"/>
          <a:chExt cx="0" cy="0"/>
        </a:xfrm>
      </p:grpSpPr>
      <p:sp>
        <p:nvSpPr>
          <p:cNvPr id="69" name="Google Shape;69;p3">
            <a:extLst>
              <a:ext uri="{FF2B5EF4-FFF2-40B4-BE49-F238E27FC236}">
                <a16:creationId xmlns:a16="http://schemas.microsoft.com/office/drawing/2014/main" id="{DB7E9ACC-2631-1804-7738-A40954E6F24C}"/>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Fixed Income</a:t>
            </a:r>
            <a:endParaRPr b="1" dirty="0"/>
          </a:p>
        </p:txBody>
      </p:sp>
      <p:sp>
        <p:nvSpPr>
          <p:cNvPr id="35843" name="Content Placeholder 2">
            <a:extLst>
              <a:ext uri="{FF2B5EF4-FFF2-40B4-BE49-F238E27FC236}">
                <a16:creationId xmlns:a16="http://schemas.microsoft.com/office/drawing/2014/main" id="{69CD6A39-48ED-40A2-BE79-D76796B26867}"/>
              </a:ext>
            </a:extLst>
          </p:cNvPr>
          <p:cNvSpPr txBox="1">
            <a:spLocks noChangeArrowheads="1"/>
          </p:cNvSpPr>
          <p:nvPr/>
        </p:nvSpPr>
        <p:spPr>
          <a:xfrm>
            <a:off x="311700" y="1055736"/>
            <a:ext cx="6107906" cy="326945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GB" altLang="en-US" sz="1350" b="1" dirty="0">
                <a:solidFill>
                  <a:schemeClr val="tx1"/>
                </a:solidFill>
                <a:latin typeface="+mj-lt"/>
                <a:ea typeface="ＭＳ Ｐゴシック" panose="020B0600070205080204" pitchFamily="34" charset="-128"/>
              </a:rPr>
              <a:t>Basic Features</a:t>
            </a:r>
          </a:p>
          <a:p>
            <a:pPr>
              <a:buClr>
                <a:schemeClr val="tx1"/>
              </a:buClr>
              <a:buSzPct val="100000"/>
              <a:buFont typeface="+mj-lt"/>
              <a:buAutoNum type="arabicPeriod"/>
            </a:pPr>
            <a:r>
              <a:rPr lang="en-GB" altLang="en-US" sz="1350" dirty="0">
                <a:solidFill>
                  <a:schemeClr val="tx1"/>
                </a:solidFill>
                <a:latin typeface="+mj-lt"/>
                <a:ea typeface="ＭＳ Ｐゴシック" panose="020B0600070205080204" pitchFamily="34" charset="-128"/>
              </a:rPr>
              <a:t>Issuer</a:t>
            </a:r>
          </a:p>
          <a:p>
            <a:pPr>
              <a:buClr>
                <a:schemeClr val="tx1"/>
              </a:buClr>
              <a:buSzPct val="100000"/>
              <a:buFont typeface="+mj-lt"/>
              <a:buAutoNum type="arabicPeriod"/>
            </a:pPr>
            <a:r>
              <a:rPr lang="en-GB" altLang="en-US" sz="1350" dirty="0">
                <a:solidFill>
                  <a:schemeClr val="tx1"/>
                </a:solidFill>
                <a:latin typeface="+mj-lt"/>
                <a:ea typeface="ＭＳ Ｐゴシック" panose="020B0600070205080204" pitchFamily="34" charset="-128"/>
              </a:rPr>
              <a:t>Nominal value (or par value)</a:t>
            </a:r>
          </a:p>
          <a:p>
            <a:pPr>
              <a:buClr>
                <a:schemeClr val="tx1"/>
              </a:buClr>
              <a:buSzPct val="100000"/>
              <a:buFont typeface="+mj-lt"/>
              <a:buAutoNum type="arabicPeriod"/>
            </a:pPr>
            <a:r>
              <a:rPr lang="en-GB" altLang="en-US" sz="1350" dirty="0">
                <a:solidFill>
                  <a:schemeClr val="tx1"/>
                </a:solidFill>
                <a:latin typeface="+mj-lt"/>
                <a:ea typeface="ＭＳ Ｐゴシック" panose="020B0600070205080204" pitchFamily="34" charset="-128"/>
              </a:rPr>
              <a:t>Coupon</a:t>
            </a:r>
          </a:p>
          <a:p>
            <a:pPr>
              <a:buClr>
                <a:schemeClr val="tx1"/>
              </a:buClr>
              <a:buSzPct val="100000"/>
              <a:buFont typeface="+mj-lt"/>
              <a:buAutoNum type="arabicPeriod"/>
            </a:pPr>
            <a:r>
              <a:rPr lang="en-GB" altLang="en-US" sz="1350" dirty="0">
                <a:solidFill>
                  <a:schemeClr val="tx1"/>
                </a:solidFill>
                <a:latin typeface="+mj-lt"/>
                <a:ea typeface="ＭＳ Ｐゴシック" panose="020B0600070205080204" pitchFamily="34" charset="-128"/>
              </a:rPr>
              <a:t>Redemption/maturity date</a:t>
            </a:r>
          </a:p>
          <a:p>
            <a:pPr lvl="1"/>
            <a:endParaRPr lang="en-GB" altLang="en-US" sz="1350" dirty="0">
              <a:solidFill>
                <a:schemeClr val="tx1"/>
              </a:solidFill>
              <a:latin typeface="+mj-lt"/>
              <a:ea typeface="ＭＳ Ｐゴシック" panose="020B0600070205080204" pitchFamily="34" charset="-128"/>
            </a:endParaRPr>
          </a:p>
          <a:p>
            <a:pPr lvl="1"/>
            <a:endParaRPr lang="en-GB" altLang="en-US" sz="1350" dirty="0">
              <a:latin typeface="+mn-lt"/>
              <a:ea typeface="ＭＳ Ｐゴシック" panose="020B0600070205080204" pitchFamily="34" charset="-128"/>
            </a:endParaRPr>
          </a:p>
        </p:txBody>
      </p:sp>
      <p:pic>
        <p:nvPicPr>
          <p:cNvPr id="35845" name="Picture 6">
            <a:extLst>
              <a:ext uri="{FF2B5EF4-FFF2-40B4-BE49-F238E27FC236}">
                <a16:creationId xmlns:a16="http://schemas.microsoft.com/office/drawing/2014/main" id="{0467FAD5-78FE-4A2D-9B1B-F7BBD80F74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401" y="2571750"/>
            <a:ext cx="5238750" cy="2277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33652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Pricing</a:t>
            </a:r>
            <a:endParaRPr b="1" dirty="0"/>
          </a:p>
        </p:txBody>
      </p:sp>
      <p:sp>
        <p:nvSpPr>
          <p:cNvPr id="70" name="Google Shape;70;p3"/>
          <p:cNvSpPr txBox="1">
            <a:spLocks noGrp="1"/>
          </p:cNvSpPr>
          <p:nvPr>
            <p:ph type="body" idx="1"/>
          </p:nvPr>
        </p:nvSpPr>
        <p:spPr>
          <a:xfrm>
            <a:off x="311700" y="1152475"/>
            <a:ext cx="8254076" cy="3416400"/>
          </a:xfrm>
          <a:prstGeom prst="rect">
            <a:avLst/>
          </a:prstGeom>
          <a:noFill/>
          <a:ln>
            <a:noFill/>
          </a:ln>
        </p:spPr>
        <p:txBody>
          <a:bodyPr spcFirstLastPara="1" wrap="square" lIns="91425" tIns="91425" rIns="91425" bIns="91425" anchor="t" anchorCtr="0">
            <a:normAutofit/>
          </a:bodyPr>
          <a:lstStyle/>
          <a:p>
            <a:pPr marL="457200" lvl="0" indent="-304800" algn="l" rtl="0">
              <a:lnSpc>
                <a:spcPct val="150000"/>
              </a:lnSpc>
              <a:spcBef>
                <a:spcPts val="0"/>
              </a:spcBef>
              <a:spcAft>
                <a:spcPts val="0"/>
              </a:spcAft>
              <a:buClr>
                <a:schemeClr val="dk1"/>
              </a:buClr>
              <a:buSzPts val="1200"/>
              <a:buChar char="●"/>
            </a:pPr>
            <a:r>
              <a:rPr lang="en-SG" sz="1200" dirty="0">
                <a:solidFill>
                  <a:schemeClr val="dk1"/>
                </a:solidFill>
              </a:rPr>
              <a:t>Like any asset, fixed income is priced by discounting cashflows with the risk-free interest rate</a:t>
            </a:r>
          </a:p>
          <a:p>
            <a:pPr marL="457200" lvl="0" indent="-304800" algn="l" rtl="0">
              <a:lnSpc>
                <a:spcPct val="150000"/>
              </a:lnSpc>
              <a:spcBef>
                <a:spcPts val="0"/>
              </a:spcBef>
              <a:spcAft>
                <a:spcPts val="0"/>
              </a:spcAft>
              <a:buClr>
                <a:schemeClr val="dk1"/>
              </a:buClr>
              <a:buSzPts val="1200"/>
              <a:buChar char="●"/>
            </a:pPr>
            <a:r>
              <a:rPr lang="en-SG" sz="1200" dirty="0">
                <a:solidFill>
                  <a:schemeClr val="dk1"/>
                </a:solidFill>
              </a:rPr>
              <a:t>When interest rate rises, cashflows are discounted more stringently</a:t>
            </a:r>
          </a:p>
          <a:p>
            <a:pPr lvl="1" indent="-304800">
              <a:lnSpc>
                <a:spcPct val="150000"/>
              </a:lnSpc>
              <a:buClr>
                <a:schemeClr val="dk1"/>
              </a:buClr>
              <a:buSzPts val="1200"/>
              <a:buFont typeface="Courier New" panose="02070309020205020404" pitchFamily="49" charset="0"/>
              <a:buChar char="o"/>
            </a:pPr>
            <a:r>
              <a:rPr lang="en-SG" sz="1000" dirty="0">
                <a:solidFill>
                  <a:schemeClr val="dk1"/>
                </a:solidFill>
              </a:rPr>
              <a:t>New bonds pay higher interest rate, so old (i.e. existing) bonds become less popular and so cheaper</a:t>
            </a:r>
            <a:endParaRPr sz="1000" dirty="0">
              <a:solidFill>
                <a:schemeClr val="dk1"/>
              </a:solidFill>
            </a:endParaRPr>
          </a:p>
          <a:p>
            <a:pPr marL="139700" lvl="0" indent="0" algn="l" rtl="0">
              <a:lnSpc>
                <a:spcPct val="150000"/>
              </a:lnSpc>
              <a:spcBef>
                <a:spcPts val="0"/>
              </a:spcBef>
              <a:spcAft>
                <a:spcPts val="0"/>
              </a:spcAft>
              <a:buClr>
                <a:schemeClr val="dk1"/>
              </a:buClr>
              <a:buSzPts val="1400"/>
              <a:buNone/>
            </a:pPr>
            <a:endParaRPr sz="1400" dirty="0">
              <a:solidFill>
                <a:schemeClr val="dk1"/>
              </a:solidFill>
            </a:endParaRPr>
          </a:p>
        </p:txBody>
      </p:sp>
      <p:pic>
        <p:nvPicPr>
          <p:cNvPr id="72" name="Google Shape;72;p3"/>
          <p:cNvPicPr preferRelativeResize="0"/>
          <p:nvPr/>
        </p:nvPicPr>
        <p:blipFill rotWithShape="1">
          <a:blip r:embed="rId3">
            <a:alphaModFix/>
          </a:blip>
          <a:srcRect/>
          <a:stretch/>
        </p:blipFill>
        <p:spPr>
          <a:xfrm>
            <a:off x="663635" y="2454411"/>
            <a:ext cx="2602079" cy="1536614"/>
          </a:xfrm>
          <a:prstGeom prst="rect">
            <a:avLst/>
          </a:prstGeom>
          <a:noFill/>
          <a:ln>
            <a:noFill/>
          </a:ln>
        </p:spPr>
      </p:pic>
      <p:sp>
        <p:nvSpPr>
          <p:cNvPr id="73" name="Google Shape;73;p3"/>
          <p:cNvSpPr txBox="1"/>
          <p:nvPr/>
        </p:nvSpPr>
        <p:spPr>
          <a:xfrm>
            <a:off x="95250" y="4830025"/>
            <a:ext cx="1020600" cy="1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B961BED1-6F91-3D3E-FE23-295DE1E5CBFA}"/>
            </a:ext>
          </a:extLst>
        </p:cNvPr>
        <p:cNvGrpSpPr/>
        <p:nvPr/>
      </p:nvGrpSpPr>
      <p:grpSpPr>
        <a:xfrm>
          <a:off x="0" y="0"/>
          <a:ext cx="0" cy="0"/>
          <a:chOff x="0" y="0"/>
          <a:chExt cx="0" cy="0"/>
        </a:xfrm>
      </p:grpSpPr>
      <p:sp>
        <p:nvSpPr>
          <p:cNvPr id="69" name="Google Shape;69;p3">
            <a:extLst>
              <a:ext uri="{FF2B5EF4-FFF2-40B4-BE49-F238E27FC236}">
                <a16:creationId xmlns:a16="http://schemas.microsoft.com/office/drawing/2014/main" id="{1ABEE6A9-0CC2-72BA-3C52-4112F814C2A2}"/>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Duration &amp; Convexity</a:t>
            </a:r>
            <a:endParaRPr b="1" dirty="0"/>
          </a:p>
        </p:txBody>
      </p:sp>
      <p:sp>
        <p:nvSpPr>
          <p:cNvPr id="73" name="Google Shape;73;p3">
            <a:extLst>
              <a:ext uri="{FF2B5EF4-FFF2-40B4-BE49-F238E27FC236}">
                <a16:creationId xmlns:a16="http://schemas.microsoft.com/office/drawing/2014/main" id="{A655F996-9156-58C5-5529-84DDF1CFCCBB}"/>
              </a:ext>
            </a:extLst>
          </p:cNvPr>
          <p:cNvSpPr txBox="1"/>
          <p:nvPr/>
        </p:nvSpPr>
        <p:spPr>
          <a:xfrm>
            <a:off x="95250" y="4830025"/>
            <a:ext cx="1020600" cy="1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dk1"/>
              </a:solidFill>
            </a:endParaRPr>
          </a:p>
        </p:txBody>
      </p:sp>
      <p:sp>
        <p:nvSpPr>
          <p:cNvPr id="2" name="Google Shape;70;p3">
            <a:extLst>
              <a:ext uri="{FF2B5EF4-FFF2-40B4-BE49-F238E27FC236}">
                <a16:creationId xmlns:a16="http://schemas.microsoft.com/office/drawing/2014/main" id="{C37675CE-B225-A21E-EF88-2743D20B9B25}"/>
              </a:ext>
            </a:extLst>
          </p:cNvPr>
          <p:cNvSpPr txBox="1">
            <a:spLocks noGrp="1"/>
          </p:cNvSpPr>
          <p:nvPr>
            <p:ph type="body" idx="1"/>
          </p:nvPr>
        </p:nvSpPr>
        <p:spPr>
          <a:xfrm>
            <a:off x="311700" y="1152475"/>
            <a:ext cx="8254076" cy="3416400"/>
          </a:xfrm>
          <a:prstGeom prst="rect">
            <a:avLst/>
          </a:prstGeom>
          <a:noFill/>
          <a:ln>
            <a:noFill/>
          </a:ln>
        </p:spPr>
        <p:txBody>
          <a:bodyPr spcFirstLastPara="1" wrap="square" lIns="91425" tIns="91425" rIns="91425" bIns="91425" anchor="t" anchorCtr="0">
            <a:normAutofit/>
          </a:bodyPr>
          <a:lstStyle/>
          <a:p>
            <a:pPr marL="323850" indent="-171450">
              <a:lnSpc>
                <a:spcPct val="150000"/>
              </a:lnSpc>
              <a:buClr>
                <a:schemeClr val="dk1"/>
              </a:buClr>
              <a:buSzPts val="1200"/>
            </a:pPr>
            <a:r>
              <a:rPr lang="en-GB" sz="1200" b="1" u="sng" dirty="0">
                <a:solidFill>
                  <a:schemeClr val="dk1"/>
                </a:solidFill>
              </a:rPr>
              <a:t>Duration:</a:t>
            </a:r>
            <a:r>
              <a:rPr lang="en-GB" sz="1200" b="1" dirty="0">
                <a:solidFill>
                  <a:schemeClr val="dk1"/>
                </a:solidFill>
              </a:rPr>
              <a:t> </a:t>
            </a:r>
            <a:r>
              <a:rPr lang="en-GB" sz="1200" dirty="0">
                <a:solidFill>
                  <a:schemeClr val="dk1"/>
                </a:solidFill>
              </a:rPr>
              <a:t>a number that tells you – how sensitive is a bond to changes in interest rates?</a:t>
            </a:r>
          </a:p>
          <a:p>
            <a:pPr marL="323850" indent="-171450">
              <a:lnSpc>
                <a:spcPct val="150000"/>
              </a:lnSpc>
              <a:buClr>
                <a:schemeClr val="dk1"/>
              </a:buClr>
              <a:buSzPts val="1200"/>
            </a:pPr>
            <a:r>
              <a:rPr lang="en-GB" sz="1200" b="1" u="sng" dirty="0">
                <a:solidFill>
                  <a:schemeClr val="dk1"/>
                </a:solidFill>
              </a:rPr>
              <a:t>Convexity:</a:t>
            </a:r>
            <a:r>
              <a:rPr lang="en-GB" sz="1200" b="1" dirty="0">
                <a:solidFill>
                  <a:schemeClr val="dk1"/>
                </a:solidFill>
              </a:rPr>
              <a:t> </a:t>
            </a:r>
            <a:r>
              <a:rPr lang="en-GB" sz="1200" dirty="0">
                <a:solidFill>
                  <a:schemeClr val="dk1"/>
                </a:solidFill>
              </a:rPr>
              <a:t>positive vs. negative – positive convexity is asymmetric upside for the investor – when the bond’s price rises when its yield falls more than when its price falls when its </a:t>
            </a:r>
            <a:r>
              <a:rPr lang="en-GB" sz="1200">
                <a:solidFill>
                  <a:schemeClr val="dk1"/>
                </a:solidFill>
              </a:rPr>
              <a:t>yield rises</a:t>
            </a:r>
            <a:endParaRPr lang="en-GB" sz="1200" dirty="0">
              <a:solidFill>
                <a:schemeClr val="dk1"/>
              </a:solidFill>
            </a:endParaRPr>
          </a:p>
        </p:txBody>
      </p:sp>
    </p:spTree>
    <p:extLst>
      <p:ext uri="{BB962C8B-B14F-4D97-AF65-F5344CB8AC3E}">
        <p14:creationId xmlns:p14="http://schemas.microsoft.com/office/powerpoint/2010/main" val="2607747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6AA5D271-35FE-EAD0-B6A0-CDC722784305}"/>
            </a:ext>
          </a:extLst>
        </p:cNvPr>
        <p:cNvGrpSpPr/>
        <p:nvPr/>
      </p:nvGrpSpPr>
      <p:grpSpPr>
        <a:xfrm>
          <a:off x="0" y="0"/>
          <a:ext cx="0" cy="0"/>
          <a:chOff x="0" y="0"/>
          <a:chExt cx="0" cy="0"/>
        </a:xfrm>
      </p:grpSpPr>
      <p:sp>
        <p:nvSpPr>
          <p:cNvPr id="69" name="Google Shape;69;p3">
            <a:extLst>
              <a:ext uri="{FF2B5EF4-FFF2-40B4-BE49-F238E27FC236}">
                <a16:creationId xmlns:a16="http://schemas.microsoft.com/office/drawing/2014/main" id="{DC3E0DE3-44D0-24FF-657D-5A225C77286C}"/>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Rates vs. Credit</a:t>
            </a:r>
            <a:endParaRPr b="1" dirty="0"/>
          </a:p>
        </p:txBody>
      </p:sp>
      <p:sp>
        <p:nvSpPr>
          <p:cNvPr id="73" name="Google Shape;73;p3">
            <a:extLst>
              <a:ext uri="{FF2B5EF4-FFF2-40B4-BE49-F238E27FC236}">
                <a16:creationId xmlns:a16="http://schemas.microsoft.com/office/drawing/2014/main" id="{76F7E4DC-2438-4484-B956-396CAAF3A6DD}"/>
              </a:ext>
            </a:extLst>
          </p:cNvPr>
          <p:cNvSpPr txBox="1"/>
          <p:nvPr/>
        </p:nvSpPr>
        <p:spPr>
          <a:xfrm>
            <a:off x="95250" y="4830025"/>
            <a:ext cx="1020600" cy="1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dk1"/>
              </a:solidFill>
            </a:endParaRPr>
          </a:p>
        </p:txBody>
      </p:sp>
      <p:sp>
        <p:nvSpPr>
          <p:cNvPr id="4" name="Rectangle: Rounded Corners 3">
            <a:extLst>
              <a:ext uri="{FF2B5EF4-FFF2-40B4-BE49-F238E27FC236}">
                <a16:creationId xmlns:a16="http://schemas.microsoft.com/office/drawing/2014/main" id="{5DBA68D1-6FAC-A7F8-422C-4F053BCA85B6}"/>
              </a:ext>
            </a:extLst>
          </p:cNvPr>
          <p:cNvSpPr/>
          <p:nvPr/>
        </p:nvSpPr>
        <p:spPr>
          <a:xfrm>
            <a:off x="1115850" y="1681842"/>
            <a:ext cx="2530928" cy="10042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Rates</a:t>
            </a:r>
          </a:p>
        </p:txBody>
      </p:sp>
      <p:sp>
        <p:nvSpPr>
          <p:cNvPr id="5" name="Rectangle: Rounded Corners 4">
            <a:extLst>
              <a:ext uri="{FF2B5EF4-FFF2-40B4-BE49-F238E27FC236}">
                <a16:creationId xmlns:a16="http://schemas.microsoft.com/office/drawing/2014/main" id="{86579A58-9988-6660-A4A1-F825EFD2204D}"/>
              </a:ext>
            </a:extLst>
          </p:cNvPr>
          <p:cNvSpPr/>
          <p:nvPr/>
        </p:nvSpPr>
        <p:spPr>
          <a:xfrm>
            <a:off x="4966671" y="1681842"/>
            <a:ext cx="2530928" cy="10042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Credit</a:t>
            </a:r>
          </a:p>
        </p:txBody>
      </p:sp>
      <p:sp>
        <p:nvSpPr>
          <p:cNvPr id="7" name="TextBox 6">
            <a:extLst>
              <a:ext uri="{FF2B5EF4-FFF2-40B4-BE49-F238E27FC236}">
                <a16:creationId xmlns:a16="http://schemas.microsoft.com/office/drawing/2014/main" id="{B4DD452E-43C6-1880-E53E-799B7D97D603}"/>
              </a:ext>
            </a:extLst>
          </p:cNvPr>
          <p:cNvSpPr txBox="1"/>
          <p:nvPr/>
        </p:nvSpPr>
        <p:spPr>
          <a:xfrm>
            <a:off x="1115848" y="2853923"/>
            <a:ext cx="2530929" cy="1384995"/>
          </a:xfrm>
          <a:prstGeom prst="rect">
            <a:avLst/>
          </a:prstGeom>
          <a:noFill/>
        </p:spPr>
        <p:txBody>
          <a:bodyPr wrap="square">
            <a:spAutoFit/>
          </a:bodyPr>
          <a:lstStyle/>
          <a:p>
            <a:pPr algn="ctr"/>
            <a:r>
              <a:rPr lang="en-GB" b="1" dirty="0"/>
              <a:t>What’s the level of interest rate?</a:t>
            </a:r>
          </a:p>
          <a:p>
            <a:pPr algn="ctr"/>
            <a:endParaRPr lang="en-GB" b="1" dirty="0"/>
          </a:p>
          <a:p>
            <a:pPr algn="ctr"/>
            <a:r>
              <a:rPr lang="en-GB" dirty="0"/>
              <a:t>Bet on Interest Rate Risk</a:t>
            </a:r>
          </a:p>
          <a:p>
            <a:pPr algn="ctr"/>
            <a:endParaRPr lang="en-GB" dirty="0"/>
          </a:p>
          <a:p>
            <a:pPr algn="ctr"/>
            <a:r>
              <a:rPr lang="en-GB" dirty="0"/>
              <a:t>Macro</a:t>
            </a:r>
          </a:p>
        </p:txBody>
      </p:sp>
      <p:sp>
        <p:nvSpPr>
          <p:cNvPr id="8" name="TextBox 7">
            <a:extLst>
              <a:ext uri="{FF2B5EF4-FFF2-40B4-BE49-F238E27FC236}">
                <a16:creationId xmlns:a16="http://schemas.microsoft.com/office/drawing/2014/main" id="{985B75F6-35D8-ACDA-2AAD-35639D3A93B6}"/>
              </a:ext>
            </a:extLst>
          </p:cNvPr>
          <p:cNvSpPr txBox="1"/>
          <p:nvPr/>
        </p:nvSpPr>
        <p:spPr>
          <a:xfrm>
            <a:off x="4966670" y="2853922"/>
            <a:ext cx="2530929" cy="1384995"/>
          </a:xfrm>
          <a:prstGeom prst="rect">
            <a:avLst/>
          </a:prstGeom>
          <a:noFill/>
        </p:spPr>
        <p:txBody>
          <a:bodyPr wrap="square">
            <a:spAutoFit/>
          </a:bodyPr>
          <a:lstStyle/>
          <a:p>
            <a:pPr algn="ctr"/>
            <a:r>
              <a:rPr lang="en-GB" b="1" dirty="0"/>
              <a:t>Will the borrower</a:t>
            </a:r>
          </a:p>
          <a:p>
            <a:pPr algn="ctr"/>
            <a:r>
              <a:rPr lang="en-GB" b="1" dirty="0"/>
              <a:t>default?</a:t>
            </a:r>
          </a:p>
          <a:p>
            <a:pPr algn="ctr"/>
            <a:endParaRPr lang="en-GB" b="1" dirty="0"/>
          </a:p>
          <a:p>
            <a:pPr algn="ctr"/>
            <a:r>
              <a:rPr lang="en-GB" dirty="0"/>
              <a:t>Bet on Credit Risk</a:t>
            </a:r>
          </a:p>
          <a:p>
            <a:pPr algn="ctr"/>
            <a:endParaRPr lang="en-GB" dirty="0"/>
          </a:p>
          <a:p>
            <a:pPr algn="ctr"/>
            <a:r>
              <a:rPr lang="en-GB" dirty="0"/>
              <a:t>Borrower-specific</a:t>
            </a:r>
          </a:p>
        </p:txBody>
      </p:sp>
    </p:spTree>
    <p:extLst>
      <p:ext uri="{BB962C8B-B14F-4D97-AF65-F5344CB8AC3E}">
        <p14:creationId xmlns:p14="http://schemas.microsoft.com/office/powerpoint/2010/main" val="2242397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7B2DFAF3-44DB-3F33-C747-4516AF41E15E}"/>
            </a:ext>
          </a:extLst>
        </p:cNvPr>
        <p:cNvGrpSpPr/>
        <p:nvPr/>
      </p:nvGrpSpPr>
      <p:grpSpPr>
        <a:xfrm>
          <a:off x="0" y="0"/>
          <a:ext cx="0" cy="0"/>
          <a:chOff x="0" y="0"/>
          <a:chExt cx="0" cy="0"/>
        </a:xfrm>
      </p:grpSpPr>
      <p:sp>
        <p:nvSpPr>
          <p:cNvPr id="69" name="Google Shape;69;p3">
            <a:extLst>
              <a:ext uri="{FF2B5EF4-FFF2-40B4-BE49-F238E27FC236}">
                <a16:creationId xmlns:a16="http://schemas.microsoft.com/office/drawing/2014/main" id="{E0A904C4-112B-52B5-517B-6175B1F6BE1F}"/>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Yield Curve</a:t>
            </a:r>
            <a:endParaRPr b="1" dirty="0"/>
          </a:p>
        </p:txBody>
      </p:sp>
      <p:sp>
        <p:nvSpPr>
          <p:cNvPr id="73" name="Google Shape;73;p3">
            <a:extLst>
              <a:ext uri="{FF2B5EF4-FFF2-40B4-BE49-F238E27FC236}">
                <a16:creationId xmlns:a16="http://schemas.microsoft.com/office/drawing/2014/main" id="{BDD83576-D7BC-DAB2-B813-A51AAA3AE845}"/>
              </a:ext>
            </a:extLst>
          </p:cNvPr>
          <p:cNvSpPr txBox="1"/>
          <p:nvPr/>
        </p:nvSpPr>
        <p:spPr>
          <a:xfrm>
            <a:off x="95250" y="4830025"/>
            <a:ext cx="1020600" cy="1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dk1"/>
              </a:solidFill>
            </a:endParaRPr>
          </a:p>
        </p:txBody>
      </p:sp>
      <p:pic>
        <p:nvPicPr>
          <p:cNvPr id="4" name="Picture 2" descr="Inverted yield curves – what do they mean? – Actuaries in government">
            <a:extLst>
              <a:ext uri="{FF2B5EF4-FFF2-40B4-BE49-F238E27FC236}">
                <a16:creationId xmlns:a16="http://schemas.microsoft.com/office/drawing/2014/main" id="{CD43EA87-F110-FD19-6283-231549EAE6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00" y="1216478"/>
            <a:ext cx="5771671" cy="3249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5443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Short-end, Belly, Long-end Rates</a:t>
            </a:r>
            <a:endParaRPr b="1" dirty="0"/>
          </a:p>
        </p:txBody>
      </p:sp>
      <p:sp>
        <p:nvSpPr>
          <p:cNvPr id="80" name="Google Shape;80;p4"/>
          <p:cNvSpPr txBox="1">
            <a:spLocks noGrp="1"/>
          </p:cNvSpPr>
          <p:nvPr>
            <p:ph type="body" idx="1"/>
          </p:nvPr>
        </p:nvSpPr>
        <p:spPr>
          <a:xfrm>
            <a:off x="311700" y="1152475"/>
            <a:ext cx="8254076" cy="3416400"/>
          </a:xfrm>
          <a:prstGeom prst="rect">
            <a:avLst/>
          </a:prstGeom>
          <a:noFill/>
          <a:ln>
            <a:noFill/>
          </a:ln>
        </p:spPr>
        <p:txBody>
          <a:bodyPr spcFirstLastPara="1" wrap="square" lIns="91425" tIns="91425" rIns="91425" bIns="91425" anchor="t" anchorCtr="0">
            <a:normAutofit/>
          </a:bodyPr>
          <a:lstStyle/>
          <a:p>
            <a:pPr marL="457200" lvl="0" indent="-304800" algn="l" rtl="0">
              <a:lnSpc>
                <a:spcPct val="107000"/>
              </a:lnSpc>
              <a:spcBef>
                <a:spcPts val="0"/>
              </a:spcBef>
              <a:spcAft>
                <a:spcPts val="0"/>
              </a:spcAft>
              <a:buSzPts val="1200"/>
              <a:buChar char="●"/>
            </a:pPr>
            <a:r>
              <a:rPr lang="en-SG" sz="1200" dirty="0">
                <a:solidFill>
                  <a:schemeClr val="dk1"/>
                </a:solidFill>
                <a:latin typeface="Arial"/>
                <a:ea typeface="Arial"/>
                <a:cs typeface="Arial"/>
                <a:sym typeface="Arial"/>
              </a:rPr>
              <a:t>Interest rates essentially make you decide whether you save or spend money, which effectively affects economic activity</a:t>
            </a:r>
            <a:endParaRPr lang="en-SG" sz="1200" dirty="0">
              <a:solidFill>
                <a:schemeClr val="dk1"/>
              </a:solidFill>
            </a:endParaRPr>
          </a:p>
          <a:p>
            <a:pPr marL="457200" lvl="0" indent="-304800" algn="l" rtl="0">
              <a:lnSpc>
                <a:spcPct val="107000"/>
              </a:lnSpc>
              <a:spcBef>
                <a:spcPts val="0"/>
              </a:spcBef>
              <a:spcAft>
                <a:spcPts val="0"/>
              </a:spcAft>
              <a:buSzPts val="1200"/>
              <a:buChar char="●"/>
            </a:pPr>
            <a:r>
              <a:rPr lang="en-SG" sz="1200" dirty="0">
                <a:solidFill>
                  <a:schemeClr val="dk1"/>
                </a:solidFill>
                <a:latin typeface="Arial"/>
                <a:ea typeface="Arial"/>
                <a:cs typeface="Arial"/>
                <a:sym typeface="Arial"/>
              </a:rPr>
              <a:t>Higher interest rates means more expensive borrowing and more attractive saving, so economy cools as folks spend less, business invest less into projects </a:t>
            </a:r>
            <a:endParaRPr sz="1200" dirty="0"/>
          </a:p>
          <a:p>
            <a:pPr marL="457200" lvl="0" indent="-304800" algn="l" rtl="0">
              <a:lnSpc>
                <a:spcPct val="150000"/>
              </a:lnSpc>
              <a:spcBef>
                <a:spcPts val="0"/>
              </a:spcBef>
              <a:spcAft>
                <a:spcPts val="0"/>
              </a:spcAft>
              <a:buClr>
                <a:schemeClr val="dk1"/>
              </a:buClr>
              <a:buSzPts val="1200"/>
              <a:buChar char="●"/>
            </a:pPr>
            <a:r>
              <a:rPr lang="en-SG" sz="1200" dirty="0">
                <a:solidFill>
                  <a:schemeClr val="dk1"/>
                </a:solidFill>
              </a:rPr>
              <a:t>US issues bonds up to 30 year maturity, each bucket of maturity is affected by different factors</a:t>
            </a:r>
          </a:p>
          <a:p>
            <a:pPr lvl="1" indent="-304800">
              <a:lnSpc>
                <a:spcPct val="150000"/>
              </a:lnSpc>
              <a:buClr>
                <a:schemeClr val="dk1"/>
              </a:buClr>
              <a:buSzPts val="1200"/>
              <a:buFont typeface="Courier New" panose="02070309020205020404" pitchFamily="49" charset="0"/>
              <a:buChar char="o"/>
            </a:pPr>
            <a:r>
              <a:rPr lang="en-SG" sz="1200" dirty="0">
                <a:solidFill>
                  <a:schemeClr val="dk1"/>
                </a:solidFill>
              </a:rPr>
              <a:t>Short-end (</a:t>
            </a:r>
            <a:r>
              <a:rPr lang="en-SG" sz="1200" dirty="0">
                <a:solidFill>
                  <a:srgbClr val="FF0000"/>
                </a:solidFill>
              </a:rPr>
              <a:t>1-month to 2-year</a:t>
            </a:r>
            <a:r>
              <a:rPr lang="en-SG" sz="1200" dirty="0">
                <a:solidFill>
                  <a:schemeClr val="dk1"/>
                </a:solidFill>
              </a:rPr>
              <a:t>): current and immediate path of policy rate (what’s the Fed doing today?)</a:t>
            </a:r>
          </a:p>
          <a:p>
            <a:pPr lvl="1" indent="-304800">
              <a:lnSpc>
                <a:spcPct val="150000"/>
              </a:lnSpc>
              <a:buClr>
                <a:schemeClr val="dk1"/>
              </a:buClr>
              <a:buSzPts val="1200"/>
              <a:buFont typeface="Courier New" panose="02070309020205020404" pitchFamily="49" charset="0"/>
              <a:buChar char="o"/>
            </a:pPr>
            <a:r>
              <a:rPr lang="en-SG" sz="1200" dirty="0">
                <a:solidFill>
                  <a:schemeClr val="dk1"/>
                </a:solidFill>
              </a:rPr>
              <a:t>Belly (</a:t>
            </a:r>
            <a:r>
              <a:rPr lang="en-SG" sz="1200" dirty="0">
                <a:solidFill>
                  <a:srgbClr val="FF0000"/>
                </a:solidFill>
              </a:rPr>
              <a:t>3- to 7-year</a:t>
            </a:r>
            <a:r>
              <a:rPr lang="en-SG" sz="1200" dirty="0">
                <a:solidFill>
                  <a:schemeClr val="dk1"/>
                </a:solidFill>
              </a:rPr>
              <a:t>): intermediate path of policy rate and business cycle (when will the Fed pivot?)</a:t>
            </a:r>
          </a:p>
          <a:p>
            <a:pPr lvl="1" indent="-304800">
              <a:lnSpc>
                <a:spcPct val="150000"/>
              </a:lnSpc>
              <a:buClr>
                <a:schemeClr val="dk1"/>
              </a:buClr>
              <a:buSzPts val="1200"/>
              <a:buFont typeface="Courier New" panose="02070309020205020404" pitchFamily="49" charset="0"/>
              <a:buChar char="o"/>
            </a:pPr>
            <a:r>
              <a:rPr lang="en-SG" sz="1200" dirty="0">
                <a:solidFill>
                  <a:schemeClr val="dk1"/>
                </a:solidFill>
              </a:rPr>
              <a:t>Long-end (</a:t>
            </a:r>
            <a:r>
              <a:rPr lang="en-SG" sz="1200" dirty="0">
                <a:solidFill>
                  <a:srgbClr val="FF0000"/>
                </a:solidFill>
              </a:rPr>
              <a:t>10-year to 30-year</a:t>
            </a:r>
            <a:r>
              <a:rPr lang="en-SG" sz="1200" dirty="0">
                <a:solidFill>
                  <a:schemeClr val="dk1"/>
                </a:solidFill>
              </a:rPr>
              <a:t>): long-term economic prospects (what’s the long-term inflation/growth?)</a:t>
            </a:r>
            <a:endParaRPr sz="1200" dirty="0">
              <a:solidFill>
                <a:schemeClr val="dk1"/>
              </a:solidFill>
            </a:endParaRPr>
          </a:p>
          <a:p>
            <a:pPr marL="139700" lvl="0" indent="0" algn="l" rtl="0">
              <a:lnSpc>
                <a:spcPct val="150000"/>
              </a:lnSpc>
              <a:spcBef>
                <a:spcPts val="0"/>
              </a:spcBef>
              <a:spcAft>
                <a:spcPts val="0"/>
              </a:spcAft>
              <a:buClr>
                <a:schemeClr val="dk1"/>
              </a:buClr>
              <a:buSzPts val="1400"/>
              <a:buNone/>
            </a:pPr>
            <a:endParaRPr sz="1400"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589793BF-CB89-187B-C361-C4B58B187024}"/>
            </a:ext>
          </a:extLst>
        </p:cNvPr>
        <p:cNvGrpSpPr/>
        <p:nvPr/>
      </p:nvGrpSpPr>
      <p:grpSpPr>
        <a:xfrm>
          <a:off x="0" y="0"/>
          <a:ext cx="0" cy="0"/>
          <a:chOff x="0" y="0"/>
          <a:chExt cx="0" cy="0"/>
        </a:xfrm>
      </p:grpSpPr>
      <p:sp>
        <p:nvSpPr>
          <p:cNvPr id="79" name="Google Shape;79;p4">
            <a:extLst>
              <a:ext uri="{FF2B5EF4-FFF2-40B4-BE49-F238E27FC236}">
                <a16:creationId xmlns:a16="http://schemas.microsoft.com/office/drawing/2014/main" id="{7EB643D9-042D-15E0-E07B-EB5D0FF35375}"/>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Longer you go, the bond is more influenced by TP</a:t>
            </a:r>
            <a:endParaRPr b="1" dirty="0"/>
          </a:p>
        </p:txBody>
      </p:sp>
      <p:pic>
        <p:nvPicPr>
          <p:cNvPr id="7" name="Picture 6">
            <a:extLst>
              <a:ext uri="{FF2B5EF4-FFF2-40B4-BE49-F238E27FC236}">
                <a16:creationId xmlns:a16="http://schemas.microsoft.com/office/drawing/2014/main" id="{5A067361-EAB6-7B08-7A12-9B40640F9B6B}"/>
              </a:ext>
            </a:extLst>
          </p:cNvPr>
          <p:cNvPicPr>
            <a:picLocks noChangeAspect="1"/>
          </p:cNvPicPr>
          <p:nvPr/>
        </p:nvPicPr>
        <p:blipFill>
          <a:blip r:embed="rId3"/>
          <a:stretch>
            <a:fillRect/>
          </a:stretch>
        </p:blipFill>
        <p:spPr>
          <a:xfrm>
            <a:off x="591101" y="2314840"/>
            <a:ext cx="4421643" cy="2518699"/>
          </a:xfrm>
          <a:prstGeom prst="rect">
            <a:avLst/>
          </a:prstGeom>
        </p:spPr>
      </p:pic>
      <p:sp>
        <p:nvSpPr>
          <p:cNvPr id="9" name="TextBox 8">
            <a:extLst>
              <a:ext uri="{FF2B5EF4-FFF2-40B4-BE49-F238E27FC236}">
                <a16:creationId xmlns:a16="http://schemas.microsoft.com/office/drawing/2014/main" id="{FD888853-388A-0D20-5FC0-FFD95DF8E280}"/>
              </a:ext>
            </a:extLst>
          </p:cNvPr>
          <p:cNvSpPr txBox="1"/>
          <p:nvPr/>
        </p:nvSpPr>
        <p:spPr>
          <a:xfrm>
            <a:off x="414866" y="1261534"/>
            <a:ext cx="7179734" cy="954107"/>
          </a:xfrm>
          <a:prstGeom prst="rect">
            <a:avLst/>
          </a:prstGeom>
          <a:noFill/>
        </p:spPr>
        <p:txBody>
          <a:bodyPr wrap="square">
            <a:spAutoFit/>
          </a:bodyPr>
          <a:lstStyle/>
          <a:p>
            <a:r>
              <a:rPr lang="en-SG" dirty="0">
                <a:solidFill>
                  <a:schemeClr val="dk1"/>
                </a:solidFill>
              </a:rPr>
              <a:t>Long-term rate = expected short-term rates + term premium</a:t>
            </a:r>
          </a:p>
          <a:p>
            <a:endParaRPr lang="en-SG" dirty="0">
              <a:solidFill>
                <a:schemeClr val="dk1"/>
              </a:solidFill>
            </a:endParaRPr>
          </a:p>
          <a:p>
            <a:r>
              <a:rPr lang="en-SG" dirty="0">
                <a:solidFill>
                  <a:schemeClr val="dk1"/>
                </a:solidFill>
              </a:rPr>
              <a:t>I can roll a series of short-term rates into a long-term rate, but it’s not guaranteed the rates don’t change! TP is my </a:t>
            </a:r>
            <a:r>
              <a:rPr lang="en-SG" b="1" u="sng" dirty="0">
                <a:solidFill>
                  <a:srgbClr val="FF0000"/>
                </a:solidFill>
              </a:rPr>
              <a:t>insurance</a:t>
            </a:r>
            <a:r>
              <a:rPr lang="en-SG" dirty="0">
                <a:solidFill>
                  <a:schemeClr val="dk1"/>
                </a:solidFill>
              </a:rPr>
              <a:t>!</a:t>
            </a:r>
            <a:endParaRPr lang="en-GB" dirty="0"/>
          </a:p>
        </p:txBody>
      </p:sp>
    </p:spTree>
    <p:extLst>
      <p:ext uri="{BB962C8B-B14F-4D97-AF65-F5344CB8AC3E}">
        <p14:creationId xmlns:p14="http://schemas.microsoft.com/office/powerpoint/2010/main" val="1701660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AFA71-B7D4-6272-AABD-71870B9239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AF8FCE-3A9F-9830-FE71-F461236A470B}"/>
              </a:ext>
            </a:extLst>
          </p:cNvPr>
          <p:cNvSpPr>
            <a:spLocks noGrp="1"/>
          </p:cNvSpPr>
          <p:nvPr>
            <p:ph type="title"/>
          </p:nvPr>
        </p:nvSpPr>
        <p:spPr/>
        <p:txBody>
          <a:bodyPr/>
          <a:lstStyle/>
          <a:p>
            <a:pPr>
              <a:buClr>
                <a:schemeClr val="tx1"/>
              </a:buClr>
              <a:buSzPct val="100000"/>
            </a:pPr>
            <a:r>
              <a:rPr lang="en-GB" altLang="en-US" b="1" dirty="0">
                <a:solidFill>
                  <a:schemeClr val="tx1"/>
                </a:solidFill>
                <a:ea typeface="ＭＳ Ｐゴシック" panose="020B0600070205080204" pitchFamily="34" charset="-128"/>
              </a:rPr>
              <a:t>Post-08 changes in monetary policy</a:t>
            </a:r>
          </a:p>
        </p:txBody>
      </p:sp>
    </p:spTree>
    <p:extLst>
      <p:ext uri="{BB962C8B-B14F-4D97-AF65-F5344CB8AC3E}">
        <p14:creationId xmlns:p14="http://schemas.microsoft.com/office/powerpoint/2010/main" val="1198222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1077C-5383-8234-0B32-ED81CB908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3D792-A226-C5F1-838D-CF47E293224D}"/>
              </a:ext>
            </a:extLst>
          </p:cNvPr>
          <p:cNvSpPr>
            <a:spLocks noGrp="1"/>
          </p:cNvSpPr>
          <p:nvPr>
            <p:ph type="title"/>
          </p:nvPr>
        </p:nvSpPr>
        <p:spPr/>
        <p:txBody>
          <a:bodyPr>
            <a:normAutofit fontScale="90000"/>
          </a:bodyPr>
          <a:lstStyle/>
          <a:p>
            <a:r>
              <a:rPr lang="en-SG" b="1" dirty="0"/>
              <a:t>History of US interest rates</a:t>
            </a:r>
            <a:endParaRPr lang="en-GB" dirty="0"/>
          </a:p>
        </p:txBody>
      </p:sp>
      <p:pic>
        <p:nvPicPr>
          <p:cNvPr id="7" name="Picture 6">
            <a:extLst>
              <a:ext uri="{FF2B5EF4-FFF2-40B4-BE49-F238E27FC236}">
                <a16:creationId xmlns:a16="http://schemas.microsoft.com/office/drawing/2014/main" id="{7CC3BC63-41D2-41F6-2B55-14BBBDF32F6E}"/>
              </a:ext>
            </a:extLst>
          </p:cNvPr>
          <p:cNvPicPr>
            <a:picLocks noChangeAspect="1"/>
          </p:cNvPicPr>
          <p:nvPr/>
        </p:nvPicPr>
        <p:blipFill>
          <a:blip r:embed="rId2"/>
          <a:stretch>
            <a:fillRect/>
          </a:stretch>
        </p:blipFill>
        <p:spPr>
          <a:xfrm>
            <a:off x="833966" y="1502722"/>
            <a:ext cx="7476067" cy="3049448"/>
          </a:xfrm>
          <a:prstGeom prst="rect">
            <a:avLst/>
          </a:prstGeom>
        </p:spPr>
      </p:pic>
    </p:spTree>
    <p:extLst>
      <p:ext uri="{BB962C8B-B14F-4D97-AF65-F5344CB8AC3E}">
        <p14:creationId xmlns:p14="http://schemas.microsoft.com/office/powerpoint/2010/main" val="1979920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2DF09-A480-3442-C72E-44039808A320}"/>
              </a:ext>
            </a:extLst>
          </p:cNvPr>
          <p:cNvSpPr>
            <a:spLocks noGrp="1"/>
          </p:cNvSpPr>
          <p:nvPr>
            <p:ph type="title"/>
          </p:nvPr>
        </p:nvSpPr>
        <p:spPr/>
        <p:txBody>
          <a:bodyPr>
            <a:normAutofit fontScale="90000"/>
          </a:bodyPr>
          <a:lstStyle/>
          <a:p>
            <a:r>
              <a:rPr lang="en-SG" b="1" dirty="0"/>
              <a:t>Cutting rates below 0?</a:t>
            </a:r>
            <a:endParaRPr lang="en-GB" dirty="0"/>
          </a:p>
        </p:txBody>
      </p:sp>
      <p:sp>
        <p:nvSpPr>
          <p:cNvPr id="3" name="Text Placeholder 2">
            <a:extLst>
              <a:ext uri="{FF2B5EF4-FFF2-40B4-BE49-F238E27FC236}">
                <a16:creationId xmlns:a16="http://schemas.microsoft.com/office/drawing/2014/main" id="{6755F1D8-587C-8EFC-F6BA-0C6FB02471C8}"/>
              </a:ext>
            </a:extLst>
          </p:cNvPr>
          <p:cNvSpPr>
            <a:spLocks noGrp="1"/>
          </p:cNvSpPr>
          <p:nvPr>
            <p:ph type="body" idx="1"/>
          </p:nvPr>
        </p:nvSpPr>
        <p:spPr/>
        <p:txBody>
          <a:bodyPr>
            <a:normAutofit/>
          </a:bodyPr>
          <a:lstStyle/>
          <a:p>
            <a:pPr>
              <a:buClr>
                <a:schemeClr val="tx1"/>
              </a:buClr>
              <a:buFont typeface="Arial" panose="020B0604020202020204" pitchFamily="34" charset="0"/>
              <a:buChar char="•"/>
            </a:pPr>
            <a:r>
              <a:rPr lang="en-GB" sz="1400" dirty="0">
                <a:solidFill>
                  <a:schemeClr val="tx1"/>
                </a:solidFill>
              </a:rPr>
              <a:t>Great Recession after GFC</a:t>
            </a:r>
          </a:p>
          <a:p>
            <a:pPr>
              <a:buClr>
                <a:schemeClr val="tx1"/>
              </a:buClr>
              <a:buFont typeface="Arial" panose="020B0604020202020204" pitchFamily="34" charset="0"/>
              <a:buChar char="•"/>
            </a:pPr>
            <a:endParaRPr lang="en-GB" sz="1400" dirty="0">
              <a:solidFill>
                <a:schemeClr val="tx1"/>
              </a:solidFill>
            </a:endParaRPr>
          </a:p>
          <a:p>
            <a:pPr>
              <a:buClr>
                <a:schemeClr val="tx1"/>
              </a:buClr>
              <a:buFont typeface="Arial" panose="020B0604020202020204" pitchFamily="34" charset="0"/>
              <a:buChar char="•"/>
            </a:pPr>
            <a:r>
              <a:rPr lang="en-GB" sz="1400" dirty="0">
                <a:solidFill>
                  <a:schemeClr val="tx1"/>
                </a:solidFill>
              </a:rPr>
              <a:t>Fed cut rates from 5.50% to 0.50%</a:t>
            </a:r>
          </a:p>
          <a:p>
            <a:pPr>
              <a:buClr>
                <a:schemeClr val="tx1"/>
              </a:buClr>
              <a:buFont typeface="Arial" panose="020B0604020202020204" pitchFamily="34" charset="0"/>
              <a:buChar char="•"/>
            </a:pPr>
            <a:endParaRPr lang="en-GB" sz="1400" dirty="0">
              <a:solidFill>
                <a:schemeClr val="tx1"/>
              </a:solidFill>
            </a:endParaRPr>
          </a:p>
          <a:p>
            <a:pPr>
              <a:buClr>
                <a:schemeClr val="tx1"/>
              </a:buClr>
              <a:buFont typeface="Arial" panose="020B0604020202020204" pitchFamily="34" charset="0"/>
              <a:buChar char="•"/>
            </a:pPr>
            <a:r>
              <a:rPr lang="en-GB" sz="1400" dirty="0">
                <a:solidFill>
                  <a:schemeClr val="tx1"/>
                </a:solidFill>
              </a:rPr>
              <a:t>You can’t cut rates below 0%</a:t>
            </a:r>
          </a:p>
          <a:p>
            <a:pPr lvl="1">
              <a:buClr>
                <a:schemeClr val="tx1"/>
              </a:buClr>
              <a:buFont typeface="Arial" panose="020B0604020202020204" pitchFamily="34" charset="0"/>
              <a:buChar char="•"/>
            </a:pPr>
            <a:r>
              <a:rPr lang="en-GB" sz="1100" dirty="0">
                <a:solidFill>
                  <a:schemeClr val="tx1"/>
                </a:solidFill>
              </a:rPr>
              <a:t>Why?</a:t>
            </a:r>
          </a:p>
        </p:txBody>
      </p:sp>
    </p:spTree>
    <p:extLst>
      <p:ext uri="{BB962C8B-B14F-4D97-AF65-F5344CB8AC3E}">
        <p14:creationId xmlns:p14="http://schemas.microsoft.com/office/powerpoint/2010/main" val="2632042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84B53-BF44-99D9-B183-C640A193F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5987A-53BE-557D-F233-5EF78147752E}"/>
              </a:ext>
            </a:extLst>
          </p:cNvPr>
          <p:cNvSpPr>
            <a:spLocks noGrp="1"/>
          </p:cNvSpPr>
          <p:nvPr>
            <p:ph type="title"/>
          </p:nvPr>
        </p:nvSpPr>
        <p:spPr/>
        <p:txBody>
          <a:bodyPr>
            <a:normAutofit fontScale="90000"/>
          </a:bodyPr>
          <a:lstStyle/>
          <a:p>
            <a:r>
              <a:rPr lang="en-SG" b="1" dirty="0"/>
              <a:t>Cutting rates below 0?</a:t>
            </a:r>
            <a:endParaRPr lang="en-GB" dirty="0"/>
          </a:p>
        </p:txBody>
      </p:sp>
      <p:sp>
        <p:nvSpPr>
          <p:cNvPr id="3" name="Text Placeholder 2">
            <a:extLst>
              <a:ext uri="{FF2B5EF4-FFF2-40B4-BE49-F238E27FC236}">
                <a16:creationId xmlns:a16="http://schemas.microsoft.com/office/drawing/2014/main" id="{47B21D0A-1A80-B74A-B003-36B142EA36F6}"/>
              </a:ext>
            </a:extLst>
          </p:cNvPr>
          <p:cNvSpPr>
            <a:spLocks noGrp="1"/>
          </p:cNvSpPr>
          <p:nvPr>
            <p:ph type="body" idx="1"/>
          </p:nvPr>
        </p:nvSpPr>
        <p:spPr/>
        <p:txBody>
          <a:bodyPr>
            <a:normAutofit/>
          </a:bodyPr>
          <a:lstStyle/>
          <a:p>
            <a:pPr>
              <a:buClr>
                <a:schemeClr val="tx1"/>
              </a:buClr>
              <a:buFont typeface="Arial" panose="020B0604020202020204" pitchFamily="34" charset="0"/>
              <a:buChar char="•"/>
            </a:pPr>
            <a:r>
              <a:rPr lang="en-GB" sz="1400" dirty="0">
                <a:solidFill>
                  <a:schemeClr val="tx1"/>
                </a:solidFill>
              </a:rPr>
              <a:t>Great Recession after GFC</a:t>
            </a:r>
          </a:p>
          <a:p>
            <a:pPr>
              <a:buClr>
                <a:schemeClr val="tx1"/>
              </a:buClr>
              <a:buFont typeface="Arial" panose="020B0604020202020204" pitchFamily="34" charset="0"/>
              <a:buChar char="•"/>
            </a:pPr>
            <a:endParaRPr lang="en-GB" sz="1400" dirty="0">
              <a:solidFill>
                <a:schemeClr val="tx1"/>
              </a:solidFill>
            </a:endParaRPr>
          </a:p>
          <a:p>
            <a:pPr>
              <a:buClr>
                <a:schemeClr val="tx1"/>
              </a:buClr>
              <a:buFont typeface="Arial" panose="020B0604020202020204" pitchFamily="34" charset="0"/>
              <a:buChar char="•"/>
            </a:pPr>
            <a:r>
              <a:rPr lang="en-GB" sz="1400" dirty="0">
                <a:solidFill>
                  <a:schemeClr val="tx1"/>
                </a:solidFill>
              </a:rPr>
              <a:t>Fed cut rates from 5.50% to 0.50%</a:t>
            </a:r>
          </a:p>
          <a:p>
            <a:pPr>
              <a:buClr>
                <a:schemeClr val="tx1"/>
              </a:buClr>
              <a:buFont typeface="Arial" panose="020B0604020202020204" pitchFamily="34" charset="0"/>
              <a:buChar char="•"/>
            </a:pPr>
            <a:endParaRPr lang="en-GB" sz="1400" dirty="0">
              <a:solidFill>
                <a:schemeClr val="tx1"/>
              </a:solidFill>
            </a:endParaRPr>
          </a:p>
          <a:p>
            <a:pPr>
              <a:buClr>
                <a:schemeClr val="tx1"/>
              </a:buClr>
              <a:buFont typeface="Arial" panose="020B0604020202020204" pitchFamily="34" charset="0"/>
              <a:buChar char="•"/>
            </a:pPr>
            <a:r>
              <a:rPr lang="en-GB" sz="1400" dirty="0">
                <a:solidFill>
                  <a:schemeClr val="tx1"/>
                </a:solidFill>
              </a:rPr>
              <a:t>You can’t cut rates below 0%</a:t>
            </a:r>
          </a:p>
          <a:p>
            <a:pPr lvl="1">
              <a:buClr>
                <a:schemeClr val="tx1"/>
              </a:buClr>
              <a:buFont typeface="Arial" panose="020B0604020202020204" pitchFamily="34" charset="0"/>
              <a:buChar char="•"/>
            </a:pPr>
            <a:r>
              <a:rPr lang="en-GB" sz="1100" dirty="0">
                <a:solidFill>
                  <a:schemeClr val="tx1"/>
                </a:solidFill>
              </a:rPr>
              <a:t>Why?</a:t>
            </a:r>
          </a:p>
          <a:p>
            <a:pPr lvl="2">
              <a:buClr>
                <a:schemeClr val="tx1"/>
              </a:buClr>
              <a:buFont typeface="Arial" panose="020B0604020202020204" pitchFamily="34" charset="0"/>
              <a:buChar char="•"/>
            </a:pPr>
            <a:r>
              <a:rPr lang="en-GB" sz="1100" dirty="0">
                <a:solidFill>
                  <a:schemeClr val="tx1"/>
                </a:solidFill>
              </a:rPr>
              <a:t>It means if you deposit money at banks, you have to pay for it!</a:t>
            </a:r>
          </a:p>
          <a:p>
            <a:pPr lvl="2">
              <a:buClr>
                <a:schemeClr val="tx1"/>
              </a:buClr>
              <a:buFont typeface="Arial" panose="020B0604020202020204" pitchFamily="34" charset="0"/>
              <a:buChar char="•"/>
            </a:pPr>
            <a:r>
              <a:rPr lang="en-GB" sz="1100" dirty="0">
                <a:solidFill>
                  <a:schemeClr val="tx1"/>
                </a:solidFill>
              </a:rPr>
              <a:t>People will have to withdraw money from their bank accounts</a:t>
            </a:r>
          </a:p>
          <a:p>
            <a:pPr lvl="2">
              <a:buClr>
                <a:schemeClr val="tx1"/>
              </a:buClr>
              <a:buFont typeface="Arial" panose="020B0604020202020204" pitchFamily="34" charset="0"/>
              <a:buChar char="•"/>
            </a:pPr>
            <a:r>
              <a:rPr lang="en-GB" sz="1100" dirty="0">
                <a:solidFill>
                  <a:schemeClr val="tx1"/>
                </a:solidFill>
              </a:rPr>
              <a:t>Monetary policy works by influencing savings and investment decisions, </a:t>
            </a:r>
            <a:r>
              <a:rPr lang="en-GB" sz="1100" dirty="0">
                <a:solidFill>
                  <a:srgbClr val="FF0000"/>
                </a:solidFill>
              </a:rPr>
              <a:t>no savings – monetary policy will no longer work!</a:t>
            </a:r>
          </a:p>
          <a:p>
            <a:pPr lvl="2">
              <a:buClr>
                <a:schemeClr val="tx1"/>
              </a:buClr>
              <a:buFont typeface="Arial" panose="020B0604020202020204" pitchFamily="34" charset="0"/>
              <a:buChar char="•"/>
            </a:pPr>
            <a:endParaRPr lang="en-GB" sz="1100" dirty="0">
              <a:solidFill>
                <a:schemeClr val="tx1"/>
              </a:solidFill>
            </a:endParaRPr>
          </a:p>
        </p:txBody>
      </p:sp>
    </p:spTree>
    <p:extLst>
      <p:ext uri="{BB962C8B-B14F-4D97-AF65-F5344CB8AC3E}">
        <p14:creationId xmlns:p14="http://schemas.microsoft.com/office/powerpoint/2010/main" val="3183958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0CC3D-2425-B986-48F4-07A63BEFC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3B3A5-C41B-F374-906D-B8FD8D1CB146}"/>
              </a:ext>
            </a:extLst>
          </p:cNvPr>
          <p:cNvSpPr>
            <a:spLocks noGrp="1"/>
          </p:cNvSpPr>
          <p:nvPr>
            <p:ph type="title"/>
          </p:nvPr>
        </p:nvSpPr>
        <p:spPr/>
        <p:txBody>
          <a:bodyPr>
            <a:normAutofit fontScale="90000"/>
          </a:bodyPr>
          <a:lstStyle/>
          <a:p>
            <a:r>
              <a:rPr lang="en-SG" b="1" dirty="0"/>
              <a:t>So what did the Fed do instead?</a:t>
            </a:r>
            <a:endParaRPr lang="en-GB" dirty="0"/>
          </a:p>
        </p:txBody>
      </p:sp>
      <p:sp>
        <p:nvSpPr>
          <p:cNvPr id="3" name="Text Placeholder 2">
            <a:extLst>
              <a:ext uri="{FF2B5EF4-FFF2-40B4-BE49-F238E27FC236}">
                <a16:creationId xmlns:a16="http://schemas.microsoft.com/office/drawing/2014/main" id="{B5AE6244-929A-D512-56F0-3BF76A25DD49}"/>
              </a:ext>
            </a:extLst>
          </p:cNvPr>
          <p:cNvSpPr>
            <a:spLocks noGrp="1"/>
          </p:cNvSpPr>
          <p:nvPr>
            <p:ph type="body" idx="1"/>
          </p:nvPr>
        </p:nvSpPr>
        <p:spPr/>
        <p:txBody>
          <a:bodyPr>
            <a:normAutofit/>
          </a:bodyPr>
          <a:lstStyle/>
          <a:p>
            <a:pPr>
              <a:buClr>
                <a:schemeClr val="tx1"/>
              </a:buClr>
              <a:buFont typeface="Arial" panose="020B0604020202020204" pitchFamily="34" charset="0"/>
              <a:buChar char="•"/>
            </a:pPr>
            <a:r>
              <a:rPr lang="en-GB" sz="1400" dirty="0">
                <a:solidFill>
                  <a:schemeClr val="tx1"/>
                </a:solidFill>
              </a:rPr>
              <a:t>Quantitative Easing (QE): buying long-term government bonds</a:t>
            </a:r>
          </a:p>
          <a:p>
            <a:pPr lvl="1">
              <a:buClr>
                <a:schemeClr val="tx1"/>
              </a:buClr>
              <a:buFont typeface="Arial" panose="020B0604020202020204" pitchFamily="34" charset="0"/>
              <a:buChar char="•"/>
            </a:pPr>
            <a:r>
              <a:rPr lang="en-GB" sz="1100" dirty="0">
                <a:solidFill>
                  <a:schemeClr val="tx1"/>
                </a:solidFill>
              </a:rPr>
              <a:t>I (Fed) will pay you so you can spend money on things rather than save!</a:t>
            </a:r>
          </a:p>
          <a:p>
            <a:pPr lvl="1">
              <a:buClr>
                <a:schemeClr val="tx1"/>
              </a:buClr>
              <a:buFont typeface="Arial" panose="020B0604020202020204" pitchFamily="34" charset="0"/>
              <a:buChar char="•"/>
            </a:pPr>
            <a:r>
              <a:rPr lang="en-GB" sz="1100" dirty="0">
                <a:solidFill>
                  <a:schemeClr val="tx1"/>
                </a:solidFill>
              </a:rPr>
              <a:t>Conducting monetary policy on the long-end, not the short-end</a:t>
            </a:r>
          </a:p>
          <a:p>
            <a:pPr>
              <a:buClr>
                <a:schemeClr val="tx1"/>
              </a:buClr>
              <a:buFont typeface="Arial" panose="020B0604020202020204" pitchFamily="34" charset="0"/>
              <a:buChar char="•"/>
            </a:pPr>
            <a:r>
              <a:rPr lang="en-GB" sz="1400" dirty="0">
                <a:solidFill>
                  <a:schemeClr val="tx1"/>
                </a:solidFill>
                <a:sym typeface="Wingdings" panose="05000000000000000000" pitchFamily="2" charset="2"/>
              </a:rPr>
              <a:t>A Regime of </a:t>
            </a:r>
            <a:r>
              <a:rPr lang="en-GB" sz="1400" b="1" u="sng" dirty="0">
                <a:solidFill>
                  <a:srgbClr val="FF0000"/>
                </a:solidFill>
                <a:sym typeface="Wingdings" panose="05000000000000000000" pitchFamily="2" charset="2"/>
              </a:rPr>
              <a:t>ample reserves</a:t>
            </a:r>
          </a:p>
          <a:p>
            <a:pPr>
              <a:buClr>
                <a:schemeClr val="tx1"/>
              </a:buClr>
              <a:buFont typeface="Arial" panose="020B0604020202020204" pitchFamily="34" charset="0"/>
              <a:buChar char="•"/>
            </a:pPr>
            <a:endParaRPr lang="en-GB" sz="1400" dirty="0">
              <a:solidFill>
                <a:srgbClr val="FF0000"/>
              </a:solidFill>
            </a:endParaRPr>
          </a:p>
          <a:p>
            <a:pPr lvl="2">
              <a:buClr>
                <a:schemeClr val="tx1"/>
              </a:buClr>
              <a:buFont typeface="Arial" panose="020B0604020202020204" pitchFamily="34" charset="0"/>
              <a:buChar char="•"/>
            </a:pPr>
            <a:endParaRPr lang="en-GB" dirty="0">
              <a:solidFill>
                <a:schemeClr val="tx1"/>
              </a:solidFill>
            </a:endParaRPr>
          </a:p>
        </p:txBody>
      </p:sp>
    </p:spTree>
    <p:extLst>
      <p:ext uri="{BB962C8B-B14F-4D97-AF65-F5344CB8AC3E}">
        <p14:creationId xmlns:p14="http://schemas.microsoft.com/office/powerpoint/2010/main" val="558681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416F1-A199-6EF8-A46B-B6F1BC5D2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11B41-C32C-C857-7F75-D799ACC6DDB6}"/>
              </a:ext>
            </a:extLst>
          </p:cNvPr>
          <p:cNvSpPr>
            <a:spLocks noGrp="1"/>
          </p:cNvSpPr>
          <p:nvPr>
            <p:ph type="title"/>
          </p:nvPr>
        </p:nvSpPr>
        <p:spPr/>
        <p:txBody>
          <a:bodyPr>
            <a:normAutofit fontScale="90000"/>
          </a:bodyPr>
          <a:lstStyle/>
          <a:p>
            <a:r>
              <a:rPr lang="en-SG" b="1" dirty="0"/>
              <a:t>Then, inflation hit in 2022</a:t>
            </a:r>
            <a:endParaRPr lang="en-GB" dirty="0"/>
          </a:p>
        </p:txBody>
      </p:sp>
      <p:sp>
        <p:nvSpPr>
          <p:cNvPr id="3" name="Text Placeholder 2">
            <a:extLst>
              <a:ext uri="{FF2B5EF4-FFF2-40B4-BE49-F238E27FC236}">
                <a16:creationId xmlns:a16="http://schemas.microsoft.com/office/drawing/2014/main" id="{381B0C46-C3D3-EE69-6826-D22BA1399C2F}"/>
              </a:ext>
            </a:extLst>
          </p:cNvPr>
          <p:cNvSpPr>
            <a:spLocks noGrp="1"/>
          </p:cNvSpPr>
          <p:nvPr>
            <p:ph type="body" idx="1"/>
          </p:nvPr>
        </p:nvSpPr>
        <p:spPr/>
        <p:txBody>
          <a:bodyPr>
            <a:normAutofit/>
          </a:bodyPr>
          <a:lstStyle/>
          <a:p>
            <a:pPr>
              <a:buClr>
                <a:schemeClr val="tx1"/>
              </a:buClr>
              <a:buFont typeface="Arial" panose="020B0604020202020204" pitchFamily="34" charset="0"/>
              <a:buChar char="•"/>
            </a:pPr>
            <a:r>
              <a:rPr lang="en-GB" sz="1400" dirty="0">
                <a:solidFill>
                  <a:schemeClr val="tx1"/>
                </a:solidFill>
              </a:rPr>
              <a:t>Fed did the reverse – hiking rates + QT</a:t>
            </a:r>
            <a:endParaRPr lang="en-GB" sz="1100" dirty="0">
              <a:solidFill>
                <a:schemeClr val="tx1"/>
              </a:solidFill>
            </a:endParaRPr>
          </a:p>
          <a:p>
            <a:pPr>
              <a:buClr>
                <a:schemeClr val="tx1"/>
              </a:buClr>
              <a:buFont typeface="Arial" panose="020B0604020202020204" pitchFamily="34" charset="0"/>
              <a:buChar char="•"/>
            </a:pPr>
            <a:r>
              <a:rPr lang="en-GB" sz="1400" b="1" u="sng" dirty="0">
                <a:solidFill>
                  <a:srgbClr val="FF0000"/>
                </a:solidFill>
              </a:rPr>
              <a:t>Ample reserves</a:t>
            </a:r>
            <a:r>
              <a:rPr lang="en-GB" sz="1400" dirty="0">
                <a:solidFill>
                  <a:schemeClr val="tx1"/>
                </a:solidFill>
              </a:rPr>
              <a:t> </a:t>
            </a:r>
            <a:r>
              <a:rPr lang="en-GB" sz="1400" dirty="0">
                <a:solidFill>
                  <a:schemeClr val="tx1"/>
                </a:solidFill>
                <a:sym typeface="Wingdings" panose="05000000000000000000" pitchFamily="2" charset="2"/>
              </a:rPr>
              <a:t> </a:t>
            </a:r>
            <a:r>
              <a:rPr lang="en-GB" sz="1400" b="1" u="sng" dirty="0">
                <a:solidFill>
                  <a:srgbClr val="FF0000"/>
                </a:solidFill>
                <a:sym typeface="Wingdings" panose="05000000000000000000" pitchFamily="2" charset="2"/>
              </a:rPr>
              <a:t>scarce reserves</a:t>
            </a:r>
            <a:endParaRPr lang="en-GB" sz="1400" b="1" u="sng" dirty="0">
              <a:solidFill>
                <a:srgbClr val="FF0000"/>
              </a:solidFill>
            </a:endParaRPr>
          </a:p>
          <a:p>
            <a:pPr>
              <a:buClr>
                <a:schemeClr val="tx1"/>
              </a:buClr>
              <a:buFont typeface="Arial" panose="020B0604020202020204" pitchFamily="34" charset="0"/>
              <a:buChar char="•"/>
            </a:pPr>
            <a:r>
              <a:rPr lang="en-GB" sz="1400" dirty="0">
                <a:solidFill>
                  <a:schemeClr val="tx1"/>
                </a:solidFill>
                <a:sym typeface="Wingdings" panose="05000000000000000000" pitchFamily="2" charset="2"/>
              </a:rPr>
              <a:t>Fed ended QT in December 2025</a:t>
            </a:r>
          </a:p>
          <a:p>
            <a:pPr>
              <a:buClr>
                <a:schemeClr val="tx1"/>
              </a:buClr>
              <a:buFont typeface="Arial" panose="020B0604020202020204" pitchFamily="34" charset="0"/>
              <a:buChar char="•"/>
            </a:pPr>
            <a:endParaRPr lang="en-GB" sz="1400" dirty="0">
              <a:solidFill>
                <a:schemeClr val="tx1"/>
              </a:solidFill>
              <a:sym typeface="Wingdings" panose="05000000000000000000" pitchFamily="2" charset="2"/>
            </a:endParaRPr>
          </a:p>
          <a:p>
            <a:pPr marL="114300" indent="0">
              <a:buClr>
                <a:schemeClr val="tx1"/>
              </a:buClr>
              <a:buNone/>
            </a:pPr>
            <a:endParaRPr lang="en-GB" sz="1400" dirty="0">
              <a:solidFill>
                <a:schemeClr val="tx1"/>
              </a:solidFill>
              <a:sym typeface="Wingdings" panose="05000000000000000000" pitchFamily="2" charset="2"/>
            </a:endParaRPr>
          </a:p>
          <a:p>
            <a:pPr marL="114300" indent="0">
              <a:buClr>
                <a:schemeClr val="tx1"/>
              </a:buClr>
              <a:buNone/>
            </a:pPr>
            <a:r>
              <a:rPr lang="en-GB" sz="1400" dirty="0">
                <a:solidFill>
                  <a:schemeClr val="tx1"/>
                </a:solidFill>
                <a:sym typeface="Wingdings" panose="05000000000000000000" pitchFamily="2" charset="2"/>
              </a:rPr>
              <a:t>In a regime of scarce reserves, short-term interest rates are </a:t>
            </a:r>
            <a:r>
              <a:rPr lang="en-GB" sz="1400" b="1" u="sng" dirty="0">
                <a:solidFill>
                  <a:srgbClr val="FF0000"/>
                </a:solidFill>
                <a:sym typeface="Wingdings" panose="05000000000000000000" pitchFamily="2" charset="2"/>
              </a:rPr>
              <a:t>more volatile </a:t>
            </a:r>
            <a:r>
              <a:rPr lang="en-GB" sz="1400" dirty="0">
                <a:solidFill>
                  <a:schemeClr val="tx1"/>
                </a:solidFill>
                <a:sym typeface="Wingdings" panose="05000000000000000000" pitchFamily="2" charset="2"/>
              </a:rPr>
              <a:t>(banks are more sensitive to changes in STIR)…</a:t>
            </a:r>
          </a:p>
          <a:p>
            <a:pPr>
              <a:buClr>
                <a:schemeClr val="tx1"/>
              </a:buClr>
              <a:buFont typeface="Arial" panose="020B0604020202020204" pitchFamily="34" charset="0"/>
              <a:buChar char="•"/>
            </a:pPr>
            <a:endParaRPr lang="en-GB" sz="1400" dirty="0">
              <a:solidFill>
                <a:srgbClr val="FF0000"/>
              </a:solidFill>
            </a:endParaRPr>
          </a:p>
          <a:p>
            <a:pPr lvl="2">
              <a:buClr>
                <a:schemeClr val="tx1"/>
              </a:buClr>
              <a:buFont typeface="Arial" panose="020B0604020202020204" pitchFamily="34" charset="0"/>
              <a:buChar char="•"/>
            </a:pPr>
            <a:endParaRPr lang="en-GB" dirty="0">
              <a:solidFill>
                <a:schemeClr val="tx1"/>
              </a:solidFill>
            </a:endParaRPr>
          </a:p>
        </p:txBody>
      </p:sp>
    </p:spTree>
    <p:extLst>
      <p:ext uri="{BB962C8B-B14F-4D97-AF65-F5344CB8AC3E}">
        <p14:creationId xmlns:p14="http://schemas.microsoft.com/office/powerpoint/2010/main" val="812471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D5111-9DBB-C901-3691-504827325C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0E10CE-C044-47F7-B26F-F5FDA58FB8C9}"/>
              </a:ext>
            </a:extLst>
          </p:cNvPr>
          <p:cNvSpPr>
            <a:spLocks noGrp="1"/>
          </p:cNvSpPr>
          <p:nvPr>
            <p:ph type="title"/>
          </p:nvPr>
        </p:nvSpPr>
        <p:spPr/>
        <p:txBody>
          <a:bodyPr/>
          <a:lstStyle/>
          <a:p>
            <a:pPr>
              <a:buClr>
                <a:schemeClr val="tx1"/>
              </a:buClr>
              <a:buSzPct val="100000"/>
            </a:pPr>
            <a:r>
              <a:rPr lang="en-GB" altLang="en-US" b="1" dirty="0">
                <a:solidFill>
                  <a:schemeClr val="tx1"/>
                </a:solidFill>
                <a:ea typeface="ＭＳ Ｐゴシック" panose="020B0600070205080204" pitchFamily="34" charset="-128"/>
              </a:rPr>
              <a:t>Different “bets” in rates markets</a:t>
            </a:r>
          </a:p>
        </p:txBody>
      </p:sp>
    </p:spTree>
    <p:extLst>
      <p:ext uri="{BB962C8B-B14F-4D97-AF65-F5344CB8AC3E}">
        <p14:creationId xmlns:p14="http://schemas.microsoft.com/office/powerpoint/2010/main" val="307357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BFDAF-5370-B7F7-FC3B-554FE202F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AAD8B-D55E-23A4-CBD9-8126365225D2}"/>
              </a:ext>
            </a:extLst>
          </p:cNvPr>
          <p:cNvSpPr>
            <a:spLocks noGrp="1"/>
          </p:cNvSpPr>
          <p:nvPr>
            <p:ph type="title"/>
          </p:nvPr>
        </p:nvSpPr>
        <p:spPr/>
        <p:txBody>
          <a:bodyPr>
            <a:normAutofit fontScale="90000"/>
          </a:bodyPr>
          <a:lstStyle/>
          <a:p>
            <a:r>
              <a:rPr lang="en-SG" b="1" dirty="0"/>
              <a:t>What are the different possible ways to trade rates?</a:t>
            </a:r>
            <a:endParaRPr lang="en-GB" dirty="0"/>
          </a:p>
        </p:txBody>
      </p:sp>
      <p:sp>
        <p:nvSpPr>
          <p:cNvPr id="3" name="Text Placeholder 2">
            <a:extLst>
              <a:ext uri="{FF2B5EF4-FFF2-40B4-BE49-F238E27FC236}">
                <a16:creationId xmlns:a16="http://schemas.microsoft.com/office/drawing/2014/main" id="{1449227E-0AE8-BB81-972B-AA410C2DEB80}"/>
              </a:ext>
            </a:extLst>
          </p:cNvPr>
          <p:cNvSpPr>
            <a:spLocks noGrp="1"/>
          </p:cNvSpPr>
          <p:nvPr>
            <p:ph type="body" idx="1"/>
          </p:nvPr>
        </p:nvSpPr>
        <p:spPr/>
        <p:txBody>
          <a:bodyPr>
            <a:normAutofit/>
          </a:bodyPr>
          <a:lstStyle/>
          <a:p>
            <a:pPr>
              <a:buClr>
                <a:schemeClr val="tx1"/>
              </a:buClr>
              <a:buFont typeface="Arial" panose="020B0604020202020204" pitchFamily="34" charset="0"/>
              <a:buChar char="•"/>
            </a:pPr>
            <a:r>
              <a:rPr lang="en-GB" sz="1400" b="1" dirty="0">
                <a:solidFill>
                  <a:schemeClr val="tx1"/>
                </a:solidFill>
              </a:rPr>
              <a:t>Directional bet: </a:t>
            </a:r>
            <a:r>
              <a:rPr lang="en-GB" sz="1400" dirty="0">
                <a:solidFill>
                  <a:schemeClr val="tx1"/>
                </a:solidFill>
              </a:rPr>
              <a:t>higher vs. lower rates?</a:t>
            </a:r>
          </a:p>
          <a:p>
            <a:pPr>
              <a:buClr>
                <a:schemeClr val="tx1"/>
              </a:buClr>
              <a:buFont typeface="Arial" panose="020B0604020202020204" pitchFamily="34" charset="0"/>
              <a:buChar char="•"/>
            </a:pPr>
            <a:r>
              <a:rPr lang="en-GB" sz="1400" b="1" dirty="0">
                <a:solidFill>
                  <a:schemeClr val="tx1"/>
                </a:solidFill>
              </a:rPr>
              <a:t>Curvature bet: </a:t>
            </a:r>
            <a:r>
              <a:rPr lang="en-GB" sz="1400" dirty="0">
                <a:solidFill>
                  <a:schemeClr val="tx1"/>
                </a:solidFill>
              </a:rPr>
              <a:t>steeper vs. flatter yield curve?</a:t>
            </a:r>
          </a:p>
          <a:p>
            <a:pPr>
              <a:buClr>
                <a:schemeClr val="tx1"/>
              </a:buClr>
              <a:buFont typeface="Arial" panose="020B0604020202020204" pitchFamily="34" charset="0"/>
              <a:buChar char="•"/>
            </a:pPr>
            <a:r>
              <a:rPr lang="en-GB" sz="1400" b="1" dirty="0">
                <a:solidFill>
                  <a:schemeClr val="tx1"/>
                </a:solidFill>
              </a:rPr>
              <a:t>Basis bet: </a:t>
            </a:r>
            <a:r>
              <a:rPr lang="en-GB" sz="1400" dirty="0">
                <a:solidFill>
                  <a:schemeClr val="tx1"/>
                </a:solidFill>
              </a:rPr>
              <a:t>will there be a difference between cash and its derivative?</a:t>
            </a:r>
          </a:p>
          <a:p>
            <a:pPr>
              <a:buClr>
                <a:schemeClr val="tx1"/>
              </a:buClr>
              <a:buFont typeface="Arial" panose="020B0604020202020204" pitchFamily="34" charset="0"/>
              <a:buChar char="•"/>
            </a:pPr>
            <a:r>
              <a:rPr lang="en-GB" sz="1400" b="1" dirty="0">
                <a:solidFill>
                  <a:schemeClr val="tx1"/>
                </a:solidFill>
              </a:rPr>
              <a:t>Breakeven bet: </a:t>
            </a:r>
            <a:r>
              <a:rPr lang="en-GB" sz="1400" dirty="0">
                <a:solidFill>
                  <a:schemeClr val="tx1"/>
                </a:solidFill>
              </a:rPr>
              <a:t>will inflation be higher than markets expect?</a:t>
            </a:r>
            <a:endParaRPr lang="en-GB" sz="1400" dirty="0">
              <a:solidFill>
                <a:srgbClr val="FF0000"/>
              </a:solidFill>
            </a:endParaRPr>
          </a:p>
          <a:p>
            <a:pPr lvl="2">
              <a:buClr>
                <a:schemeClr val="tx1"/>
              </a:buClr>
              <a:buFont typeface="Arial" panose="020B0604020202020204" pitchFamily="34" charset="0"/>
              <a:buChar char="•"/>
            </a:pPr>
            <a:endParaRPr lang="en-GB" dirty="0">
              <a:solidFill>
                <a:schemeClr val="tx1"/>
              </a:solidFill>
            </a:endParaRPr>
          </a:p>
        </p:txBody>
      </p:sp>
    </p:spTree>
    <p:extLst>
      <p:ext uri="{BB962C8B-B14F-4D97-AF65-F5344CB8AC3E}">
        <p14:creationId xmlns:p14="http://schemas.microsoft.com/office/powerpoint/2010/main" val="105313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Directional bets</a:t>
            </a:r>
            <a:endParaRPr b="1" dirty="0"/>
          </a:p>
        </p:txBody>
      </p:sp>
      <p:sp>
        <p:nvSpPr>
          <p:cNvPr id="2" name="Text Placeholder 2">
            <a:extLst>
              <a:ext uri="{FF2B5EF4-FFF2-40B4-BE49-F238E27FC236}">
                <a16:creationId xmlns:a16="http://schemas.microsoft.com/office/drawing/2014/main" id="{B301DC4B-F7F8-6CDC-8758-6EEAED4D9350}"/>
              </a:ext>
            </a:extLst>
          </p:cNvPr>
          <p:cNvSpPr>
            <a:spLocks noGrp="1"/>
          </p:cNvSpPr>
          <p:nvPr>
            <p:ph type="body" idx="1"/>
          </p:nvPr>
        </p:nvSpPr>
        <p:spPr>
          <a:xfrm>
            <a:off x="311700" y="1152475"/>
            <a:ext cx="8520600" cy="3416400"/>
          </a:xfrm>
        </p:spPr>
        <p:txBody>
          <a:bodyPr>
            <a:normAutofit/>
          </a:bodyPr>
          <a:lstStyle/>
          <a:p>
            <a:pPr>
              <a:buClr>
                <a:schemeClr val="tx1"/>
              </a:buClr>
              <a:buFont typeface="Arial" panose="020B0604020202020204" pitchFamily="34" charset="0"/>
              <a:buChar char="•"/>
            </a:pPr>
            <a:r>
              <a:rPr lang="en-GB" sz="1400" dirty="0">
                <a:solidFill>
                  <a:schemeClr val="tx1"/>
                </a:solidFill>
              </a:rPr>
              <a:t>Buy bonds across the board</a:t>
            </a:r>
          </a:p>
          <a:p>
            <a:pPr>
              <a:buClr>
                <a:schemeClr val="tx1"/>
              </a:buClr>
              <a:buFont typeface="Arial" panose="020B0604020202020204" pitchFamily="34" charset="0"/>
              <a:buChar char="•"/>
            </a:pPr>
            <a:r>
              <a:rPr lang="en-GB" sz="1400" dirty="0">
                <a:solidFill>
                  <a:schemeClr val="tx1"/>
                </a:solidFill>
              </a:rPr>
              <a:t>Raise the duration of my portfolio</a:t>
            </a:r>
            <a:endParaRPr lang="en-GB" sz="1400" dirty="0">
              <a:solidFill>
                <a:srgbClr val="FF0000"/>
              </a:solidFill>
            </a:endParaRPr>
          </a:p>
          <a:p>
            <a:pPr lvl="2">
              <a:buClr>
                <a:schemeClr val="tx1"/>
              </a:buClr>
              <a:buFont typeface="Arial" panose="020B0604020202020204" pitchFamily="34" charset="0"/>
              <a:buChar char="•"/>
            </a:pPr>
            <a:endParaRPr lang="en-GB"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AED9693B-6D84-2B67-FFAC-D5E085E639B6}"/>
            </a:ext>
          </a:extLst>
        </p:cNvPr>
        <p:cNvGrpSpPr/>
        <p:nvPr/>
      </p:nvGrpSpPr>
      <p:grpSpPr>
        <a:xfrm>
          <a:off x="0" y="0"/>
          <a:ext cx="0" cy="0"/>
          <a:chOff x="0" y="0"/>
          <a:chExt cx="0" cy="0"/>
        </a:xfrm>
      </p:grpSpPr>
      <p:sp>
        <p:nvSpPr>
          <p:cNvPr id="142" name="Google Shape;142;p13">
            <a:extLst>
              <a:ext uri="{FF2B5EF4-FFF2-40B4-BE49-F238E27FC236}">
                <a16:creationId xmlns:a16="http://schemas.microsoft.com/office/drawing/2014/main" id="{072740B7-12E2-EF6A-624D-111350D3C77D}"/>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SG" b="1" dirty="0"/>
              <a:t>Curvature bets</a:t>
            </a:r>
            <a:endParaRPr b="1" dirty="0"/>
          </a:p>
        </p:txBody>
      </p:sp>
      <p:sp>
        <p:nvSpPr>
          <p:cNvPr id="4" name="Rectangle: Rounded Corners 3">
            <a:extLst>
              <a:ext uri="{FF2B5EF4-FFF2-40B4-BE49-F238E27FC236}">
                <a16:creationId xmlns:a16="http://schemas.microsoft.com/office/drawing/2014/main" id="{C7392E2A-EC45-5F8B-DE97-F8BCE5B510BF}"/>
              </a:ext>
            </a:extLst>
          </p:cNvPr>
          <p:cNvSpPr/>
          <p:nvPr/>
        </p:nvSpPr>
        <p:spPr>
          <a:xfrm>
            <a:off x="1330779" y="1665514"/>
            <a:ext cx="1387928" cy="57270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Bull</a:t>
            </a:r>
          </a:p>
        </p:txBody>
      </p:sp>
      <p:sp>
        <p:nvSpPr>
          <p:cNvPr id="5" name="Rectangle: Rounded Corners 4">
            <a:extLst>
              <a:ext uri="{FF2B5EF4-FFF2-40B4-BE49-F238E27FC236}">
                <a16:creationId xmlns:a16="http://schemas.microsoft.com/office/drawing/2014/main" id="{B7315F08-55FF-942C-20C2-9150C5CC05AF}"/>
              </a:ext>
            </a:extLst>
          </p:cNvPr>
          <p:cNvSpPr/>
          <p:nvPr/>
        </p:nvSpPr>
        <p:spPr>
          <a:xfrm>
            <a:off x="4169229" y="1665514"/>
            <a:ext cx="1387928" cy="57270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Bear</a:t>
            </a:r>
          </a:p>
        </p:txBody>
      </p:sp>
      <p:sp>
        <p:nvSpPr>
          <p:cNvPr id="6" name="Rectangle: Rounded Corners 5">
            <a:extLst>
              <a:ext uri="{FF2B5EF4-FFF2-40B4-BE49-F238E27FC236}">
                <a16:creationId xmlns:a16="http://schemas.microsoft.com/office/drawing/2014/main" id="{17D7A688-8BE3-66F2-73FF-BB5D91282E52}"/>
              </a:ext>
            </a:extLst>
          </p:cNvPr>
          <p:cNvSpPr/>
          <p:nvPr/>
        </p:nvSpPr>
        <p:spPr>
          <a:xfrm>
            <a:off x="1330779" y="3173186"/>
            <a:ext cx="1387928" cy="5727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Steepener</a:t>
            </a:r>
            <a:endParaRPr lang="en-GB" dirty="0"/>
          </a:p>
        </p:txBody>
      </p:sp>
      <p:sp>
        <p:nvSpPr>
          <p:cNvPr id="7" name="Rectangle: Rounded Corners 6">
            <a:extLst>
              <a:ext uri="{FF2B5EF4-FFF2-40B4-BE49-F238E27FC236}">
                <a16:creationId xmlns:a16="http://schemas.microsoft.com/office/drawing/2014/main" id="{8B2A1809-4091-755C-3525-4839382705F2}"/>
              </a:ext>
            </a:extLst>
          </p:cNvPr>
          <p:cNvSpPr/>
          <p:nvPr/>
        </p:nvSpPr>
        <p:spPr>
          <a:xfrm>
            <a:off x="4169229" y="3179229"/>
            <a:ext cx="1387928" cy="5727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Flattener</a:t>
            </a:r>
          </a:p>
        </p:txBody>
      </p:sp>
    </p:spTree>
    <p:extLst>
      <p:ext uri="{BB962C8B-B14F-4D97-AF65-F5344CB8AC3E}">
        <p14:creationId xmlns:p14="http://schemas.microsoft.com/office/powerpoint/2010/main" val="2728646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Curvature bets</a:t>
            </a:r>
            <a:endParaRPr b="1" dirty="0"/>
          </a:p>
        </p:txBody>
      </p:sp>
      <p:sp>
        <p:nvSpPr>
          <p:cNvPr id="143" name="Google Shape;143;p13"/>
          <p:cNvSpPr txBox="1">
            <a:spLocks noGrp="1"/>
          </p:cNvSpPr>
          <p:nvPr>
            <p:ph type="body" idx="1"/>
          </p:nvPr>
        </p:nvSpPr>
        <p:spPr>
          <a:xfrm>
            <a:off x="311700" y="1152475"/>
            <a:ext cx="8254076" cy="3416400"/>
          </a:xfrm>
          <a:prstGeom prst="rect">
            <a:avLst/>
          </a:prstGeom>
          <a:noFill/>
          <a:ln>
            <a:noFill/>
          </a:ln>
        </p:spPr>
        <p:txBody>
          <a:bodyPr spcFirstLastPara="1" wrap="square" lIns="91425" tIns="91425" rIns="91425" bIns="91425" anchor="t" anchorCtr="0">
            <a:normAutofit/>
          </a:bodyPr>
          <a:lstStyle/>
          <a:p>
            <a:pPr marL="457200" lvl="0" indent="-304800" algn="l" rtl="0">
              <a:lnSpc>
                <a:spcPct val="150000"/>
              </a:lnSpc>
              <a:spcBef>
                <a:spcPts val="0"/>
              </a:spcBef>
              <a:spcAft>
                <a:spcPts val="0"/>
              </a:spcAft>
              <a:buClr>
                <a:schemeClr val="dk1"/>
              </a:buClr>
              <a:buSzPts val="1200"/>
              <a:buChar char="●"/>
            </a:pPr>
            <a:r>
              <a:rPr lang="en-SG" sz="1200">
                <a:solidFill>
                  <a:schemeClr val="dk1"/>
                </a:solidFill>
              </a:rPr>
              <a:t>Spots &amp; Curve trades – steepeners, flatteners. E.g. 2s10s steepener trade </a:t>
            </a:r>
            <a:endParaRPr sz="1200"/>
          </a:p>
          <a:p>
            <a:pPr marL="139700" lvl="0" indent="0" algn="l" rtl="0">
              <a:lnSpc>
                <a:spcPct val="150000"/>
              </a:lnSpc>
              <a:spcBef>
                <a:spcPts val="0"/>
              </a:spcBef>
              <a:spcAft>
                <a:spcPts val="0"/>
              </a:spcAft>
              <a:buClr>
                <a:schemeClr val="dk1"/>
              </a:buClr>
              <a:buSzPts val="1400"/>
              <a:buNone/>
            </a:pPr>
            <a:endParaRPr sz="1400">
              <a:solidFill>
                <a:schemeClr val="dk1"/>
              </a:solidFill>
            </a:endParaRPr>
          </a:p>
        </p:txBody>
      </p:sp>
      <p:pic>
        <p:nvPicPr>
          <p:cNvPr id="145" name="Google Shape;145;p13"/>
          <p:cNvPicPr preferRelativeResize="0"/>
          <p:nvPr/>
        </p:nvPicPr>
        <p:blipFill>
          <a:blip r:embed="rId3">
            <a:alphaModFix/>
          </a:blip>
          <a:stretch>
            <a:fillRect/>
          </a:stretch>
        </p:blipFill>
        <p:spPr>
          <a:xfrm>
            <a:off x="1652613" y="1673175"/>
            <a:ext cx="5838776" cy="3131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30f61ab1a0b_0_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r>
              <a:rPr lang="en-SG" b="1" dirty="0"/>
              <a:t>Curvature bets</a:t>
            </a:r>
            <a:endParaRPr b="1" dirty="0"/>
          </a:p>
        </p:txBody>
      </p:sp>
      <p:sp>
        <p:nvSpPr>
          <p:cNvPr id="151" name="Google Shape;151;g30f61ab1a0b_0_27"/>
          <p:cNvSpPr txBox="1">
            <a:spLocks noGrp="1"/>
          </p:cNvSpPr>
          <p:nvPr>
            <p:ph type="body" idx="1"/>
          </p:nvPr>
        </p:nvSpPr>
        <p:spPr>
          <a:xfrm>
            <a:off x="311700" y="116380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SG" sz="1200" dirty="0">
                <a:solidFill>
                  <a:schemeClr val="dk1"/>
                </a:solidFill>
              </a:rPr>
              <a:t>Bear </a:t>
            </a:r>
            <a:r>
              <a:rPr lang="en-SG" sz="1200" dirty="0" err="1">
                <a:solidFill>
                  <a:schemeClr val="dk1"/>
                </a:solidFill>
              </a:rPr>
              <a:t>Steepener</a:t>
            </a:r>
            <a:r>
              <a:rPr lang="en-SG" sz="1200" dirty="0">
                <a:solidFill>
                  <a:schemeClr val="dk1"/>
                </a:solidFill>
              </a:rPr>
              <a:t> Trade in the US </a:t>
            </a:r>
            <a:endParaRPr sz="1200" dirty="0">
              <a:solidFill>
                <a:schemeClr val="dk1"/>
              </a:solidFill>
            </a:endParaRPr>
          </a:p>
          <a:p>
            <a:pPr marL="457200" lvl="0" indent="-304800" algn="l" rtl="0">
              <a:spcBef>
                <a:spcPts val="0"/>
              </a:spcBef>
              <a:spcAft>
                <a:spcPts val="0"/>
              </a:spcAft>
              <a:buClr>
                <a:schemeClr val="dk1"/>
              </a:buClr>
              <a:buSzPts val="1200"/>
              <a:buFont typeface="Courier New" panose="02070309020205020404" pitchFamily="49" charset="0"/>
              <a:buChar char="o"/>
            </a:pPr>
            <a:r>
              <a:rPr lang="en-SG" sz="1200" dirty="0">
                <a:solidFill>
                  <a:schemeClr val="dk1"/>
                </a:solidFill>
              </a:rPr>
              <a:t>Interest rates will increase by a much larger extent in the long end compared to the short-end</a:t>
            </a:r>
            <a:endParaRPr sz="1200" dirty="0">
              <a:solidFill>
                <a:schemeClr val="dk1"/>
              </a:solidFill>
            </a:endParaRPr>
          </a:p>
          <a:p>
            <a:pPr marL="457200" lvl="0" indent="-304800" algn="l" rtl="0">
              <a:spcBef>
                <a:spcPts val="0"/>
              </a:spcBef>
              <a:spcAft>
                <a:spcPts val="0"/>
              </a:spcAft>
              <a:buClr>
                <a:schemeClr val="dk1"/>
              </a:buClr>
              <a:buSzPts val="1200"/>
              <a:buFont typeface="Courier New" panose="02070309020205020404" pitchFamily="49" charset="0"/>
              <a:buChar char="o"/>
            </a:pPr>
            <a:r>
              <a:rPr lang="en-SG" sz="1200" dirty="0" err="1">
                <a:solidFill>
                  <a:schemeClr val="dk1"/>
                </a:solidFill>
              </a:rPr>
              <a:t>ie</a:t>
            </a:r>
            <a:r>
              <a:rPr lang="en-SG" sz="1200" dirty="0">
                <a:solidFill>
                  <a:schemeClr val="dk1"/>
                </a:solidFill>
              </a:rPr>
              <a:t> Short long term treasury bond (20 years) and long short term treasury bond (2 years)</a:t>
            </a:r>
            <a:endParaRPr sz="1200" dirty="0">
              <a:solidFill>
                <a:schemeClr val="dk1"/>
              </a:solidFill>
            </a:endParaRPr>
          </a:p>
          <a:p>
            <a:pPr marL="0" lvl="0" indent="0" algn="l" rtl="0">
              <a:spcBef>
                <a:spcPts val="0"/>
              </a:spcBef>
              <a:spcAft>
                <a:spcPts val="0"/>
              </a:spcAft>
              <a:buNone/>
            </a:pPr>
            <a:endParaRPr sz="1200" dirty="0">
              <a:solidFill>
                <a:schemeClr val="dk1"/>
              </a:solidFill>
            </a:endParaRPr>
          </a:p>
          <a:p>
            <a:pPr marL="0" lvl="0" indent="0" algn="l" rtl="0">
              <a:spcBef>
                <a:spcPts val="0"/>
              </a:spcBef>
              <a:spcAft>
                <a:spcPts val="0"/>
              </a:spcAft>
              <a:buNone/>
            </a:pPr>
            <a:r>
              <a:rPr lang="en-SG" sz="1200" dirty="0">
                <a:solidFill>
                  <a:schemeClr val="dk1"/>
                </a:solidFill>
              </a:rPr>
              <a:t>Thesis:</a:t>
            </a:r>
            <a:endParaRPr sz="1200" dirty="0">
              <a:solidFill>
                <a:schemeClr val="dk1"/>
              </a:solidFill>
            </a:endParaRPr>
          </a:p>
          <a:p>
            <a:pPr marL="457200" lvl="0" indent="-304800" algn="l" rtl="0">
              <a:spcBef>
                <a:spcPts val="0"/>
              </a:spcBef>
              <a:spcAft>
                <a:spcPts val="0"/>
              </a:spcAft>
              <a:buClr>
                <a:schemeClr val="dk1"/>
              </a:buClr>
              <a:buSzPts val="1200"/>
              <a:buFont typeface="Courier New" panose="02070309020205020404" pitchFamily="49" charset="0"/>
              <a:buChar char="o"/>
            </a:pPr>
            <a:r>
              <a:rPr lang="en-SG" sz="1200" dirty="0">
                <a:solidFill>
                  <a:schemeClr val="dk1"/>
                </a:solidFill>
              </a:rPr>
              <a:t>Short term rate cuts are already priced in by market </a:t>
            </a:r>
            <a:endParaRPr sz="1200" dirty="0">
              <a:solidFill>
                <a:schemeClr val="dk1"/>
              </a:solidFill>
            </a:endParaRPr>
          </a:p>
          <a:p>
            <a:pPr marL="457200" lvl="0" indent="-304800" algn="l" rtl="0">
              <a:spcBef>
                <a:spcPts val="0"/>
              </a:spcBef>
              <a:spcAft>
                <a:spcPts val="0"/>
              </a:spcAft>
              <a:buClr>
                <a:schemeClr val="dk1"/>
              </a:buClr>
              <a:buSzPts val="1200"/>
              <a:buFont typeface="Courier New" panose="02070309020205020404" pitchFamily="49" charset="0"/>
              <a:buChar char="o"/>
            </a:pPr>
            <a:r>
              <a:rPr lang="en-SG" sz="1200" dirty="0">
                <a:solidFill>
                  <a:schemeClr val="dk1"/>
                </a:solidFill>
              </a:rPr>
              <a:t>Long term inflationary pressures, rising deficits (increasing</a:t>
            </a:r>
          </a:p>
          <a:p>
            <a:pPr marL="323850" lvl="0" indent="-171450" algn="l" rtl="0">
              <a:spcBef>
                <a:spcPts val="0"/>
              </a:spcBef>
              <a:spcAft>
                <a:spcPts val="0"/>
              </a:spcAft>
              <a:buClr>
                <a:schemeClr val="dk1"/>
              </a:buClr>
              <a:buSzPts val="1200"/>
              <a:buFont typeface="Courier New" panose="02070309020205020404" pitchFamily="49" charset="0"/>
              <a:buChar char="o"/>
            </a:pPr>
            <a:r>
              <a:rPr lang="en-SG" sz="1200" dirty="0">
                <a:solidFill>
                  <a:schemeClr val="dk1"/>
                </a:solidFill>
              </a:rPr>
              <a:t>       issuance) in the US</a:t>
            </a:r>
          </a:p>
          <a:p>
            <a:pPr marL="457200" lvl="0" indent="-304800" algn="l" rtl="0">
              <a:spcBef>
                <a:spcPts val="0"/>
              </a:spcBef>
              <a:spcAft>
                <a:spcPts val="0"/>
              </a:spcAft>
              <a:buClr>
                <a:schemeClr val="dk1"/>
              </a:buClr>
              <a:buSzPts val="1200"/>
              <a:buFont typeface="Courier New" panose="02070309020205020404" pitchFamily="49" charset="0"/>
              <a:buChar char="o"/>
            </a:pPr>
            <a:r>
              <a:rPr lang="en-SG" sz="1200" dirty="0">
                <a:solidFill>
                  <a:schemeClr val="dk1"/>
                </a:solidFill>
              </a:rPr>
              <a:t>Rising interest rates on US debt will make it more difficult</a:t>
            </a:r>
            <a:endParaRPr sz="1200" dirty="0">
              <a:solidFill>
                <a:schemeClr val="dk1"/>
              </a:solidFill>
            </a:endParaRPr>
          </a:p>
          <a:p>
            <a:pPr marL="628650" lvl="0" indent="-171450" algn="l" rtl="0">
              <a:spcBef>
                <a:spcPts val="0"/>
              </a:spcBef>
              <a:spcAft>
                <a:spcPts val="0"/>
              </a:spcAft>
              <a:buFont typeface="Wingdings" panose="05000000000000000000" pitchFamily="2" charset="2"/>
              <a:buChar char="Ø"/>
            </a:pPr>
            <a:r>
              <a:rPr lang="en-SG" sz="1200" dirty="0">
                <a:solidFill>
                  <a:schemeClr val="dk1"/>
                </a:solidFill>
              </a:rPr>
              <a:t>For cheap borrowing and long term rates/yield curve will </a:t>
            </a:r>
            <a:endParaRPr sz="1200" dirty="0">
              <a:solidFill>
                <a:schemeClr val="dk1"/>
              </a:solidFill>
            </a:endParaRPr>
          </a:p>
          <a:p>
            <a:pPr marL="628650" lvl="0" indent="-171450" algn="l" rtl="0">
              <a:spcBef>
                <a:spcPts val="0"/>
              </a:spcBef>
              <a:spcAft>
                <a:spcPts val="0"/>
              </a:spcAft>
              <a:buFont typeface="Wingdings" panose="05000000000000000000" pitchFamily="2" charset="2"/>
              <a:buChar char="Ø"/>
            </a:pPr>
            <a:r>
              <a:rPr lang="en-SG" sz="1200" dirty="0">
                <a:solidFill>
                  <a:schemeClr val="dk1"/>
                </a:solidFill>
              </a:rPr>
              <a:t>Remain elevated</a:t>
            </a:r>
            <a:endParaRPr sz="1200" dirty="0">
              <a:solidFill>
                <a:schemeClr val="dk1"/>
              </a:solidFill>
            </a:endParaRPr>
          </a:p>
        </p:txBody>
      </p:sp>
      <p:pic>
        <p:nvPicPr>
          <p:cNvPr id="152" name="Google Shape;152;g30f61ab1a0b_0_27"/>
          <p:cNvPicPr preferRelativeResize="0"/>
          <p:nvPr/>
        </p:nvPicPr>
        <p:blipFill>
          <a:blip r:embed="rId3">
            <a:alphaModFix/>
          </a:blip>
          <a:stretch>
            <a:fillRect/>
          </a:stretch>
        </p:blipFill>
        <p:spPr>
          <a:xfrm>
            <a:off x="6860725" y="-2412"/>
            <a:ext cx="2142650" cy="1467575"/>
          </a:xfrm>
          <a:prstGeom prst="rect">
            <a:avLst/>
          </a:prstGeom>
          <a:noFill/>
          <a:ln>
            <a:noFill/>
          </a:ln>
        </p:spPr>
      </p:pic>
      <p:pic>
        <p:nvPicPr>
          <p:cNvPr id="154" name="Google Shape;154;g30f61ab1a0b_0_27"/>
          <p:cNvPicPr preferRelativeResize="0"/>
          <p:nvPr/>
        </p:nvPicPr>
        <p:blipFill>
          <a:blip r:embed="rId4">
            <a:alphaModFix/>
          </a:blip>
          <a:stretch>
            <a:fillRect/>
          </a:stretch>
        </p:blipFill>
        <p:spPr>
          <a:xfrm>
            <a:off x="5029699" y="2204132"/>
            <a:ext cx="3742675" cy="21841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82C89192-4C61-A1EB-1897-0FA888877742}"/>
            </a:ext>
          </a:extLst>
        </p:cNvPr>
        <p:cNvGrpSpPr/>
        <p:nvPr/>
      </p:nvGrpSpPr>
      <p:grpSpPr>
        <a:xfrm>
          <a:off x="0" y="0"/>
          <a:ext cx="0" cy="0"/>
          <a:chOff x="0" y="0"/>
          <a:chExt cx="0" cy="0"/>
        </a:xfrm>
      </p:grpSpPr>
      <p:sp>
        <p:nvSpPr>
          <p:cNvPr id="129" name="Google Shape;129;p10">
            <a:extLst>
              <a:ext uri="{FF2B5EF4-FFF2-40B4-BE49-F238E27FC236}">
                <a16:creationId xmlns:a16="http://schemas.microsoft.com/office/drawing/2014/main" id="{8E7D24CE-E8A7-C161-6A3E-087A6CC811CB}"/>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Basis trade</a:t>
            </a:r>
            <a:endParaRPr b="1" dirty="0"/>
          </a:p>
        </p:txBody>
      </p:sp>
      <p:sp>
        <p:nvSpPr>
          <p:cNvPr id="2" name="Google Shape;151;g30f61ab1a0b_0_27">
            <a:extLst>
              <a:ext uri="{FF2B5EF4-FFF2-40B4-BE49-F238E27FC236}">
                <a16:creationId xmlns:a16="http://schemas.microsoft.com/office/drawing/2014/main" id="{5A35E887-8D2C-0EA4-A06E-6D2CF1B8FD69}"/>
              </a:ext>
            </a:extLst>
          </p:cNvPr>
          <p:cNvSpPr txBox="1">
            <a:spLocks noGrp="1"/>
          </p:cNvSpPr>
          <p:nvPr>
            <p:ph type="body" idx="1"/>
          </p:nvPr>
        </p:nvSpPr>
        <p:spPr>
          <a:xfrm>
            <a:off x="311700" y="116380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b="1" u="sng" dirty="0">
                <a:solidFill>
                  <a:srgbClr val="FF0000"/>
                </a:solidFill>
              </a:rPr>
              <a:t>Basis:</a:t>
            </a:r>
            <a:r>
              <a:rPr lang="en-GB" sz="1200" dirty="0">
                <a:solidFill>
                  <a:srgbClr val="FF0000"/>
                </a:solidFill>
              </a:rPr>
              <a:t> </a:t>
            </a:r>
            <a:r>
              <a:rPr lang="en-GB" sz="1200" dirty="0">
                <a:solidFill>
                  <a:schemeClr val="dk1"/>
                </a:solidFill>
              </a:rPr>
              <a:t>difference in payoff between the cash security and its derivative security</a:t>
            </a:r>
          </a:p>
          <a:p>
            <a:pPr marL="0" lvl="0" indent="0" algn="l" rtl="0">
              <a:spcBef>
                <a:spcPts val="0"/>
              </a:spcBef>
              <a:spcAft>
                <a:spcPts val="0"/>
              </a:spcAft>
              <a:buNone/>
            </a:pPr>
            <a:endParaRPr lang="en-GB" sz="1200" dirty="0">
              <a:solidFill>
                <a:schemeClr val="dk1"/>
              </a:solidFill>
            </a:endParaRPr>
          </a:p>
          <a:p>
            <a:pPr marL="0" lvl="0" indent="0" algn="l" rtl="0">
              <a:spcBef>
                <a:spcPts val="0"/>
              </a:spcBef>
              <a:spcAft>
                <a:spcPts val="0"/>
              </a:spcAft>
              <a:buNone/>
            </a:pPr>
            <a:r>
              <a:rPr lang="en-GB" sz="1200" dirty="0">
                <a:solidFill>
                  <a:schemeClr val="dk1"/>
                </a:solidFill>
              </a:rPr>
              <a:t>It arises because of market frictions (i.e. it’s not normal)</a:t>
            </a:r>
          </a:p>
          <a:p>
            <a:pPr marL="0" lvl="0" indent="0" algn="l" rtl="0">
              <a:spcBef>
                <a:spcPts val="0"/>
              </a:spcBef>
              <a:spcAft>
                <a:spcPts val="0"/>
              </a:spcAft>
              <a:buNone/>
            </a:pPr>
            <a:endParaRPr lang="en-GB" sz="1200" dirty="0">
              <a:solidFill>
                <a:schemeClr val="dk1"/>
              </a:solidFill>
            </a:endParaRPr>
          </a:p>
          <a:p>
            <a:pPr marL="0" lvl="0" indent="0" algn="l" rtl="0">
              <a:spcBef>
                <a:spcPts val="0"/>
              </a:spcBef>
              <a:spcAft>
                <a:spcPts val="0"/>
              </a:spcAft>
              <a:buNone/>
            </a:pPr>
            <a:r>
              <a:rPr lang="en-GB" sz="1200" dirty="0">
                <a:solidFill>
                  <a:schemeClr val="dk1"/>
                </a:solidFill>
              </a:rPr>
              <a:t>Since the late 2010s, US has been expanding fiscal deficit </a:t>
            </a:r>
            <a:r>
              <a:rPr lang="en-GB" sz="1200" dirty="0">
                <a:solidFill>
                  <a:schemeClr val="dk1"/>
                </a:solidFill>
                <a:sym typeface="Wingdings" panose="05000000000000000000" pitchFamily="2" charset="2"/>
              </a:rPr>
              <a:t> more supply for treasuries</a:t>
            </a:r>
          </a:p>
          <a:p>
            <a:pPr marL="0" lvl="0" indent="0" algn="l" rtl="0">
              <a:spcBef>
                <a:spcPts val="0"/>
              </a:spcBef>
              <a:spcAft>
                <a:spcPts val="0"/>
              </a:spcAft>
              <a:buNone/>
            </a:pPr>
            <a:endParaRPr lang="en-GB" sz="1200" dirty="0">
              <a:solidFill>
                <a:schemeClr val="dk1"/>
              </a:solidFill>
              <a:sym typeface="Wingdings" panose="05000000000000000000" pitchFamily="2" charset="2"/>
            </a:endParaRPr>
          </a:p>
          <a:p>
            <a:pPr marL="0" lvl="0" indent="0" algn="l" rtl="0">
              <a:spcBef>
                <a:spcPts val="0"/>
              </a:spcBef>
              <a:spcAft>
                <a:spcPts val="0"/>
              </a:spcAft>
              <a:buNone/>
            </a:pPr>
            <a:r>
              <a:rPr lang="en-GB" sz="1200" dirty="0">
                <a:solidFill>
                  <a:schemeClr val="dk1"/>
                </a:solidFill>
                <a:sym typeface="Wingdings" panose="05000000000000000000" pitchFamily="2" charset="2"/>
              </a:rPr>
              <a:t>At the same time, banks (traditional market makers in bonds) are heavily regulated  less demand for treasuries</a:t>
            </a:r>
          </a:p>
          <a:p>
            <a:pPr marL="0" lvl="0" indent="0" algn="l" rtl="0">
              <a:spcBef>
                <a:spcPts val="0"/>
              </a:spcBef>
              <a:spcAft>
                <a:spcPts val="0"/>
              </a:spcAft>
              <a:buNone/>
            </a:pPr>
            <a:endParaRPr lang="en-GB" sz="1200" dirty="0">
              <a:solidFill>
                <a:schemeClr val="dk1"/>
              </a:solidFill>
              <a:sym typeface="Wingdings" panose="05000000000000000000" pitchFamily="2" charset="2"/>
            </a:endParaRPr>
          </a:p>
          <a:p>
            <a:pPr marL="0" lvl="0" indent="0" algn="l" rtl="0">
              <a:spcBef>
                <a:spcPts val="0"/>
              </a:spcBef>
              <a:spcAft>
                <a:spcPts val="0"/>
              </a:spcAft>
              <a:buNone/>
            </a:pPr>
            <a:r>
              <a:rPr lang="en-GB" sz="1200" dirty="0">
                <a:solidFill>
                  <a:schemeClr val="dk1"/>
                </a:solidFill>
                <a:sym typeface="Wingdings" panose="05000000000000000000" pitchFamily="2" charset="2"/>
              </a:rPr>
              <a:t>NBFIs have taken on increasing role in treasury market making, but they come with </a:t>
            </a:r>
            <a:r>
              <a:rPr lang="en-GB" sz="1200" dirty="0">
                <a:solidFill>
                  <a:srgbClr val="FF0000"/>
                </a:solidFill>
                <a:sym typeface="Wingdings" panose="05000000000000000000" pitchFamily="2" charset="2"/>
              </a:rPr>
              <a:t>very different incentives</a:t>
            </a:r>
          </a:p>
          <a:p>
            <a:pPr marL="0" lvl="0" indent="0" algn="l" rtl="0">
              <a:spcBef>
                <a:spcPts val="0"/>
              </a:spcBef>
              <a:spcAft>
                <a:spcPts val="0"/>
              </a:spcAft>
              <a:buNone/>
            </a:pPr>
            <a:endParaRPr lang="en-GB" sz="1200" dirty="0">
              <a:solidFill>
                <a:srgbClr val="FF0000"/>
              </a:solidFill>
              <a:sym typeface="Wingdings" panose="05000000000000000000" pitchFamily="2" charset="2"/>
            </a:endParaRPr>
          </a:p>
          <a:p>
            <a:pPr marL="0" lvl="0" indent="0" algn="l" rtl="0">
              <a:spcBef>
                <a:spcPts val="0"/>
              </a:spcBef>
              <a:spcAft>
                <a:spcPts val="0"/>
              </a:spcAft>
              <a:buNone/>
            </a:pPr>
            <a:r>
              <a:rPr lang="en-GB" sz="1200" dirty="0">
                <a:solidFill>
                  <a:srgbClr val="FF0000"/>
                </a:solidFill>
                <a:sym typeface="Wingdings" panose="05000000000000000000" pitchFamily="2" charset="2"/>
              </a:rPr>
              <a:t>More supply + less demand  less liquidity + more market frictions</a:t>
            </a:r>
            <a:endParaRPr lang="en-GB" sz="1200" dirty="0">
              <a:solidFill>
                <a:srgbClr val="FF0000"/>
              </a:solidFill>
            </a:endParaRPr>
          </a:p>
        </p:txBody>
      </p:sp>
    </p:spTree>
    <p:extLst>
      <p:ext uri="{BB962C8B-B14F-4D97-AF65-F5344CB8AC3E}">
        <p14:creationId xmlns:p14="http://schemas.microsoft.com/office/powerpoint/2010/main" val="1145989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8669976C-1FD0-B8D7-41B0-F51565693287}"/>
            </a:ext>
          </a:extLst>
        </p:cNvPr>
        <p:cNvGrpSpPr/>
        <p:nvPr/>
      </p:nvGrpSpPr>
      <p:grpSpPr>
        <a:xfrm>
          <a:off x="0" y="0"/>
          <a:ext cx="0" cy="0"/>
          <a:chOff x="0" y="0"/>
          <a:chExt cx="0" cy="0"/>
        </a:xfrm>
      </p:grpSpPr>
      <p:sp>
        <p:nvSpPr>
          <p:cNvPr id="129" name="Google Shape;129;p10">
            <a:extLst>
              <a:ext uri="{FF2B5EF4-FFF2-40B4-BE49-F238E27FC236}">
                <a16:creationId xmlns:a16="http://schemas.microsoft.com/office/drawing/2014/main" id="{91351B02-6655-D4A4-8403-F42D43431D0A}"/>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Basis trade – Real Money</a:t>
            </a:r>
            <a:endParaRPr b="1" dirty="0"/>
          </a:p>
        </p:txBody>
      </p:sp>
      <p:sp>
        <p:nvSpPr>
          <p:cNvPr id="7" name="Rectangle: Rounded Corners 6">
            <a:extLst>
              <a:ext uri="{FF2B5EF4-FFF2-40B4-BE49-F238E27FC236}">
                <a16:creationId xmlns:a16="http://schemas.microsoft.com/office/drawing/2014/main" id="{316DF992-DB4D-EA0A-D1DC-AA5041D9C77D}"/>
              </a:ext>
            </a:extLst>
          </p:cNvPr>
          <p:cNvSpPr/>
          <p:nvPr/>
        </p:nvSpPr>
        <p:spPr>
          <a:xfrm>
            <a:off x="1044121" y="2195743"/>
            <a:ext cx="1811866" cy="9152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1. Client gives me $10m to manage for 10 years</a:t>
            </a:r>
          </a:p>
        </p:txBody>
      </p:sp>
      <p:sp>
        <p:nvSpPr>
          <p:cNvPr id="2" name="Rectangle: Rounded Corners 1">
            <a:extLst>
              <a:ext uri="{FF2B5EF4-FFF2-40B4-BE49-F238E27FC236}">
                <a16:creationId xmlns:a16="http://schemas.microsoft.com/office/drawing/2014/main" id="{F0F3EE67-F2BC-D10D-F42C-F7129F2D80B7}"/>
              </a:ext>
            </a:extLst>
          </p:cNvPr>
          <p:cNvSpPr/>
          <p:nvPr/>
        </p:nvSpPr>
        <p:spPr>
          <a:xfrm>
            <a:off x="3388481" y="2195743"/>
            <a:ext cx="1811866" cy="9152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 In 10 years’ time, I need to generate X% return</a:t>
            </a:r>
          </a:p>
        </p:txBody>
      </p:sp>
      <p:sp>
        <p:nvSpPr>
          <p:cNvPr id="3" name="Rectangle: Rounded Corners 2">
            <a:extLst>
              <a:ext uri="{FF2B5EF4-FFF2-40B4-BE49-F238E27FC236}">
                <a16:creationId xmlns:a16="http://schemas.microsoft.com/office/drawing/2014/main" id="{0B7519F3-AF84-077B-E716-9652F97B1805}"/>
              </a:ext>
            </a:extLst>
          </p:cNvPr>
          <p:cNvSpPr/>
          <p:nvPr/>
        </p:nvSpPr>
        <p:spPr>
          <a:xfrm>
            <a:off x="5716209" y="2195743"/>
            <a:ext cx="1811866" cy="9152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3. At the end, I get Y% of my AUM</a:t>
            </a:r>
          </a:p>
        </p:txBody>
      </p:sp>
    </p:spTree>
    <p:extLst>
      <p:ext uri="{BB962C8B-B14F-4D97-AF65-F5344CB8AC3E}">
        <p14:creationId xmlns:p14="http://schemas.microsoft.com/office/powerpoint/2010/main" val="32839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D9590BE5-8723-CB6A-ACDE-4EA6BEDB0EEC}"/>
            </a:ext>
          </a:extLst>
        </p:cNvPr>
        <p:cNvGrpSpPr/>
        <p:nvPr/>
      </p:nvGrpSpPr>
      <p:grpSpPr>
        <a:xfrm>
          <a:off x="0" y="0"/>
          <a:ext cx="0" cy="0"/>
          <a:chOff x="0" y="0"/>
          <a:chExt cx="0" cy="0"/>
        </a:xfrm>
      </p:grpSpPr>
      <p:sp>
        <p:nvSpPr>
          <p:cNvPr id="129" name="Google Shape;129;p10">
            <a:extLst>
              <a:ext uri="{FF2B5EF4-FFF2-40B4-BE49-F238E27FC236}">
                <a16:creationId xmlns:a16="http://schemas.microsoft.com/office/drawing/2014/main" id="{BBFED9D8-BB9A-F860-F9C1-8AABD821BE02}"/>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Basis trade – Fast Money</a:t>
            </a:r>
            <a:endParaRPr b="1" dirty="0"/>
          </a:p>
        </p:txBody>
      </p:sp>
      <p:sp>
        <p:nvSpPr>
          <p:cNvPr id="7" name="Rectangle: Rounded Corners 6">
            <a:extLst>
              <a:ext uri="{FF2B5EF4-FFF2-40B4-BE49-F238E27FC236}">
                <a16:creationId xmlns:a16="http://schemas.microsoft.com/office/drawing/2014/main" id="{470D9283-0884-537D-1D6F-82F4360D1C68}"/>
              </a:ext>
            </a:extLst>
          </p:cNvPr>
          <p:cNvSpPr/>
          <p:nvPr/>
        </p:nvSpPr>
        <p:spPr>
          <a:xfrm>
            <a:off x="1044121" y="2195743"/>
            <a:ext cx="1811866" cy="9152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1. Client gives me $10m to manage for 1 quarter/month</a:t>
            </a:r>
          </a:p>
        </p:txBody>
      </p:sp>
      <p:sp>
        <p:nvSpPr>
          <p:cNvPr id="2" name="Rectangle: Rounded Corners 1">
            <a:extLst>
              <a:ext uri="{FF2B5EF4-FFF2-40B4-BE49-F238E27FC236}">
                <a16:creationId xmlns:a16="http://schemas.microsoft.com/office/drawing/2014/main" id="{C59486C5-2390-8386-5D76-6CD885B688EC}"/>
              </a:ext>
            </a:extLst>
          </p:cNvPr>
          <p:cNvSpPr/>
          <p:nvPr/>
        </p:nvSpPr>
        <p:spPr>
          <a:xfrm>
            <a:off x="3388481" y="2195743"/>
            <a:ext cx="1811866" cy="9152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 In 1 quarter/month, I need X% return</a:t>
            </a:r>
          </a:p>
        </p:txBody>
      </p:sp>
      <p:sp>
        <p:nvSpPr>
          <p:cNvPr id="3" name="Rectangle: Rounded Corners 2">
            <a:extLst>
              <a:ext uri="{FF2B5EF4-FFF2-40B4-BE49-F238E27FC236}">
                <a16:creationId xmlns:a16="http://schemas.microsoft.com/office/drawing/2014/main" id="{85BD1E0E-CA63-AD1B-FF77-FA79A4A22276}"/>
              </a:ext>
            </a:extLst>
          </p:cNvPr>
          <p:cNvSpPr/>
          <p:nvPr/>
        </p:nvSpPr>
        <p:spPr>
          <a:xfrm>
            <a:off x="5732841" y="2195742"/>
            <a:ext cx="1811866" cy="9152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3. At the end, I get Y% of my AUM + Z% performance fee</a:t>
            </a:r>
          </a:p>
        </p:txBody>
      </p:sp>
    </p:spTree>
    <p:extLst>
      <p:ext uri="{BB962C8B-B14F-4D97-AF65-F5344CB8AC3E}">
        <p14:creationId xmlns:p14="http://schemas.microsoft.com/office/powerpoint/2010/main" val="1357619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EA0C1C7F-EE66-0507-46CC-2841BB1B9A64}"/>
            </a:ext>
          </a:extLst>
        </p:cNvPr>
        <p:cNvGrpSpPr/>
        <p:nvPr/>
      </p:nvGrpSpPr>
      <p:grpSpPr>
        <a:xfrm>
          <a:off x="0" y="0"/>
          <a:ext cx="0" cy="0"/>
          <a:chOff x="0" y="0"/>
          <a:chExt cx="0" cy="0"/>
        </a:xfrm>
      </p:grpSpPr>
      <p:sp>
        <p:nvSpPr>
          <p:cNvPr id="129" name="Google Shape;129;p10">
            <a:extLst>
              <a:ext uri="{FF2B5EF4-FFF2-40B4-BE49-F238E27FC236}">
                <a16:creationId xmlns:a16="http://schemas.microsoft.com/office/drawing/2014/main" id="{083DB165-5EC1-A560-B885-D628440D91DB}"/>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Basis trade</a:t>
            </a:r>
            <a:endParaRPr b="1" dirty="0"/>
          </a:p>
        </p:txBody>
      </p:sp>
      <p:sp>
        <p:nvSpPr>
          <p:cNvPr id="4" name="Rectangle: Rounded Corners 3">
            <a:extLst>
              <a:ext uri="{FF2B5EF4-FFF2-40B4-BE49-F238E27FC236}">
                <a16:creationId xmlns:a16="http://schemas.microsoft.com/office/drawing/2014/main" id="{711FBA2E-F9CF-AA11-4764-639924C9EB1A}"/>
              </a:ext>
            </a:extLst>
          </p:cNvPr>
          <p:cNvSpPr/>
          <p:nvPr/>
        </p:nvSpPr>
        <p:spPr>
          <a:xfrm>
            <a:off x="1346200" y="2150849"/>
            <a:ext cx="1811866" cy="4209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Treasury bond</a:t>
            </a:r>
            <a:endParaRPr lang="en-GB" dirty="0"/>
          </a:p>
        </p:txBody>
      </p:sp>
      <p:sp>
        <p:nvSpPr>
          <p:cNvPr id="7" name="Rectangle: Rounded Corners 6">
            <a:extLst>
              <a:ext uri="{FF2B5EF4-FFF2-40B4-BE49-F238E27FC236}">
                <a16:creationId xmlns:a16="http://schemas.microsoft.com/office/drawing/2014/main" id="{8F55C46C-2DB2-C4C9-8F25-2A6ECE4B1875}"/>
              </a:ext>
            </a:extLst>
          </p:cNvPr>
          <p:cNvSpPr/>
          <p:nvPr/>
        </p:nvSpPr>
        <p:spPr>
          <a:xfrm>
            <a:off x="1346200" y="3011723"/>
            <a:ext cx="1811866" cy="4209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Treasury future</a:t>
            </a:r>
          </a:p>
        </p:txBody>
      </p:sp>
      <p:sp>
        <p:nvSpPr>
          <p:cNvPr id="8" name="Rectangle 7">
            <a:extLst>
              <a:ext uri="{FF2B5EF4-FFF2-40B4-BE49-F238E27FC236}">
                <a16:creationId xmlns:a16="http://schemas.microsoft.com/office/drawing/2014/main" id="{76977B50-DB99-C40C-0285-CB837AEF4E3F}"/>
              </a:ext>
            </a:extLst>
          </p:cNvPr>
          <p:cNvSpPr/>
          <p:nvPr/>
        </p:nvSpPr>
        <p:spPr>
          <a:xfrm>
            <a:off x="5401733" y="3222173"/>
            <a:ext cx="1871133" cy="1124851"/>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Real Money</a:t>
            </a:r>
          </a:p>
        </p:txBody>
      </p:sp>
      <p:sp>
        <p:nvSpPr>
          <p:cNvPr id="9" name="Rectangle 8">
            <a:extLst>
              <a:ext uri="{FF2B5EF4-FFF2-40B4-BE49-F238E27FC236}">
                <a16:creationId xmlns:a16="http://schemas.microsoft.com/office/drawing/2014/main" id="{C34BDEFA-2474-084C-81C0-D02F5BC52BAC}"/>
              </a:ext>
            </a:extLst>
          </p:cNvPr>
          <p:cNvSpPr/>
          <p:nvPr/>
        </p:nvSpPr>
        <p:spPr>
          <a:xfrm>
            <a:off x="5401733" y="1236448"/>
            <a:ext cx="1871133" cy="1124851"/>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Fast Money</a:t>
            </a:r>
          </a:p>
        </p:txBody>
      </p:sp>
      <p:cxnSp>
        <p:nvCxnSpPr>
          <p:cNvPr id="11" name="Connector: Elbow 10">
            <a:extLst>
              <a:ext uri="{FF2B5EF4-FFF2-40B4-BE49-F238E27FC236}">
                <a16:creationId xmlns:a16="http://schemas.microsoft.com/office/drawing/2014/main" id="{DA7C71E4-96AC-65B2-FB57-81959513B174}"/>
              </a:ext>
            </a:extLst>
          </p:cNvPr>
          <p:cNvCxnSpPr>
            <a:stCxn id="8" idx="1"/>
            <a:endCxn id="7" idx="2"/>
          </p:cNvCxnSpPr>
          <p:nvPr/>
        </p:nvCxnSpPr>
        <p:spPr>
          <a:xfrm rot="10800000">
            <a:off x="2252133" y="3432625"/>
            <a:ext cx="3149600" cy="35197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CB4F7418-DD86-6A41-0B6A-A8719E168043}"/>
              </a:ext>
            </a:extLst>
          </p:cNvPr>
          <p:cNvCxnSpPr>
            <a:stCxn id="9" idx="1"/>
            <a:endCxn id="4" idx="0"/>
          </p:cNvCxnSpPr>
          <p:nvPr/>
        </p:nvCxnSpPr>
        <p:spPr>
          <a:xfrm rot="10800000" flipV="1">
            <a:off x="2252133" y="1798873"/>
            <a:ext cx="3149600" cy="35197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EA4FF7D1-A277-04A5-A814-93ED9BFA487D}"/>
              </a:ext>
            </a:extLst>
          </p:cNvPr>
          <p:cNvCxnSpPr>
            <a:stCxn id="9" idx="2"/>
            <a:endCxn id="7" idx="0"/>
          </p:cNvCxnSpPr>
          <p:nvPr/>
        </p:nvCxnSpPr>
        <p:spPr>
          <a:xfrm rot="5400000">
            <a:off x="3969505" y="643928"/>
            <a:ext cx="650424" cy="4085167"/>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9FD5BA6-F2FA-9620-6092-60367418D10A}"/>
              </a:ext>
            </a:extLst>
          </p:cNvPr>
          <p:cNvSpPr txBox="1"/>
          <p:nvPr/>
        </p:nvSpPr>
        <p:spPr>
          <a:xfrm>
            <a:off x="1625600" y="1500424"/>
            <a:ext cx="4572000" cy="307777"/>
          </a:xfrm>
          <a:prstGeom prst="rect">
            <a:avLst/>
          </a:prstGeom>
          <a:noFill/>
        </p:spPr>
        <p:txBody>
          <a:bodyPr wrap="square">
            <a:spAutoFit/>
          </a:bodyPr>
          <a:lstStyle/>
          <a:p>
            <a:pPr algn="ctr"/>
            <a:r>
              <a:rPr lang="en-GB" dirty="0"/>
              <a:t>Buy</a:t>
            </a:r>
          </a:p>
        </p:txBody>
      </p:sp>
      <p:sp>
        <p:nvSpPr>
          <p:cNvPr id="22" name="TextBox 21">
            <a:extLst>
              <a:ext uri="{FF2B5EF4-FFF2-40B4-BE49-F238E27FC236}">
                <a16:creationId xmlns:a16="http://schemas.microsoft.com/office/drawing/2014/main" id="{8C85551D-B98D-CB02-63E5-6A2B24791F86}"/>
              </a:ext>
            </a:extLst>
          </p:cNvPr>
          <p:cNvSpPr txBox="1"/>
          <p:nvPr/>
        </p:nvSpPr>
        <p:spPr>
          <a:xfrm>
            <a:off x="1993899" y="2716313"/>
            <a:ext cx="4572000" cy="307777"/>
          </a:xfrm>
          <a:prstGeom prst="rect">
            <a:avLst/>
          </a:prstGeom>
          <a:noFill/>
        </p:spPr>
        <p:txBody>
          <a:bodyPr wrap="square">
            <a:spAutoFit/>
          </a:bodyPr>
          <a:lstStyle/>
          <a:p>
            <a:pPr algn="ctr"/>
            <a:r>
              <a:rPr lang="en-GB" dirty="0"/>
              <a:t>Sell</a:t>
            </a:r>
          </a:p>
        </p:txBody>
      </p:sp>
      <p:sp>
        <p:nvSpPr>
          <p:cNvPr id="23" name="TextBox 22">
            <a:extLst>
              <a:ext uri="{FF2B5EF4-FFF2-40B4-BE49-F238E27FC236}">
                <a16:creationId xmlns:a16="http://schemas.microsoft.com/office/drawing/2014/main" id="{F069DC21-A271-DEBA-C2FA-A2CA323045C9}"/>
              </a:ext>
            </a:extLst>
          </p:cNvPr>
          <p:cNvSpPr txBox="1"/>
          <p:nvPr/>
        </p:nvSpPr>
        <p:spPr>
          <a:xfrm>
            <a:off x="2008717" y="3884964"/>
            <a:ext cx="4572000" cy="307777"/>
          </a:xfrm>
          <a:prstGeom prst="rect">
            <a:avLst/>
          </a:prstGeom>
          <a:noFill/>
        </p:spPr>
        <p:txBody>
          <a:bodyPr wrap="square">
            <a:spAutoFit/>
          </a:bodyPr>
          <a:lstStyle/>
          <a:p>
            <a:pPr algn="ctr"/>
            <a:r>
              <a:rPr lang="en-GB" dirty="0"/>
              <a:t>Buy</a:t>
            </a:r>
          </a:p>
        </p:txBody>
      </p:sp>
    </p:spTree>
    <p:extLst>
      <p:ext uri="{BB962C8B-B14F-4D97-AF65-F5344CB8AC3E}">
        <p14:creationId xmlns:p14="http://schemas.microsoft.com/office/powerpoint/2010/main" val="3570302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C94FAC8A-8EC0-6475-CEE0-1D67C006B5B3}"/>
            </a:ext>
          </a:extLst>
        </p:cNvPr>
        <p:cNvGrpSpPr/>
        <p:nvPr/>
      </p:nvGrpSpPr>
      <p:grpSpPr>
        <a:xfrm>
          <a:off x="0" y="0"/>
          <a:ext cx="0" cy="0"/>
          <a:chOff x="0" y="0"/>
          <a:chExt cx="0" cy="0"/>
        </a:xfrm>
      </p:grpSpPr>
      <p:sp>
        <p:nvSpPr>
          <p:cNvPr id="129" name="Google Shape;129;p10">
            <a:extLst>
              <a:ext uri="{FF2B5EF4-FFF2-40B4-BE49-F238E27FC236}">
                <a16:creationId xmlns:a16="http://schemas.microsoft.com/office/drawing/2014/main" id="{CDF3E04D-3FDB-0A06-E1C8-6C4C774A4CEA}"/>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Basis trade – volatile!</a:t>
            </a:r>
            <a:endParaRPr b="1" dirty="0"/>
          </a:p>
        </p:txBody>
      </p:sp>
      <p:sp>
        <p:nvSpPr>
          <p:cNvPr id="2" name="Google Shape;151;g30f61ab1a0b_0_27">
            <a:extLst>
              <a:ext uri="{FF2B5EF4-FFF2-40B4-BE49-F238E27FC236}">
                <a16:creationId xmlns:a16="http://schemas.microsoft.com/office/drawing/2014/main" id="{190D00BD-1EFA-D0C0-1A92-BCAB56520CE9}"/>
              </a:ext>
            </a:extLst>
          </p:cNvPr>
          <p:cNvSpPr txBox="1">
            <a:spLocks noGrp="1"/>
          </p:cNvSpPr>
          <p:nvPr>
            <p:ph type="body" idx="1"/>
          </p:nvPr>
        </p:nvSpPr>
        <p:spPr>
          <a:xfrm>
            <a:off x="311700" y="116380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dirty="0">
                <a:solidFill>
                  <a:schemeClr val="dk1"/>
                </a:solidFill>
                <a:sym typeface="Wingdings" panose="05000000000000000000" pitchFamily="2" charset="2"/>
              </a:rPr>
              <a:t>Basis is typically very small (a few bps)</a:t>
            </a:r>
          </a:p>
          <a:p>
            <a:pPr marL="0" lvl="0" indent="0" algn="l" rtl="0">
              <a:spcBef>
                <a:spcPts val="0"/>
              </a:spcBef>
              <a:spcAft>
                <a:spcPts val="0"/>
              </a:spcAft>
              <a:buNone/>
            </a:pPr>
            <a:endParaRPr lang="en-GB" sz="1200" dirty="0">
              <a:solidFill>
                <a:schemeClr val="dk1"/>
              </a:solidFill>
              <a:sym typeface="Wingdings" panose="05000000000000000000" pitchFamily="2" charset="2"/>
            </a:endParaRPr>
          </a:p>
          <a:p>
            <a:pPr marL="0" lvl="0" indent="0" algn="l" rtl="0">
              <a:spcBef>
                <a:spcPts val="0"/>
              </a:spcBef>
              <a:spcAft>
                <a:spcPts val="0"/>
              </a:spcAft>
              <a:buNone/>
            </a:pPr>
            <a:r>
              <a:rPr lang="en-GB" sz="1200" dirty="0">
                <a:solidFill>
                  <a:schemeClr val="dk1"/>
                </a:solidFill>
                <a:sym typeface="Wingdings" panose="05000000000000000000" pitchFamily="2" charset="2"/>
              </a:rPr>
              <a:t>Hedge funds employ </a:t>
            </a:r>
            <a:r>
              <a:rPr lang="en-GB" sz="1200" b="1" u="sng" dirty="0">
                <a:solidFill>
                  <a:srgbClr val="FF0000"/>
                </a:solidFill>
                <a:sym typeface="Wingdings" panose="05000000000000000000" pitchFamily="2" charset="2"/>
              </a:rPr>
              <a:t>leverage</a:t>
            </a:r>
            <a:r>
              <a:rPr lang="en-GB" sz="1200" dirty="0">
                <a:solidFill>
                  <a:schemeClr val="dk1"/>
                </a:solidFill>
                <a:sym typeface="Wingdings" panose="05000000000000000000" pitchFamily="2" charset="2"/>
              </a:rPr>
              <a:t> via repo with banks, collateralising the bonds they buy</a:t>
            </a:r>
          </a:p>
        </p:txBody>
      </p:sp>
    </p:spTree>
    <p:extLst>
      <p:ext uri="{BB962C8B-B14F-4D97-AF65-F5344CB8AC3E}">
        <p14:creationId xmlns:p14="http://schemas.microsoft.com/office/powerpoint/2010/main" val="290597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Breakeven bet</a:t>
            </a:r>
            <a:endParaRPr b="1" dirty="0"/>
          </a:p>
        </p:txBody>
      </p:sp>
      <p:sp>
        <p:nvSpPr>
          <p:cNvPr id="175" name="Google Shape;175;p16"/>
          <p:cNvSpPr txBox="1">
            <a:spLocks noGrp="1"/>
          </p:cNvSpPr>
          <p:nvPr>
            <p:ph type="body" idx="1"/>
          </p:nvPr>
        </p:nvSpPr>
        <p:spPr>
          <a:xfrm>
            <a:off x="311700" y="1152475"/>
            <a:ext cx="8254076" cy="3416400"/>
          </a:xfrm>
          <a:prstGeom prst="rect">
            <a:avLst/>
          </a:prstGeom>
          <a:noFill/>
          <a:ln>
            <a:noFill/>
          </a:ln>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Char char="●"/>
            </a:pPr>
            <a:r>
              <a:rPr lang="en-SG" sz="1200" dirty="0">
                <a:solidFill>
                  <a:schemeClr val="dk1"/>
                </a:solidFill>
              </a:rPr>
              <a:t>Inflation linked products are a type of indexed product, meaning cash flows depend on an index</a:t>
            </a:r>
            <a:endParaRPr dirty="0"/>
          </a:p>
          <a:p>
            <a:pPr lvl="1" algn="l" rtl="0">
              <a:lnSpc>
                <a:spcPct val="150000"/>
              </a:lnSpc>
              <a:spcBef>
                <a:spcPts val="0"/>
              </a:spcBef>
              <a:spcAft>
                <a:spcPts val="0"/>
              </a:spcAft>
              <a:buClr>
                <a:schemeClr val="dk1"/>
              </a:buClr>
              <a:buSzPts val="1400"/>
              <a:buFont typeface="Courier New" panose="02070309020205020404" pitchFamily="49" charset="0"/>
              <a:buChar char="o"/>
            </a:pPr>
            <a:r>
              <a:rPr lang="en-SG" sz="1000" dirty="0">
                <a:solidFill>
                  <a:schemeClr val="dk1"/>
                </a:solidFill>
              </a:rPr>
              <a:t>In the UK, the RPI is commonly used</a:t>
            </a:r>
            <a:endParaRPr dirty="0"/>
          </a:p>
          <a:p>
            <a:pPr lvl="2" algn="l" rtl="0">
              <a:lnSpc>
                <a:spcPct val="150000"/>
              </a:lnSpc>
              <a:spcBef>
                <a:spcPts val="0"/>
              </a:spcBef>
              <a:spcAft>
                <a:spcPts val="0"/>
              </a:spcAft>
              <a:buClr>
                <a:schemeClr val="dk1"/>
              </a:buClr>
              <a:buSzPts val="1400"/>
              <a:buFont typeface="Wingdings" panose="05000000000000000000" pitchFamily="2" charset="2"/>
              <a:buChar char="Ø"/>
            </a:pPr>
            <a:r>
              <a:rPr lang="en-SG" sz="1000" dirty="0">
                <a:solidFill>
                  <a:schemeClr val="dk1"/>
                </a:solidFill>
              </a:rPr>
              <a:t>Note: RPI is changing </a:t>
            </a:r>
            <a:r>
              <a:rPr lang="en-SG" sz="1000" i="1" dirty="0">
                <a:solidFill>
                  <a:schemeClr val="dk1"/>
                </a:solidFill>
              </a:rPr>
              <a:t>soon. </a:t>
            </a:r>
            <a:r>
              <a:rPr lang="en-SG" sz="1000" dirty="0">
                <a:solidFill>
                  <a:schemeClr val="dk1"/>
                </a:solidFill>
              </a:rPr>
              <a:t>Index will soon become like the CPIH from 2030</a:t>
            </a:r>
            <a:endParaRPr sz="1000" i="1" dirty="0">
              <a:solidFill>
                <a:schemeClr val="dk1"/>
              </a:solidFill>
            </a:endParaRPr>
          </a:p>
          <a:p>
            <a:pPr lvl="1" algn="l" rtl="0">
              <a:lnSpc>
                <a:spcPct val="150000"/>
              </a:lnSpc>
              <a:spcBef>
                <a:spcPts val="0"/>
              </a:spcBef>
              <a:spcAft>
                <a:spcPts val="0"/>
              </a:spcAft>
              <a:buClr>
                <a:schemeClr val="dk1"/>
              </a:buClr>
              <a:buSzPts val="1400"/>
              <a:buFont typeface="Courier New" panose="02070309020205020404" pitchFamily="49" charset="0"/>
              <a:buChar char="o"/>
            </a:pPr>
            <a:r>
              <a:rPr lang="en-SG" sz="1000" dirty="0">
                <a:solidFill>
                  <a:schemeClr val="dk1"/>
                </a:solidFill>
              </a:rPr>
              <a:t>In the USA, CPI is more commonly used</a:t>
            </a:r>
            <a:endParaRPr dirty="0"/>
          </a:p>
          <a:p>
            <a:pPr marL="596900" lvl="1" indent="0" algn="l" rtl="0">
              <a:lnSpc>
                <a:spcPct val="150000"/>
              </a:lnSpc>
              <a:spcBef>
                <a:spcPts val="0"/>
              </a:spcBef>
              <a:spcAft>
                <a:spcPts val="0"/>
              </a:spcAft>
              <a:buClr>
                <a:schemeClr val="dk1"/>
              </a:buClr>
              <a:buSzPts val="1400"/>
              <a:buNone/>
            </a:pPr>
            <a:endParaRPr sz="1000" dirty="0">
              <a:solidFill>
                <a:schemeClr val="dk1"/>
              </a:solidFill>
            </a:endParaRPr>
          </a:p>
          <a:p>
            <a:pPr marL="457200" lvl="0" indent="-317500" algn="l" rtl="0">
              <a:lnSpc>
                <a:spcPct val="150000"/>
              </a:lnSpc>
              <a:spcBef>
                <a:spcPts val="0"/>
              </a:spcBef>
              <a:spcAft>
                <a:spcPts val="0"/>
              </a:spcAft>
              <a:buClr>
                <a:schemeClr val="dk1"/>
              </a:buClr>
              <a:buSzPts val="1400"/>
              <a:buChar char="●"/>
            </a:pPr>
            <a:r>
              <a:rPr lang="en-SG" sz="1200" dirty="0">
                <a:solidFill>
                  <a:schemeClr val="dk1"/>
                </a:solidFill>
              </a:rPr>
              <a:t>Inflation linked products are used to commonly hedge large corporate inflation exposure</a:t>
            </a:r>
            <a:endParaRPr dirty="0"/>
          </a:p>
          <a:p>
            <a:pPr lvl="1" algn="l" rtl="0">
              <a:lnSpc>
                <a:spcPct val="150000"/>
              </a:lnSpc>
              <a:spcBef>
                <a:spcPts val="0"/>
              </a:spcBef>
              <a:spcAft>
                <a:spcPts val="0"/>
              </a:spcAft>
              <a:buClr>
                <a:schemeClr val="dk1"/>
              </a:buClr>
              <a:buSzPts val="1400"/>
              <a:buFont typeface="Courier New" panose="02070309020205020404" pitchFamily="49" charset="0"/>
              <a:buChar char="o"/>
            </a:pPr>
            <a:r>
              <a:rPr lang="en-SG" sz="1000" dirty="0">
                <a:solidFill>
                  <a:schemeClr val="dk1"/>
                </a:solidFill>
              </a:rPr>
              <a:t>i.e. Pension pay-outs that increase with an inflation index</a:t>
            </a:r>
            <a:endParaRPr dirty="0"/>
          </a:p>
          <a:p>
            <a:pPr marL="457200" lvl="0" indent="-228600" algn="l" rtl="0">
              <a:lnSpc>
                <a:spcPct val="150000"/>
              </a:lnSpc>
              <a:spcBef>
                <a:spcPts val="0"/>
              </a:spcBef>
              <a:spcAft>
                <a:spcPts val="0"/>
              </a:spcAft>
              <a:buClr>
                <a:schemeClr val="dk1"/>
              </a:buClr>
              <a:buSzPts val="1400"/>
              <a:buNone/>
            </a:pPr>
            <a:endParaRPr sz="1400" dirty="0">
              <a:solidFill>
                <a:schemeClr val="dk1"/>
              </a:solidFill>
            </a:endParaRPr>
          </a:p>
          <a:p>
            <a:pPr marL="139700" lvl="0" indent="0" algn="l" rtl="0">
              <a:lnSpc>
                <a:spcPct val="150000"/>
              </a:lnSpc>
              <a:spcBef>
                <a:spcPts val="0"/>
              </a:spcBef>
              <a:spcAft>
                <a:spcPts val="0"/>
              </a:spcAft>
              <a:buClr>
                <a:schemeClr val="dk1"/>
              </a:buClr>
              <a:buSzPts val="1400"/>
              <a:buNone/>
            </a:pPr>
            <a:endParaRPr sz="1400" dirty="0">
              <a:solidFill>
                <a:schemeClr val="dk1"/>
              </a:solidFill>
            </a:endParaRPr>
          </a:p>
        </p:txBody>
      </p:sp>
      <p:pic>
        <p:nvPicPr>
          <p:cNvPr id="176" name="Google Shape;176;p16"/>
          <p:cNvPicPr preferRelativeResize="0"/>
          <p:nvPr/>
        </p:nvPicPr>
        <p:blipFill rotWithShape="1">
          <a:blip r:embed="rId3">
            <a:alphaModFix/>
          </a:blip>
          <a:srcRect/>
          <a:stretch/>
        </p:blipFill>
        <p:spPr>
          <a:xfrm>
            <a:off x="2547257" y="3104276"/>
            <a:ext cx="4049485" cy="177349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SG" b="1" dirty="0"/>
              <a:t>Breakeven bet</a:t>
            </a:r>
            <a:endParaRPr b="1" dirty="0"/>
          </a:p>
        </p:txBody>
      </p:sp>
      <p:sp>
        <p:nvSpPr>
          <p:cNvPr id="183" name="Google Shape;183;p17"/>
          <p:cNvSpPr txBox="1">
            <a:spLocks noGrp="1"/>
          </p:cNvSpPr>
          <p:nvPr>
            <p:ph type="body" idx="1"/>
          </p:nvPr>
        </p:nvSpPr>
        <p:spPr>
          <a:xfrm>
            <a:off x="311700" y="1152475"/>
            <a:ext cx="5672721" cy="3416400"/>
          </a:xfrm>
          <a:prstGeom prst="rect">
            <a:avLst/>
          </a:prstGeom>
          <a:noFill/>
          <a:ln>
            <a:noFill/>
          </a:ln>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Char char="●"/>
            </a:pPr>
            <a:r>
              <a:rPr lang="en-SG" sz="1200" dirty="0">
                <a:solidFill>
                  <a:schemeClr val="dk1"/>
                </a:solidFill>
              </a:rPr>
              <a:t>Inflation Linked Government Bonds are similar to vanilla (normal) government bonds where you have incremental, </a:t>
            </a:r>
            <a:r>
              <a:rPr lang="en-SG" sz="1200" i="1" dirty="0">
                <a:solidFill>
                  <a:schemeClr val="dk1"/>
                </a:solidFill>
              </a:rPr>
              <a:t>predetermined</a:t>
            </a:r>
            <a:r>
              <a:rPr lang="en-SG" sz="1200" dirty="0">
                <a:solidFill>
                  <a:schemeClr val="dk1"/>
                </a:solidFill>
              </a:rPr>
              <a:t> cashflows. But the difference here is that both the coupons and the face value are scaled in accordance with the inflation index (specified for the product)</a:t>
            </a:r>
            <a:endParaRPr dirty="0"/>
          </a:p>
          <a:p>
            <a:pPr marL="914400" lvl="1" indent="-317500" algn="l" rtl="0">
              <a:lnSpc>
                <a:spcPct val="150000"/>
              </a:lnSpc>
              <a:spcBef>
                <a:spcPts val="0"/>
              </a:spcBef>
              <a:spcAft>
                <a:spcPts val="0"/>
              </a:spcAft>
              <a:buClr>
                <a:schemeClr val="dk1"/>
              </a:buClr>
              <a:buSzPts val="1400"/>
              <a:buChar char="●"/>
            </a:pPr>
            <a:r>
              <a:rPr lang="en-SG" sz="1000" dirty="0">
                <a:solidFill>
                  <a:schemeClr val="dk1"/>
                </a:solidFill>
              </a:rPr>
              <a:t>Why would I ever buy a nominal bond if I can just always be protected from inflation with these?</a:t>
            </a:r>
            <a:endParaRPr dirty="0"/>
          </a:p>
          <a:p>
            <a:pPr marL="596900" lvl="1" indent="0" algn="l" rtl="0">
              <a:lnSpc>
                <a:spcPct val="150000"/>
              </a:lnSpc>
              <a:spcBef>
                <a:spcPts val="0"/>
              </a:spcBef>
              <a:spcAft>
                <a:spcPts val="0"/>
              </a:spcAft>
              <a:buClr>
                <a:schemeClr val="dk1"/>
              </a:buClr>
              <a:buSzPts val="1400"/>
              <a:buNone/>
            </a:pPr>
            <a:endParaRPr sz="1000" dirty="0">
              <a:solidFill>
                <a:schemeClr val="dk1"/>
              </a:solidFill>
            </a:endParaRPr>
          </a:p>
          <a:p>
            <a:pPr marL="596900" lvl="1" indent="0" algn="l" rtl="0">
              <a:lnSpc>
                <a:spcPct val="150000"/>
              </a:lnSpc>
              <a:spcBef>
                <a:spcPts val="0"/>
              </a:spcBef>
              <a:spcAft>
                <a:spcPts val="0"/>
              </a:spcAft>
              <a:buClr>
                <a:schemeClr val="dk1"/>
              </a:buClr>
              <a:buSzPts val="1400"/>
              <a:buNone/>
            </a:pPr>
            <a:endParaRPr sz="1000" dirty="0">
              <a:solidFill>
                <a:schemeClr val="dk1"/>
              </a:solidFill>
            </a:endParaRPr>
          </a:p>
          <a:p>
            <a:pPr marL="457200" lvl="0" indent="-317500" algn="l" rtl="0">
              <a:lnSpc>
                <a:spcPct val="150000"/>
              </a:lnSpc>
              <a:spcBef>
                <a:spcPts val="0"/>
              </a:spcBef>
              <a:spcAft>
                <a:spcPts val="0"/>
              </a:spcAft>
              <a:buClr>
                <a:schemeClr val="dk1"/>
              </a:buClr>
              <a:buSzPts val="1400"/>
              <a:buChar char="●"/>
            </a:pPr>
            <a:r>
              <a:rPr lang="en-SG" sz="1200" dirty="0">
                <a:solidFill>
                  <a:schemeClr val="dk1"/>
                </a:solidFill>
              </a:rPr>
              <a:t>Inflation Swaps</a:t>
            </a:r>
            <a:endParaRPr dirty="0"/>
          </a:p>
          <a:p>
            <a:pPr marL="914400" lvl="1" indent="-317500" algn="l" rtl="0">
              <a:lnSpc>
                <a:spcPct val="150000"/>
              </a:lnSpc>
              <a:spcBef>
                <a:spcPts val="0"/>
              </a:spcBef>
              <a:spcAft>
                <a:spcPts val="0"/>
              </a:spcAft>
              <a:buClr>
                <a:schemeClr val="dk1"/>
              </a:buClr>
              <a:buSzPts val="1400"/>
              <a:buChar char="●"/>
            </a:pPr>
            <a:r>
              <a:rPr lang="en-SG" sz="1000" dirty="0">
                <a:solidFill>
                  <a:schemeClr val="dk1"/>
                </a:solidFill>
              </a:rPr>
              <a:t>Similar to normal IRS but instead the referenced rate is an inflation rate</a:t>
            </a:r>
            <a:endParaRPr dirty="0"/>
          </a:p>
          <a:p>
            <a:pPr marL="914400" lvl="1" indent="-317500" algn="l" rtl="0">
              <a:lnSpc>
                <a:spcPct val="150000"/>
              </a:lnSpc>
              <a:spcBef>
                <a:spcPts val="0"/>
              </a:spcBef>
              <a:spcAft>
                <a:spcPts val="0"/>
              </a:spcAft>
              <a:buClr>
                <a:schemeClr val="dk1"/>
              </a:buClr>
              <a:buSzPts val="1400"/>
              <a:buChar char="●"/>
            </a:pPr>
            <a:r>
              <a:rPr lang="en-SG" sz="1000" dirty="0">
                <a:solidFill>
                  <a:schemeClr val="dk1"/>
                </a:solidFill>
              </a:rPr>
              <a:t>Usually </a:t>
            </a:r>
            <a:r>
              <a:rPr lang="en-SG" sz="1000" i="1" dirty="0">
                <a:solidFill>
                  <a:schemeClr val="dk1"/>
                </a:solidFill>
              </a:rPr>
              <a:t>zero-coupon</a:t>
            </a:r>
            <a:endParaRPr dirty="0"/>
          </a:p>
          <a:p>
            <a:pPr marL="914400" lvl="1" indent="-317500" algn="l" rtl="0">
              <a:lnSpc>
                <a:spcPct val="150000"/>
              </a:lnSpc>
              <a:spcBef>
                <a:spcPts val="0"/>
              </a:spcBef>
              <a:spcAft>
                <a:spcPts val="0"/>
              </a:spcAft>
              <a:buClr>
                <a:schemeClr val="dk1"/>
              </a:buClr>
              <a:buSzPts val="1400"/>
              <a:buChar char="●"/>
            </a:pPr>
            <a:r>
              <a:rPr lang="en-SG" sz="1000" dirty="0">
                <a:solidFill>
                  <a:schemeClr val="dk1"/>
                </a:solidFill>
              </a:rPr>
              <a:t>Keep an eye out for the 5y5y</a:t>
            </a:r>
            <a:endParaRPr dirty="0"/>
          </a:p>
          <a:p>
            <a:pPr marL="457200" lvl="0" indent="-228600" algn="l" rtl="0">
              <a:lnSpc>
                <a:spcPct val="150000"/>
              </a:lnSpc>
              <a:spcBef>
                <a:spcPts val="0"/>
              </a:spcBef>
              <a:spcAft>
                <a:spcPts val="0"/>
              </a:spcAft>
              <a:buClr>
                <a:schemeClr val="dk1"/>
              </a:buClr>
              <a:buSzPts val="1400"/>
              <a:buNone/>
            </a:pPr>
            <a:endParaRPr sz="1400" dirty="0">
              <a:solidFill>
                <a:schemeClr val="dk1"/>
              </a:solidFill>
            </a:endParaRPr>
          </a:p>
          <a:p>
            <a:pPr marL="139700" lvl="0" indent="0" algn="l" rtl="0">
              <a:lnSpc>
                <a:spcPct val="150000"/>
              </a:lnSpc>
              <a:spcBef>
                <a:spcPts val="0"/>
              </a:spcBef>
              <a:spcAft>
                <a:spcPts val="0"/>
              </a:spcAft>
              <a:buClr>
                <a:schemeClr val="dk1"/>
              </a:buClr>
              <a:buSzPts val="1400"/>
              <a:buNone/>
            </a:pPr>
            <a:endParaRPr sz="1400" dirty="0">
              <a:solidFill>
                <a:schemeClr val="dk1"/>
              </a:solidFill>
            </a:endParaRPr>
          </a:p>
        </p:txBody>
      </p:sp>
      <p:pic>
        <p:nvPicPr>
          <p:cNvPr id="184" name="Google Shape;184;p17" descr="Understanding Inflation-Linked Bonds | PIMCO"/>
          <p:cNvPicPr preferRelativeResize="0"/>
          <p:nvPr/>
        </p:nvPicPr>
        <p:blipFill rotWithShape="1">
          <a:blip r:embed="rId3">
            <a:alphaModFix/>
          </a:blip>
          <a:srcRect t="13226"/>
          <a:stretch/>
        </p:blipFill>
        <p:spPr>
          <a:xfrm>
            <a:off x="6326940" y="1152475"/>
            <a:ext cx="2505360" cy="2964554"/>
          </a:xfrm>
          <a:prstGeom prst="rect">
            <a:avLst/>
          </a:prstGeom>
          <a:noFill/>
          <a:ln>
            <a:noFill/>
          </a:ln>
        </p:spPr>
      </p:pic>
      <p:sp>
        <p:nvSpPr>
          <p:cNvPr id="185" name="Google Shape;185;p17"/>
          <p:cNvSpPr txBox="1"/>
          <p:nvPr/>
        </p:nvSpPr>
        <p:spPr>
          <a:xfrm>
            <a:off x="0" y="4974223"/>
            <a:ext cx="598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SG" b="1" dirty="0"/>
              <a:t>Breakeven Inflation Rate</a:t>
            </a:r>
            <a:endParaRPr b="1" dirty="0"/>
          </a:p>
        </p:txBody>
      </p:sp>
      <p:sp>
        <p:nvSpPr>
          <p:cNvPr id="197" name="Google Shape;197;p19"/>
          <p:cNvSpPr txBox="1">
            <a:spLocks noGrp="1"/>
          </p:cNvSpPr>
          <p:nvPr>
            <p:ph type="body" idx="1"/>
          </p:nvPr>
        </p:nvSpPr>
        <p:spPr>
          <a:xfrm>
            <a:off x="311700" y="1152475"/>
            <a:ext cx="8254076" cy="3416400"/>
          </a:xfrm>
          <a:prstGeom prst="rect">
            <a:avLst/>
          </a:prstGeom>
          <a:noFill/>
          <a:ln>
            <a:noFill/>
          </a:ln>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Char char="●"/>
            </a:pPr>
            <a:r>
              <a:rPr lang="en-SG" sz="1200" dirty="0">
                <a:solidFill>
                  <a:schemeClr val="dk1"/>
                </a:solidFill>
              </a:rPr>
              <a:t>The difference between the yield on the nominal and linker is known as the </a:t>
            </a:r>
            <a:r>
              <a:rPr lang="en-SG" sz="1200" i="1" dirty="0">
                <a:solidFill>
                  <a:schemeClr val="dk1"/>
                </a:solidFill>
              </a:rPr>
              <a:t>breakeven inflation rate</a:t>
            </a:r>
            <a:endParaRPr sz="1200" dirty="0"/>
          </a:p>
          <a:p>
            <a:pPr lvl="1" algn="l" rtl="0">
              <a:lnSpc>
                <a:spcPct val="150000"/>
              </a:lnSpc>
              <a:spcBef>
                <a:spcPts val="0"/>
              </a:spcBef>
              <a:spcAft>
                <a:spcPts val="0"/>
              </a:spcAft>
              <a:buClr>
                <a:schemeClr val="dk1"/>
              </a:buClr>
              <a:buSzPts val="1400"/>
              <a:buFont typeface="Courier New" panose="02070309020205020404" pitchFamily="49" charset="0"/>
              <a:buChar char="o"/>
            </a:pPr>
            <a:r>
              <a:rPr lang="en-SG" sz="1200" dirty="0">
                <a:solidFill>
                  <a:schemeClr val="dk1"/>
                </a:solidFill>
              </a:rPr>
              <a:t>This can be seen as market expectations of future inflation rates</a:t>
            </a:r>
            <a:endParaRPr dirty="0"/>
          </a:p>
          <a:p>
            <a:pPr marL="425450" lvl="0" indent="-196850" algn="l" rtl="0">
              <a:lnSpc>
                <a:spcPct val="150000"/>
              </a:lnSpc>
              <a:spcBef>
                <a:spcPts val="0"/>
              </a:spcBef>
              <a:spcAft>
                <a:spcPts val="0"/>
              </a:spcAft>
              <a:buClr>
                <a:schemeClr val="dk1"/>
              </a:buClr>
              <a:buSzPts val="1400"/>
              <a:buNone/>
            </a:pPr>
            <a:endParaRPr sz="1200" dirty="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TotalTime>
  <Words>1324</Words>
  <Application>Microsoft Office PowerPoint</Application>
  <PresentationFormat>On-screen Show (16:9)</PresentationFormat>
  <Paragraphs>160</Paragraphs>
  <Slides>30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ＭＳ Ｐゴシック</vt:lpstr>
      <vt:lpstr>Arial</vt:lpstr>
      <vt:lpstr>Courier New</vt:lpstr>
      <vt:lpstr>Wingdings</vt:lpstr>
      <vt:lpstr>Simple Light</vt:lpstr>
      <vt:lpstr>Rates Fundamentals</vt:lpstr>
      <vt:lpstr>Table of Contents</vt:lpstr>
      <vt:lpstr>Fixed income basics</vt:lpstr>
      <vt:lpstr>Fixed Income</vt:lpstr>
      <vt:lpstr>Pricing</vt:lpstr>
      <vt:lpstr>Duration &amp; Convexity</vt:lpstr>
      <vt:lpstr>Rates vs. Credit</vt:lpstr>
      <vt:lpstr>Yield Curve</vt:lpstr>
      <vt:lpstr>Short-end, Belly, Long-end Rates</vt:lpstr>
      <vt:lpstr>Longer you go, the bond is more influenced by TP</vt:lpstr>
      <vt:lpstr>Post-08 changes in monetary policy</vt:lpstr>
      <vt:lpstr>History of US interest rates</vt:lpstr>
      <vt:lpstr>Cutting rates below 0?</vt:lpstr>
      <vt:lpstr>Cutting rates below 0?</vt:lpstr>
      <vt:lpstr>So what did the Fed do instead?</vt:lpstr>
      <vt:lpstr>Then, inflation hit in 2022</vt:lpstr>
      <vt:lpstr>Different “bets” in rates markets</vt:lpstr>
      <vt:lpstr>What are the different possible ways to trade rates?</vt:lpstr>
      <vt:lpstr>Directional bets</vt:lpstr>
      <vt:lpstr>Curvature bets</vt:lpstr>
      <vt:lpstr>Curvature bets</vt:lpstr>
      <vt:lpstr>Curvature bets</vt:lpstr>
      <vt:lpstr>Basis trade</vt:lpstr>
      <vt:lpstr>Basis trade – Real Money</vt:lpstr>
      <vt:lpstr>Basis trade – Fast Money</vt:lpstr>
      <vt:lpstr>Basis trade</vt:lpstr>
      <vt:lpstr>Basis trade – volatile!</vt:lpstr>
      <vt:lpstr>Breakeven bet</vt:lpstr>
      <vt:lpstr>Breakeven bet</vt:lpstr>
      <vt:lpstr>Breakeven Inflation Rate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Jagtap</dc:creator>
  <cp:lastModifiedBy>L C</cp:lastModifiedBy>
  <cp:revision>96</cp:revision>
  <dcterms:modified xsi:type="dcterms:W3CDTF">2025-12-25T10:09:09Z</dcterms:modified>
</cp:coreProperties>
</file>