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79" r:id="rId4"/>
    <p:sldId id="280" r:id="rId5"/>
    <p:sldId id="261" r:id="rId6"/>
    <p:sldId id="260" r:id="rId7"/>
    <p:sldId id="263" r:id="rId8"/>
    <p:sldId id="262" r:id="rId9"/>
    <p:sldId id="265" r:id="rId10"/>
    <p:sldId id="266" r:id="rId11"/>
    <p:sldId id="283" r:id="rId12"/>
    <p:sldId id="284" r:id="rId13"/>
    <p:sldId id="268" r:id="rId14"/>
    <p:sldId id="285" r:id="rId15"/>
    <p:sldId id="269" r:id="rId16"/>
    <p:sldId id="286" r:id="rId17"/>
    <p:sldId id="271" r:id="rId18"/>
    <p:sldId id="278" r:id="rId19"/>
    <p:sldId id="281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5" roundtripDataSignature="AMtx7mjZytDZ25Zg4glkJPoZ9uv85emQ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4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9B19CA5A-8B77-6A69-7C40-0547D77F7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:notes">
            <a:extLst>
              <a:ext uri="{FF2B5EF4-FFF2-40B4-BE49-F238E27FC236}">
                <a16:creationId xmlns:a16="http://schemas.microsoft.com/office/drawing/2014/main" id="{88F3277F-E2C7-C7EA-2663-A8515EA5EA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27:notes">
            <a:extLst>
              <a:ext uri="{FF2B5EF4-FFF2-40B4-BE49-F238E27FC236}">
                <a16:creationId xmlns:a16="http://schemas.microsoft.com/office/drawing/2014/main" id="{5948D1F3-ED28-9526-9A78-D2DB5C7B3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2257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A forward will have both interest rate risk and FX risk unless hedged, while swaps simply have interest rate risk.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>
          <a:extLst>
            <a:ext uri="{FF2B5EF4-FFF2-40B4-BE49-F238E27FC236}">
              <a16:creationId xmlns:a16="http://schemas.microsoft.com/office/drawing/2014/main" id="{448B46B0-497B-CFD8-F77E-BC27A287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>
            <a:extLst>
              <a:ext uri="{FF2B5EF4-FFF2-40B4-BE49-F238E27FC236}">
                <a16:creationId xmlns:a16="http://schemas.microsoft.com/office/drawing/2014/main" id="{A78B7D0D-6AEC-8EDF-6ED2-F4C2DD4220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5:notes">
            <a:extLst>
              <a:ext uri="{FF2B5EF4-FFF2-40B4-BE49-F238E27FC236}">
                <a16:creationId xmlns:a16="http://schemas.microsoft.com/office/drawing/2014/main" id="{70965F38-AF36-4ADA-4712-BDC3577140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A forward will have both interest rate risk and FX risk unless hedged, while swaps simply have interest rate risk. 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627336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8A3CF35-723C-E674-C1B2-C0654B02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>
            <a:extLst>
              <a:ext uri="{FF2B5EF4-FFF2-40B4-BE49-F238E27FC236}">
                <a16:creationId xmlns:a16="http://schemas.microsoft.com/office/drawing/2014/main" id="{10F9B4D9-E73A-FDDE-7A42-24796C28C2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1:notes">
            <a:extLst>
              <a:ext uri="{FF2B5EF4-FFF2-40B4-BE49-F238E27FC236}">
                <a16:creationId xmlns:a16="http://schemas.microsoft.com/office/drawing/2014/main" id="{BFDDA61E-36D0-5654-8004-4BA323AD2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5096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32AA1B11-F77B-220B-BF1B-AFBAAD217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4:notes">
            <a:extLst>
              <a:ext uri="{FF2B5EF4-FFF2-40B4-BE49-F238E27FC236}">
                <a16:creationId xmlns:a16="http://schemas.microsoft.com/office/drawing/2014/main" id="{D61A608F-5E3A-307C-627A-0AD2C94DED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4:notes">
            <a:extLst>
              <a:ext uri="{FF2B5EF4-FFF2-40B4-BE49-F238E27FC236}">
                <a16:creationId xmlns:a16="http://schemas.microsoft.com/office/drawing/2014/main" id="{DEEDDCC2-9647-AE93-CDDB-CC1F40BFB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3951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sldNum" idx="2"/>
          </p:nvPr>
        </p:nvSpPr>
        <p:spPr>
          <a:xfrm>
            <a:off x="79237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17" descr="MBP Capital, the LSE Student Investment Fund | LinkedI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3281" y="4396475"/>
            <a:ext cx="747025" cy="7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7"/>
          <p:cNvSpPr txBox="1">
            <a:spLocks noGrp="1"/>
          </p:cNvSpPr>
          <p:nvPr>
            <p:ph type="sldNum" idx="3"/>
          </p:nvPr>
        </p:nvSpPr>
        <p:spPr>
          <a:xfrm>
            <a:off x="79237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" name="Google Shape;29;p18" descr="MBP Capital, the LSE Student Investment Fund | LinkedI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3281" y="4396475"/>
            <a:ext cx="747025" cy="7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8"/>
          <p:cNvSpPr txBox="1">
            <a:spLocks noGrp="1"/>
          </p:cNvSpPr>
          <p:nvPr>
            <p:ph type="sldNum" idx="2"/>
          </p:nvPr>
        </p:nvSpPr>
        <p:spPr>
          <a:xfrm>
            <a:off x="79237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19" descr="MBP Capital, the LSE Student Investment Fund | LinkedI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73281" y="4396475"/>
            <a:ext cx="747025" cy="74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9"/>
          <p:cNvSpPr txBox="1">
            <a:spLocks noGrp="1"/>
          </p:cNvSpPr>
          <p:nvPr>
            <p:ph type="sldNum" idx="2"/>
          </p:nvPr>
        </p:nvSpPr>
        <p:spPr>
          <a:xfrm>
            <a:off x="79237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>
            <a:spLocks noGrp="1"/>
          </p:cNvSpPr>
          <p:nvPr>
            <p:ph type="ctrTitle"/>
          </p:nvPr>
        </p:nvSpPr>
        <p:spPr>
          <a:xfrm>
            <a:off x="311708" y="871400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b="1" dirty="0"/>
              <a:t>FX Fundamentals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What is FX Trading?</a:t>
            </a:r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Bet on the direction of an exchange rate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One currency over another </a:t>
            </a:r>
            <a:r>
              <a:rPr lang="en-GB" dirty="0">
                <a:solidFill>
                  <a:schemeClr val="dk1"/>
                </a:solidFill>
              </a:rPr>
              <a:t>– WHICH will do well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The largest financial market by volume, it operates 24/7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Highly macro-relevant: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Interest rates / monetary policy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Geopolitical events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Economic data: GDP growth, inflation, unemployment rates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Liquidity</a:t>
            </a: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7ADEDB70-6C5D-9987-FA75-3F10D0B5E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7">
            <a:extLst>
              <a:ext uri="{FF2B5EF4-FFF2-40B4-BE49-F238E27FC236}">
                <a16:creationId xmlns:a16="http://schemas.microsoft.com/office/drawing/2014/main" id="{00C9D7D9-4027-8031-624F-F5F5AC2578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Exchange rate regimes</a:t>
            </a:r>
            <a:endParaRPr dirty="0"/>
          </a:p>
        </p:txBody>
      </p:sp>
      <p:sp>
        <p:nvSpPr>
          <p:cNvPr id="79" name="Google Shape;79;p27">
            <a:extLst>
              <a:ext uri="{FF2B5EF4-FFF2-40B4-BE49-F238E27FC236}">
                <a16:creationId xmlns:a16="http://schemas.microsoft.com/office/drawing/2014/main" id="{15983F82-9800-3EBD-D6E0-426129BF0B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Char char="●"/>
            </a:pPr>
            <a:r>
              <a:rPr lang="en-GB" dirty="0">
                <a:solidFill>
                  <a:schemeClr val="dk1"/>
                </a:solidFill>
              </a:rPr>
              <a:t>Different economies have different exchange rate regimes</a:t>
            </a:r>
          </a:p>
          <a:p>
            <a:pPr lvl="1" indent="-342900">
              <a:buSzPct val="117647"/>
              <a:buFont typeface="Arial"/>
              <a:buChar char="●"/>
            </a:pPr>
            <a:r>
              <a:rPr lang="en-GB" dirty="0">
                <a:solidFill>
                  <a:schemeClr val="dk1"/>
                </a:solidFill>
              </a:rPr>
              <a:t>Floating: most countries in the world (liquid, free)</a:t>
            </a:r>
          </a:p>
          <a:p>
            <a:pPr lvl="1" indent="-342900">
              <a:buSzPct val="117647"/>
              <a:buChar char="●"/>
            </a:pPr>
            <a:r>
              <a:rPr lang="en-GB" dirty="0">
                <a:solidFill>
                  <a:schemeClr val="dk1"/>
                </a:solidFill>
              </a:rPr>
              <a:t>Fixed: countries that want better economic credibility / stability e.g. USD/KZT (Kazakhstan)</a:t>
            </a:r>
          </a:p>
          <a:p>
            <a:pPr lvl="1" indent="-342900">
              <a:buSzPct val="117647"/>
              <a:buChar char="●"/>
            </a:pPr>
            <a:r>
              <a:rPr lang="en-GB" dirty="0">
                <a:solidFill>
                  <a:schemeClr val="dk1"/>
                </a:solidFill>
              </a:rPr>
              <a:t>Managed floating: countries that want both e.g. China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Char char="●"/>
            </a:pPr>
            <a:r>
              <a:rPr lang="en-GB" dirty="0">
                <a:solidFill>
                  <a:schemeClr val="tx1"/>
                </a:solidFill>
              </a:rPr>
              <a:t>Fixed / managed floating regimes are traded via NDFs (not your typical FX spot / forwards)</a:t>
            </a:r>
          </a:p>
          <a:p>
            <a:pPr lvl="1" indent="-342900">
              <a:buSzPct val="117647"/>
              <a:buChar char="●"/>
            </a:pPr>
            <a:r>
              <a:rPr lang="en-GB" dirty="0">
                <a:solidFill>
                  <a:schemeClr val="tx1"/>
                </a:solidFill>
              </a:rPr>
              <a:t>Because you can’t easily get capital out of the country – there is not much KZT outside Kazakhstan! So, you can only settle your USD/KZT trades in dollars only</a:t>
            </a:r>
            <a:endParaRPr dirty="0">
              <a:solidFill>
                <a:schemeClr val="tx1"/>
              </a:solidFill>
            </a:endParaRPr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272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30BFB-6C1A-BC7F-1CD2-C3E8269B0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G10 vs. 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64E47-2F90-5E1A-A597-B14248661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G10: the 10 most liquid currencies, all advanced economies (except China)</a:t>
            </a:r>
          </a:p>
          <a:p>
            <a:r>
              <a:rPr lang="en-GB" dirty="0">
                <a:solidFill>
                  <a:schemeClr val="tx1"/>
                </a:solidFill>
              </a:rPr>
              <a:t>EM: less liquid currencies, in developing economies</a:t>
            </a:r>
          </a:p>
        </p:txBody>
      </p:sp>
    </p:spTree>
    <p:extLst>
      <p:ext uri="{BB962C8B-B14F-4D97-AF65-F5344CB8AC3E}">
        <p14:creationId xmlns:p14="http://schemas.microsoft.com/office/powerpoint/2010/main" val="351385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9" descr="LiteFinance: What are the most liquid Forex currency pairs?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6728" y="387941"/>
            <a:ext cx="6470543" cy="43676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Liquidity</a:t>
            </a:r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Liquidity: the extent to which an asset can be bought / sold </a:t>
            </a:r>
            <a:r>
              <a:rPr lang="en-US" u="sng" dirty="0">
                <a:solidFill>
                  <a:schemeClr val="dk1"/>
                </a:solidFill>
              </a:rPr>
              <a:t>quickly</a:t>
            </a:r>
            <a:r>
              <a:rPr lang="en-US" dirty="0">
                <a:solidFill>
                  <a:schemeClr val="dk1"/>
                </a:solidFill>
              </a:rPr>
              <a:t> at </a:t>
            </a:r>
            <a:r>
              <a:rPr lang="en-US" u="sng" dirty="0">
                <a:solidFill>
                  <a:schemeClr val="dk1"/>
                </a:solidFill>
              </a:rPr>
              <a:t>stable prices</a:t>
            </a:r>
            <a:endParaRPr u="sng"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Liquidity can be assessed by bid/ask spread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Bid price: the price at which something is bought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Ask price: the price at which something is sold</a:t>
            </a:r>
          </a:p>
          <a:p>
            <a:pPr lvl="1" indent="-342900"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Market makers (the big banks) make their profits based on this spread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If a market has high liquidity e.g. US Treasuries or EURUSD, the bid-ask spread will be low, as the order book is full of supply and demand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If a market has low liquidity, such as Sri Lankan Government Bonds or some distressed corporate bond, spreads will be wider (</a:t>
            </a:r>
            <a:r>
              <a:rPr lang="en-US" dirty="0" err="1">
                <a:solidFill>
                  <a:schemeClr val="dk1"/>
                </a:solidFill>
              </a:rPr>
              <a:t>i.e</a:t>
            </a:r>
            <a:r>
              <a:rPr lang="en-US" dirty="0">
                <a:solidFill>
                  <a:schemeClr val="dk1"/>
                </a:solidFill>
              </a:rPr>
              <a:t> you may not be able to buy/sell them at their desired price)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solidFill>
                  <a:schemeClr val="dk1"/>
                </a:solidFill>
              </a:rPr>
              <a:t>Liquidity can fall quickly in market crises</a:t>
            </a:r>
            <a:endParaRPr dirty="0"/>
          </a:p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Role of CBs</a:t>
            </a:r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solidFill>
                  <a:schemeClr val="dk1"/>
                </a:solidFill>
              </a:rPr>
              <a:t>Intervention mechanisms: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1. Interest rates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2. Balance sheet management i.e. buying / selling government bonds</a:t>
            </a:r>
            <a:endParaRPr dirty="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2. Forward guidance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2000" dirty="0">
                <a:solidFill>
                  <a:schemeClr val="dk1"/>
                </a:solidFill>
              </a:rPr>
              <a:t>3. Direct FX intervention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FX instruments</a:t>
            </a:r>
            <a:endParaRPr dirty="0"/>
          </a:p>
        </p:txBody>
      </p:sp>
      <p:sp>
        <p:nvSpPr>
          <p:cNvPr id="96" name="Google Shape;96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5407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Spot is affected by the following factors:</a:t>
            </a:r>
            <a:endParaRPr sz="15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500" dirty="0">
                <a:solidFill>
                  <a:schemeClr val="dk1"/>
                </a:solidFill>
              </a:rPr>
              <a:t>Relative economic health (e.g. Current Account, terms of trade)</a:t>
            </a:r>
            <a:endParaRPr sz="15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500" dirty="0">
                <a:solidFill>
                  <a:schemeClr val="dk1"/>
                </a:solidFill>
              </a:rPr>
              <a:t>Reserves (intervention)</a:t>
            </a:r>
            <a:endParaRPr sz="15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500" dirty="0">
                <a:solidFill>
                  <a:schemeClr val="dk1"/>
                </a:solidFill>
              </a:rPr>
              <a:t>Monetary policy spot usually strengthens in rate hike env.</a:t>
            </a:r>
            <a:endParaRPr sz="1500" dirty="0"/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US" sz="1500" dirty="0">
                <a:solidFill>
                  <a:schemeClr val="dk1"/>
                </a:solidFill>
              </a:rPr>
              <a:t>Geopolitical risk</a:t>
            </a:r>
            <a:endParaRPr sz="150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500" dirty="0">
                <a:solidFill>
                  <a:schemeClr val="dk1"/>
                </a:solidFill>
              </a:rPr>
              <a:t>Forwards determined by interest rate parity &amp; relative funding premium of one currency to another</a:t>
            </a:r>
            <a:endParaRPr sz="1500" dirty="0"/>
          </a:p>
          <a:p>
            <a:pPr marL="457200" lvl="0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5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Spot </a:t>
            </a:r>
            <a:endParaRPr dirty="0"/>
          </a:p>
        </p:txBody>
      </p:sp>
      <p:sp>
        <p:nvSpPr>
          <p:cNvPr id="116" name="Google Shape;116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75335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FX spot rate is the value of base currency in relation to term currency 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For USD/EUR, USD is the base, EUR is the term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If USD/EUR is quoted at 0.92, it means $1 for 0.92 EUR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P&amp;L are reported in the denominator currency</a:t>
            </a:r>
            <a:endParaRPr sz="140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400">
                <a:solidFill>
                  <a:schemeClr val="dk1"/>
                </a:solidFill>
              </a:rPr>
              <a:t>Spot rate refers to settlement in T+2 (2 business day’s time) with exceptions such as USDCAD where it is T+1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117" name="Google Shape;11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3907" y="1152475"/>
            <a:ext cx="3303240" cy="297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Forward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87AE64-01B9-A8F7-4526-B8EEF8D07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63" y="1841892"/>
            <a:ext cx="4934204" cy="24067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94873-2683-AB62-899B-753D310C5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Interest rate parity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7E4BD-29C5-329A-8B8A-8D5002C0B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Say you can invest in either domestically or abroad, what are your options?</a:t>
            </a:r>
          </a:p>
          <a:p>
            <a:r>
              <a:rPr lang="en-GB" dirty="0">
                <a:solidFill>
                  <a:schemeClr val="tx1"/>
                </a:solidFill>
              </a:rPr>
              <a:t>Option A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Invest in the domestic asset – no FX involved</a:t>
            </a:r>
          </a:p>
          <a:p>
            <a:pPr lvl="1"/>
            <a:endParaRPr lang="en-GB" dirty="0">
              <a:solidFill>
                <a:schemeClr val="tx1"/>
              </a:solidFill>
            </a:endParaRPr>
          </a:p>
          <a:p>
            <a:r>
              <a:rPr lang="en-GB" dirty="0">
                <a:solidFill>
                  <a:schemeClr val="tx1"/>
                </a:solidFill>
              </a:rPr>
              <a:t>Option B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Exchange for 1 unit of domestic currency into foreign currency at S today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You grow this amount over time (you need to “switch the currency” so either 1/S or 1/F)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1/S * 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You swap back the return into domestic currency via the forward rate</a:t>
            </a:r>
          </a:p>
          <a:p>
            <a:pPr lvl="2"/>
            <a:r>
              <a:rPr lang="en-GB" dirty="0">
                <a:solidFill>
                  <a:schemeClr val="tx1"/>
                </a:solidFill>
              </a:rPr>
              <a:t>1/S *                * F</a:t>
            </a:r>
          </a:p>
          <a:p>
            <a:r>
              <a:rPr lang="en-GB" dirty="0">
                <a:solidFill>
                  <a:schemeClr val="tx1"/>
                </a:solidFill>
              </a:rPr>
              <a:t>Option A and Option B must have the same return (for there to be “parity”):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A37E0E-18E5-C402-590A-BB509208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009" y="2122253"/>
            <a:ext cx="2559182" cy="3111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EEEC995-2D53-66D6-A1B7-1A62AC5E7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917" y="3126999"/>
            <a:ext cx="615982" cy="2921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03EFF8-14DD-1B78-3B30-F28E21B0D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917" y="3629027"/>
            <a:ext cx="615982" cy="29211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3FD2D2-A223-7282-E85F-0AE840221E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188029" y="4302604"/>
            <a:ext cx="187777" cy="730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7DE0496-0BB1-8F5F-E745-6FA5DD0E57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581" y="4167868"/>
            <a:ext cx="2368672" cy="64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6265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>
          <a:extLst>
            <a:ext uri="{FF2B5EF4-FFF2-40B4-BE49-F238E27FC236}">
              <a16:creationId xmlns:a16="http://schemas.microsoft.com/office/drawing/2014/main" id="{395967D3-73C4-1594-02C9-E992F196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>
            <a:extLst>
              <a:ext uri="{FF2B5EF4-FFF2-40B4-BE49-F238E27FC236}">
                <a16:creationId xmlns:a16="http://schemas.microsoft.com/office/drawing/2014/main" id="{296F01D6-CE57-1F6C-B37E-DE6875921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Forward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236CC7-EE49-67C8-36FB-871FB193E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363" y="1841892"/>
            <a:ext cx="4934204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852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Forward</a:t>
            </a:r>
            <a:endParaRPr dirty="0"/>
          </a:p>
        </p:txBody>
      </p:sp>
      <p:pic>
        <p:nvPicPr>
          <p:cNvPr id="138" name="Google Shape;13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101" y="1091661"/>
            <a:ext cx="5181536" cy="3810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28D43-D638-A6B9-7A7F-113256098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Interest rate parity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F864-B749-025E-A549-6F8B38C08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If the equation doesn’t hold – there’s opportunity for arbitrage – long one currency and short the other</a:t>
            </a:r>
          </a:p>
          <a:p>
            <a:r>
              <a:rPr lang="en-GB" dirty="0">
                <a:solidFill>
                  <a:schemeClr val="tx1"/>
                </a:solidFill>
              </a:rPr>
              <a:t>Usually, it holds because of arbitrage via carry trade</a:t>
            </a:r>
          </a:p>
        </p:txBody>
      </p:sp>
    </p:spTree>
    <p:extLst>
      <p:ext uri="{BB962C8B-B14F-4D97-AF65-F5344CB8AC3E}">
        <p14:creationId xmlns:p14="http://schemas.microsoft.com/office/powerpoint/2010/main" val="718179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Carry Trades</a:t>
            </a:r>
            <a:endParaRPr dirty="0"/>
          </a:p>
        </p:txBody>
      </p:sp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5407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If one believes that interest rate parity will not </a:t>
            </a:r>
            <a:r>
              <a:rPr lang="en-US" sz="1200" dirty="0" err="1">
                <a:solidFill>
                  <a:schemeClr val="dk1"/>
                </a:solidFill>
              </a:rPr>
              <a:t>materialise</a:t>
            </a:r>
            <a:r>
              <a:rPr lang="en-US" sz="1200" dirty="0">
                <a:solidFill>
                  <a:schemeClr val="dk1"/>
                </a:solidFill>
              </a:rPr>
              <a:t>, one can simply borrow the low-interest rate currency at that country’s interest rate and buy the higher interest rate currency to earn its higher rate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 dirty="0">
                <a:solidFill>
                  <a:schemeClr val="dk1"/>
                </a:solidFill>
              </a:rPr>
              <a:t>Effectively you earn the interest rate differential</a:t>
            </a:r>
            <a:endParaRPr dirty="0"/>
          </a:p>
          <a:p>
            <a:pPr marL="914400" lvl="1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000" dirty="0">
              <a:solidFill>
                <a:schemeClr val="dk1"/>
              </a:solidFill>
            </a:endParaRPr>
          </a:p>
          <a:p>
            <a:pPr marL="5969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sz="1000" dirty="0">
              <a:solidFill>
                <a:schemeClr val="dk1"/>
              </a:solidFill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2235854"/>
            <a:ext cx="4119562" cy="193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690" y="2241161"/>
            <a:ext cx="4119562" cy="19194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C6120695-16D8-DE36-EADE-4DB59EFD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>
            <a:extLst>
              <a:ext uri="{FF2B5EF4-FFF2-40B4-BE49-F238E27FC236}">
                <a16:creationId xmlns:a16="http://schemas.microsoft.com/office/drawing/2014/main" id="{14F827A8-2F82-A149-7717-90984A9316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Correlations</a:t>
            </a:r>
            <a:endParaRPr dirty="0"/>
          </a:p>
        </p:txBody>
      </p:sp>
      <p:sp>
        <p:nvSpPr>
          <p:cNvPr id="160" name="Google Shape;160;p11">
            <a:extLst>
              <a:ext uri="{FF2B5EF4-FFF2-40B4-BE49-F238E27FC236}">
                <a16:creationId xmlns:a16="http://schemas.microsoft.com/office/drawing/2014/main" id="{448F24F5-6228-9CBE-7A27-3668AA44DA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5407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USD, GBP/EUR – risk-on/risk-off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CHF – gold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NOK and CAD – oil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AUD and NZD – copper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200" dirty="0">
                <a:solidFill>
                  <a:schemeClr val="dk1"/>
                </a:solidFill>
              </a:rPr>
              <a:t>All currencies – government bond yields</a:t>
            </a: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en-GB" sz="1200" dirty="0">
              <a:solidFill>
                <a:schemeClr val="dk1"/>
              </a:solidFill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endParaRPr lang="en-GB" sz="12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7333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Technical analysis</a:t>
            </a:r>
            <a:endParaRPr dirty="0"/>
          </a:p>
        </p:txBody>
      </p:sp>
      <p:sp>
        <p:nvSpPr>
          <p:cNvPr id="160" name="Google Shape;160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254076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>
                <a:solidFill>
                  <a:schemeClr val="dk1"/>
                </a:solidFill>
              </a:rPr>
              <a:t>Technicals are widely used when trading FX, even in professional settings such as banks, HFs</a:t>
            </a:r>
            <a:endParaRPr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 sz="1200">
                <a:solidFill>
                  <a:schemeClr val="dk1"/>
                </a:solidFill>
              </a:rPr>
              <a:t>Essentially, they’re a way of assessing market sentiments and psychological levels/thresholds</a:t>
            </a:r>
            <a:endParaRPr/>
          </a:p>
          <a:p>
            <a:pPr marL="914400" lvl="1" indent="-2286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5969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000">
                <a:solidFill>
                  <a:schemeClr val="dk1"/>
                </a:solidFill>
              </a:rPr>
              <a:t>v</a:t>
            </a:r>
            <a:endParaRPr/>
          </a:p>
        </p:txBody>
      </p:sp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029" y="2114831"/>
            <a:ext cx="6372785" cy="2813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Technicals</a:t>
            </a:r>
            <a:endParaRPr/>
          </a:p>
        </p:txBody>
      </p:sp>
      <p:sp>
        <p:nvSpPr>
          <p:cNvPr id="204" name="Google Shape;204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205" name="Google Shape;20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23810"/>
            <a:ext cx="9144000" cy="2695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F0AEF43D-4D3F-FF48-2BD4-9A03664EF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4">
            <a:extLst>
              <a:ext uri="{FF2B5EF4-FFF2-40B4-BE49-F238E27FC236}">
                <a16:creationId xmlns:a16="http://schemas.microsoft.com/office/drawing/2014/main" id="{A18E96ED-91BE-C173-75BD-F1DABFBBEE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Trade formulation</a:t>
            </a:r>
            <a:endParaRPr dirty="0"/>
          </a:p>
        </p:txBody>
      </p:sp>
      <p:sp>
        <p:nvSpPr>
          <p:cNvPr id="167" name="Google Shape;167;p34">
            <a:extLst>
              <a:ext uri="{FF2B5EF4-FFF2-40B4-BE49-F238E27FC236}">
                <a16:creationId xmlns:a16="http://schemas.microsoft.com/office/drawing/2014/main" id="{A9F52BF9-17F9-65D2-F959-DC3A4DF4B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What’s the consensus “story” – one-liner e.g. you see FT talking about “BOJ will hike rates”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Pull up the chart of the currency pair – what does the market tell you? Does the market agree with the consensus – could it </a:t>
            </a:r>
            <a:r>
              <a:rPr lang="en-US" u="sng" dirty="0">
                <a:solidFill>
                  <a:schemeClr val="dk1"/>
                </a:solidFill>
              </a:rPr>
              <a:t>reverse</a:t>
            </a:r>
            <a:r>
              <a:rPr lang="en-US" dirty="0">
                <a:solidFill>
                  <a:schemeClr val="dk1"/>
                </a:solidFill>
              </a:rPr>
              <a:t>?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Evaluate fundamentals of the two countries – is one growing whilst the other is lagging, is one central bank hiking whilst another is easing? Can these fundamentals </a:t>
            </a:r>
            <a:r>
              <a:rPr lang="en-US" u="sng" dirty="0">
                <a:solidFill>
                  <a:schemeClr val="dk1"/>
                </a:solidFill>
              </a:rPr>
              <a:t>change</a:t>
            </a:r>
            <a:r>
              <a:rPr lang="en-US" dirty="0">
                <a:solidFill>
                  <a:schemeClr val="dk1"/>
                </a:solidFill>
              </a:rPr>
              <a:t>?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29032"/>
              <a:buFont typeface="+mj-lt"/>
              <a:buAutoNum type="arabicPeriod"/>
            </a:pPr>
            <a:r>
              <a:rPr lang="en-US" dirty="0">
                <a:solidFill>
                  <a:schemeClr val="dk1"/>
                </a:solidFill>
              </a:rPr>
              <a:t>Evaluate other relevant assets to identify correlations e.g. if copper is rising, could AUD and NZD also go up?</a:t>
            </a:r>
          </a:p>
        </p:txBody>
      </p:sp>
    </p:spTree>
    <p:extLst>
      <p:ext uri="{BB962C8B-B14F-4D97-AF65-F5344CB8AC3E}">
        <p14:creationId xmlns:p14="http://schemas.microsoft.com/office/powerpoint/2010/main" val="33156383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903</Words>
  <Application>Microsoft Office PowerPoint</Application>
  <PresentationFormat>On-screen Show (16:9)</PresentationFormat>
  <Paragraphs>88</Paragraphs>
  <Slides>19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Roboto</vt:lpstr>
      <vt:lpstr>Simple Light</vt:lpstr>
      <vt:lpstr>FX Fundamentals</vt:lpstr>
      <vt:lpstr>What is FX Trading?</vt:lpstr>
      <vt:lpstr>Exchange rate regimes</vt:lpstr>
      <vt:lpstr>G10 vs. EM</vt:lpstr>
      <vt:lpstr>PowerPoint Presentation</vt:lpstr>
      <vt:lpstr>Liquidity</vt:lpstr>
      <vt:lpstr>Role of CBs</vt:lpstr>
      <vt:lpstr>FX instruments</vt:lpstr>
      <vt:lpstr>Spot </vt:lpstr>
      <vt:lpstr>Forward</vt:lpstr>
      <vt:lpstr>Interest rate parity</vt:lpstr>
      <vt:lpstr>Forward</vt:lpstr>
      <vt:lpstr>Forward</vt:lpstr>
      <vt:lpstr>Interest rate parity</vt:lpstr>
      <vt:lpstr>Carry Trades</vt:lpstr>
      <vt:lpstr>Correlations</vt:lpstr>
      <vt:lpstr>Technical analysis</vt:lpstr>
      <vt:lpstr>Technicals</vt:lpstr>
      <vt:lpstr>Trade formulation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Jagtap</dc:creator>
  <cp:lastModifiedBy>L C</cp:lastModifiedBy>
  <cp:revision>50</cp:revision>
  <dcterms:modified xsi:type="dcterms:W3CDTF">2026-01-30T18:07:42Z</dcterms:modified>
</cp:coreProperties>
</file>