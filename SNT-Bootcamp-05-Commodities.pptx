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80" r:id="rId6"/>
    <p:sldId id="275" r:id="rId7"/>
    <p:sldId id="274" r:id="rId8"/>
    <p:sldId id="276" r:id="rId9"/>
    <p:sldId id="261" r:id="rId10"/>
    <p:sldId id="262" r:id="rId11"/>
    <p:sldId id="263" r:id="rId12"/>
    <p:sldId id="264" r:id="rId13"/>
    <p:sldId id="265" r:id="rId14"/>
    <p:sldId id="278" r:id="rId15"/>
    <p:sldId id="266" r:id="rId16"/>
    <p:sldId id="283" r:id="rId17"/>
    <p:sldId id="281" r:id="rId18"/>
    <p:sldId id="282" r:id="rId19"/>
    <p:sldId id="284" r:id="rId20"/>
    <p:sldId id="285" r:id="rId21"/>
    <p:sldId id="286" r:id="rId22"/>
    <p:sldId id="269" r:id="rId23"/>
  </p:sldIdLst>
  <p:sldSz cx="9144000" cy="5143500" type="screen16x9"/>
  <p:notesSz cx="9144000" cy="51435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lraGlR/MbbS/0CtZSccTwVpdG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3db903158_0_198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g313db903158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3deae8f02_0_531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g313deae8f02_0_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8A0987F5-87B2-C068-D49D-7625799C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3deae8f02_0_531:notes">
            <a:extLst>
              <a:ext uri="{FF2B5EF4-FFF2-40B4-BE49-F238E27FC236}">
                <a16:creationId xmlns:a16="http://schemas.microsoft.com/office/drawing/2014/main" id="{F648A028-D2A1-6E0B-B3B0-5A829AFB4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g313deae8f02_0_531:notes">
            <a:extLst>
              <a:ext uri="{FF2B5EF4-FFF2-40B4-BE49-F238E27FC236}">
                <a16:creationId xmlns:a16="http://schemas.microsoft.com/office/drawing/2014/main" id="{975EB6AD-4953-675A-89EE-58C6B7AD0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0100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3deae8f02_0_536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g313deae8f02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3deae8f02_0_541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g313deae8f02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eae8f02_0_546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13deae8f02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E0F57691-22CB-E08D-9205-0DDCEFFA2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eae8f02_0_546:notes">
            <a:extLst>
              <a:ext uri="{FF2B5EF4-FFF2-40B4-BE49-F238E27FC236}">
                <a16:creationId xmlns:a16="http://schemas.microsoft.com/office/drawing/2014/main" id="{D596F0E6-890B-A7BA-607C-B05E14661A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13deae8f02_0_546:notes">
            <a:extLst>
              <a:ext uri="{FF2B5EF4-FFF2-40B4-BE49-F238E27FC236}">
                <a16:creationId xmlns:a16="http://schemas.microsoft.com/office/drawing/2014/main" id="{ABFD7D2B-1848-2DCD-CC06-076EF3434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5536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3deae8f02_0_551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g313deae8f02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13deae8f02_0_45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g313deae8f02_0_45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g313deae8f02_0_4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13deae8f02_0_45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g313deae8f02_0_4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13deae8f02_0_4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313deae8f02_0_4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g313deae8f02_0_4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13deae8f02_0_4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13deae8f02_0_4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g313deae8f02_0_46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g313deae8f02_0_4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13deae8f02_0_4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13deae8f02_0_4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13deae8f02_0_47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g313deae8f02_0_47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313deae8f02_0_4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13deae8f02_0_47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g313deae8f02_0_4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13deae8f02_0_47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g313deae8f02_0_47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g313deae8f02_0_47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g313deae8f02_0_47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g313deae8f02_0_4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13deae8f02_0_48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g313deae8f02_0_48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13deae8f02_0_48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13deae8f02_0_48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313deae8f02_0_48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13deae8f02_0_4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3deae8f02_0_492"/>
          <p:cNvSpPr txBox="1">
            <a:spLocks noGrp="1"/>
          </p:cNvSpPr>
          <p:nvPr>
            <p:ph type="ctrTitle"/>
          </p:nvPr>
        </p:nvSpPr>
        <p:spPr>
          <a:xfrm>
            <a:off x="1439734" y="1879854"/>
            <a:ext cx="6264600" cy="8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13deae8f02_0_492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50" b="0" i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313deae8f02_0_49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g313deae8f02_0_49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13deae8f02_0_49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3deae8f02_0_504"/>
          <p:cNvSpPr txBox="1">
            <a:spLocks noGrp="1"/>
          </p:cNvSpPr>
          <p:nvPr>
            <p:ph type="title"/>
          </p:nvPr>
        </p:nvSpPr>
        <p:spPr>
          <a:xfrm>
            <a:off x="384725" y="347350"/>
            <a:ext cx="63372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313deae8f02_0_50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313deae8f02_0_50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313deae8f02_0_50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3deae8f02_0_50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313deae8f02_0_50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313deae8f02_0_50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13deae8f02_0_4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g313deae8f02_0_4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g313deae8f02_0_4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>
            <a:spLocks noGrp="1"/>
          </p:cNvSpPr>
          <p:nvPr>
            <p:ph type="ctrTitle"/>
          </p:nvPr>
        </p:nvSpPr>
        <p:spPr>
          <a:xfrm>
            <a:off x="2172200" y="1889375"/>
            <a:ext cx="4794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 dirty="0"/>
              <a:t>Commodities</a:t>
            </a:r>
            <a:endParaRPr sz="3600" b="1" dirty="0"/>
          </a:p>
        </p:txBody>
      </p:sp>
      <p:sp>
        <p:nvSpPr>
          <p:cNvPr id="76" name="Google Shape;76;p1"/>
          <p:cNvSpPr txBox="1"/>
          <p:nvPr/>
        </p:nvSpPr>
        <p:spPr>
          <a:xfrm>
            <a:off x="2012551" y="2892925"/>
            <a:ext cx="51189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Markets, Structure, Trade examples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 txBox="1">
            <a:spLocks noGrp="1"/>
          </p:cNvSpPr>
          <p:nvPr>
            <p:ph type="title" idx="4294967295"/>
          </p:nvPr>
        </p:nvSpPr>
        <p:spPr>
          <a:xfrm>
            <a:off x="384725" y="194950"/>
            <a:ext cx="37335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3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 b="1"/>
              <a:t>Commodities Market</a:t>
            </a:r>
            <a:endParaRPr sz="2500" b="1"/>
          </a:p>
        </p:txBody>
      </p:sp>
      <p:sp>
        <p:nvSpPr>
          <p:cNvPr id="88" name="Google Shape;88;p3"/>
          <p:cNvSpPr txBox="1">
            <a:spLocks noGrp="1"/>
          </p:cNvSpPr>
          <p:nvPr>
            <p:ph type="body" idx="4294967295"/>
          </p:nvPr>
        </p:nvSpPr>
        <p:spPr>
          <a:xfrm>
            <a:off x="384720" y="907141"/>
            <a:ext cx="81552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What commodities markets can you name?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3db903158_0_198"/>
          <p:cNvSpPr txBox="1">
            <a:spLocks noGrp="1"/>
          </p:cNvSpPr>
          <p:nvPr>
            <p:ph type="title" idx="4294967295"/>
          </p:nvPr>
        </p:nvSpPr>
        <p:spPr>
          <a:xfrm>
            <a:off x="384725" y="194950"/>
            <a:ext cx="37335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3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 b="1"/>
              <a:t>Commodities Market</a:t>
            </a:r>
            <a:endParaRPr sz="2500" b="1"/>
          </a:p>
        </p:txBody>
      </p:sp>
      <p:sp>
        <p:nvSpPr>
          <p:cNvPr id="94" name="Google Shape;94;g313db903158_0_198"/>
          <p:cNvSpPr txBox="1">
            <a:spLocks noGrp="1"/>
          </p:cNvSpPr>
          <p:nvPr>
            <p:ph type="body" idx="4294967295"/>
          </p:nvPr>
        </p:nvSpPr>
        <p:spPr>
          <a:xfrm>
            <a:off x="384720" y="907141"/>
            <a:ext cx="8155200" cy="205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dk1"/>
                </a:solidFill>
              </a:rPr>
              <a:t>Examples: 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Energy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Agricultural/Softs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Livestock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Industrial Metals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Precious Metals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3deae8f02_0_531"/>
          <p:cNvSpPr txBox="1">
            <a:spLocks noGrp="1"/>
          </p:cNvSpPr>
          <p:nvPr>
            <p:ph type="title" idx="4294967295"/>
          </p:nvPr>
        </p:nvSpPr>
        <p:spPr>
          <a:xfrm>
            <a:off x="384725" y="194950"/>
            <a:ext cx="37335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3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 b="1"/>
              <a:t>Commodities Market</a:t>
            </a:r>
            <a:endParaRPr sz="2500" b="1"/>
          </a:p>
        </p:txBody>
      </p:sp>
      <p:sp>
        <p:nvSpPr>
          <p:cNvPr id="100" name="Google Shape;100;g313deae8f02_0_531"/>
          <p:cNvSpPr txBox="1">
            <a:spLocks noGrp="1"/>
          </p:cNvSpPr>
          <p:nvPr>
            <p:ph type="body" idx="4294967295"/>
          </p:nvPr>
        </p:nvSpPr>
        <p:spPr>
          <a:xfrm>
            <a:off x="384720" y="907141"/>
            <a:ext cx="8155200" cy="2308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52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dk1"/>
                </a:solidFill>
              </a:rPr>
              <a:t>Examples: 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Energy: Oil, Gas, Coal, Gasoline, Heating Oil, Diesel 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Agricultural/Softs: Soybeans, Corn, Wheat, Orange Juice 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Livestock: Hogs, Cattle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Industrial Metals: Copper, Lithium, Zinc, Iron Ore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Precious Metals: Gold, Silver, Platinum, Palladium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AE0E3BA1-77E4-C231-649A-9286A712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3deae8f02_0_531">
            <a:extLst>
              <a:ext uri="{FF2B5EF4-FFF2-40B4-BE49-F238E27FC236}">
                <a16:creationId xmlns:a16="http://schemas.microsoft.com/office/drawing/2014/main" id="{2B59F84B-3080-6915-9A47-3598DC459B2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4725" y="194950"/>
            <a:ext cx="37335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3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 b="1"/>
              <a:t>Commodities Market</a:t>
            </a:r>
            <a:endParaRPr sz="2500" b="1"/>
          </a:p>
        </p:txBody>
      </p:sp>
      <p:sp>
        <p:nvSpPr>
          <p:cNvPr id="100" name="Google Shape;100;g313deae8f02_0_531">
            <a:extLst>
              <a:ext uri="{FF2B5EF4-FFF2-40B4-BE49-F238E27FC236}">
                <a16:creationId xmlns:a16="http://schemas.microsoft.com/office/drawing/2014/main" id="{3F30B0A3-9D01-A8FC-1C6A-367B19B8B0B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84720" y="907141"/>
            <a:ext cx="8155200" cy="262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520"/>
              </a:spcBef>
              <a:spcAft>
                <a:spcPts val="0"/>
              </a:spcAft>
              <a:buSzPts val="1400"/>
              <a:buNone/>
            </a:pPr>
            <a:r>
              <a:rPr lang="en-GB" b="1" dirty="0">
                <a:solidFill>
                  <a:schemeClr val="dk1"/>
                </a:solidFill>
              </a:rPr>
              <a:t>Drivers…</a:t>
            </a:r>
            <a:endParaRPr b="1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Energy: </a:t>
            </a:r>
            <a:r>
              <a:rPr lang="en-GB" dirty="0">
                <a:solidFill>
                  <a:schemeClr val="dk1"/>
                </a:solidFill>
              </a:rPr>
              <a:t>geopolitics (oil) and seasonality (gas)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dirty="0">
                <a:solidFill>
                  <a:schemeClr val="dk1"/>
                </a:solidFill>
              </a:rPr>
              <a:t>Agricultural/Softs: weather and logistics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Livestock: </a:t>
            </a:r>
            <a:r>
              <a:rPr lang="en-GB" dirty="0">
                <a:solidFill>
                  <a:schemeClr val="dk1"/>
                </a:solidFill>
              </a:rPr>
              <a:t>crush/feed ratio (is it more expensive to crush or feed?)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Industrial Metals: long-term demand and </a:t>
            </a:r>
            <a:r>
              <a:rPr lang="en-GB" dirty="0">
                <a:solidFill>
                  <a:schemeClr val="dk1"/>
                </a:solidFill>
              </a:rPr>
              <a:t>supply disruptions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Precious Metals: </a:t>
            </a:r>
            <a:r>
              <a:rPr lang="en-GB" dirty="0">
                <a:solidFill>
                  <a:schemeClr val="dk1"/>
                </a:solidFill>
              </a:rPr>
              <a:t>monetary policy, central bank demand, speculative demand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166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30ACF-5332-0661-9889-C8586B37C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9841E5-4811-2852-2B69-0D6BD294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Commodities vs. other asset classes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9CE480-6CB9-F024-E0B5-CD974C187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7412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84573E-4BE4-0D7F-7CC7-FCBE7DEA6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Commodities vs. other asset classes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1407E-6260-B047-BB56-67FDBD774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Relevance to macro</a:t>
            </a:r>
          </a:p>
          <a:p>
            <a:pPr marL="939800" lvl="1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Rates and FX: interest rates, economic policy, data etc. (MOST RELEVANT)</a:t>
            </a:r>
          </a:p>
          <a:p>
            <a:pPr marL="939800" lvl="1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Commodities: supply and demand (RELEVANT BUT LESS SO)</a:t>
            </a:r>
          </a:p>
          <a:p>
            <a:pPr marL="939800" lvl="1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Equity and Credit: company fundamentals (LEAST RELEVANT)</a:t>
            </a:r>
          </a:p>
        </p:txBody>
      </p:sp>
    </p:spTree>
    <p:extLst>
      <p:ext uri="{BB962C8B-B14F-4D97-AF65-F5344CB8AC3E}">
        <p14:creationId xmlns:p14="http://schemas.microsoft.com/office/powerpoint/2010/main" val="4053236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E881-A252-6357-7A3B-8DCD6911A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Supply and demand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41193-905F-9C11-AC8D-9A70A089A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Is this commodity scarce? Is it in a shortage?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How is this commodity used? Can its usage change? E.g. silver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How much supply is there for it? Can its supply be disrupted? E.g. oil</a:t>
            </a:r>
          </a:p>
        </p:txBody>
      </p:sp>
    </p:spTree>
    <p:extLst>
      <p:ext uri="{BB962C8B-B14F-4D97-AF65-F5344CB8AC3E}">
        <p14:creationId xmlns:p14="http://schemas.microsoft.com/office/powerpoint/2010/main" val="2712833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3deae8f02_0_536"/>
          <p:cNvSpPr txBox="1">
            <a:spLocks noGrp="1"/>
          </p:cNvSpPr>
          <p:nvPr>
            <p:ph type="title" idx="4294967295"/>
          </p:nvPr>
        </p:nvSpPr>
        <p:spPr>
          <a:xfrm>
            <a:off x="384725" y="194950"/>
            <a:ext cx="37335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3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 b="1"/>
              <a:t>Types of Trades</a:t>
            </a:r>
            <a:endParaRPr sz="2500" b="1"/>
          </a:p>
        </p:txBody>
      </p:sp>
      <p:sp>
        <p:nvSpPr>
          <p:cNvPr id="106" name="Google Shape;106;g313deae8f02_0_536"/>
          <p:cNvSpPr txBox="1">
            <a:spLocks noGrp="1"/>
          </p:cNvSpPr>
          <p:nvPr>
            <p:ph type="body" idx="4294967295"/>
          </p:nvPr>
        </p:nvSpPr>
        <p:spPr>
          <a:xfrm>
            <a:off x="384720" y="907141"/>
            <a:ext cx="8155200" cy="2078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31800" lvl="0" indent="-419100" algn="l" rtl="0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Flat Price: </a:t>
            </a:r>
            <a:r>
              <a:rPr lang="en-US" dirty="0">
                <a:solidFill>
                  <a:srgbClr val="FF0000"/>
                </a:solidFill>
              </a:rPr>
              <a:t>e.g. Spot or Forward Price of Gold (per Oz)</a:t>
            </a:r>
            <a:endParaRPr dirty="0">
              <a:solidFill>
                <a:schemeClr val="dk1"/>
              </a:solidFill>
            </a:endParaRPr>
          </a:p>
          <a:p>
            <a:pPr marL="431800" lvl="0" indent="-419100" algn="l" rtl="0">
              <a:lnSpc>
                <a:spcPct val="115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Time Spreads: </a:t>
            </a:r>
            <a:r>
              <a:rPr lang="en-US" dirty="0">
                <a:solidFill>
                  <a:srgbClr val="FF0000"/>
                </a:solidFill>
              </a:rPr>
              <a:t>e.g. M1 - M6 time spread. Backwardation vs Contango.</a:t>
            </a:r>
            <a:endParaRPr dirty="0">
              <a:solidFill>
                <a:schemeClr val="dk1"/>
              </a:solidFill>
            </a:endParaRPr>
          </a:p>
          <a:p>
            <a:pPr marL="431800" lvl="0" indent="-419100" algn="l" rtl="0">
              <a:lnSpc>
                <a:spcPct val="115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Arbitrage Routes: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e.g. Gasoline Arb, Diesel EW.</a:t>
            </a:r>
            <a:endParaRPr dirty="0">
              <a:solidFill>
                <a:schemeClr val="dk1"/>
              </a:solidFill>
            </a:endParaRPr>
          </a:p>
          <a:p>
            <a:pPr marL="431800" marR="236853" lvl="0" indent="-4197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Supply Chain Dynamics: </a:t>
            </a:r>
            <a:r>
              <a:rPr lang="en-US" dirty="0">
                <a:solidFill>
                  <a:srgbClr val="FF0000"/>
                </a:solidFill>
              </a:rPr>
              <a:t>e.g. Crack Spreads, Crush Spreads, Spark Spreads</a:t>
            </a:r>
            <a:endParaRPr dirty="0">
              <a:solidFill>
                <a:schemeClr val="dk1"/>
              </a:solidFill>
            </a:endParaRPr>
          </a:p>
          <a:p>
            <a:pPr marL="431800" lvl="0" indent="-419100" algn="l" rtl="0">
              <a:lnSpc>
                <a:spcPct val="115000"/>
              </a:lnSpc>
              <a:spcBef>
                <a:spcPts val="325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Product Diffs: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e.g. </a:t>
            </a:r>
            <a:r>
              <a:rPr lang="en-US" dirty="0" err="1">
                <a:solidFill>
                  <a:srgbClr val="FF0000"/>
                </a:solidFill>
              </a:rPr>
              <a:t>ProNap</a:t>
            </a:r>
            <a:r>
              <a:rPr lang="en-US" dirty="0">
                <a:solidFill>
                  <a:srgbClr val="FF0000"/>
                </a:solidFill>
              </a:rPr>
              <a:t>, Gain Spreads.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3deae8f02_0_541"/>
          <p:cNvSpPr txBox="1">
            <a:spLocks noGrp="1"/>
          </p:cNvSpPr>
          <p:nvPr>
            <p:ph type="title" idx="4294967295"/>
          </p:nvPr>
        </p:nvSpPr>
        <p:spPr>
          <a:xfrm>
            <a:off x="384725" y="194950"/>
            <a:ext cx="37335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3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 b="1"/>
              <a:t>Types of Trades</a:t>
            </a:r>
            <a:endParaRPr sz="2500" b="1"/>
          </a:p>
        </p:txBody>
      </p:sp>
      <p:sp>
        <p:nvSpPr>
          <p:cNvPr id="112" name="Google Shape;112;g313deae8f02_0_541"/>
          <p:cNvSpPr txBox="1">
            <a:spLocks noGrp="1"/>
          </p:cNvSpPr>
          <p:nvPr>
            <p:ph type="body" idx="4294967295"/>
          </p:nvPr>
        </p:nvSpPr>
        <p:spPr>
          <a:xfrm>
            <a:off x="384725" y="907150"/>
            <a:ext cx="8705700" cy="362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35608" marR="5080" lvl="0" indent="-417830" algn="l" rtl="0">
              <a:lnSpc>
                <a:spcPct val="11875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Flat Price: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e.g. Spot or Forward Price of Gold (per Oz). </a:t>
            </a:r>
            <a:r>
              <a:rPr lang="en-US" dirty="0">
                <a:solidFill>
                  <a:srgbClr val="6AA84F"/>
                </a:solidFill>
              </a:rPr>
              <a:t>Buying the commodity in isolation for usage.</a:t>
            </a:r>
            <a:endParaRPr dirty="0">
              <a:solidFill>
                <a:srgbClr val="6AA84F"/>
              </a:solidFill>
            </a:endParaRPr>
          </a:p>
          <a:p>
            <a:pPr marL="435608" lvl="0" indent="-417194" algn="l" rtl="0">
              <a:lnSpc>
                <a:spcPct val="1128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Time Spreads: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e.g. M1 - M6 time spread. Backwardation vs Contango. </a:t>
            </a:r>
            <a:r>
              <a:rPr lang="en-US" dirty="0">
                <a:solidFill>
                  <a:srgbClr val="6AA84F"/>
                </a:solidFill>
              </a:rPr>
              <a:t>Storage and supply dynamics.</a:t>
            </a:r>
            <a:endParaRPr dirty="0">
              <a:solidFill>
                <a:srgbClr val="6AA84F"/>
              </a:solidFill>
            </a:endParaRPr>
          </a:p>
          <a:p>
            <a:pPr marL="435608" marR="518793" lvl="0" indent="-417830" algn="l" rtl="0">
              <a:lnSpc>
                <a:spcPct val="118750"/>
              </a:lnSpc>
              <a:spcBef>
                <a:spcPts val="85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3"/>
            </a:pPr>
            <a:r>
              <a:rPr lang="en-US" dirty="0">
                <a:solidFill>
                  <a:schemeClr val="dk1"/>
                </a:solidFill>
              </a:rPr>
              <a:t>Arbitrage Routes: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e.g. Gasoline Arb, Diesel EW. </a:t>
            </a:r>
            <a:r>
              <a:rPr lang="en-US" dirty="0">
                <a:solidFill>
                  <a:srgbClr val="6AA84F"/>
                </a:solidFill>
              </a:rPr>
              <a:t>Price differentials in different loading bays/Physical arbitrage. Indication of relative supply/demand.</a:t>
            </a:r>
            <a:endParaRPr dirty="0">
              <a:solidFill>
                <a:srgbClr val="6AA84F"/>
              </a:solidFill>
            </a:endParaRPr>
          </a:p>
          <a:p>
            <a:pPr marL="435608" lvl="0" indent="-417194" algn="l" rtl="0">
              <a:lnSpc>
                <a:spcPct val="1128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3"/>
            </a:pPr>
            <a:r>
              <a:rPr lang="en-US" dirty="0">
                <a:solidFill>
                  <a:schemeClr val="dk1"/>
                </a:solidFill>
              </a:rPr>
              <a:t>Supply Chain Dynamics: </a:t>
            </a:r>
            <a:r>
              <a:rPr lang="en-US" dirty="0">
                <a:solidFill>
                  <a:srgbClr val="FF0000"/>
                </a:solidFill>
              </a:rPr>
              <a:t>e.g. Crack Spreads, Crush Spreads, Spark Spreads</a:t>
            </a:r>
            <a:endParaRPr dirty="0"/>
          </a:p>
          <a:p>
            <a:pPr marL="435608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6AA84F"/>
                </a:solidFill>
              </a:rPr>
              <a:t>Reflects profits that producers make.</a:t>
            </a:r>
            <a:endParaRPr dirty="0">
              <a:solidFill>
                <a:srgbClr val="6AA84F"/>
              </a:solidFill>
            </a:endParaRPr>
          </a:p>
          <a:p>
            <a:pPr marL="435608" marR="477518" lvl="0" indent="-417830" algn="l" rtl="0">
              <a:lnSpc>
                <a:spcPct val="11875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5"/>
            </a:pPr>
            <a:r>
              <a:rPr lang="en-US" dirty="0">
                <a:solidFill>
                  <a:schemeClr val="dk1"/>
                </a:solidFill>
              </a:rPr>
              <a:t>Product Diffs: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e.g. </a:t>
            </a:r>
            <a:r>
              <a:rPr lang="en-US" dirty="0" err="1">
                <a:solidFill>
                  <a:srgbClr val="FF0000"/>
                </a:solidFill>
              </a:rPr>
              <a:t>ProNap</a:t>
            </a:r>
            <a:r>
              <a:rPr lang="en-US" dirty="0">
                <a:solidFill>
                  <a:srgbClr val="FF0000"/>
                </a:solidFill>
              </a:rPr>
              <a:t>, Gain Spreads. </a:t>
            </a:r>
            <a:r>
              <a:rPr lang="en-US" dirty="0">
                <a:solidFill>
                  <a:srgbClr val="6AA84F"/>
                </a:solidFill>
              </a:rPr>
              <a:t>Reflects cost/price advantage from switching, can also be supply chain dynamics</a:t>
            </a:r>
            <a:endParaRPr dirty="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5502" y="897625"/>
            <a:ext cx="7032999" cy="3996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 txBox="1">
            <a:spLocks noGrp="1"/>
          </p:cNvSpPr>
          <p:nvPr>
            <p:ph type="title"/>
          </p:nvPr>
        </p:nvSpPr>
        <p:spPr>
          <a:xfrm>
            <a:off x="384725" y="194950"/>
            <a:ext cx="37335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31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b="1"/>
              <a:t>Forward Curve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75" y="952112"/>
            <a:ext cx="8959449" cy="384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9"/>
          <p:cNvSpPr txBox="1">
            <a:spLocks noGrp="1"/>
          </p:cNvSpPr>
          <p:nvPr>
            <p:ph type="title" idx="4294967295"/>
          </p:nvPr>
        </p:nvSpPr>
        <p:spPr>
          <a:xfrm>
            <a:off x="384725" y="194950"/>
            <a:ext cx="37335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31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 b="1"/>
              <a:t>Forward Curve</a:t>
            </a:r>
            <a:endParaRPr sz="25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3deae8f02_0_546"/>
          <p:cNvSpPr txBox="1">
            <a:spLocks noGrp="1"/>
          </p:cNvSpPr>
          <p:nvPr>
            <p:ph type="title" idx="4294967295"/>
          </p:nvPr>
        </p:nvSpPr>
        <p:spPr>
          <a:xfrm>
            <a:off x="384725" y="194950"/>
            <a:ext cx="37335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3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 b="1"/>
              <a:t>Indication</a:t>
            </a:r>
            <a:endParaRPr sz="2500" b="1"/>
          </a:p>
        </p:txBody>
      </p:sp>
      <p:sp>
        <p:nvSpPr>
          <p:cNvPr id="130" name="Google Shape;130;g313deae8f02_0_546"/>
          <p:cNvSpPr txBox="1">
            <a:spLocks noGrp="1"/>
          </p:cNvSpPr>
          <p:nvPr>
            <p:ph type="body" idx="4294967295"/>
          </p:nvPr>
        </p:nvSpPr>
        <p:spPr>
          <a:xfrm>
            <a:off x="384720" y="1078591"/>
            <a:ext cx="81552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>
                <a:solidFill>
                  <a:srgbClr val="000000"/>
                </a:solidFill>
              </a:rPr>
              <a:t>What does backwardation and contango signal?</a:t>
            </a:r>
            <a:endParaRPr>
              <a:solidFill>
                <a:srgbClr val="000000"/>
              </a:solidFill>
            </a:endParaRPr>
          </a:p>
          <a:p>
            <a:pPr marL="12700" lvl="0" indent="0" algn="l" rtl="0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>
                <a:solidFill>
                  <a:srgbClr val="000000"/>
                </a:solidFill>
              </a:rPr>
              <a:t>Can we construe one as “bullish” and another as “bearish” ?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C8CC6D7E-0FB0-7CA1-61B6-67F71E544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3deae8f02_0_546">
            <a:extLst>
              <a:ext uri="{FF2B5EF4-FFF2-40B4-BE49-F238E27FC236}">
                <a16:creationId xmlns:a16="http://schemas.microsoft.com/office/drawing/2014/main" id="{9F90395A-38CB-B7DE-CAD1-2895DABFF90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4725" y="194950"/>
            <a:ext cx="37335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3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 b="1" dirty="0"/>
              <a:t>Indication</a:t>
            </a:r>
            <a:endParaRPr sz="2500" b="1" dirty="0"/>
          </a:p>
        </p:txBody>
      </p:sp>
      <p:sp>
        <p:nvSpPr>
          <p:cNvPr id="130" name="Google Shape;130;g313deae8f02_0_546">
            <a:extLst>
              <a:ext uri="{FF2B5EF4-FFF2-40B4-BE49-F238E27FC236}">
                <a16:creationId xmlns:a16="http://schemas.microsoft.com/office/drawing/2014/main" id="{60CA76E8-47DF-DD7A-B03B-34D182C5D04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84720" y="1078591"/>
            <a:ext cx="8155200" cy="139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dirty="0">
                <a:solidFill>
                  <a:srgbClr val="000000"/>
                </a:solidFill>
              </a:rPr>
              <a:t>Most commodities are normally in contango</a:t>
            </a: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n-GB" dirty="0">
              <a:solidFill>
                <a:srgbClr val="000000"/>
              </a:solidFill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dirty="0">
                <a:solidFill>
                  <a:srgbClr val="000000"/>
                </a:solidFill>
              </a:rPr>
              <a:t>Those that are in normally backwardation:</a:t>
            </a:r>
          </a:p>
          <a:p>
            <a:pPr marL="298450" indent="-285750">
              <a:lnSpc>
                <a:spcPct val="100000"/>
              </a:lnSpc>
              <a:buClr>
                <a:schemeClr val="dk1"/>
              </a:buClr>
            </a:pPr>
            <a:r>
              <a:rPr lang="en-GB" dirty="0">
                <a:solidFill>
                  <a:srgbClr val="000000"/>
                </a:solidFill>
              </a:rPr>
              <a:t>Livestock</a:t>
            </a:r>
          </a:p>
          <a:p>
            <a:pPr marL="298450" indent="-285750">
              <a:lnSpc>
                <a:spcPct val="100000"/>
              </a:lnSpc>
              <a:buClr>
                <a:schemeClr val="dk1"/>
              </a:buClr>
            </a:pPr>
            <a:r>
              <a:rPr lang="en-GB" dirty="0">
                <a:solidFill>
                  <a:srgbClr val="000000"/>
                </a:solidFill>
              </a:rPr>
              <a:t>Natural gas (seasonally)</a:t>
            </a:r>
          </a:p>
        </p:txBody>
      </p:sp>
    </p:spTree>
    <p:extLst>
      <p:ext uri="{BB962C8B-B14F-4D97-AF65-F5344CB8AC3E}">
        <p14:creationId xmlns:p14="http://schemas.microsoft.com/office/powerpoint/2010/main" val="443347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3deae8f02_0_551"/>
          <p:cNvSpPr txBox="1">
            <a:spLocks noGrp="1"/>
          </p:cNvSpPr>
          <p:nvPr>
            <p:ph type="title" idx="4294967295"/>
          </p:nvPr>
        </p:nvSpPr>
        <p:spPr>
          <a:xfrm>
            <a:off x="384725" y="194950"/>
            <a:ext cx="48861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3125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500" b="1" dirty="0"/>
              <a:t>Trading Process</a:t>
            </a:r>
            <a:endParaRPr sz="2500" b="1" dirty="0"/>
          </a:p>
        </p:txBody>
      </p:sp>
      <p:sp>
        <p:nvSpPr>
          <p:cNvPr id="136" name="Google Shape;136;g313deae8f02_0_551"/>
          <p:cNvSpPr txBox="1">
            <a:spLocks noGrp="1"/>
          </p:cNvSpPr>
          <p:nvPr>
            <p:ph type="body" idx="4294967295"/>
          </p:nvPr>
        </p:nvSpPr>
        <p:spPr>
          <a:xfrm>
            <a:off x="384720" y="1078591"/>
            <a:ext cx="8155200" cy="384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31800" marR="5080" lvl="0" indent="-4197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Idea Generation: Is supply or demand or both being disrupted? Within what timeframe?</a:t>
            </a:r>
          </a:p>
          <a:p>
            <a:pPr marL="889000" marR="5080" lvl="1" indent="-419732">
              <a:buClr>
                <a:srgbClr val="000000"/>
              </a:buClr>
              <a:buSzPts val="1800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Factors</a:t>
            </a:r>
          </a:p>
          <a:p>
            <a:pPr marL="1346200" marR="5080" lvl="2" indent="-419732">
              <a:buClr>
                <a:srgbClr val="000000"/>
              </a:buClr>
              <a:buSzPts val="1800"/>
            </a:pPr>
            <a:r>
              <a:rPr lang="en-GB" dirty="0">
                <a:solidFill>
                  <a:srgbClr val="000000"/>
                </a:solidFill>
              </a:rPr>
              <a:t>Events</a:t>
            </a:r>
          </a:p>
          <a:p>
            <a:pPr marL="1346200" marR="5080" lvl="2" indent="-419732">
              <a:buClr>
                <a:srgbClr val="000000"/>
              </a:buClr>
              <a:buSzPts val="1800"/>
            </a:pPr>
            <a:r>
              <a:rPr lang="en-GB" dirty="0">
                <a:solidFill>
                  <a:srgbClr val="000000"/>
                </a:solidFill>
              </a:rPr>
              <a:t>Seasonality</a:t>
            </a:r>
          </a:p>
          <a:p>
            <a:pPr marL="1346200" marR="5080" lvl="2" indent="-419732">
              <a:buClr>
                <a:srgbClr val="000000"/>
              </a:buClr>
              <a:buSzPts val="1800"/>
            </a:pPr>
            <a:r>
              <a:rPr lang="en-GB" dirty="0">
                <a:solidFill>
                  <a:srgbClr val="000000"/>
                </a:solidFill>
              </a:rPr>
              <a:t>Macro</a:t>
            </a:r>
          </a:p>
          <a:p>
            <a:pPr marL="1346200" marR="5080" lvl="2" indent="-419732">
              <a:buClr>
                <a:srgbClr val="000000"/>
              </a:buClr>
              <a:buSzPts val="1800"/>
            </a:pPr>
            <a:r>
              <a:rPr lang="en-GB" dirty="0">
                <a:solidFill>
                  <a:srgbClr val="000000"/>
                </a:solidFill>
              </a:rPr>
              <a:t>Relative value</a:t>
            </a:r>
          </a:p>
          <a:p>
            <a:pPr marL="889000" marR="5080" lvl="1" indent="-419732">
              <a:buClr>
                <a:srgbClr val="000000"/>
              </a:buClr>
              <a:buSzPts val="1800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Risk vs. Reward: probability of winning RELATIVE TO losing?</a:t>
            </a:r>
          </a:p>
          <a:p>
            <a:pPr marL="431800" marR="81280" lvl="0" indent="-4197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Trade structure: Swaps, Futures, Options, Swaptions - what exact product and which part of the curve?</a:t>
            </a:r>
            <a:endParaRPr dirty="0">
              <a:solidFill>
                <a:srgbClr val="000000"/>
              </a:solidFill>
            </a:endParaRPr>
          </a:p>
          <a:p>
            <a:pPr marL="431800" lvl="0" indent="-419100" algn="l" rtl="0">
              <a:lnSpc>
                <a:spcPct val="115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Positioning: Is the market long or short? What does this mean for pricing in?</a:t>
            </a:r>
            <a:endParaRPr dirty="0">
              <a:solidFill>
                <a:srgbClr val="000000"/>
              </a:solidFill>
            </a:endParaRPr>
          </a:p>
          <a:p>
            <a:pPr marL="431800" lvl="0" indent="-419100" algn="l" rtl="0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Timing: Technical Analysis - Trend entry, Trading windows/patterns</a:t>
            </a:r>
            <a:endParaRPr dirty="0">
              <a:solidFill>
                <a:srgbClr val="000000"/>
              </a:solidFill>
            </a:endParaRPr>
          </a:p>
          <a:p>
            <a:pPr marL="431800" lvl="0" indent="-419100" algn="l" rtl="0">
              <a:lnSpc>
                <a:spcPct val="115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Risk Management: Stop loss, Correlations, </a:t>
            </a:r>
            <a:r>
              <a:rPr lang="en-US" dirty="0" err="1">
                <a:solidFill>
                  <a:srgbClr val="000000"/>
                </a:solidFill>
              </a:rPr>
              <a:t>VaR</a:t>
            </a:r>
            <a:endParaRPr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B8B68-074B-12CA-F10C-1330E123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study: Gold</a:t>
            </a:r>
          </a:p>
        </p:txBody>
      </p:sp>
    </p:spTree>
    <p:extLst>
      <p:ext uri="{BB962C8B-B14F-4D97-AF65-F5344CB8AC3E}">
        <p14:creationId xmlns:p14="http://schemas.microsoft.com/office/powerpoint/2010/main" val="686908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AA38D-AC91-39A3-3737-1F17A4AECC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4B0E2-EA23-6DAB-7D1B-EEB1249876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9D0F6-21E2-0001-7471-2524190AE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62" y="352311"/>
            <a:ext cx="8274475" cy="443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38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DB81-1FDA-D3E8-6CFF-1C979B4AA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FECA37-F920-DAAE-B38A-220A6058A1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Gold and Rates Correlation Breakdown - Apollo Academy">
            <a:extLst>
              <a:ext uri="{FF2B5EF4-FFF2-40B4-BE49-F238E27FC236}">
                <a16:creationId xmlns:a16="http://schemas.microsoft.com/office/drawing/2014/main" id="{690BCB7B-04B9-B17A-29BB-E7576F138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9144000" cy="514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27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D23C-D6FD-660B-3943-98305E6634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E1BB2-8939-719B-232D-4D66EAEF54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8081E69-B149-2B48-B642-C90685081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38" y="0"/>
            <a:ext cx="798512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994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1E444-4D14-B5EE-B7F3-2E2E7560B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41DA-62B3-65A5-3780-3A37E9B61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</p:spPr>
        <p:txBody>
          <a:bodyPr/>
          <a:lstStyle/>
          <a:p>
            <a:r>
              <a:rPr lang="en-GB" dirty="0"/>
              <a:t>Case study: Oil</a:t>
            </a:r>
          </a:p>
        </p:txBody>
      </p:sp>
    </p:spTree>
    <p:extLst>
      <p:ext uri="{BB962C8B-B14F-4D97-AF65-F5344CB8AC3E}">
        <p14:creationId xmlns:p14="http://schemas.microsoft.com/office/powerpoint/2010/main" val="1321761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08E6C-5FF8-D051-CD78-A3AE16A75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7082-D463-4D6D-8C31-A11CB7D59F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48D11-95C7-54D2-09DA-F894B7B45B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574B73-0B51-7147-D8E6-C37459876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86" y="339610"/>
            <a:ext cx="8331628" cy="446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387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9D3223-E074-BE59-831B-0E366B77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8E2C6B6-031B-5106-6D6B-27329A85A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601</Words>
  <Application>Microsoft Office PowerPoint</Application>
  <PresentationFormat>On-screen Show (16:9)</PresentationFormat>
  <Paragraphs>73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Simple Light</vt:lpstr>
      <vt:lpstr>Commodities</vt:lpstr>
      <vt:lpstr>Commodities Market</vt:lpstr>
      <vt:lpstr>Commodities Market</vt:lpstr>
      <vt:lpstr>Commodities Market</vt:lpstr>
      <vt:lpstr>Commodities Market</vt:lpstr>
      <vt:lpstr>Commodities vs. other asset classes</vt:lpstr>
      <vt:lpstr>Commodities vs. other asset classes</vt:lpstr>
      <vt:lpstr>Supply and demand</vt:lpstr>
      <vt:lpstr>Types of Trades</vt:lpstr>
      <vt:lpstr>Types of Trades</vt:lpstr>
      <vt:lpstr>Forward Curve</vt:lpstr>
      <vt:lpstr>Forward Curve</vt:lpstr>
      <vt:lpstr>Indication</vt:lpstr>
      <vt:lpstr>Indication</vt:lpstr>
      <vt:lpstr>Trading Process</vt:lpstr>
      <vt:lpstr>Case study: Gold</vt:lpstr>
      <vt:lpstr>PowerPoint Presentation</vt:lpstr>
      <vt:lpstr>PowerPoint Presentation</vt:lpstr>
      <vt:lpstr>PowerPoint Presentation</vt:lpstr>
      <vt:lpstr>Case study: Oil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 C</cp:lastModifiedBy>
  <cp:revision>26</cp:revision>
  <dcterms:created xsi:type="dcterms:W3CDTF">2023-10-07T14:44:31Z</dcterms:created>
  <dcterms:modified xsi:type="dcterms:W3CDTF">2026-02-14T12:39:10Z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