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2910C0-65F4-480C-9559-A9786E630A28}">
  <a:tblStyle styleId="{D32910C0-65F4-480C-9559-A9786E630A2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a84abecad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1a84abeca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a84abecad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a84abecad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a84abecad_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a84abecad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a84abecad_5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a84abecad_5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a84abecad_5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1a84abecad_5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a84abecad_5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a84abecad_5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a84abecad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1a84abecad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a84abecad_5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1a84abecad_5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b52f9ac98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1b52f9ac98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Wiener process represents a drunk man’s walk over a continuous time period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b52f9ac98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1b52f9ac98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b52f9ac98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b52f9ac98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a896329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1a896329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a8963294f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1a8963294f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1a8963294f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1a8963294f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b52f9ac98_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b52f9ac98_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a8963294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a8963294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Stock price falls -&gt; debt-to-equity rises and investor uncertaintyt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1b52f9ac98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1b52f9ac98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ab2f373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1ab2f373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a8963294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1a8963294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1a8963294f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1a8963294f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1b52f9ac98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1b52f9ac98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b52f9ac98_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1b52f9ac98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2.png"/><Relationship Id="rId11" Type="http://schemas.openxmlformats.org/officeDocument/2006/relationships/image" Target="../media/image7.png"/><Relationship Id="rId10" Type="http://schemas.openxmlformats.org/officeDocument/2006/relationships/image" Target="../media/image9.png"/><Relationship Id="rId12" Type="http://schemas.openxmlformats.org/officeDocument/2006/relationships/image" Target="../media/image17.png"/><Relationship Id="rId9"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bookdown.org/maxime_debellefroid/MyBook/a-deeper-understanding-of-options.html" TargetMode="External"/><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investopedia.com/terms/h/heston-model.asp" TargetMode="External"/><Relationship Id="rId4" Type="http://schemas.openxmlformats.org/officeDocument/2006/relationships/hyperlink" Target="https://demonstrations.wolfram.com/OptionPricesInMertonsJumpDiffusionModel/" TargetMode="External"/><Relationship Id="rId5" Type="http://schemas.openxmlformats.org/officeDocument/2006/relationships/hyperlink" Target="https://www.tejwin.com/en/insight/options-pricing-with-monte-carlo-simulation/" TargetMode="External"/><Relationship Id="rId6" Type="http://schemas.openxmlformats.org/officeDocument/2006/relationships/image" Target="../media/image13.png"/><Relationship Id="rId7" Type="http://schemas.openxmlformats.org/officeDocument/2006/relationships/image" Target="../media/image35.png"/><Relationship Id="rId8"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21.png"/><Relationship Id="rId6"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953950"/>
            <a:ext cx="8520600" cy="1376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 sz="2400">
                <a:solidFill>
                  <a:schemeClr val="dk1"/>
                </a:solidFill>
              </a:rPr>
              <a:t>2024/25 Bootcamp</a:t>
            </a:r>
            <a:endParaRPr b="1" sz="2400">
              <a:solidFill>
                <a:schemeClr val="dk1"/>
              </a:solidFill>
            </a:endParaRPr>
          </a:p>
          <a:p>
            <a:pPr indent="0" lvl="0" marL="0" rtl="0" algn="ctr">
              <a:lnSpc>
                <a:spcPct val="115000"/>
              </a:lnSpc>
              <a:spcBef>
                <a:spcPts val="0"/>
              </a:spcBef>
              <a:spcAft>
                <a:spcPts val="0"/>
              </a:spcAft>
              <a:buClr>
                <a:schemeClr val="dk1"/>
              </a:buClr>
              <a:buSzPts val="1100"/>
              <a:buFont typeface="Arial"/>
              <a:buNone/>
            </a:pPr>
            <a:r>
              <a:rPr b="1" lang="en" sz="2100">
                <a:solidFill>
                  <a:srgbClr val="666666"/>
                </a:solidFill>
              </a:rPr>
              <a:t>Options &amp; Volatility</a:t>
            </a:r>
            <a:endParaRPr b="1" sz="2100">
              <a:solidFill>
                <a:srgbClr val="666666"/>
              </a:solidFill>
            </a:endParaRPr>
          </a:p>
        </p:txBody>
      </p:sp>
      <p:sp>
        <p:nvSpPr>
          <p:cNvPr id="55" name="Google Shape;55;p13"/>
          <p:cNvSpPr txBox="1"/>
          <p:nvPr>
            <p:ph type="ctrTitle"/>
          </p:nvPr>
        </p:nvSpPr>
        <p:spPr>
          <a:xfrm>
            <a:off x="311708" y="871400"/>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solidFill>
                  <a:srgbClr val="059C92"/>
                </a:solidFill>
              </a:rPr>
              <a:t>MBP Capital</a:t>
            </a:r>
            <a:endParaRPr b="1">
              <a:solidFill>
                <a:srgbClr val="059C92"/>
              </a:solidFill>
            </a:endParaRPr>
          </a:p>
        </p:txBody>
      </p:sp>
      <p:pic>
        <p:nvPicPr>
          <p:cNvPr descr="MBP Capital, the LSE Student Investment Fund | LinkedIn" id="56" name="Google Shape;56;p13"/>
          <p:cNvPicPr preferRelativeResize="0"/>
          <p:nvPr/>
        </p:nvPicPr>
        <p:blipFill rotWithShape="1">
          <a:blip r:embed="rId3">
            <a:alphaModFix/>
          </a:blip>
          <a:srcRect b="0" l="0" r="0" t="0"/>
          <a:stretch/>
        </p:blipFill>
        <p:spPr>
          <a:xfrm>
            <a:off x="3806038" y="615200"/>
            <a:ext cx="1531925" cy="153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Definitions</a:t>
            </a:r>
            <a:endParaRPr b="1" sz="1538">
              <a:solidFill>
                <a:srgbClr val="1C4587"/>
              </a:solidFill>
            </a:endParaRPr>
          </a:p>
        </p:txBody>
      </p:sp>
      <p:sp>
        <p:nvSpPr>
          <p:cNvPr id="62" name="Google Shape;62;p14"/>
          <p:cNvSpPr txBox="1"/>
          <p:nvPr>
            <p:ph idx="1" type="body"/>
          </p:nvPr>
        </p:nvSpPr>
        <p:spPr>
          <a:xfrm>
            <a:off x="311700" y="539950"/>
            <a:ext cx="8520600" cy="1092000"/>
          </a:xfrm>
          <a:prstGeom prst="rect">
            <a:avLst/>
          </a:prstGeom>
          <a:solidFill>
            <a:srgbClr val="1C4587"/>
          </a:solidFill>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rPr>
              <a:t>Option Definition</a:t>
            </a:r>
            <a:endParaRPr b="1" sz="1100">
              <a:solidFill>
                <a:schemeClr val="lt1"/>
              </a:solidFill>
            </a:endParaRPr>
          </a:p>
          <a:p>
            <a:pPr indent="-298450" lvl="0" marL="457200" rtl="0" algn="l">
              <a:spcBef>
                <a:spcPts val="1200"/>
              </a:spcBef>
              <a:spcAft>
                <a:spcPts val="0"/>
              </a:spcAft>
              <a:buClr>
                <a:schemeClr val="lt1"/>
              </a:buClr>
              <a:buSzPts val="1100"/>
              <a:buChar char="●"/>
            </a:pPr>
            <a:r>
              <a:rPr b="1" lang="en" sz="1100">
                <a:solidFill>
                  <a:schemeClr val="lt1"/>
                </a:solidFill>
              </a:rPr>
              <a:t>A financial option is a contract that gives the buyer the right, but not the obligation, to buy (call) or sell (put) some asset(s) at a specified price for a specified period of time or point in time</a:t>
            </a:r>
            <a:endParaRPr b="1" sz="1100">
              <a:solidFill>
                <a:schemeClr val="lt1"/>
              </a:solidFill>
            </a:endParaRPr>
          </a:p>
          <a:p>
            <a:pPr indent="-298450" lvl="1" marL="914400" rtl="0" algn="l">
              <a:spcBef>
                <a:spcPts val="0"/>
              </a:spcBef>
              <a:spcAft>
                <a:spcPts val="0"/>
              </a:spcAft>
              <a:buClr>
                <a:schemeClr val="lt1"/>
              </a:buClr>
              <a:buSzPts val="1100"/>
              <a:buChar char="○"/>
            </a:pPr>
            <a:r>
              <a:rPr b="1" lang="en" sz="1100">
                <a:solidFill>
                  <a:schemeClr val="lt1"/>
                </a:solidFill>
              </a:rPr>
              <a:t>The buyer is said to exercise the option if he/she chooses to invoke the specified rights in the contract</a:t>
            </a:r>
            <a:endParaRPr b="1" sz="1100">
              <a:solidFill>
                <a:schemeClr val="lt1"/>
              </a:solidFill>
            </a:endParaRPr>
          </a:p>
        </p:txBody>
      </p:sp>
      <p:sp>
        <p:nvSpPr>
          <p:cNvPr id="63" name="Google Shape;63;p14"/>
          <p:cNvSpPr txBox="1"/>
          <p:nvPr>
            <p:ph idx="1" type="body"/>
          </p:nvPr>
        </p:nvSpPr>
        <p:spPr>
          <a:xfrm>
            <a:off x="311700" y="1631950"/>
            <a:ext cx="8520600" cy="33063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Option Types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Call: gives the buyer of the option the right to buy the underlying asset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Put: gives the buyer </a:t>
            </a:r>
            <a:r>
              <a:rPr lang="en" sz="1100">
                <a:solidFill>
                  <a:schemeClr val="dk1"/>
                </a:solidFill>
              </a:rPr>
              <a:t>of the option the right to sell the underlying asset</a:t>
            </a:r>
            <a:endParaRPr sz="1100">
              <a:solidFill>
                <a:schemeClr val="dk1"/>
              </a:solidFill>
            </a:endParaRPr>
          </a:p>
          <a:p>
            <a:pPr indent="-298450" lvl="0" marL="457200" rtl="0" algn="l">
              <a:spcBef>
                <a:spcPts val="0"/>
              </a:spcBef>
              <a:spcAft>
                <a:spcPts val="0"/>
              </a:spcAft>
              <a:buClr>
                <a:srgbClr val="3D85C6"/>
              </a:buClr>
              <a:buSzPts val="1100"/>
              <a:buChar char="●"/>
            </a:pPr>
            <a:r>
              <a:rPr lang="en" sz="1100">
                <a:solidFill>
                  <a:srgbClr val="3D85C6"/>
                </a:solidFill>
              </a:rPr>
              <a:t>European: gives the buyer of the option the right to exercise </a:t>
            </a:r>
            <a:r>
              <a:rPr i="1" lang="en" sz="1100" u="sng">
                <a:solidFill>
                  <a:srgbClr val="3D85C6"/>
                </a:solidFill>
              </a:rPr>
              <a:t>only</a:t>
            </a:r>
            <a:r>
              <a:rPr lang="en" sz="1100">
                <a:solidFill>
                  <a:srgbClr val="3D85C6"/>
                </a:solidFill>
              </a:rPr>
              <a:t> on the expiration date</a:t>
            </a:r>
            <a:endParaRPr sz="1100">
              <a:solidFill>
                <a:srgbClr val="3D85C6"/>
              </a:solidFill>
            </a:endParaRPr>
          </a:p>
          <a:p>
            <a:pPr indent="-298450" lvl="0" marL="457200" rtl="0" algn="l">
              <a:spcBef>
                <a:spcPts val="0"/>
              </a:spcBef>
              <a:spcAft>
                <a:spcPts val="0"/>
              </a:spcAft>
              <a:buClr>
                <a:srgbClr val="3D85C6"/>
              </a:buClr>
              <a:buSzPts val="1100"/>
              <a:buChar char="●"/>
            </a:pPr>
            <a:r>
              <a:rPr lang="en" sz="1100">
                <a:solidFill>
                  <a:srgbClr val="3D85C6"/>
                </a:solidFill>
              </a:rPr>
              <a:t>American: gives the buyer of the option the right to exercise </a:t>
            </a:r>
            <a:r>
              <a:rPr i="1" lang="en" sz="1100" u="sng">
                <a:solidFill>
                  <a:srgbClr val="3D85C6"/>
                </a:solidFill>
              </a:rPr>
              <a:t>at any time</a:t>
            </a:r>
            <a:r>
              <a:rPr lang="en" sz="1100">
                <a:solidFill>
                  <a:srgbClr val="3D85C6"/>
                </a:solidFill>
              </a:rPr>
              <a:t> during the life of the option</a:t>
            </a:r>
            <a:endParaRPr sz="1100">
              <a:solidFill>
                <a:srgbClr val="3D85C6"/>
              </a:solidFill>
            </a:endParaRPr>
          </a:p>
          <a:p>
            <a:pPr indent="0" lvl="0" marL="0" rtl="0" algn="l">
              <a:spcBef>
                <a:spcPts val="1200"/>
              </a:spcBef>
              <a:spcAft>
                <a:spcPts val="0"/>
              </a:spcAft>
              <a:buNone/>
            </a:pPr>
            <a:r>
              <a:rPr b="1" lang="en" sz="1100">
                <a:solidFill>
                  <a:schemeClr val="dk1"/>
                </a:solidFill>
              </a:rPr>
              <a:t>Option Terms</a:t>
            </a:r>
            <a:endParaRPr b="1" sz="1100">
              <a:solidFill>
                <a:schemeClr val="dk1"/>
              </a:solidFill>
            </a:endParaRPr>
          </a:p>
          <a:p>
            <a:pPr indent="0" lvl="0" marL="0" rtl="0" algn="l">
              <a:spcBef>
                <a:spcPts val="1200"/>
              </a:spcBef>
              <a:spcAft>
                <a:spcPts val="0"/>
              </a:spcAft>
              <a:buNone/>
            </a:pPr>
            <a:r>
              <a:rPr lang="en" sz="1100">
                <a:solidFill>
                  <a:schemeClr val="dk1"/>
                </a:solidFill>
              </a:rPr>
              <a:t>Parameters needed to price an stock option</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Strike price</a:t>
            </a:r>
            <a:r>
              <a:rPr lang="en" sz="1100">
                <a:solidFill>
                  <a:schemeClr val="dk1"/>
                </a:solidFill>
              </a:rPr>
              <a:t> (K)</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Time to expiration</a:t>
            </a:r>
            <a:r>
              <a:rPr lang="en" sz="1100">
                <a:solidFill>
                  <a:schemeClr val="dk1"/>
                </a:solidFill>
              </a:rPr>
              <a:t> (T)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Current</a:t>
            </a:r>
            <a:r>
              <a:rPr b="1" lang="en" sz="1100">
                <a:solidFill>
                  <a:schemeClr val="dk1"/>
                </a:solidFill>
              </a:rPr>
              <a:t> stock price</a:t>
            </a:r>
            <a:r>
              <a:rPr lang="en" sz="1100">
                <a:solidFill>
                  <a:schemeClr val="dk1"/>
                </a:solidFill>
              </a:rPr>
              <a:t> (S)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Implied volatility</a:t>
            </a:r>
            <a:r>
              <a:rPr lang="en" sz="1100">
                <a:solidFill>
                  <a:schemeClr val="dk1"/>
                </a:solidFill>
              </a:rPr>
              <a:t> (σ)</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Risk-free</a:t>
            </a:r>
            <a:r>
              <a:rPr b="1" lang="en" sz="1100">
                <a:solidFill>
                  <a:schemeClr val="dk1"/>
                </a:solidFill>
              </a:rPr>
              <a:t> interest rate</a:t>
            </a:r>
            <a:r>
              <a:rPr lang="en" sz="1100">
                <a:solidFill>
                  <a:schemeClr val="dk1"/>
                </a:solidFill>
              </a:rPr>
              <a:t> (r)</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Dividends</a:t>
            </a:r>
            <a:r>
              <a:rPr lang="en" sz="1100">
                <a:solidFill>
                  <a:schemeClr val="dk1"/>
                </a:solidFill>
              </a:rPr>
              <a:t> expected during the lifetime of the option (q)</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Call Option</a:t>
            </a:r>
            <a:endParaRPr b="1" sz="1538">
              <a:solidFill>
                <a:srgbClr val="1C4587"/>
              </a:solidFill>
            </a:endParaRPr>
          </a:p>
        </p:txBody>
      </p:sp>
      <p:sp>
        <p:nvSpPr>
          <p:cNvPr id="69" name="Google Shape;69;p15"/>
          <p:cNvSpPr txBox="1"/>
          <p:nvPr>
            <p:ph idx="1" type="body"/>
          </p:nvPr>
        </p:nvSpPr>
        <p:spPr>
          <a:xfrm>
            <a:off x="311700" y="539950"/>
            <a:ext cx="8520600" cy="8973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Consider the situation of an investor who buys a European call option with a strike price of $100 to purchase one share of a certain stock. Suppose that the price of an option to purchase one share is $5.</a:t>
            </a:r>
            <a:endParaRPr b="1" sz="1100">
              <a:solidFill>
                <a:schemeClr val="dk1"/>
              </a:solidFill>
            </a:endParaRPr>
          </a:p>
          <a:p>
            <a:pPr indent="0" lvl="0" marL="0" rtl="0" algn="l">
              <a:spcBef>
                <a:spcPts val="1200"/>
              </a:spcBef>
              <a:spcAft>
                <a:spcPts val="1200"/>
              </a:spcAft>
              <a:buNone/>
            </a:pPr>
            <a:r>
              <a:rPr b="1" lang="en" sz="1100">
                <a:solidFill>
                  <a:schemeClr val="dk1"/>
                </a:solidFill>
              </a:rPr>
              <a:t>Payoff = max(</a:t>
            </a:r>
            <a:r>
              <a:rPr b="1" lang="en" sz="1100">
                <a:solidFill>
                  <a:schemeClr val="dk1"/>
                </a:solidFill>
              </a:rPr>
              <a:t>S</a:t>
            </a:r>
            <a:r>
              <a:rPr b="1" baseline="-25000" lang="en" sz="1100">
                <a:solidFill>
                  <a:schemeClr val="dk1"/>
                </a:solidFill>
              </a:rPr>
              <a:t>T</a:t>
            </a:r>
            <a:r>
              <a:rPr b="1" lang="en" sz="1100">
                <a:solidFill>
                  <a:schemeClr val="dk1"/>
                </a:solidFill>
              </a:rPr>
              <a:t> </a:t>
            </a:r>
            <a:r>
              <a:rPr b="1" lang="en" sz="1100">
                <a:solidFill>
                  <a:schemeClr val="dk1"/>
                </a:solidFill>
              </a:rPr>
              <a:t>–</a:t>
            </a:r>
            <a:r>
              <a:rPr b="1" lang="en" sz="1100">
                <a:solidFill>
                  <a:schemeClr val="dk1"/>
                </a:solidFill>
              </a:rPr>
              <a:t> K, 0) </a:t>
            </a:r>
            <a:r>
              <a:rPr i="1" lang="en" sz="1100">
                <a:solidFill>
                  <a:schemeClr val="dk1"/>
                </a:solidFill>
              </a:rPr>
              <a:t>where K is the strike price and </a:t>
            </a:r>
            <a:r>
              <a:rPr i="1" lang="en" sz="1100">
                <a:solidFill>
                  <a:schemeClr val="dk1"/>
                </a:solidFill>
              </a:rPr>
              <a:t>S</a:t>
            </a:r>
            <a:r>
              <a:rPr baseline="-25000" i="1" lang="en" sz="1100">
                <a:solidFill>
                  <a:schemeClr val="dk1"/>
                </a:solidFill>
              </a:rPr>
              <a:t>T</a:t>
            </a:r>
            <a:r>
              <a:rPr i="1" lang="en" sz="1100">
                <a:solidFill>
                  <a:schemeClr val="dk1"/>
                </a:solidFill>
              </a:rPr>
              <a:t> is the final price of the underlying asset</a:t>
            </a:r>
            <a:endParaRPr i="1" sz="1100">
              <a:solidFill>
                <a:schemeClr val="dk1"/>
              </a:solidFill>
            </a:endParaRPr>
          </a:p>
        </p:txBody>
      </p:sp>
      <p:pic>
        <p:nvPicPr>
          <p:cNvPr id="70" name="Google Shape;70;p15"/>
          <p:cNvPicPr preferRelativeResize="0"/>
          <p:nvPr/>
        </p:nvPicPr>
        <p:blipFill>
          <a:blip r:embed="rId3">
            <a:alphaModFix/>
          </a:blip>
          <a:stretch>
            <a:fillRect/>
          </a:stretch>
        </p:blipFill>
        <p:spPr>
          <a:xfrm>
            <a:off x="1716898" y="1789250"/>
            <a:ext cx="5710204" cy="28581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Put</a:t>
            </a:r>
            <a:r>
              <a:rPr b="1" lang="en" sz="1538">
                <a:solidFill>
                  <a:srgbClr val="1C4587"/>
                </a:solidFill>
              </a:rPr>
              <a:t> Option</a:t>
            </a:r>
            <a:endParaRPr b="1" sz="1538">
              <a:solidFill>
                <a:srgbClr val="1C4587"/>
              </a:solidFill>
            </a:endParaRPr>
          </a:p>
        </p:txBody>
      </p:sp>
      <p:sp>
        <p:nvSpPr>
          <p:cNvPr id="76" name="Google Shape;76;p16"/>
          <p:cNvSpPr txBox="1"/>
          <p:nvPr>
            <p:ph idx="1" type="body"/>
          </p:nvPr>
        </p:nvSpPr>
        <p:spPr>
          <a:xfrm>
            <a:off x="311700" y="539950"/>
            <a:ext cx="8520600" cy="8973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Consider the situation of an investor who </a:t>
            </a:r>
            <a:r>
              <a:rPr b="1" lang="en" sz="1100">
                <a:solidFill>
                  <a:schemeClr val="dk1"/>
                </a:solidFill>
              </a:rPr>
              <a:t>buys a European put option with a strike price of $70 to sell</a:t>
            </a:r>
            <a:r>
              <a:rPr b="1" lang="en" sz="1100">
                <a:solidFill>
                  <a:schemeClr val="dk1"/>
                </a:solidFill>
              </a:rPr>
              <a:t> one share of a certain stock. Suppose that the price of an option to sell one share is $7.</a:t>
            </a:r>
            <a:endParaRPr b="1" sz="1100">
              <a:solidFill>
                <a:schemeClr val="dk1"/>
              </a:solidFill>
            </a:endParaRPr>
          </a:p>
          <a:p>
            <a:pPr indent="0" lvl="0" marL="0" rtl="0" algn="l">
              <a:spcBef>
                <a:spcPts val="1200"/>
              </a:spcBef>
              <a:spcAft>
                <a:spcPts val="1200"/>
              </a:spcAft>
              <a:buNone/>
            </a:pPr>
            <a:r>
              <a:rPr b="1" lang="en" sz="1100">
                <a:solidFill>
                  <a:schemeClr val="dk1"/>
                </a:solidFill>
              </a:rPr>
              <a:t>Payoff = max(K – S</a:t>
            </a:r>
            <a:r>
              <a:rPr b="1" baseline="-25000" lang="en" sz="1100">
                <a:solidFill>
                  <a:schemeClr val="dk1"/>
                </a:solidFill>
              </a:rPr>
              <a:t>T</a:t>
            </a:r>
            <a:r>
              <a:rPr b="1" lang="en" sz="1100">
                <a:solidFill>
                  <a:schemeClr val="dk1"/>
                </a:solidFill>
              </a:rPr>
              <a:t>, 0) </a:t>
            </a:r>
            <a:r>
              <a:rPr i="1" lang="en" sz="1100">
                <a:solidFill>
                  <a:schemeClr val="dk1"/>
                </a:solidFill>
              </a:rPr>
              <a:t>where K is the strike price and S</a:t>
            </a:r>
            <a:r>
              <a:rPr baseline="-25000" i="1" lang="en" sz="1100">
                <a:solidFill>
                  <a:schemeClr val="dk1"/>
                </a:solidFill>
              </a:rPr>
              <a:t>T</a:t>
            </a:r>
            <a:r>
              <a:rPr i="1" lang="en" sz="1100">
                <a:solidFill>
                  <a:schemeClr val="dk1"/>
                </a:solidFill>
              </a:rPr>
              <a:t> is the final price of the underlying asset</a:t>
            </a:r>
            <a:endParaRPr b="1" sz="1100">
              <a:solidFill>
                <a:schemeClr val="dk1"/>
              </a:solidFill>
            </a:endParaRPr>
          </a:p>
        </p:txBody>
      </p:sp>
      <p:pic>
        <p:nvPicPr>
          <p:cNvPr id="77" name="Google Shape;77;p16"/>
          <p:cNvPicPr preferRelativeResize="0"/>
          <p:nvPr/>
        </p:nvPicPr>
        <p:blipFill rotWithShape="1">
          <a:blip r:embed="rId3">
            <a:alphaModFix/>
          </a:blip>
          <a:srcRect b="729" l="0" r="0" t="729"/>
          <a:stretch/>
        </p:blipFill>
        <p:spPr>
          <a:xfrm>
            <a:off x="1716898" y="1789250"/>
            <a:ext cx="5710206" cy="2858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Option Positions</a:t>
            </a:r>
            <a:endParaRPr b="1" sz="1538">
              <a:solidFill>
                <a:srgbClr val="1C4587"/>
              </a:solidFill>
            </a:endParaRPr>
          </a:p>
        </p:txBody>
      </p:sp>
      <p:sp>
        <p:nvSpPr>
          <p:cNvPr id="83" name="Google Shape;83;p17"/>
          <p:cNvSpPr txBox="1"/>
          <p:nvPr>
            <p:ph idx="1" type="body"/>
          </p:nvPr>
        </p:nvSpPr>
        <p:spPr>
          <a:xfrm>
            <a:off x="311700" y="539950"/>
            <a:ext cx="8520600" cy="18855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There are two sides to every option contract</a:t>
            </a:r>
            <a:r>
              <a:rPr lang="en" sz="1000">
                <a:solidFill>
                  <a:schemeClr val="dk1"/>
                </a:solidFill>
              </a:rPr>
              <a:t>. </a:t>
            </a:r>
            <a:r>
              <a:rPr lang="en" sz="1000">
                <a:solidFill>
                  <a:schemeClr val="dk1"/>
                </a:solidFill>
              </a:rPr>
              <a:t>On one side is the investor who has taken the long position (i.e., has bought the option). On the other side is the investor who has taken a short position (i.e., has sold or written the option). The writer of an option receives cash up front, but has potential liabilities later. The writer’s profit or loss is the reverse of that for the purchaser of the option. </a:t>
            </a:r>
            <a:endParaRPr sz="1000">
              <a:solidFill>
                <a:schemeClr val="dk1"/>
              </a:solidFill>
            </a:endParaRPr>
          </a:p>
          <a:p>
            <a:pPr indent="0" lvl="0" marL="0" rtl="0" algn="l">
              <a:spcBef>
                <a:spcPts val="1200"/>
              </a:spcBef>
              <a:spcAft>
                <a:spcPts val="0"/>
              </a:spcAft>
              <a:buNone/>
            </a:pPr>
            <a:r>
              <a:rPr lang="en" sz="1000">
                <a:solidFill>
                  <a:schemeClr val="dk1"/>
                </a:solidFill>
              </a:rPr>
              <a:t>There are four types of option positions:</a:t>
            </a:r>
            <a:endParaRPr sz="1000">
              <a:solidFill>
                <a:schemeClr val="dk1"/>
              </a:solidFill>
            </a:endParaRPr>
          </a:p>
          <a:p>
            <a:pPr indent="-292100" lvl="0" marL="457200" rtl="0" algn="l">
              <a:spcBef>
                <a:spcPts val="1200"/>
              </a:spcBef>
              <a:spcAft>
                <a:spcPts val="0"/>
              </a:spcAft>
              <a:buClr>
                <a:schemeClr val="dk1"/>
              </a:buClr>
              <a:buSzPts val="1000"/>
              <a:buAutoNum type="arabicPeriod"/>
            </a:pPr>
            <a:r>
              <a:rPr lang="en" sz="1000">
                <a:solidFill>
                  <a:schemeClr val="dk1"/>
                </a:solidFill>
              </a:rPr>
              <a:t>Long call </a:t>
            </a: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Long put</a:t>
            </a: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Short call</a:t>
            </a: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Short put</a:t>
            </a:r>
            <a:endParaRPr sz="1000">
              <a:solidFill>
                <a:schemeClr val="dk1"/>
              </a:solidFill>
            </a:endParaRPr>
          </a:p>
        </p:txBody>
      </p:sp>
      <p:pic>
        <p:nvPicPr>
          <p:cNvPr id="84" name="Google Shape;84;p17"/>
          <p:cNvPicPr preferRelativeResize="0"/>
          <p:nvPr/>
        </p:nvPicPr>
        <p:blipFill>
          <a:blip r:embed="rId3">
            <a:alphaModFix/>
          </a:blip>
          <a:stretch>
            <a:fillRect/>
          </a:stretch>
        </p:blipFill>
        <p:spPr>
          <a:xfrm>
            <a:off x="228600" y="2717050"/>
            <a:ext cx="4386330" cy="2274051"/>
          </a:xfrm>
          <a:prstGeom prst="rect">
            <a:avLst/>
          </a:prstGeom>
          <a:noFill/>
          <a:ln>
            <a:noFill/>
          </a:ln>
        </p:spPr>
      </p:pic>
      <p:pic>
        <p:nvPicPr>
          <p:cNvPr id="85" name="Google Shape;85;p17"/>
          <p:cNvPicPr preferRelativeResize="0"/>
          <p:nvPr/>
        </p:nvPicPr>
        <p:blipFill>
          <a:blip r:embed="rId4">
            <a:alphaModFix/>
          </a:blip>
          <a:stretch>
            <a:fillRect/>
          </a:stretch>
        </p:blipFill>
        <p:spPr>
          <a:xfrm>
            <a:off x="4767330" y="2717050"/>
            <a:ext cx="4029531" cy="2274050"/>
          </a:xfrm>
          <a:prstGeom prst="rect">
            <a:avLst/>
          </a:prstGeom>
          <a:noFill/>
          <a:ln>
            <a:noFill/>
          </a:ln>
        </p:spPr>
      </p:pic>
      <p:sp>
        <p:nvSpPr>
          <p:cNvPr id="86" name="Google Shape;86;p17"/>
          <p:cNvSpPr txBox="1"/>
          <p:nvPr/>
        </p:nvSpPr>
        <p:spPr>
          <a:xfrm>
            <a:off x="480475" y="4804800"/>
            <a:ext cx="3155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Payoff = – max(S</a:t>
            </a:r>
            <a:r>
              <a:rPr b="1" baseline="-25000" lang="en" sz="1000">
                <a:solidFill>
                  <a:schemeClr val="dk1"/>
                </a:solidFill>
              </a:rPr>
              <a:t>T</a:t>
            </a:r>
            <a:r>
              <a:rPr b="1" lang="en" sz="1000">
                <a:solidFill>
                  <a:schemeClr val="dk1"/>
                </a:solidFill>
              </a:rPr>
              <a:t> – K, 0) = min(K – </a:t>
            </a:r>
            <a:r>
              <a:rPr b="1" lang="en" sz="1000">
                <a:solidFill>
                  <a:schemeClr val="dk1"/>
                </a:solidFill>
              </a:rPr>
              <a:t>S</a:t>
            </a:r>
            <a:r>
              <a:rPr b="1" baseline="-25000" lang="en" sz="1000">
                <a:solidFill>
                  <a:schemeClr val="dk1"/>
                </a:solidFill>
              </a:rPr>
              <a:t>T</a:t>
            </a:r>
            <a:r>
              <a:rPr b="1" lang="en" sz="1000">
                <a:solidFill>
                  <a:schemeClr val="dk1"/>
                </a:solidFill>
              </a:rPr>
              <a:t>, 0) </a:t>
            </a:r>
            <a:endParaRPr b="1" sz="1000">
              <a:solidFill>
                <a:schemeClr val="dk1"/>
              </a:solidFill>
            </a:endParaRPr>
          </a:p>
        </p:txBody>
      </p:sp>
      <p:sp>
        <p:nvSpPr>
          <p:cNvPr id="87" name="Google Shape;87;p17"/>
          <p:cNvSpPr txBox="1"/>
          <p:nvPr/>
        </p:nvSpPr>
        <p:spPr>
          <a:xfrm>
            <a:off x="4991275" y="4804800"/>
            <a:ext cx="3155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Payoff = – max</a:t>
            </a:r>
            <a:r>
              <a:rPr b="1" lang="en" sz="1000">
                <a:solidFill>
                  <a:schemeClr val="dk1"/>
                </a:solidFill>
              </a:rPr>
              <a:t>(K – S</a:t>
            </a:r>
            <a:r>
              <a:rPr b="1" baseline="-25000" lang="en" sz="1000">
                <a:solidFill>
                  <a:schemeClr val="dk1"/>
                </a:solidFill>
              </a:rPr>
              <a:t>T</a:t>
            </a:r>
            <a:r>
              <a:rPr b="1" lang="en" sz="1000">
                <a:solidFill>
                  <a:schemeClr val="dk1"/>
                </a:solidFill>
              </a:rPr>
              <a:t>, 0)</a:t>
            </a:r>
            <a:r>
              <a:rPr b="1" lang="en" sz="1000">
                <a:solidFill>
                  <a:schemeClr val="dk1"/>
                </a:solidFill>
              </a:rPr>
              <a:t> = min</a:t>
            </a:r>
            <a:r>
              <a:rPr b="1" lang="en" sz="1000">
                <a:solidFill>
                  <a:schemeClr val="dk1"/>
                </a:solidFill>
              </a:rPr>
              <a:t>(S</a:t>
            </a:r>
            <a:r>
              <a:rPr b="1" baseline="-25000" lang="en" sz="1000">
                <a:solidFill>
                  <a:schemeClr val="dk1"/>
                </a:solidFill>
              </a:rPr>
              <a:t>T</a:t>
            </a:r>
            <a:r>
              <a:rPr b="1" lang="en" sz="1000">
                <a:solidFill>
                  <a:schemeClr val="dk1"/>
                </a:solidFill>
              </a:rPr>
              <a:t> – K, 0)</a:t>
            </a:r>
            <a:r>
              <a:rPr b="1" lang="en" sz="1000">
                <a:solidFill>
                  <a:schemeClr val="dk1"/>
                </a:solidFill>
              </a:rPr>
              <a:t> </a:t>
            </a:r>
            <a:endParaRPr b="1" sz="1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p:cNvPicPr preferRelativeResize="0"/>
          <p:nvPr/>
        </p:nvPicPr>
        <p:blipFill>
          <a:blip r:embed="rId3">
            <a:alphaModFix/>
          </a:blip>
          <a:stretch>
            <a:fillRect/>
          </a:stretch>
        </p:blipFill>
        <p:spPr>
          <a:xfrm>
            <a:off x="1796795" y="507213"/>
            <a:ext cx="5550410" cy="41290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19650"/>
            <a:ext cx="46923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Terminology</a:t>
            </a:r>
            <a:endParaRPr b="1" sz="1538">
              <a:solidFill>
                <a:srgbClr val="1C4587"/>
              </a:solidFill>
            </a:endParaRPr>
          </a:p>
        </p:txBody>
      </p:sp>
      <p:sp>
        <p:nvSpPr>
          <p:cNvPr id="98" name="Google Shape;98;p19"/>
          <p:cNvSpPr txBox="1"/>
          <p:nvPr>
            <p:ph idx="1" type="body"/>
          </p:nvPr>
        </p:nvSpPr>
        <p:spPr>
          <a:xfrm>
            <a:off x="311700" y="539950"/>
            <a:ext cx="4538400" cy="42714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rPr>
              <a:t>ITM vs ATM vs OTM</a:t>
            </a:r>
            <a:endParaRPr b="1" sz="1000">
              <a:solidFill>
                <a:schemeClr val="dk1"/>
              </a:solidFill>
            </a:endParaRPr>
          </a:p>
          <a:p>
            <a:pPr indent="0" lvl="0" marL="0" rtl="0" algn="l">
              <a:spcBef>
                <a:spcPts val="1200"/>
              </a:spcBef>
              <a:spcAft>
                <a:spcPts val="0"/>
              </a:spcAft>
              <a:buNone/>
            </a:pPr>
            <a:r>
              <a:t/>
            </a:r>
            <a:endParaRPr sz="1000">
              <a:solidFill>
                <a:schemeClr val="dk1"/>
              </a:solidFill>
            </a:endParaRPr>
          </a:p>
          <a:p>
            <a:pPr indent="0" lvl="0" marL="0" rtl="0" algn="l">
              <a:spcBef>
                <a:spcPts val="1200"/>
              </a:spcBef>
              <a:spcAft>
                <a:spcPts val="0"/>
              </a:spcAft>
              <a:buNone/>
            </a:pPr>
            <a:r>
              <a:t/>
            </a:r>
            <a:endParaRPr sz="1000">
              <a:solidFill>
                <a:schemeClr val="dk1"/>
              </a:solidFill>
            </a:endParaRPr>
          </a:p>
          <a:p>
            <a:pPr indent="0" lvl="0" marL="0" rtl="0" algn="l">
              <a:spcBef>
                <a:spcPts val="1200"/>
              </a:spcBef>
              <a:spcAft>
                <a:spcPts val="0"/>
              </a:spcAft>
              <a:buNone/>
            </a:pPr>
            <a:r>
              <a:t/>
            </a:r>
            <a:endParaRPr sz="1000">
              <a:solidFill>
                <a:schemeClr val="dk1"/>
              </a:solidFill>
            </a:endParaRPr>
          </a:p>
          <a:p>
            <a:pPr indent="0" lvl="0" marL="0" rtl="0" algn="l">
              <a:spcBef>
                <a:spcPts val="1200"/>
              </a:spcBef>
              <a:spcAft>
                <a:spcPts val="0"/>
              </a:spcAft>
              <a:buNone/>
            </a:pPr>
            <a:r>
              <a:rPr b="1" lang="en" sz="1000">
                <a:solidFill>
                  <a:schemeClr val="dk1"/>
                </a:solidFill>
              </a:rPr>
              <a:t>Intrinsic Value vs Time Value</a:t>
            </a:r>
            <a:endParaRPr b="1" sz="1000">
              <a:solidFill>
                <a:schemeClr val="dk1"/>
              </a:solidFill>
            </a:endParaRPr>
          </a:p>
          <a:p>
            <a:pPr indent="-292100" lvl="0" marL="457200" rtl="0" algn="l">
              <a:spcBef>
                <a:spcPts val="1200"/>
              </a:spcBef>
              <a:spcAft>
                <a:spcPts val="0"/>
              </a:spcAft>
              <a:buClr>
                <a:schemeClr val="dk1"/>
              </a:buClr>
              <a:buSzPts val="1000"/>
              <a:buChar char="●"/>
            </a:pPr>
            <a:r>
              <a:rPr lang="en" sz="1000">
                <a:solidFill>
                  <a:schemeClr val="dk1"/>
                </a:solidFill>
              </a:rPr>
              <a:t>The </a:t>
            </a:r>
            <a:r>
              <a:rPr b="1" lang="en" sz="1000">
                <a:solidFill>
                  <a:schemeClr val="dk1"/>
                </a:solidFill>
              </a:rPr>
              <a:t>intrinsic value</a:t>
            </a:r>
            <a:r>
              <a:rPr lang="en" sz="1000">
                <a:solidFill>
                  <a:schemeClr val="dk1"/>
                </a:solidFill>
              </a:rPr>
              <a:t> of an option is defined as the value it would have if there were no time to maturity, so that the exercise decision had to be made immediately. </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For a call option, the intrinsic value is therefore max(S – K, 0)</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For a put option, it is </a:t>
            </a:r>
            <a:r>
              <a:rPr lang="en" sz="1000">
                <a:solidFill>
                  <a:schemeClr val="dk1"/>
                </a:solidFill>
              </a:rPr>
              <a:t>max(K – S, 0)</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The </a:t>
            </a:r>
            <a:r>
              <a:rPr b="1" lang="en" sz="1000">
                <a:solidFill>
                  <a:schemeClr val="dk1"/>
                </a:solidFill>
              </a:rPr>
              <a:t>time value </a:t>
            </a:r>
            <a:r>
              <a:rPr lang="en" sz="1000">
                <a:solidFill>
                  <a:schemeClr val="dk1"/>
                </a:solidFill>
              </a:rPr>
              <a:t>is the value of the ability to choose whether to exercise the option at expiry. </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This “optionality” is essentially due to the existence of volatility in the underlying asset. </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Even if the option is ITM, it will have time value, which reflects the possibility that the option will have an even higher intrinsic value at expiry.</a:t>
            </a:r>
            <a:endParaRPr sz="1000">
              <a:solidFill>
                <a:schemeClr val="dk1"/>
              </a:solidFill>
            </a:endParaRPr>
          </a:p>
          <a:p>
            <a:pPr indent="0" lvl="0" marL="0" rtl="0" algn="l">
              <a:spcBef>
                <a:spcPts val="1200"/>
              </a:spcBef>
              <a:spcAft>
                <a:spcPts val="1200"/>
              </a:spcAft>
              <a:buNone/>
            </a:pPr>
            <a:r>
              <a:rPr b="1" lang="en" sz="1000">
                <a:solidFill>
                  <a:schemeClr val="dk1"/>
                </a:solidFill>
                <a:highlight>
                  <a:srgbClr val="C9DAF8"/>
                </a:highlight>
              </a:rPr>
              <a:t>Option Value = Intrinsic Value + Time Value</a:t>
            </a:r>
            <a:endParaRPr b="1" sz="1000">
              <a:solidFill>
                <a:schemeClr val="dk1"/>
              </a:solidFill>
              <a:highlight>
                <a:srgbClr val="C9DAF8"/>
              </a:highlight>
            </a:endParaRPr>
          </a:p>
        </p:txBody>
      </p:sp>
      <p:graphicFrame>
        <p:nvGraphicFramePr>
          <p:cNvPr id="99" name="Google Shape;99;p19"/>
          <p:cNvGraphicFramePr/>
          <p:nvPr/>
        </p:nvGraphicFramePr>
        <p:xfrm>
          <a:off x="387900" y="833625"/>
          <a:ext cx="3000000" cy="3000000"/>
        </p:xfrm>
        <a:graphic>
          <a:graphicData uri="http://schemas.openxmlformats.org/drawingml/2006/table">
            <a:tbl>
              <a:tblPr>
                <a:noFill/>
                <a:tableStyleId>{D32910C0-65F4-480C-9559-A9786E630A28}</a:tableStyleId>
              </a:tblPr>
              <a:tblGrid>
                <a:gridCol w="421125"/>
                <a:gridCol w="1768750"/>
                <a:gridCol w="1768750"/>
                <a:gridCol w="1768750"/>
              </a:tblGrid>
              <a:tr h="279000">
                <a:tc>
                  <a:txBody>
                    <a:bodyPr/>
                    <a:lstStyle/>
                    <a:p>
                      <a:pPr indent="0" lvl="0" marL="0" rtl="0" algn="l">
                        <a:spcBef>
                          <a:spcPts val="0"/>
                        </a:spcBef>
                        <a:spcAft>
                          <a:spcPts val="0"/>
                        </a:spcAft>
                        <a:buNone/>
                      </a:pPr>
                      <a:r>
                        <a:t/>
                      </a:r>
                      <a:endParaRPr sz="1000">
                        <a:solidFill>
                          <a:schemeClr val="lt1"/>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1C4587"/>
                    </a:solidFill>
                  </a:tcPr>
                </a:tc>
                <a:tc>
                  <a:txBody>
                    <a:bodyPr/>
                    <a:lstStyle/>
                    <a:p>
                      <a:pPr indent="0" lvl="0" marL="0" rtl="0" algn="ctr">
                        <a:spcBef>
                          <a:spcPts val="0"/>
                        </a:spcBef>
                        <a:spcAft>
                          <a:spcPts val="0"/>
                        </a:spcAft>
                        <a:buNone/>
                      </a:pPr>
                      <a:r>
                        <a:rPr b="1" lang="en" sz="1000">
                          <a:solidFill>
                            <a:schemeClr val="lt1"/>
                          </a:solidFill>
                        </a:rPr>
                        <a:t>In the money (ITM)</a:t>
                      </a:r>
                      <a:endParaRPr b="1" sz="1000">
                        <a:solidFill>
                          <a:schemeClr val="lt1"/>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1C4587"/>
                    </a:solidFill>
                  </a:tcPr>
                </a:tc>
                <a:tc>
                  <a:txBody>
                    <a:bodyPr/>
                    <a:lstStyle/>
                    <a:p>
                      <a:pPr indent="0" lvl="0" marL="0" rtl="0" algn="ctr">
                        <a:spcBef>
                          <a:spcPts val="0"/>
                        </a:spcBef>
                        <a:spcAft>
                          <a:spcPts val="0"/>
                        </a:spcAft>
                        <a:buNone/>
                      </a:pPr>
                      <a:r>
                        <a:rPr b="1" lang="en" sz="1000">
                          <a:solidFill>
                            <a:schemeClr val="lt1"/>
                          </a:solidFill>
                        </a:rPr>
                        <a:t>At the money (ATM)</a:t>
                      </a:r>
                      <a:endParaRPr b="1" sz="1000">
                        <a:solidFill>
                          <a:schemeClr val="lt1"/>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1C4587"/>
                    </a:solidFill>
                  </a:tcPr>
                </a:tc>
                <a:tc>
                  <a:txBody>
                    <a:bodyPr/>
                    <a:lstStyle/>
                    <a:p>
                      <a:pPr indent="0" lvl="0" marL="0" rtl="0" algn="ctr">
                        <a:spcBef>
                          <a:spcPts val="0"/>
                        </a:spcBef>
                        <a:spcAft>
                          <a:spcPts val="0"/>
                        </a:spcAft>
                        <a:buNone/>
                      </a:pPr>
                      <a:r>
                        <a:rPr b="1" lang="en" sz="1000">
                          <a:solidFill>
                            <a:schemeClr val="lt1"/>
                          </a:solidFill>
                        </a:rPr>
                        <a:t>Out of the money (OTM)</a:t>
                      </a:r>
                      <a:endParaRPr b="1" sz="1000">
                        <a:solidFill>
                          <a:schemeClr val="lt1"/>
                        </a:solidFill>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1C4587"/>
                    </a:solidFill>
                  </a:tcPr>
                </a:tc>
              </a:tr>
              <a:tr h="279000">
                <a:tc>
                  <a:txBody>
                    <a:bodyPr/>
                    <a:lstStyle/>
                    <a:p>
                      <a:pPr indent="0" lvl="0" marL="0" rtl="0" algn="l">
                        <a:spcBef>
                          <a:spcPts val="0"/>
                        </a:spcBef>
                        <a:spcAft>
                          <a:spcPts val="0"/>
                        </a:spcAft>
                        <a:buNone/>
                      </a:pPr>
                      <a:r>
                        <a:rPr b="1" lang="en" sz="1000"/>
                        <a:t>Call</a:t>
                      </a:r>
                      <a:endParaRPr b="1"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000"/>
                        <a:t>S &gt; K</a:t>
                      </a:r>
                      <a:endParaRPr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000">
                          <a:solidFill>
                            <a:schemeClr val="dk1"/>
                          </a:solidFill>
                        </a:rPr>
                        <a:t>S = K</a:t>
                      </a:r>
                      <a:endParaRPr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000">
                          <a:solidFill>
                            <a:schemeClr val="dk1"/>
                          </a:solidFill>
                        </a:rPr>
                        <a:t>S &lt; K</a:t>
                      </a:r>
                      <a:endParaRPr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279000">
                <a:tc>
                  <a:txBody>
                    <a:bodyPr/>
                    <a:lstStyle/>
                    <a:p>
                      <a:pPr indent="0" lvl="0" marL="0" rtl="0" algn="l">
                        <a:spcBef>
                          <a:spcPts val="0"/>
                        </a:spcBef>
                        <a:spcAft>
                          <a:spcPts val="0"/>
                        </a:spcAft>
                        <a:buNone/>
                      </a:pPr>
                      <a:r>
                        <a:rPr b="1" lang="en" sz="1000"/>
                        <a:t>Put</a:t>
                      </a:r>
                      <a:endParaRPr b="1"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000">
                          <a:solidFill>
                            <a:schemeClr val="dk1"/>
                          </a:solidFill>
                        </a:rPr>
                        <a:t>S &lt; K</a:t>
                      </a:r>
                      <a:endParaRPr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000">
                          <a:solidFill>
                            <a:schemeClr val="dk1"/>
                          </a:solidFill>
                        </a:rPr>
                        <a:t>S = K</a:t>
                      </a:r>
                      <a:endParaRPr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000">
                          <a:solidFill>
                            <a:schemeClr val="dk1"/>
                          </a:solidFill>
                        </a:rPr>
                        <a:t>S &gt; K</a:t>
                      </a:r>
                      <a:endParaRPr sz="1000"/>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bl>
          </a:graphicData>
        </a:graphic>
      </p:graphicFrame>
      <p:grpSp>
        <p:nvGrpSpPr>
          <p:cNvPr id="100" name="Google Shape;100;p19"/>
          <p:cNvGrpSpPr/>
          <p:nvPr/>
        </p:nvGrpSpPr>
        <p:grpSpPr>
          <a:xfrm>
            <a:off x="6113375" y="1172125"/>
            <a:ext cx="4540300" cy="1914138"/>
            <a:chOff x="5620425" y="2297513"/>
            <a:chExt cx="4540300" cy="1914138"/>
          </a:xfrm>
        </p:grpSpPr>
        <p:cxnSp>
          <p:nvCxnSpPr>
            <p:cNvPr id="101" name="Google Shape;101;p19"/>
            <p:cNvCxnSpPr/>
            <p:nvPr/>
          </p:nvCxnSpPr>
          <p:spPr>
            <a:xfrm rot="10800000">
              <a:off x="5818550" y="2575450"/>
              <a:ext cx="0" cy="1636200"/>
            </a:xfrm>
            <a:prstGeom prst="straightConnector1">
              <a:avLst/>
            </a:prstGeom>
            <a:noFill/>
            <a:ln cap="flat" cmpd="sng" w="9525">
              <a:solidFill>
                <a:schemeClr val="dk2"/>
              </a:solidFill>
              <a:prstDash val="solid"/>
              <a:round/>
              <a:headEnd len="med" w="med" type="none"/>
              <a:tailEnd len="med" w="med" type="triangle"/>
            </a:ln>
          </p:spPr>
        </p:cxnSp>
        <p:cxnSp>
          <p:nvCxnSpPr>
            <p:cNvPr id="102" name="Google Shape;102;p19"/>
            <p:cNvCxnSpPr/>
            <p:nvPr/>
          </p:nvCxnSpPr>
          <p:spPr>
            <a:xfrm>
              <a:off x="5827779" y="3797113"/>
              <a:ext cx="1969200" cy="0"/>
            </a:xfrm>
            <a:prstGeom prst="straightConnector1">
              <a:avLst/>
            </a:prstGeom>
            <a:noFill/>
            <a:ln cap="flat" cmpd="sng" w="9525">
              <a:solidFill>
                <a:schemeClr val="dk2"/>
              </a:solidFill>
              <a:prstDash val="solid"/>
              <a:round/>
              <a:headEnd len="med" w="med" type="none"/>
              <a:tailEnd len="med" w="med" type="triangle"/>
            </a:ln>
          </p:spPr>
        </p:cxnSp>
        <p:cxnSp>
          <p:nvCxnSpPr>
            <p:cNvPr id="103" name="Google Shape;103;p19"/>
            <p:cNvCxnSpPr/>
            <p:nvPr/>
          </p:nvCxnSpPr>
          <p:spPr>
            <a:xfrm flipH="1" rot="10800000">
              <a:off x="6678273" y="2894164"/>
              <a:ext cx="901500" cy="901500"/>
            </a:xfrm>
            <a:prstGeom prst="straightConnector1">
              <a:avLst/>
            </a:prstGeom>
            <a:noFill/>
            <a:ln cap="flat" cmpd="sng" w="19050">
              <a:solidFill>
                <a:schemeClr val="dk1"/>
              </a:solidFill>
              <a:prstDash val="solid"/>
              <a:round/>
              <a:headEnd len="med" w="med" type="none"/>
              <a:tailEnd len="med" w="med" type="none"/>
            </a:ln>
          </p:spPr>
        </p:cxnSp>
        <p:cxnSp>
          <p:nvCxnSpPr>
            <p:cNvPr id="104" name="Google Shape;104;p19"/>
            <p:cNvCxnSpPr/>
            <p:nvPr/>
          </p:nvCxnSpPr>
          <p:spPr>
            <a:xfrm>
              <a:off x="5818550" y="3795664"/>
              <a:ext cx="859800" cy="0"/>
            </a:xfrm>
            <a:prstGeom prst="straightConnector1">
              <a:avLst/>
            </a:prstGeom>
            <a:noFill/>
            <a:ln cap="flat" cmpd="sng" w="19050">
              <a:solidFill>
                <a:schemeClr val="dk1"/>
              </a:solidFill>
              <a:prstDash val="solid"/>
              <a:round/>
              <a:headEnd len="med" w="med" type="none"/>
              <a:tailEnd len="med" w="med" type="none"/>
            </a:ln>
          </p:spPr>
        </p:cxnSp>
        <p:sp>
          <p:nvSpPr>
            <p:cNvPr id="105" name="Google Shape;105;p19"/>
            <p:cNvSpPr/>
            <p:nvPr/>
          </p:nvSpPr>
          <p:spPr>
            <a:xfrm>
              <a:off x="5827779" y="2834270"/>
              <a:ext cx="1737938" cy="850464"/>
            </a:xfrm>
            <a:custGeom>
              <a:rect b="b" l="l" r="r" t="t"/>
              <a:pathLst>
                <a:path extrusionOk="0" h="27001" w="55177">
                  <a:moveTo>
                    <a:pt x="0" y="27001"/>
                  </a:moveTo>
                  <a:cubicBezTo>
                    <a:pt x="4060" y="26072"/>
                    <a:pt x="15164" y="25925"/>
                    <a:pt x="24360" y="21425"/>
                  </a:cubicBezTo>
                  <a:cubicBezTo>
                    <a:pt x="33556" y="16925"/>
                    <a:pt x="50041" y="3571"/>
                    <a:pt x="55177" y="0"/>
                  </a:cubicBezTo>
                </a:path>
              </a:pathLst>
            </a:custGeom>
            <a:noFill/>
            <a:ln cap="flat" cmpd="sng" w="19050">
              <a:solidFill>
                <a:srgbClr val="4A86E8"/>
              </a:solidFill>
              <a:prstDash val="solid"/>
              <a:round/>
              <a:headEnd len="med" w="med" type="none"/>
              <a:tailEnd len="med" w="med" type="none"/>
            </a:ln>
          </p:spPr>
        </p:sp>
        <p:cxnSp>
          <p:nvCxnSpPr>
            <p:cNvPr id="106" name="Google Shape;106;p19"/>
            <p:cNvCxnSpPr/>
            <p:nvPr/>
          </p:nvCxnSpPr>
          <p:spPr>
            <a:xfrm rot="10800000">
              <a:off x="7112749" y="3166790"/>
              <a:ext cx="0" cy="194400"/>
            </a:xfrm>
            <a:prstGeom prst="straightConnector1">
              <a:avLst/>
            </a:prstGeom>
            <a:noFill/>
            <a:ln cap="flat" cmpd="sng" w="9525">
              <a:solidFill>
                <a:srgbClr val="FF0000"/>
              </a:solidFill>
              <a:prstDash val="solid"/>
              <a:round/>
              <a:headEnd len="med" w="med" type="oval"/>
              <a:tailEnd len="med" w="med" type="oval"/>
            </a:ln>
          </p:spPr>
        </p:cxnSp>
        <p:cxnSp>
          <p:nvCxnSpPr>
            <p:cNvPr id="107" name="Google Shape;107;p19"/>
            <p:cNvCxnSpPr/>
            <p:nvPr/>
          </p:nvCxnSpPr>
          <p:spPr>
            <a:xfrm>
              <a:off x="7117250" y="3367850"/>
              <a:ext cx="0" cy="432900"/>
            </a:xfrm>
            <a:prstGeom prst="straightConnector1">
              <a:avLst/>
            </a:prstGeom>
            <a:noFill/>
            <a:ln cap="flat" cmpd="sng" w="9525">
              <a:solidFill>
                <a:srgbClr val="9900FF"/>
              </a:solidFill>
              <a:prstDash val="solid"/>
              <a:round/>
              <a:headEnd len="med" w="med" type="oval"/>
              <a:tailEnd len="med" w="med" type="oval"/>
            </a:ln>
          </p:spPr>
        </p:cxnSp>
        <p:sp>
          <p:nvSpPr>
            <p:cNvPr id="108" name="Google Shape;108;p19"/>
            <p:cNvSpPr txBox="1"/>
            <p:nvPr/>
          </p:nvSpPr>
          <p:spPr>
            <a:xfrm>
              <a:off x="5818550" y="2982225"/>
              <a:ext cx="2876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accent1"/>
                  </a:solidFill>
                </a:rPr>
                <a:t>Call value</a:t>
              </a:r>
              <a:endParaRPr sz="900">
                <a:solidFill>
                  <a:schemeClr val="accent1"/>
                </a:solidFill>
              </a:endParaRPr>
            </a:p>
          </p:txBody>
        </p:sp>
        <p:sp>
          <p:nvSpPr>
            <p:cNvPr id="109" name="Google Shape;109;p19"/>
            <p:cNvSpPr txBox="1"/>
            <p:nvPr/>
          </p:nvSpPr>
          <p:spPr>
            <a:xfrm>
              <a:off x="5620425" y="2297513"/>
              <a:ext cx="260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Profit</a:t>
              </a:r>
              <a:endParaRPr sz="900">
                <a:solidFill>
                  <a:schemeClr val="dk2"/>
                </a:solidFill>
              </a:endParaRPr>
            </a:p>
          </p:txBody>
        </p:sp>
        <p:sp>
          <p:nvSpPr>
            <p:cNvPr id="110" name="Google Shape;110;p19"/>
            <p:cNvSpPr txBox="1"/>
            <p:nvPr/>
          </p:nvSpPr>
          <p:spPr>
            <a:xfrm>
              <a:off x="7284325" y="3795663"/>
              <a:ext cx="260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Spot</a:t>
              </a:r>
              <a:endParaRPr sz="900">
                <a:solidFill>
                  <a:schemeClr val="dk2"/>
                </a:solidFill>
              </a:endParaRPr>
            </a:p>
          </p:txBody>
        </p:sp>
        <p:sp>
          <p:nvSpPr>
            <p:cNvPr id="111" name="Google Shape;111;p19"/>
            <p:cNvSpPr txBox="1"/>
            <p:nvPr/>
          </p:nvSpPr>
          <p:spPr>
            <a:xfrm>
              <a:off x="7284325" y="3102450"/>
              <a:ext cx="2876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FF0000"/>
                  </a:solidFill>
                </a:rPr>
                <a:t>Time</a:t>
              </a:r>
              <a:r>
                <a:rPr lang="en" sz="900">
                  <a:solidFill>
                    <a:srgbClr val="FF0000"/>
                  </a:solidFill>
                </a:rPr>
                <a:t> value</a:t>
              </a:r>
              <a:endParaRPr sz="900">
                <a:solidFill>
                  <a:srgbClr val="FF0000"/>
                </a:solidFill>
              </a:endParaRPr>
            </a:p>
          </p:txBody>
        </p:sp>
        <p:sp>
          <p:nvSpPr>
            <p:cNvPr id="112" name="Google Shape;112;p19"/>
            <p:cNvSpPr txBox="1"/>
            <p:nvPr/>
          </p:nvSpPr>
          <p:spPr>
            <a:xfrm>
              <a:off x="7284325" y="3422750"/>
              <a:ext cx="2876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9900FF"/>
                  </a:solidFill>
                </a:rPr>
                <a:t>Intrinsic</a:t>
              </a:r>
              <a:r>
                <a:rPr lang="en" sz="900">
                  <a:solidFill>
                    <a:srgbClr val="9900FF"/>
                  </a:solidFill>
                </a:rPr>
                <a:t> value</a:t>
              </a:r>
              <a:endParaRPr sz="900">
                <a:solidFill>
                  <a:srgbClr val="9900FF"/>
                </a:solidFill>
              </a:endParaRPr>
            </a:p>
          </p:txBody>
        </p:sp>
      </p:grpSp>
      <p:grpSp>
        <p:nvGrpSpPr>
          <p:cNvPr id="113" name="Google Shape;113;p19"/>
          <p:cNvGrpSpPr/>
          <p:nvPr/>
        </p:nvGrpSpPr>
        <p:grpSpPr>
          <a:xfrm>
            <a:off x="5884775" y="3158700"/>
            <a:ext cx="4509900" cy="1914138"/>
            <a:chOff x="6065125" y="87713"/>
            <a:chExt cx="4509900" cy="1914138"/>
          </a:xfrm>
        </p:grpSpPr>
        <p:cxnSp>
          <p:nvCxnSpPr>
            <p:cNvPr id="114" name="Google Shape;114;p19"/>
            <p:cNvCxnSpPr/>
            <p:nvPr/>
          </p:nvCxnSpPr>
          <p:spPr>
            <a:xfrm rot="10800000">
              <a:off x="6504350" y="365650"/>
              <a:ext cx="0" cy="16362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9"/>
            <p:cNvCxnSpPr/>
            <p:nvPr/>
          </p:nvCxnSpPr>
          <p:spPr>
            <a:xfrm>
              <a:off x="6513579" y="1587313"/>
              <a:ext cx="1969200" cy="0"/>
            </a:xfrm>
            <a:prstGeom prst="straightConnector1">
              <a:avLst/>
            </a:prstGeom>
            <a:noFill/>
            <a:ln cap="flat" cmpd="sng" w="9525">
              <a:solidFill>
                <a:schemeClr val="dk2"/>
              </a:solidFill>
              <a:prstDash val="solid"/>
              <a:round/>
              <a:headEnd len="med" w="med" type="none"/>
              <a:tailEnd len="med" w="med" type="triangle"/>
            </a:ln>
          </p:spPr>
        </p:cxnSp>
        <p:cxnSp>
          <p:nvCxnSpPr>
            <p:cNvPr id="116" name="Google Shape;116;p19"/>
            <p:cNvCxnSpPr/>
            <p:nvPr/>
          </p:nvCxnSpPr>
          <p:spPr>
            <a:xfrm flipH="1" rot="-5400000">
              <a:off x="6506161" y="685814"/>
              <a:ext cx="901500" cy="901500"/>
            </a:xfrm>
            <a:prstGeom prst="straightConnector1">
              <a:avLst/>
            </a:prstGeom>
            <a:noFill/>
            <a:ln cap="flat" cmpd="sng" w="19050">
              <a:solidFill>
                <a:schemeClr val="dk1"/>
              </a:solidFill>
              <a:prstDash val="solid"/>
              <a:round/>
              <a:headEnd len="med" w="med" type="none"/>
              <a:tailEnd len="med" w="med" type="none"/>
            </a:ln>
          </p:spPr>
        </p:cxnSp>
        <p:cxnSp>
          <p:nvCxnSpPr>
            <p:cNvPr id="117" name="Google Shape;117;p19"/>
            <p:cNvCxnSpPr/>
            <p:nvPr/>
          </p:nvCxnSpPr>
          <p:spPr>
            <a:xfrm>
              <a:off x="7407650" y="1587314"/>
              <a:ext cx="859800" cy="0"/>
            </a:xfrm>
            <a:prstGeom prst="straightConnector1">
              <a:avLst/>
            </a:prstGeom>
            <a:noFill/>
            <a:ln cap="flat" cmpd="sng" w="19050">
              <a:solidFill>
                <a:schemeClr val="dk1"/>
              </a:solidFill>
              <a:prstDash val="solid"/>
              <a:round/>
              <a:headEnd len="med" w="med" type="none"/>
              <a:tailEnd len="med" w="med" type="none"/>
            </a:ln>
          </p:spPr>
        </p:cxnSp>
        <p:sp>
          <p:nvSpPr>
            <p:cNvPr id="118" name="Google Shape;118;p19"/>
            <p:cNvSpPr/>
            <p:nvPr/>
          </p:nvSpPr>
          <p:spPr>
            <a:xfrm flipH="1">
              <a:off x="6513579" y="624470"/>
              <a:ext cx="1737938" cy="850464"/>
            </a:xfrm>
            <a:custGeom>
              <a:rect b="b" l="l" r="r" t="t"/>
              <a:pathLst>
                <a:path extrusionOk="0" h="27001" w="55177">
                  <a:moveTo>
                    <a:pt x="0" y="27001"/>
                  </a:moveTo>
                  <a:cubicBezTo>
                    <a:pt x="4060" y="26072"/>
                    <a:pt x="15164" y="25925"/>
                    <a:pt x="24360" y="21425"/>
                  </a:cubicBezTo>
                  <a:cubicBezTo>
                    <a:pt x="33556" y="16925"/>
                    <a:pt x="50041" y="3571"/>
                    <a:pt x="55177" y="0"/>
                  </a:cubicBezTo>
                </a:path>
              </a:pathLst>
            </a:custGeom>
            <a:noFill/>
            <a:ln cap="flat" cmpd="sng" w="19050">
              <a:solidFill>
                <a:srgbClr val="4A86E8"/>
              </a:solidFill>
              <a:prstDash val="solid"/>
              <a:round/>
              <a:headEnd len="med" w="med" type="none"/>
              <a:tailEnd len="med" w="med" type="none"/>
            </a:ln>
          </p:spPr>
        </p:sp>
        <p:cxnSp>
          <p:nvCxnSpPr>
            <p:cNvPr id="119" name="Google Shape;119;p19"/>
            <p:cNvCxnSpPr/>
            <p:nvPr/>
          </p:nvCxnSpPr>
          <p:spPr>
            <a:xfrm rot="10800000">
              <a:off x="6960349" y="956990"/>
              <a:ext cx="0" cy="194400"/>
            </a:xfrm>
            <a:prstGeom prst="straightConnector1">
              <a:avLst/>
            </a:prstGeom>
            <a:noFill/>
            <a:ln cap="flat" cmpd="sng" w="9525">
              <a:solidFill>
                <a:srgbClr val="FF0000"/>
              </a:solidFill>
              <a:prstDash val="solid"/>
              <a:round/>
              <a:headEnd len="med" w="med" type="oval"/>
              <a:tailEnd len="med" w="med" type="oval"/>
            </a:ln>
          </p:spPr>
        </p:cxnSp>
        <p:cxnSp>
          <p:nvCxnSpPr>
            <p:cNvPr id="120" name="Google Shape;120;p19"/>
            <p:cNvCxnSpPr/>
            <p:nvPr/>
          </p:nvCxnSpPr>
          <p:spPr>
            <a:xfrm>
              <a:off x="6964850" y="1158050"/>
              <a:ext cx="0" cy="432900"/>
            </a:xfrm>
            <a:prstGeom prst="straightConnector1">
              <a:avLst/>
            </a:prstGeom>
            <a:noFill/>
            <a:ln cap="flat" cmpd="sng" w="9525">
              <a:solidFill>
                <a:srgbClr val="9900FF"/>
              </a:solidFill>
              <a:prstDash val="solid"/>
              <a:round/>
              <a:headEnd len="med" w="med" type="oval"/>
              <a:tailEnd len="med" w="med" type="oval"/>
            </a:ln>
          </p:spPr>
        </p:cxnSp>
        <p:sp>
          <p:nvSpPr>
            <p:cNvPr id="121" name="Google Shape;121;p19"/>
            <p:cNvSpPr txBox="1"/>
            <p:nvPr/>
          </p:nvSpPr>
          <p:spPr>
            <a:xfrm>
              <a:off x="6504350" y="620025"/>
              <a:ext cx="2876400" cy="323100"/>
            </a:xfrm>
            <a:prstGeom prst="rect">
              <a:avLst/>
            </a:prstGeom>
            <a:noFill/>
            <a:ln>
              <a:noFill/>
            </a:ln>
          </p:spPr>
          <p:txBody>
            <a:bodyPr anchorCtr="0" anchor="t" bIns="91425" lIns="91425" spcFirstLastPara="1" rIns="91425" wrap="square" tIns="91425">
              <a:spAutoFit/>
            </a:bodyPr>
            <a:lstStyle/>
            <a:p>
              <a:pPr indent="457200" lvl="0" marL="457200" rtl="0" algn="l">
                <a:spcBef>
                  <a:spcPts val="0"/>
                </a:spcBef>
                <a:spcAft>
                  <a:spcPts val="0"/>
                </a:spcAft>
                <a:buNone/>
              </a:pPr>
              <a:r>
                <a:rPr lang="en" sz="900">
                  <a:solidFill>
                    <a:schemeClr val="accent1"/>
                  </a:solidFill>
                </a:rPr>
                <a:t>Put</a:t>
              </a:r>
              <a:r>
                <a:rPr lang="en" sz="900">
                  <a:solidFill>
                    <a:schemeClr val="accent1"/>
                  </a:solidFill>
                </a:rPr>
                <a:t> value</a:t>
              </a:r>
              <a:endParaRPr sz="900">
                <a:solidFill>
                  <a:schemeClr val="accent1"/>
                </a:solidFill>
              </a:endParaRPr>
            </a:p>
          </p:txBody>
        </p:sp>
        <p:sp>
          <p:nvSpPr>
            <p:cNvPr id="122" name="Google Shape;122;p19"/>
            <p:cNvSpPr txBox="1"/>
            <p:nvPr/>
          </p:nvSpPr>
          <p:spPr>
            <a:xfrm>
              <a:off x="6306225" y="87713"/>
              <a:ext cx="260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Profit</a:t>
              </a:r>
              <a:endParaRPr sz="900">
                <a:solidFill>
                  <a:schemeClr val="dk2"/>
                </a:solidFill>
              </a:endParaRPr>
            </a:p>
          </p:txBody>
        </p:sp>
        <p:sp>
          <p:nvSpPr>
            <p:cNvPr id="123" name="Google Shape;123;p19"/>
            <p:cNvSpPr txBox="1"/>
            <p:nvPr/>
          </p:nvSpPr>
          <p:spPr>
            <a:xfrm>
              <a:off x="7970125" y="1585863"/>
              <a:ext cx="2604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Spot</a:t>
              </a:r>
              <a:endParaRPr sz="900">
                <a:solidFill>
                  <a:schemeClr val="dk2"/>
                </a:solidFill>
              </a:endParaRPr>
            </a:p>
          </p:txBody>
        </p:sp>
        <p:sp>
          <p:nvSpPr>
            <p:cNvPr id="124" name="Google Shape;124;p19"/>
            <p:cNvSpPr txBox="1"/>
            <p:nvPr/>
          </p:nvSpPr>
          <p:spPr>
            <a:xfrm>
              <a:off x="6065125" y="892650"/>
              <a:ext cx="2876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FF0000"/>
                  </a:solidFill>
                </a:rPr>
                <a:t>Time value</a:t>
              </a:r>
              <a:endParaRPr sz="900">
                <a:solidFill>
                  <a:srgbClr val="FF0000"/>
                </a:solidFill>
              </a:endParaRPr>
            </a:p>
          </p:txBody>
        </p:sp>
        <p:sp>
          <p:nvSpPr>
            <p:cNvPr id="125" name="Google Shape;125;p19"/>
            <p:cNvSpPr txBox="1"/>
            <p:nvPr/>
          </p:nvSpPr>
          <p:spPr>
            <a:xfrm>
              <a:off x="6065125" y="1212950"/>
              <a:ext cx="2876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9900FF"/>
                  </a:solidFill>
                </a:rPr>
                <a:t>Intrinsic value</a:t>
              </a:r>
              <a:endParaRPr sz="900">
                <a:solidFill>
                  <a:srgbClr val="9900FF"/>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0"/>
          <p:cNvPicPr preferRelativeResize="0"/>
          <p:nvPr/>
        </p:nvPicPr>
        <p:blipFill>
          <a:blip r:embed="rId3">
            <a:alphaModFix/>
          </a:blip>
          <a:stretch>
            <a:fillRect/>
          </a:stretch>
        </p:blipFill>
        <p:spPr>
          <a:xfrm>
            <a:off x="387900" y="539950"/>
            <a:ext cx="5223070" cy="2446350"/>
          </a:xfrm>
          <a:prstGeom prst="rect">
            <a:avLst/>
          </a:prstGeom>
          <a:noFill/>
          <a:ln>
            <a:noFill/>
          </a:ln>
        </p:spPr>
      </p:pic>
      <p:sp>
        <p:nvSpPr>
          <p:cNvPr id="131" name="Google Shape;131;p20"/>
          <p:cNvSpPr txBox="1"/>
          <p:nvPr>
            <p:ph type="title"/>
          </p:nvPr>
        </p:nvSpPr>
        <p:spPr>
          <a:xfrm>
            <a:off x="311700" y="119650"/>
            <a:ext cx="46923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Factors Affecting Option Prices</a:t>
            </a:r>
            <a:endParaRPr b="1" sz="1538">
              <a:solidFill>
                <a:srgbClr val="1C4587"/>
              </a:solidFill>
            </a:endParaRPr>
          </a:p>
        </p:txBody>
      </p:sp>
      <p:sp>
        <p:nvSpPr>
          <p:cNvPr id="132" name="Google Shape;132;p20"/>
          <p:cNvSpPr txBox="1"/>
          <p:nvPr>
            <p:ph idx="1" type="body"/>
          </p:nvPr>
        </p:nvSpPr>
        <p:spPr>
          <a:xfrm>
            <a:off x="311700" y="2986300"/>
            <a:ext cx="8520600" cy="1783800"/>
          </a:xfrm>
          <a:prstGeom prst="rect">
            <a:avLst/>
          </a:prstGeom>
          <a:noFill/>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Time to expiration</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Although European put and call options </a:t>
            </a:r>
            <a:r>
              <a:rPr b="1" lang="en" sz="1100">
                <a:solidFill>
                  <a:schemeClr val="dk1"/>
                </a:solidFill>
              </a:rPr>
              <a:t>usually </a:t>
            </a:r>
            <a:r>
              <a:rPr lang="en" sz="1100">
                <a:solidFill>
                  <a:schemeClr val="dk1"/>
                </a:solidFill>
              </a:rPr>
              <a:t>become more valuable as the time to expiration increases, this is </a:t>
            </a:r>
            <a:r>
              <a:rPr b="1" lang="en" sz="1100">
                <a:solidFill>
                  <a:schemeClr val="dk1"/>
                </a:solidFill>
              </a:rPr>
              <a:t>not</a:t>
            </a:r>
            <a:r>
              <a:rPr lang="en" sz="1100">
                <a:solidFill>
                  <a:schemeClr val="dk1"/>
                </a:solidFill>
              </a:rPr>
              <a:t> always the case.</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Consider two European call options on a stock: one with an expiration date in 1 month, the other with an expiration date in 2 months. Suppose that a very large dividend is expected in 6 weeks. The dividend will cause the stock price to decline, so that the short-life option could be worth more than the long-life option.*</a:t>
            </a:r>
            <a:endParaRPr sz="1100">
              <a:solidFill>
                <a:schemeClr val="dk1"/>
              </a:solidFill>
            </a:endParaRPr>
          </a:p>
          <a:p>
            <a:pPr indent="0" lvl="0" marL="0" rtl="0" algn="l">
              <a:spcBef>
                <a:spcPts val="1200"/>
              </a:spcBef>
              <a:spcAft>
                <a:spcPts val="1200"/>
              </a:spcAft>
              <a:buNone/>
            </a:pPr>
            <a:r>
              <a:rPr i="1" lang="en" sz="800">
                <a:solidFill>
                  <a:schemeClr val="dk1"/>
                </a:solidFill>
              </a:rPr>
              <a:t>* We assume that, when the life of the option is changed, the dividends on the stock and their timing remain unchanged.</a:t>
            </a:r>
            <a:endParaRPr b="1" i="1"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Understanding Randomness </a:t>
            </a:r>
            <a:endParaRPr b="1" sz="1538">
              <a:solidFill>
                <a:srgbClr val="1C4587"/>
              </a:solidFill>
            </a:endParaRPr>
          </a:p>
        </p:txBody>
      </p:sp>
      <p:sp>
        <p:nvSpPr>
          <p:cNvPr id="138" name="Google Shape;138;p21"/>
          <p:cNvSpPr txBox="1"/>
          <p:nvPr/>
        </p:nvSpPr>
        <p:spPr>
          <a:xfrm>
            <a:off x="410550" y="821125"/>
            <a:ext cx="8520600" cy="395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rPr>
              <a:t>Introduction: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One of the most important aspects of trading is being able to price an asset and is why quant researchers are paid so much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Back in the 1900s, stock prices were theorised to behave randomly, exhibiting elements of Brownian motion (like the diffusion of particles in a fluid)</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Wiener Processes: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 process is just a system that you can analyse over time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 Wiener process simply has some important properties being:</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Each process is independent over continuous time interval</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                          telling us that </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Geometric Brownian Motion: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In finance we model stock prices using the following stochastic differential equation: </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w</a:t>
            </a:r>
            <a:r>
              <a:rPr lang="en" sz="1100">
                <a:solidFill>
                  <a:schemeClr val="dk1"/>
                </a:solidFill>
              </a:rPr>
              <a:t>here:      is the stock price at time   ,      is the expected return,      is the volatility of the stock, and        is a random Wiener process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So we have a deterministic part that is predictable (e.g based on market trends) and a random Stochastic part (representing </a:t>
            </a:r>
            <a:r>
              <a:rPr lang="en" sz="1100">
                <a:solidFill>
                  <a:schemeClr val="dk1"/>
                </a:solidFill>
              </a:rPr>
              <a:t>uncertainty</a:t>
            </a:r>
            <a:r>
              <a:rPr lang="en" sz="1100">
                <a:solidFill>
                  <a:schemeClr val="dk1"/>
                </a:solidFill>
              </a:rPr>
              <a:t>) (this also shows us why day trading is pretty silly)</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sz="1100">
              <a:solidFill>
                <a:schemeClr val="dk1"/>
              </a:solidFill>
            </a:endParaRPr>
          </a:p>
        </p:txBody>
      </p:sp>
      <p:pic>
        <p:nvPicPr>
          <p:cNvPr id="139" name="Google Shape;139;p21"/>
          <p:cNvPicPr preferRelativeResize="0"/>
          <p:nvPr/>
        </p:nvPicPr>
        <p:blipFill>
          <a:blip r:embed="rId3">
            <a:alphaModFix/>
          </a:blip>
          <a:stretch>
            <a:fillRect/>
          </a:stretch>
        </p:blipFill>
        <p:spPr>
          <a:xfrm>
            <a:off x="5966725" y="1879138"/>
            <a:ext cx="2442475" cy="1841875"/>
          </a:xfrm>
          <a:prstGeom prst="rect">
            <a:avLst/>
          </a:prstGeom>
          <a:noFill/>
          <a:ln>
            <a:noFill/>
          </a:ln>
        </p:spPr>
      </p:pic>
      <p:pic>
        <p:nvPicPr>
          <p:cNvPr id="140" name="Google Shape;140;p21" title="[0,0,0,&quot;https://www.codecogs.com/eqnedit.php?latex=W_0%20%3D%200#0&quot;]"/>
          <p:cNvPicPr preferRelativeResize="0"/>
          <p:nvPr/>
        </p:nvPicPr>
        <p:blipFill>
          <a:blip r:embed="rId4">
            <a:alphaModFix/>
          </a:blip>
          <a:stretch>
            <a:fillRect/>
          </a:stretch>
        </p:blipFill>
        <p:spPr>
          <a:xfrm>
            <a:off x="1365475" y="2741863"/>
            <a:ext cx="416167" cy="116417"/>
          </a:xfrm>
          <a:prstGeom prst="rect">
            <a:avLst/>
          </a:prstGeom>
          <a:noFill/>
          <a:ln>
            <a:noFill/>
          </a:ln>
        </p:spPr>
      </p:pic>
      <p:pic>
        <p:nvPicPr>
          <p:cNvPr id="141" name="Google Shape;141;p21" title="[0,0,0,&quot;https://www.codecogs.com/eqnedit.php?latex=W_t%20-%20W_s%20%20%5Csim%20N(0%2Cs%20-%20t)#0&quot;]"/>
          <p:cNvPicPr preferRelativeResize="0"/>
          <p:nvPr/>
        </p:nvPicPr>
        <p:blipFill>
          <a:blip r:embed="rId5">
            <a:alphaModFix/>
          </a:blip>
          <a:stretch>
            <a:fillRect/>
          </a:stretch>
        </p:blipFill>
        <p:spPr>
          <a:xfrm>
            <a:off x="1229300" y="3143363"/>
            <a:ext cx="1106733" cy="116417"/>
          </a:xfrm>
          <a:prstGeom prst="rect">
            <a:avLst/>
          </a:prstGeom>
          <a:noFill/>
          <a:ln>
            <a:noFill/>
          </a:ln>
        </p:spPr>
      </p:pic>
      <p:pic>
        <p:nvPicPr>
          <p:cNvPr id="142" name="Google Shape;142;p21" title="[0,0,0,&quot;https://www.codecogs.com/eqnedit.php?latex=dW_t%20%5Csim%20N(0%2Cdt)#0&quot;]"/>
          <p:cNvPicPr preferRelativeResize="0"/>
          <p:nvPr/>
        </p:nvPicPr>
        <p:blipFill>
          <a:blip r:embed="rId6">
            <a:alphaModFix/>
          </a:blip>
          <a:stretch>
            <a:fillRect/>
          </a:stretch>
        </p:blipFill>
        <p:spPr>
          <a:xfrm>
            <a:off x="3351150" y="3143363"/>
            <a:ext cx="739633" cy="116417"/>
          </a:xfrm>
          <a:prstGeom prst="rect">
            <a:avLst/>
          </a:prstGeom>
          <a:noFill/>
          <a:ln>
            <a:noFill/>
          </a:ln>
        </p:spPr>
      </p:pic>
      <p:pic>
        <p:nvPicPr>
          <p:cNvPr id="143" name="Google Shape;143;p21" title="[0,0,0,&quot;https://www.codecogs.com/eqnedit.php?latex=S_t#0&quot;]"/>
          <p:cNvPicPr preferRelativeResize="0"/>
          <p:nvPr/>
        </p:nvPicPr>
        <p:blipFill>
          <a:blip r:embed="rId7">
            <a:alphaModFix/>
          </a:blip>
          <a:stretch>
            <a:fillRect/>
          </a:stretch>
        </p:blipFill>
        <p:spPr>
          <a:xfrm>
            <a:off x="2336025" y="4217575"/>
            <a:ext cx="106490" cy="116417"/>
          </a:xfrm>
          <a:prstGeom prst="rect">
            <a:avLst/>
          </a:prstGeom>
          <a:noFill/>
          <a:ln>
            <a:noFill/>
          </a:ln>
        </p:spPr>
      </p:pic>
      <p:pic>
        <p:nvPicPr>
          <p:cNvPr id="144" name="Google Shape;144;p21" title="[0,0,0,&quot;https://www.codecogs.com/eqnedit.php?latex=t#0&quot;]"/>
          <p:cNvPicPr preferRelativeResize="0"/>
          <p:nvPr/>
        </p:nvPicPr>
        <p:blipFill>
          <a:blip r:embed="rId8">
            <a:alphaModFix/>
          </a:blip>
          <a:stretch>
            <a:fillRect/>
          </a:stretch>
        </p:blipFill>
        <p:spPr>
          <a:xfrm>
            <a:off x="4078313" y="4217575"/>
            <a:ext cx="56970" cy="116417"/>
          </a:xfrm>
          <a:prstGeom prst="rect">
            <a:avLst/>
          </a:prstGeom>
          <a:noFill/>
          <a:ln>
            <a:noFill/>
          </a:ln>
        </p:spPr>
      </p:pic>
      <p:pic>
        <p:nvPicPr>
          <p:cNvPr id="145" name="Google Shape;145;p21" title="[0,0,0,&quot;https://www.codecogs.com/eqnedit.php?latex=%5Cmu#0&quot;]"/>
          <p:cNvPicPr preferRelativeResize="0"/>
          <p:nvPr/>
        </p:nvPicPr>
        <p:blipFill>
          <a:blip r:embed="rId9">
            <a:alphaModFix/>
          </a:blip>
          <a:stretch>
            <a:fillRect/>
          </a:stretch>
        </p:blipFill>
        <p:spPr>
          <a:xfrm>
            <a:off x="4212775" y="4217575"/>
            <a:ext cx="95034" cy="116417"/>
          </a:xfrm>
          <a:prstGeom prst="rect">
            <a:avLst/>
          </a:prstGeom>
          <a:noFill/>
          <a:ln>
            <a:noFill/>
          </a:ln>
        </p:spPr>
      </p:pic>
      <p:pic>
        <p:nvPicPr>
          <p:cNvPr id="146" name="Google Shape;146;p21" title="[0,0,0,&quot;https://www.codecogs.com/eqnedit.php?latex=%5Csigma#0&quot;]"/>
          <p:cNvPicPr preferRelativeResize="0"/>
          <p:nvPr/>
        </p:nvPicPr>
        <p:blipFill>
          <a:blip r:embed="rId10">
            <a:alphaModFix/>
          </a:blip>
          <a:stretch>
            <a:fillRect/>
          </a:stretch>
        </p:blipFill>
        <p:spPr>
          <a:xfrm>
            <a:off x="5771075" y="4217575"/>
            <a:ext cx="139700" cy="116417"/>
          </a:xfrm>
          <a:prstGeom prst="rect">
            <a:avLst/>
          </a:prstGeom>
          <a:noFill/>
          <a:ln>
            <a:noFill/>
          </a:ln>
        </p:spPr>
      </p:pic>
      <p:pic>
        <p:nvPicPr>
          <p:cNvPr id="147" name="Google Shape;147;p21" title="[0,0,0,&quot;https://www.codecogs.com/eqnedit.php?latex=dW_t#0&quot;]"/>
          <p:cNvPicPr preferRelativeResize="0"/>
          <p:nvPr/>
        </p:nvPicPr>
        <p:blipFill>
          <a:blip r:embed="rId11">
            <a:alphaModFix/>
          </a:blip>
          <a:stretch>
            <a:fillRect/>
          </a:stretch>
        </p:blipFill>
        <p:spPr>
          <a:xfrm>
            <a:off x="8028125" y="4217575"/>
            <a:ext cx="221919" cy="116417"/>
          </a:xfrm>
          <a:prstGeom prst="rect">
            <a:avLst/>
          </a:prstGeom>
          <a:noFill/>
          <a:ln>
            <a:noFill/>
          </a:ln>
        </p:spPr>
      </p:pic>
      <p:pic>
        <p:nvPicPr>
          <p:cNvPr id="148" name="Google Shape;148;p21" title="[0,0,0,&quot;https://www.codecogs.com/eqnedit.php?latex=S_t%20%3D%20%5Cmu%20S_t%20dt%20%2B%20%5Csigma%20S_t%20dW_t#0&quot;]"/>
          <p:cNvPicPr preferRelativeResize="0"/>
          <p:nvPr/>
        </p:nvPicPr>
        <p:blipFill>
          <a:blip r:embed="rId12">
            <a:alphaModFix/>
          </a:blip>
          <a:stretch>
            <a:fillRect/>
          </a:stretch>
        </p:blipFill>
        <p:spPr>
          <a:xfrm>
            <a:off x="1263825" y="3953000"/>
            <a:ext cx="1831800" cy="18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Black-Scholes </a:t>
            </a:r>
            <a:endParaRPr b="1" sz="1538">
              <a:solidFill>
                <a:srgbClr val="1C4587"/>
              </a:solidFill>
            </a:endParaRPr>
          </a:p>
        </p:txBody>
      </p:sp>
      <p:sp>
        <p:nvSpPr>
          <p:cNvPr id="154" name="Google Shape;154;p22"/>
          <p:cNvSpPr txBox="1"/>
          <p:nvPr/>
        </p:nvSpPr>
        <p:spPr>
          <a:xfrm>
            <a:off x="387750" y="639550"/>
            <a:ext cx="8368500" cy="4095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sz="1100">
                <a:solidFill>
                  <a:schemeClr val="dk1"/>
                </a:solidFill>
              </a:rPr>
              <a:t>Black-Scholes is a framework developed by Fischer Black and Myron Scholes in 1973 and won them the Nobel prize in Economics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It has been heavily built upon in the last 50 years (try to see why) and is used for pricing European-style options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It is built on the following (simplistic) assumptions:</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The stock price following Geometric Brownian Motion</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The option can be perfectly hedges by continuously trading the underlying</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The risk-free interest rate (r) is constant over time</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Markets are frictionless (no transaction costs or taxes)</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The stock pays no </a:t>
            </a:r>
            <a:r>
              <a:rPr lang="en" sz="1100">
                <a:solidFill>
                  <a:schemeClr val="dk1"/>
                </a:solidFill>
              </a:rPr>
              <a:t>dividends</a:t>
            </a:r>
            <a:r>
              <a:rPr lang="en" sz="1100">
                <a:solidFill>
                  <a:schemeClr val="dk1"/>
                </a:solidFill>
              </a:rPr>
              <a:t> (though we can adjust this)</a:t>
            </a:r>
            <a:endParaRPr sz="1100">
              <a:solidFill>
                <a:schemeClr val="dk1"/>
              </a:solidFill>
            </a:endParaRPr>
          </a:p>
          <a:p>
            <a:pPr indent="0" lvl="0" marL="1371600" rtl="0" algn="l">
              <a:lnSpc>
                <a:spcPct val="115000"/>
              </a:lnSpc>
              <a:spcBef>
                <a:spcPts val="1200"/>
              </a:spcBef>
              <a:spcAft>
                <a:spcPts val="1200"/>
              </a:spcAft>
              <a:buNone/>
            </a:pPr>
            <a:r>
              <a:t/>
            </a:r>
            <a:endParaRPr sz="1100">
              <a:solidFill>
                <a:schemeClr val="dk1"/>
              </a:solidFill>
            </a:endParaRPr>
          </a:p>
        </p:txBody>
      </p:sp>
      <p:sp>
        <p:nvSpPr>
          <p:cNvPr id="155" name="Google Shape;155;p22"/>
          <p:cNvSpPr txBox="1"/>
          <p:nvPr>
            <p:ph idx="1" type="body"/>
          </p:nvPr>
        </p:nvSpPr>
        <p:spPr>
          <a:xfrm>
            <a:off x="673500" y="3147900"/>
            <a:ext cx="7008900" cy="1995600"/>
          </a:xfrm>
          <a:prstGeom prst="rect">
            <a:avLst/>
          </a:prstGeom>
          <a:noFill/>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European call price:</a:t>
            </a:r>
            <a:endParaRPr b="1" sz="1100">
              <a:solidFill>
                <a:schemeClr val="dk1"/>
              </a:solidFill>
            </a:endParaRPr>
          </a:p>
          <a:p>
            <a:pPr indent="0" lvl="0" marL="0" rtl="0" algn="l">
              <a:spcBef>
                <a:spcPts val="1200"/>
              </a:spcBef>
              <a:spcAft>
                <a:spcPts val="0"/>
              </a:spcAft>
              <a:buNone/>
            </a:pPr>
            <a:r>
              <a:rPr b="1" lang="en" sz="1100">
                <a:solidFill>
                  <a:schemeClr val="dk1"/>
                </a:solidFill>
              </a:rPr>
              <a:t>European put price:</a:t>
            </a:r>
            <a:endParaRPr b="1" sz="1100">
              <a:solidFill>
                <a:schemeClr val="dk1"/>
              </a:solidFill>
            </a:endParaRPr>
          </a:p>
          <a:p>
            <a:pPr indent="0" lvl="0" marL="0" rtl="0" algn="l">
              <a:spcBef>
                <a:spcPts val="1200"/>
              </a:spcBef>
              <a:spcAft>
                <a:spcPts val="0"/>
              </a:spcAft>
              <a:buNone/>
            </a:pPr>
            <a:r>
              <a:rPr lang="en" sz="1100">
                <a:solidFill>
                  <a:schemeClr val="dk1"/>
                </a:solidFill>
              </a:rPr>
              <a:t>Where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b="1" lang="en" sz="1100">
                <a:solidFill>
                  <a:schemeClr val="dk1"/>
                </a:solidFill>
              </a:rPr>
              <a:t>Intuition (part 4.2.3.1)</a:t>
            </a:r>
            <a:endParaRPr sz="1100">
              <a:solidFill>
                <a:schemeClr val="dk1"/>
              </a:solidFill>
            </a:endParaRPr>
          </a:p>
          <a:p>
            <a:pPr indent="0" lvl="0" marL="0" rtl="0" algn="l">
              <a:spcBef>
                <a:spcPts val="1200"/>
              </a:spcBef>
              <a:spcAft>
                <a:spcPts val="0"/>
              </a:spcAft>
              <a:buNone/>
            </a:pPr>
            <a:r>
              <a:rPr lang="en" sz="1100" u="sng">
                <a:solidFill>
                  <a:schemeClr val="hlink"/>
                </a:solidFill>
                <a:hlinkClick r:id="rId3"/>
              </a:rPr>
              <a:t>https://bookdown.org/maxime_debellefroid/MyBook/a-deeper-understanding-of-options.html</a:t>
            </a:r>
            <a:r>
              <a:rPr lang="en" sz="1100">
                <a:solidFill>
                  <a:schemeClr val="dk1"/>
                </a:solidFill>
              </a:rPr>
              <a:t>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pic>
        <p:nvPicPr>
          <p:cNvPr id="156" name="Google Shape;156;p22"/>
          <p:cNvPicPr preferRelativeResize="0"/>
          <p:nvPr/>
        </p:nvPicPr>
        <p:blipFill>
          <a:blip r:embed="rId4">
            <a:alphaModFix/>
          </a:blip>
          <a:stretch>
            <a:fillRect/>
          </a:stretch>
        </p:blipFill>
        <p:spPr>
          <a:xfrm>
            <a:off x="2234700" y="2810937"/>
            <a:ext cx="1685475" cy="241713"/>
          </a:xfrm>
          <a:prstGeom prst="rect">
            <a:avLst/>
          </a:prstGeom>
          <a:noFill/>
          <a:ln>
            <a:noFill/>
          </a:ln>
        </p:spPr>
      </p:pic>
      <p:pic>
        <p:nvPicPr>
          <p:cNvPr id="157" name="Google Shape;157;p22"/>
          <p:cNvPicPr preferRelativeResize="0"/>
          <p:nvPr/>
        </p:nvPicPr>
        <p:blipFill>
          <a:blip r:embed="rId5">
            <a:alphaModFix/>
          </a:blip>
          <a:stretch>
            <a:fillRect/>
          </a:stretch>
        </p:blipFill>
        <p:spPr>
          <a:xfrm>
            <a:off x="2234700" y="3205525"/>
            <a:ext cx="2121710" cy="241725"/>
          </a:xfrm>
          <a:prstGeom prst="rect">
            <a:avLst/>
          </a:prstGeom>
          <a:noFill/>
          <a:ln>
            <a:noFill/>
          </a:ln>
        </p:spPr>
      </p:pic>
      <p:pic>
        <p:nvPicPr>
          <p:cNvPr id="158" name="Google Shape;158;p22"/>
          <p:cNvPicPr preferRelativeResize="0"/>
          <p:nvPr/>
        </p:nvPicPr>
        <p:blipFill>
          <a:blip r:embed="rId6">
            <a:alphaModFix/>
          </a:blip>
          <a:stretch>
            <a:fillRect/>
          </a:stretch>
        </p:blipFill>
        <p:spPr>
          <a:xfrm>
            <a:off x="1419200" y="3447250"/>
            <a:ext cx="4616351" cy="1012825"/>
          </a:xfrm>
          <a:prstGeom prst="rect">
            <a:avLst/>
          </a:prstGeom>
          <a:noFill/>
          <a:ln>
            <a:noFill/>
          </a:ln>
        </p:spPr>
      </p:pic>
      <p:pic>
        <p:nvPicPr>
          <p:cNvPr id="159" name="Google Shape;159;p22" title="[0,0,0,&quot;https://www.codecogs.com/eqnedit.php?latex=d%20S_t%20%3D%20r%20S_t%20dt%20%2B%20%5Csigma%20S_t%20dW_t#0&quot;]"/>
          <p:cNvPicPr preferRelativeResize="0"/>
          <p:nvPr/>
        </p:nvPicPr>
        <p:blipFill>
          <a:blip r:embed="rId7">
            <a:alphaModFix/>
          </a:blip>
          <a:stretch>
            <a:fillRect/>
          </a:stretch>
        </p:blipFill>
        <p:spPr>
          <a:xfrm>
            <a:off x="1708150" y="1678253"/>
            <a:ext cx="1760727" cy="163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Improvements to Black-Scholes</a:t>
            </a:r>
            <a:endParaRPr b="1" sz="1538">
              <a:solidFill>
                <a:srgbClr val="1C4587"/>
              </a:solidFill>
            </a:endParaRPr>
          </a:p>
        </p:txBody>
      </p:sp>
      <p:sp>
        <p:nvSpPr>
          <p:cNvPr id="165" name="Google Shape;165;p23"/>
          <p:cNvSpPr txBox="1"/>
          <p:nvPr/>
        </p:nvSpPr>
        <p:spPr>
          <a:xfrm>
            <a:off x="381000" y="680350"/>
            <a:ext cx="7864800" cy="41775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sz="1100">
                <a:solidFill>
                  <a:schemeClr val="dk1"/>
                </a:solidFill>
              </a:rPr>
              <a:t>There are a lot of assumption that Black and Scholes made when developing the model, and therefore the model is not used anymore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However, its assumptions have been reduced over time with more complex models which are still used today:</a:t>
            </a:r>
            <a:endParaRPr sz="1100">
              <a:solidFill>
                <a:schemeClr val="dk1"/>
              </a:solidFill>
            </a:endParaRPr>
          </a:p>
          <a:p>
            <a:pPr indent="0" lvl="0" marL="0" rtl="0" algn="l">
              <a:lnSpc>
                <a:spcPct val="115000"/>
              </a:lnSpc>
              <a:spcBef>
                <a:spcPts val="1200"/>
              </a:spcBef>
              <a:spcAft>
                <a:spcPts val="0"/>
              </a:spcAft>
              <a:buNone/>
            </a:pPr>
            <a:r>
              <a:t/>
            </a:r>
            <a:endParaRPr sz="100">
              <a:solidFill>
                <a:schemeClr val="dk1"/>
              </a:solidFill>
            </a:endParaRPr>
          </a:p>
          <a:p>
            <a:pPr indent="-298450" lvl="0" marL="914400" rtl="0" algn="l">
              <a:lnSpc>
                <a:spcPct val="115000"/>
              </a:lnSpc>
              <a:spcBef>
                <a:spcPts val="1200"/>
              </a:spcBef>
              <a:spcAft>
                <a:spcPts val="0"/>
              </a:spcAft>
              <a:buClr>
                <a:schemeClr val="dk1"/>
              </a:buClr>
              <a:buSzPts val="1100"/>
              <a:buAutoNum type="arabicPeriod"/>
            </a:pPr>
            <a:r>
              <a:rPr b="1" lang="en" sz="1100" u="sng">
                <a:solidFill>
                  <a:schemeClr val="hlink"/>
                </a:solidFill>
                <a:hlinkClick r:id="rId3"/>
              </a:rPr>
              <a:t>Heston Model (non-constant (Stochastic) volatility)</a:t>
            </a:r>
            <a:r>
              <a:rPr b="1" lang="en" sz="1100">
                <a:solidFill>
                  <a:schemeClr val="dk1"/>
                </a:solidFill>
              </a:rPr>
              <a:t> </a:t>
            </a:r>
            <a:endParaRPr b="1"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b="1" lang="en" sz="1100" u="sng">
                <a:solidFill>
                  <a:schemeClr val="hlink"/>
                </a:solidFill>
                <a:hlinkClick r:id="rId4"/>
              </a:rPr>
              <a:t>Merton’s Jump Diffusion Model</a:t>
            </a:r>
            <a:endParaRPr b="1"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b="1" lang="en" sz="1100" u="sng">
                <a:solidFill>
                  <a:schemeClr val="hlink"/>
                </a:solidFill>
                <a:hlinkClick r:id="rId5"/>
              </a:rPr>
              <a:t>Monte Carlo Simulations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 simplest way to price an option, especially for those who haven’t come across stochastic calculus, would be to use Monte Carlo Simulation</a:t>
            </a:r>
            <a:endParaRPr sz="1100">
              <a:solidFill>
                <a:schemeClr val="dk1"/>
              </a:solidFill>
            </a:endParaRPr>
          </a:p>
          <a:p>
            <a:pPr indent="0" lvl="0" marL="457200" rtl="0" algn="l">
              <a:lnSpc>
                <a:spcPct val="115000"/>
              </a:lnSpc>
              <a:spcBef>
                <a:spcPts val="1200"/>
              </a:spcBef>
              <a:spcAft>
                <a:spcPts val="0"/>
              </a:spcAft>
              <a:buNone/>
            </a:pPr>
            <a:r>
              <a:t/>
            </a:r>
            <a:endParaRPr sz="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Monte Carlo Simulations: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This is a numerical method that simulates a large sample of random scenarios to model a complex system (such as the random process of a stock’s price)</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We simply use the stock formula (see Appendix) : </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We simulate a large amount of  (which are log-normally distributed) and calculate the payoffs for calls (           ) and puts (                     )</a:t>
            </a:r>
            <a:endParaRPr sz="1100">
              <a:solidFill>
                <a:schemeClr val="dk1"/>
              </a:solidFill>
            </a:endParaRPr>
          </a:p>
          <a:p>
            <a:pPr indent="-298450" lvl="0" marL="914400" rtl="0" algn="l">
              <a:lnSpc>
                <a:spcPct val="115000"/>
              </a:lnSpc>
              <a:spcBef>
                <a:spcPts val="0"/>
              </a:spcBef>
              <a:spcAft>
                <a:spcPts val="0"/>
              </a:spcAft>
              <a:buClr>
                <a:schemeClr val="dk1"/>
              </a:buClr>
              <a:buSzPts val="1100"/>
              <a:buAutoNum type="arabicPeriod"/>
            </a:pPr>
            <a:r>
              <a:rPr lang="en" sz="1100">
                <a:solidFill>
                  <a:schemeClr val="dk1"/>
                </a:solidFill>
              </a:rPr>
              <a:t>Finally we average the simulated payoffs and then multiply this by a discount rate of (e^-rt) to get our option price</a:t>
            </a:r>
            <a:endParaRPr sz="1100">
              <a:solidFill>
                <a:schemeClr val="dk1"/>
              </a:solidFill>
            </a:endParaRPr>
          </a:p>
          <a:p>
            <a:pPr indent="0" lvl="0" marL="457200" rtl="0" algn="l">
              <a:spcBef>
                <a:spcPts val="1200"/>
              </a:spcBef>
              <a:spcAft>
                <a:spcPts val="0"/>
              </a:spcAft>
              <a:buNone/>
            </a:pPr>
            <a:r>
              <a:t/>
            </a:r>
            <a:endParaRPr sz="1100">
              <a:solidFill>
                <a:schemeClr val="dk2"/>
              </a:solidFill>
            </a:endParaRPr>
          </a:p>
        </p:txBody>
      </p:sp>
      <p:pic>
        <p:nvPicPr>
          <p:cNvPr id="166" name="Google Shape;166;p23" title="[0,0,0,&quot;https://www.codecogs.com/eqnedit.php?latex=S_t%20%3D%20S_0e%5E%7B(r-%5Cfrac%7B%5Csigma%5E2%7D%7B2%7D)T%20%2B%20%5Csigma%20%5Csqrt(T)%20Z%7D#0&quot;]"/>
          <p:cNvPicPr preferRelativeResize="0"/>
          <p:nvPr/>
        </p:nvPicPr>
        <p:blipFill>
          <a:blip r:embed="rId6">
            <a:alphaModFix/>
          </a:blip>
          <a:stretch>
            <a:fillRect/>
          </a:stretch>
        </p:blipFill>
        <p:spPr>
          <a:xfrm>
            <a:off x="4572000" y="3562480"/>
            <a:ext cx="1334274" cy="188025"/>
          </a:xfrm>
          <a:prstGeom prst="rect">
            <a:avLst/>
          </a:prstGeom>
          <a:noFill/>
          <a:ln>
            <a:noFill/>
          </a:ln>
        </p:spPr>
      </p:pic>
      <p:pic>
        <p:nvPicPr>
          <p:cNvPr id="167" name="Google Shape;167;p23" title="[0,0,0,&quot;https://www.codecogs.com/eqnedit.php?latex=max(S_T%20-%20K%2C0)#0&quot;]"/>
          <p:cNvPicPr preferRelativeResize="0"/>
          <p:nvPr/>
        </p:nvPicPr>
        <p:blipFill>
          <a:blip r:embed="rId7">
            <a:alphaModFix/>
          </a:blip>
          <a:stretch>
            <a:fillRect/>
          </a:stretch>
        </p:blipFill>
        <p:spPr>
          <a:xfrm>
            <a:off x="7735700" y="3813213"/>
            <a:ext cx="779214" cy="116417"/>
          </a:xfrm>
          <a:prstGeom prst="rect">
            <a:avLst/>
          </a:prstGeom>
          <a:noFill/>
          <a:ln>
            <a:noFill/>
          </a:ln>
        </p:spPr>
      </p:pic>
      <p:pic>
        <p:nvPicPr>
          <p:cNvPr id="168" name="Google Shape;168;p23" title="[0,0,0,&quot;https://www.codecogs.com/eqnedit.php?latex=max(K%20-%20S_T%2C%200)#0&quot;]"/>
          <p:cNvPicPr preferRelativeResize="0"/>
          <p:nvPr/>
        </p:nvPicPr>
        <p:blipFill>
          <a:blip r:embed="rId8">
            <a:alphaModFix/>
          </a:blip>
          <a:stretch>
            <a:fillRect/>
          </a:stretch>
        </p:blipFill>
        <p:spPr>
          <a:xfrm>
            <a:off x="2093975" y="3998288"/>
            <a:ext cx="786199" cy="11641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Greeks</a:t>
            </a:r>
            <a:endParaRPr b="1" sz="1538">
              <a:solidFill>
                <a:srgbClr val="1C4587"/>
              </a:solidFill>
            </a:endParaRPr>
          </a:p>
        </p:txBody>
      </p:sp>
      <p:sp>
        <p:nvSpPr>
          <p:cNvPr id="174" name="Google Shape;174;p24"/>
          <p:cNvSpPr txBox="1"/>
          <p:nvPr>
            <p:ph idx="1" type="body"/>
          </p:nvPr>
        </p:nvSpPr>
        <p:spPr>
          <a:xfrm>
            <a:off x="311700" y="539950"/>
            <a:ext cx="8520600" cy="1676100"/>
          </a:xfrm>
          <a:prstGeom prst="rect">
            <a:avLst/>
          </a:prstGeom>
          <a:noFill/>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lang="en" sz="1100">
                <a:solidFill>
                  <a:schemeClr val="dk1"/>
                </a:solidFill>
              </a:rPr>
              <a:t>The “Greeks” is the name given to a set of sensitivities of a derivative price to market parameters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 practical terms, these sensitivities indicate the variation of the derivatives price if “small changes” in specified parameters occur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Each Greek letter measures a different dimension to the risk in an option position and the aim of a trader is to manage the Greeks so that all risks are acceptable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Common Greeks used in the market:</a:t>
            </a:r>
            <a:endParaRPr sz="1100">
              <a:solidFill>
                <a:schemeClr val="dk1"/>
              </a:solidFill>
            </a:endParaRPr>
          </a:p>
          <a:p>
            <a:pPr indent="0" lvl="0" marL="457200" rtl="0" algn="l">
              <a:spcBef>
                <a:spcPts val="1200"/>
              </a:spcBef>
              <a:spcAft>
                <a:spcPts val="1200"/>
              </a:spcAft>
              <a:buNone/>
            </a:pPr>
            <a:r>
              <a:t/>
            </a:r>
            <a:endParaRPr sz="1100">
              <a:solidFill>
                <a:schemeClr val="dk1"/>
              </a:solidFill>
            </a:endParaRPr>
          </a:p>
        </p:txBody>
      </p:sp>
      <p:pic>
        <p:nvPicPr>
          <p:cNvPr id="175" name="Google Shape;175;p24"/>
          <p:cNvPicPr preferRelativeResize="0"/>
          <p:nvPr/>
        </p:nvPicPr>
        <p:blipFill rotWithShape="1">
          <a:blip r:embed="rId3">
            <a:alphaModFix/>
          </a:blip>
          <a:srcRect b="4452" l="0" r="6690" t="0"/>
          <a:stretch/>
        </p:blipFill>
        <p:spPr>
          <a:xfrm>
            <a:off x="680675" y="1748525"/>
            <a:ext cx="4455500" cy="2204424"/>
          </a:xfrm>
          <a:prstGeom prst="rect">
            <a:avLst/>
          </a:prstGeom>
          <a:noFill/>
          <a:ln>
            <a:noFill/>
          </a:ln>
        </p:spPr>
      </p:pic>
      <p:pic>
        <p:nvPicPr>
          <p:cNvPr id="176" name="Google Shape;176;p24"/>
          <p:cNvPicPr preferRelativeResize="0"/>
          <p:nvPr/>
        </p:nvPicPr>
        <p:blipFill>
          <a:blip r:embed="rId4">
            <a:alphaModFix/>
          </a:blip>
          <a:stretch>
            <a:fillRect/>
          </a:stretch>
        </p:blipFill>
        <p:spPr>
          <a:xfrm>
            <a:off x="783425" y="4105347"/>
            <a:ext cx="5071825" cy="5110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Greeks: Delta</a:t>
            </a:r>
            <a:endParaRPr b="1" sz="1538">
              <a:solidFill>
                <a:srgbClr val="1C4587"/>
              </a:solidFill>
            </a:endParaRPr>
          </a:p>
        </p:txBody>
      </p:sp>
      <p:sp>
        <p:nvSpPr>
          <p:cNvPr id="182" name="Google Shape;182;p25"/>
          <p:cNvSpPr txBox="1"/>
          <p:nvPr>
            <p:ph idx="1" type="body"/>
          </p:nvPr>
        </p:nvSpPr>
        <p:spPr>
          <a:xfrm>
            <a:off x="311700" y="539950"/>
            <a:ext cx="8520600" cy="1334400"/>
          </a:xfrm>
          <a:prstGeom prst="rect">
            <a:avLst/>
          </a:prstGeom>
          <a:noFill/>
        </p:spPr>
        <p:txBody>
          <a:bodyPr anchorCtr="0" anchor="t" bIns="91425" lIns="91425" spcFirstLastPara="1" rIns="91425" wrap="square" tIns="91425">
            <a:spAutoFit/>
          </a:bodyPr>
          <a:lstStyle/>
          <a:p>
            <a:pPr indent="-285750" lvl="0" marL="457200" rtl="0" algn="l">
              <a:spcBef>
                <a:spcPts val="0"/>
              </a:spcBef>
              <a:spcAft>
                <a:spcPts val="0"/>
              </a:spcAft>
              <a:buClr>
                <a:schemeClr val="dk1"/>
              </a:buClr>
              <a:buSzPts val="900"/>
              <a:buChar char="●"/>
            </a:pPr>
            <a:r>
              <a:rPr lang="en" sz="900">
                <a:solidFill>
                  <a:schemeClr val="dk1"/>
                </a:solidFill>
              </a:rPr>
              <a:t>Delta </a:t>
            </a:r>
            <a:r>
              <a:rPr lang="en" sz="900">
                <a:solidFill>
                  <a:schemeClr val="dk1"/>
                </a:solidFill>
              </a:rPr>
              <a:t>measures</a:t>
            </a:r>
            <a:r>
              <a:rPr lang="en" sz="900">
                <a:solidFill>
                  <a:schemeClr val="dk1"/>
                </a:solidFill>
              </a:rPr>
              <a:t> how sensitive an option’s value is to changes in the underlying price</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Graphically, it is the slope of the tangent line on the options value</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It is normally quoted in percent and gives how much of percentage of the actual stock is required to hedge the option</a:t>
            </a:r>
            <a:endParaRPr sz="900">
              <a:solidFill>
                <a:schemeClr val="dk1"/>
              </a:solidFill>
            </a:endParaRPr>
          </a:p>
          <a:p>
            <a:pPr indent="0" lvl="0" marL="0" rtl="0" algn="l">
              <a:spcBef>
                <a:spcPts val="1200"/>
              </a:spcBef>
              <a:spcAft>
                <a:spcPts val="0"/>
              </a:spcAft>
              <a:buNone/>
            </a:pPr>
            <a:r>
              <a:t/>
            </a:r>
            <a:endParaRPr sz="1100">
              <a:solidFill>
                <a:schemeClr val="dk1"/>
              </a:solidFill>
            </a:endParaRPr>
          </a:p>
          <a:p>
            <a:pPr indent="0" lvl="0" marL="457200" rtl="0" algn="l">
              <a:spcBef>
                <a:spcPts val="1200"/>
              </a:spcBef>
              <a:spcAft>
                <a:spcPts val="1200"/>
              </a:spcAft>
              <a:buNone/>
            </a:pPr>
            <a:r>
              <a:t/>
            </a:r>
            <a:endParaRPr sz="1100">
              <a:solidFill>
                <a:schemeClr val="dk1"/>
              </a:solidFill>
            </a:endParaRPr>
          </a:p>
        </p:txBody>
      </p:sp>
      <p:grpSp>
        <p:nvGrpSpPr>
          <p:cNvPr id="183" name="Google Shape;183;p25"/>
          <p:cNvGrpSpPr/>
          <p:nvPr/>
        </p:nvGrpSpPr>
        <p:grpSpPr>
          <a:xfrm>
            <a:off x="443484" y="1120199"/>
            <a:ext cx="8257029" cy="2280857"/>
            <a:chOff x="745605" y="1336425"/>
            <a:chExt cx="7840689" cy="2165851"/>
          </a:xfrm>
        </p:grpSpPr>
        <p:pic>
          <p:nvPicPr>
            <p:cNvPr id="184" name="Google Shape;184;p25"/>
            <p:cNvPicPr preferRelativeResize="0"/>
            <p:nvPr/>
          </p:nvPicPr>
          <p:blipFill>
            <a:blip r:embed="rId3">
              <a:alphaModFix/>
            </a:blip>
            <a:stretch>
              <a:fillRect/>
            </a:stretch>
          </p:blipFill>
          <p:spPr>
            <a:xfrm>
              <a:off x="4646143" y="1336425"/>
              <a:ext cx="3940151" cy="2165851"/>
            </a:xfrm>
            <a:prstGeom prst="rect">
              <a:avLst/>
            </a:prstGeom>
            <a:noFill/>
            <a:ln>
              <a:noFill/>
            </a:ln>
          </p:spPr>
        </p:pic>
        <p:pic>
          <p:nvPicPr>
            <p:cNvPr id="185" name="Google Shape;185;p25"/>
            <p:cNvPicPr preferRelativeResize="0"/>
            <p:nvPr/>
          </p:nvPicPr>
          <p:blipFill>
            <a:blip r:embed="rId4">
              <a:alphaModFix/>
            </a:blip>
            <a:stretch>
              <a:fillRect/>
            </a:stretch>
          </p:blipFill>
          <p:spPr>
            <a:xfrm>
              <a:off x="745605" y="1336425"/>
              <a:ext cx="3860864" cy="2165851"/>
            </a:xfrm>
            <a:prstGeom prst="rect">
              <a:avLst/>
            </a:prstGeom>
            <a:noFill/>
            <a:ln>
              <a:noFill/>
            </a:ln>
          </p:spPr>
        </p:pic>
      </p:grpSp>
      <p:pic>
        <p:nvPicPr>
          <p:cNvPr id="186" name="Google Shape;186;p25"/>
          <p:cNvPicPr preferRelativeResize="0"/>
          <p:nvPr/>
        </p:nvPicPr>
        <p:blipFill rotWithShape="1">
          <a:blip r:embed="rId5">
            <a:alphaModFix/>
          </a:blip>
          <a:srcRect b="0" l="0" r="0" t="3735"/>
          <a:stretch/>
        </p:blipFill>
        <p:spPr>
          <a:xfrm>
            <a:off x="717452" y="3394375"/>
            <a:ext cx="3690092" cy="1749125"/>
          </a:xfrm>
          <a:prstGeom prst="rect">
            <a:avLst/>
          </a:prstGeom>
          <a:noFill/>
          <a:ln>
            <a:noFill/>
          </a:ln>
        </p:spPr>
      </p:pic>
      <p:pic>
        <p:nvPicPr>
          <p:cNvPr id="187" name="Google Shape;187;p25"/>
          <p:cNvPicPr preferRelativeResize="0"/>
          <p:nvPr/>
        </p:nvPicPr>
        <p:blipFill rotWithShape="1">
          <a:blip r:embed="rId6">
            <a:alphaModFix/>
          </a:blip>
          <a:srcRect b="0" l="0" r="0" t="2534"/>
          <a:stretch/>
        </p:blipFill>
        <p:spPr>
          <a:xfrm>
            <a:off x="4712352" y="3394375"/>
            <a:ext cx="3714196" cy="1749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Greeks: </a:t>
            </a:r>
            <a:r>
              <a:rPr b="1" lang="en" sz="1538">
                <a:solidFill>
                  <a:srgbClr val="1C4587"/>
                </a:solidFill>
              </a:rPr>
              <a:t>Gamma</a:t>
            </a:r>
            <a:endParaRPr b="1" sz="1538">
              <a:solidFill>
                <a:srgbClr val="1C4587"/>
              </a:solidFill>
            </a:endParaRPr>
          </a:p>
        </p:txBody>
      </p:sp>
      <p:sp>
        <p:nvSpPr>
          <p:cNvPr id="193" name="Google Shape;193;p26"/>
          <p:cNvSpPr txBox="1"/>
          <p:nvPr>
            <p:ph idx="1" type="body"/>
          </p:nvPr>
        </p:nvSpPr>
        <p:spPr>
          <a:xfrm>
            <a:off x="311700" y="1518600"/>
            <a:ext cx="3797100" cy="2106300"/>
          </a:xfrm>
          <a:prstGeom prst="rect">
            <a:avLst/>
          </a:prstGeom>
          <a:noFill/>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lang="en" sz="1100">
                <a:solidFill>
                  <a:schemeClr val="dk1"/>
                </a:solidFill>
              </a:rPr>
              <a:t>Gamma</a:t>
            </a:r>
            <a:r>
              <a:rPr lang="en" sz="1100">
                <a:solidFill>
                  <a:schemeClr val="dk1"/>
                </a:solidFill>
              </a:rPr>
              <a:t> measures </a:t>
            </a:r>
            <a:r>
              <a:rPr lang="en" sz="1100">
                <a:solidFill>
                  <a:schemeClr val="dk1"/>
                </a:solidFill>
              </a:rPr>
              <a:t>the change in delta due to the change in underlying price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Gamma for both calls and puts are the same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When you buy an option, you have a positive Gamma position. When you sell an option, you </a:t>
            </a:r>
            <a:r>
              <a:rPr lang="en" sz="1100">
                <a:solidFill>
                  <a:schemeClr val="dk1"/>
                </a:solidFill>
              </a:rPr>
              <a:t>have</a:t>
            </a:r>
            <a:r>
              <a:rPr lang="en" sz="1100">
                <a:solidFill>
                  <a:schemeClr val="dk1"/>
                </a:solidFill>
              </a:rPr>
              <a:t> a negative Gamma position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Gamma measures how to adjust the hedge to remain “delta-neutral” as the spot changes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Options with high Gamma require more frequent hedge adjustments than options with low Gamma</a:t>
            </a:r>
            <a:endParaRPr sz="1100">
              <a:solidFill>
                <a:schemeClr val="dk1"/>
              </a:solidFill>
            </a:endParaRPr>
          </a:p>
        </p:txBody>
      </p:sp>
      <p:pic>
        <p:nvPicPr>
          <p:cNvPr id="194" name="Google Shape;194;p26"/>
          <p:cNvPicPr preferRelativeResize="0"/>
          <p:nvPr/>
        </p:nvPicPr>
        <p:blipFill>
          <a:blip r:embed="rId3">
            <a:alphaModFix/>
          </a:blip>
          <a:stretch>
            <a:fillRect/>
          </a:stretch>
        </p:blipFill>
        <p:spPr>
          <a:xfrm>
            <a:off x="4248163" y="1382250"/>
            <a:ext cx="4584126" cy="2379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Greeks: Theta</a:t>
            </a:r>
            <a:endParaRPr b="1" sz="1538">
              <a:solidFill>
                <a:srgbClr val="1C4587"/>
              </a:solidFill>
            </a:endParaRPr>
          </a:p>
        </p:txBody>
      </p:sp>
      <p:sp>
        <p:nvSpPr>
          <p:cNvPr id="200" name="Google Shape;200;p27"/>
          <p:cNvSpPr txBox="1"/>
          <p:nvPr>
            <p:ph idx="1" type="body"/>
          </p:nvPr>
        </p:nvSpPr>
        <p:spPr>
          <a:xfrm>
            <a:off x="311700" y="539950"/>
            <a:ext cx="8520600" cy="1635300"/>
          </a:xfrm>
          <a:prstGeom prst="rect">
            <a:avLst/>
          </a:prstGeom>
          <a:noFill/>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lang="en" sz="1100">
                <a:solidFill>
                  <a:schemeClr val="dk1"/>
                </a:solidFill>
              </a:rPr>
              <a:t>Theta is defined as the rate of change of the option price respected to the passage of time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higher the volatility, the higher the option price and the time value, the more time value to lose, the larger the absolute value of theta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a:t>
            </a:r>
            <a:r>
              <a:rPr lang="en" sz="1100">
                <a:solidFill>
                  <a:schemeClr val="dk1"/>
                </a:solidFill>
              </a:rPr>
              <a:t>heta loss speeds up as maturity approaches</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457200" rtl="0" algn="l">
              <a:spcBef>
                <a:spcPts val="1200"/>
              </a:spcBef>
              <a:spcAft>
                <a:spcPts val="1200"/>
              </a:spcAft>
              <a:buNone/>
            </a:pPr>
            <a:r>
              <a:t/>
            </a:r>
            <a:endParaRPr sz="1100">
              <a:solidFill>
                <a:schemeClr val="dk1"/>
              </a:solidFill>
            </a:endParaRPr>
          </a:p>
        </p:txBody>
      </p:sp>
      <p:pic>
        <p:nvPicPr>
          <p:cNvPr id="201" name="Google Shape;201;p27"/>
          <p:cNvPicPr preferRelativeResize="0"/>
          <p:nvPr/>
        </p:nvPicPr>
        <p:blipFill>
          <a:blip r:embed="rId3">
            <a:alphaModFix/>
          </a:blip>
          <a:stretch>
            <a:fillRect/>
          </a:stretch>
        </p:blipFill>
        <p:spPr>
          <a:xfrm>
            <a:off x="1740788" y="1806101"/>
            <a:ext cx="5662425" cy="2641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Volatility</a:t>
            </a:r>
            <a:endParaRPr b="1" sz="1538">
              <a:solidFill>
                <a:srgbClr val="1C4587"/>
              </a:solidFill>
            </a:endParaRPr>
          </a:p>
        </p:txBody>
      </p:sp>
      <p:sp>
        <p:nvSpPr>
          <p:cNvPr id="207" name="Google Shape;207;p28"/>
          <p:cNvSpPr txBox="1"/>
          <p:nvPr>
            <p:ph idx="1" type="body"/>
          </p:nvPr>
        </p:nvSpPr>
        <p:spPr>
          <a:xfrm>
            <a:off x="311700" y="539950"/>
            <a:ext cx="8520600" cy="2803800"/>
          </a:xfrm>
          <a:prstGeom prst="rect">
            <a:avLst/>
          </a:prstGeom>
          <a:noFill/>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lang="en" sz="1100">
                <a:solidFill>
                  <a:schemeClr val="dk1"/>
                </a:solidFill>
              </a:rPr>
              <a:t>Volatility measures the standard deviation of an asset price over time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represents the uncertainty or risk associated with an underlying asset price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is typically negatively correlated with the price of an asset, especially in equity markets. Does anyone know why?</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Types of Volatility:</a:t>
            </a:r>
            <a:endParaRPr b="1" sz="1100">
              <a:solidFill>
                <a:schemeClr val="dk1"/>
              </a:solidFill>
            </a:endParaRPr>
          </a:p>
          <a:p>
            <a:pPr indent="-298450" lvl="0" marL="914400" rtl="0" algn="l">
              <a:spcBef>
                <a:spcPts val="0"/>
              </a:spcBef>
              <a:spcAft>
                <a:spcPts val="0"/>
              </a:spcAft>
              <a:buClr>
                <a:schemeClr val="dk1"/>
              </a:buClr>
              <a:buSzPts val="1100"/>
              <a:buAutoNum type="arabicPeriod"/>
            </a:pPr>
            <a:r>
              <a:rPr lang="en" sz="1100" u="sng">
                <a:solidFill>
                  <a:schemeClr val="dk1"/>
                </a:solidFill>
              </a:rPr>
              <a:t>Historical volatility</a:t>
            </a:r>
            <a:r>
              <a:rPr lang="en" sz="1100">
                <a:solidFill>
                  <a:schemeClr val="dk1"/>
                </a:solidFill>
              </a:rPr>
              <a:t>: the volatility of previous movements (which do NOT dictate future movements)</a:t>
            </a:r>
            <a:endParaRPr sz="1100">
              <a:solidFill>
                <a:schemeClr val="dk1"/>
              </a:solidFill>
            </a:endParaRPr>
          </a:p>
          <a:p>
            <a:pPr indent="-298450" lvl="0" marL="914400" rtl="0" algn="l">
              <a:spcBef>
                <a:spcPts val="0"/>
              </a:spcBef>
              <a:spcAft>
                <a:spcPts val="0"/>
              </a:spcAft>
              <a:buClr>
                <a:schemeClr val="dk1"/>
              </a:buClr>
              <a:buSzPts val="1100"/>
              <a:buAutoNum type="arabicPeriod"/>
            </a:pPr>
            <a:r>
              <a:rPr lang="en" sz="1100" u="sng">
                <a:solidFill>
                  <a:schemeClr val="dk1"/>
                </a:solidFill>
              </a:rPr>
              <a:t>Implied volatility</a:t>
            </a:r>
            <a:r>
              <a:rPr lang="en" sz="1100">
                <a:solidFill>
                  <a:schemeClr val="dk1"/>
                </a:solidFill>
              </a:rPr>
              <a:t>: The market’s expectations of future volatility (derived from the strike price of an option using Black-Scholes models). We see a smile because the assumptions of the Black-Scholes model do not fully reflect real-world market dynamics (particularly because investors are more concerned with extreme events and willing to pay higher premiums to hedge that exposure)</a:t>
            </a:r>
            <a:br>
              <a:rPr lang="en" sz="1100">
                <a:solidFill>
                  <a:schemeClr val="dk1"/>
                </a:solidFill>
              </a:rPr>
            </a:br>
            <a:br>
              <a:rPr lang="en" sz="1100">
                <a:solidFill>
                  <a:schemeClr val="dk1"/>
                </a:solidFill>
              </a:rPr>
            </a:br>
            <a:endParaRPr sz="1100">
              <a:solidFill>
                <a:schemeClr val="dk1"/>
              </a:solidFill>
            </a:endParaRPr>
          </a:p>
        </p:txBody>
      </p:sp>
      <p:pic>
        <p:nvPicPr>
          <p:cNvPr id="208" name="Google Shape;208;p28"/>
          <p:cNvPicPr preferRelativeResize="0"/>
          <p:nvPr/>
        </p:nvPicPr>
        <p:blipFill>
          <a:blip r:embed="rId3">
            <a:alphaModFix/>
          </a:blip>
          <a:stretch>
            <a:fillRect/>
          </a:stretch>
        </p:blipFill>
        <p:spPr>
          <a:xfrm>
            <a:off x="1322600" y="2979975"/>
            <a:ext cx="2773150" cy="1392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Implied Volatility and Vega</a:t>
            </a:r>
            <a:endParaRPr b="1" sz="1538">
              <a:solidFill>
                <a:srgbClr val="1C4587"/>
              </a:solidFill>
            </a:endParaRPr>
          </a:p>
        </p:txBody>
      </p:sp>
      <p:sp>
        <p:nvSpPr>
          <p:cNvPr id="214" name="Google Shape;214;p29"/>
          <p:cNvSpPr txBox="1"/>
          <p:nvPr>
            <p:ph idx="1" type="body"/>
          </p:nvPr>
        </p:nvSpPr>
        <p:spPr>
          <a:xfrm>
            <a:off x="311700" y="539950"/>
            <a:ext cx="8520600" cy="4239000"/>
          </a:xfrm>
          <a:prstGeom prst="rect">
            <a:avLst/>
          </a:prstGeom>
          <a:noFill/>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One way to measure Implied Volatility to use the VIX (CBOE Volatility Index) as a proxy for the implied vol of the S&amp;P 500 and for the overall market uncertainty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calculates a weighted average of implied vols across ranges of SPX options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is upwards sloping because volatility is </a:t>
            </a:r>
            <a:r>
              <a:rPr lang="en" sz="1100">
                <a:solidFill>
                  <a:schemeClr val="dk1"/>
                </a:solidFill>
              </a:rPr>
              <a:t>cumulative</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Think of the volatility of summation of several r.vs (Wiener processes) </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457200" rtl="0" algn="l">
              <a:spcBef>
                <a:spcPts val="1200"/>
              </a:spcBef>
              <a:spcAft>
                <a:spcPts val="0"/>
              </a:spcAft>
              <a:buNone/>
            </a:pPr>
            <a:r>
              <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Vega</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Vega measures an option </a:t>
            </a:r>
            <a:r>
              <a:rPr lang="en" sz="1100">
                <a:solidFill>
                  <a:schemeClr val="dk1"/>
                </a:solidFill>
              </a:rPr>
              <a:t>price</a:t>
            </a:r>
            <a:r>
              <a:rPr lang="en" sz="1100">
                <a:solidFill>
                  <a:schemeClr val="dk1"/>
                </a:solidFill>
              </a:rPr>
              <a:t> sensitivity to change in implied volatility:</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v</a:t>
            </a:r>
            <a:r>
              <a:rPr lang="en" sz="1100">
                <a:solidFill>
                  <a:schemeClr val="dk1"/>
                </a:solidFill>
              </a:rPr>
              <a:t> = dV/do</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It is positive for both calls and puts (since higher implied vol demands higher risk premiums to sellers of calls and puts as price movements are both ways)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Vega falls as expiration approaches as the effects of volatility are reduced</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Vega is maximised ATM since uncertainty is maximised here because ATM options maximise </a:t>
            </a:r>
            <a:r>
              <a:rPr lang="en" sz="1100">
                <a:solidFill>
                  <a:schemeClr val="dk1"/>
                </a:solidFill>
              </a:rPr>
              <a:t>uncertainty</a:t>
            </a:r>
            <a:r>
              <a:rPr lang="en" sz="1100">
                <a:solidFill>
                  <a:schemeClr val="dk1"/>
                </a:solidFill>
              </a:rPr>
              <a:t> of whether the option will expire ITM or OTM</a:t>
            </a:r>
            <a:endParaRPr sz="11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1200"/>
              </a:spcAft>
              <a:buNone/>
            </a:pPr>
            <a:r>
              <a:t/>
            </a:r>
            <a:endParaRPr sz="1100">
              <a:solidFill>
                <a:schemeClr val="dk1"/>
              </a:solidFill>
            </a:endParaRPr>
          </a:p>
        </p:txBody>
      </p:sp>
      <p:pic>
        <p:nvPicPr>
          <p:cNvPr id="215" name="Google Shape;215;p29"/>
          <p:cNvPicPr preferRelativeResize="0"/>
          <p:nvPr/>
        </p:nvPicPr>
        <p:blipFill>
          <a:blip r:embed="rId3">
            <a:alphaModFix/>
          </a:blip>
          <a:stretch>
            <a:fillRect/>
          </a:stretch>
        </p:blipFill>
        <p:spPr>
          <a:xfrm>
            <a:off x="5835175" y="938850"/>
            <a:ext cx="2997125" cy="1905051"/>
          </a:xfrm>
          <a:prstGeom prst="rect">
            <a:avLst/>
          </a:prstGeom>
          <a:noFill/>
          <a:ln>
            <a:noFill/>
          </a:ln>
        </p:spPr>
      </p:pic>
      <p:pic>
        <p:nvPicPr>
          <p:cNvPr id="216" name="Google Shape;216;p29"/>
          <p:cNvPicPr preferRelativeResize="0"/>
          <p:nvPr/>
        </p:nvPicPr>
        <p:blipFill>
          <a:blip r:embed="rId4">
            <a:alphaModFix/>
          </a:blip>
          <a:stretch>
            <a:fillRect/>
          </a:stretch>
        </p:blipFill>
        <p:spPr>
          <a:xfrm>
            <a:off x="3265700" y="3747855"/>
            <a:ext cx="3419475" cy="145552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Vanilla Trading Strategies</a:t>
            </a:r>
            <a:endParaRPr b="1" sz="1538">
              <a:solidFill>
                <a:srgbClr val="1C4587"/>
              </a:solidFill>
            </a:endParaRPr>
          </a:p>
        </p:txBody>
      </p:sp>
      <p:pic>
        <p:nvPicPr>
          <p:cNvPr id="222" name="Google Shape;222;p30"/>
          <p:cNvPicPr preferRelativeResize="0"/>
          <p:nvPr/>
        </p:nvPicPr>
        <p:blipFill>
          <a:blip r:embed="rId3">
            <a:alphaModFix/>
          </a:blip>
          <a:stretch>
            <a:fillRect/>
          </a:stretch>
        </p:blipFill>
        <p:spPr>
          <a:xfrm>
            <a:off x="674500" y="616150"/>
            <a:ext cx="3635876" cy="2807576"/>
          </a:xfrm>
          <a:prstGeom prst="rect">
            <a:avLst/>
          </a:prstGeom>
          <a:noFill/>
          <a:ln>
            <a:noFill/>
          </a:ln>
        </p:spPr>
      </p:pic>
      <p:pic>
        <p:nvPicPr>
          <p:cNvPr id="223" name="Google Shape;223;p30"/>
          <p:cNvPicPr preferRelativeResize="0"/>
          <p:nvPr/>
        </p:nvPicPr>
        <p:blipFill>
          <a:blip r:embed="rId4">
            <a:alphaModFix/>
          </a:blip>
          <a:stretch>
            <a:fillRect/>
          </a:stretch>
        </p:blipFill>
        <p:spPr>
          <a:xfrm>
            <a:off x="4767575" y="618225"/>
            <a:ext cx="3635874" cy="2803424"/>
          </a:xfrm>
          <a:prstGeom prst="rect">
            <a:avLst/>
          </a:prstGeom>
          <a:noFill/>
          <a:ln>
            <a:noFill/>
          </a:ln>
        </p:spPr>
      </p:pic>
      <p:sp>
        <p:nvSpPr>
          <p:cNvPr id="224" name="Google Shape;224;p30"/>
          <p:cNvSpPr txBox="1"/>
          <p:nvPr/>
        </p:nvSpPr>
        <p:spPr>
          <a:xfrm>
            <a:off x="674500" y="3423725"/>
            <a:ext cx="3636000" cy="14454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Buy a call + sell a call with higher strike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Anticipate a moderately bullish move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premium received from the sale of the higher strike call option helps to offset the cost of buying the lower strike call</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loss: </a:t>
            </a:r>
            <a:r>
              <a:rPr i="1" lang="en" sz="1100">
                <a:solidFill>
                  <a:schemeClr val="dk1"/>
                </a:solidFill>
              </a:rPr>
              <a:t>net </a:t>
            </a:r>
            <a:r>
              <a:rPr i="1" lang="en" sz="1100">
                <a:solidFill>
                  <a:schemeClr val="dk1"/>
                </a:solidFill>
              </a:rPr>
              <a:t>premium paid</a:t>
            </a:r>
            <a:endParaRPr i="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profit: </a:t>
            </a:r>
            <a:r>
              <a:rPr i="1" lang="en" sz="1100">
                <a:solidFill>
                  <a:schemeClr val="dk1"/>
                </a:solidFill>
              </a:rPr>
              <a:t>higher strike – lower strike – net premium paid</a:t>
            </a:r>
            <a:endParaRPr i="1" sz="1100">
              <a:solidFill>
                <a:schemeClr val="dk1"/>
              </a:solidFill>
            </a:endParaRPr>
          </a:p>
        </p:txBody>
      </p:sp>
      <p:sp>
        <p:nvSpPr>
          <p:cNvPr id="225" name="Google Shape;225;p30"/>
          <p:cNvSpPr txBox="1"/>
          <p:nvPr/>
        </p:nvSpPr>
        <p:spPr>
          <a:xfrm>
            <a:off x="4767513" y="3423725"/>
            <a:ext cx="3636000" cy="14454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Buy a put + sell a put with lower strike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Profit from a decline in the stock price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Cheaper to execute than buying an outright put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loss: </a:t>
            </a:r>
            <a:r>
              <a:rPr i="1" lang="en" sz="1100">
                <a:solidFill>
                  <a:schemeClr val="dk1"/>
                </a:solidFill>
              </a:rPr>
              <a:t>net premium paid</a:t>
            </a:r>
            <a:r>
              <a:rPr lang="en" sz="1100">
                <a:solidFill>
                  <a:schemeClr val="dk1"/>
                </a:solidFill>
              </a:rPr>
              <a:t>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profit: </a:t>
            </a:r>
            <a:r>
              <a:rPr i="1" lang="en" sz="1100">
                <a:solidFill>
                  <a:schemeClr val="dk1"/>
                </a:solidFill>
              </a:rPr>
              <a:t>higher strike – lower strike – net premium paid</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Vanilla Trading Strategies</a:t>
            </a:r>
            <a:endParaRPr b="1" sz="1538">
              <a:solidFill>
                <a:srgbClr val="1C4587"/>
              </a:solidFill>
            </a:endParaRPr>
          </a:p>
        </p:txBody>
      </p:sp>
      <p:pic>
        <p:nvPicPr>
          <p:cNvPr id="231" name="Google Shape;231;p31"/>
          <p:cNvPicPr preferRelativeResize="0"/>
          <p:nvPr/>
        </p:nvPicPr>
        <p:blipFill rotWithShape="1">
          <a:blip r:embed="rId3">
            <a:alphaModFix/>
          </a:blip>
          <a:srcRect b="0" l="39" r="39" t="0"/>
          <a:stretch/>
        </p:blipFill>
        <p:spPr>
          <a:xfrm>
            <a:off x="674500" y="616150"/>
            <a:ext cx="3635876" cy="2807575"/>
          </a:xfrm>
          <a:prstGeom prst="rect">
            <a:avLst/>
          </a:prstGeom>
          <a:noFill/>
          <a:ln>
            <a:noFill/>
          </a:ln>
        </p:spPr>
      </p:pic>
      <p:sp>
        <p:nvSpPr>
          <p:cNvPr id="232" name="Google Shape;232;p31"/>
          <p:cNvSpPr txBox="1"/>
          <p:nvPr/>
        </p:nvSpPr>
        <p:spPr>
          <a:xfrm>
            <a:off x="674500" y="3423725"/>
            <a:ext cx="3636000" cy="17085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lang="en" sz="1100">
                <a:solidFill>
                  <a:schemeClr val="dk1"/>
                </a:solidFill>
              </a:rPr>
              <a:t>Buy a call + buy a put with same strike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Expect a sharp move in prices in either direction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Achieve potential profits regardless of which way the underlying asset price moves, provided the move is strong enough to cover the cost of the options premiums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loss: </a:t>
            </a:r>
            <a:r>
              <a:rPr i="1" lang="en" sz="1100">
                <a:solidFill>
                  <a:schemeClr val="dk1"/>
                </a:solidFill>
              </a:rPr>
              <a:t>sum of premiums paid for both options</a:t>
            </a:r>
            <a:endParaRPr i="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profit: unlimited</a:t>
            </a:r>
            <a:endParaRPr sz="1100">
              <a:solidFill>
                <a:schemeClr val="dk1"/>
              </a:solidFill>
            </a:endParaRPr>
          </a:p>
        </p:txBody>
      </p:sp>
      <p:sp>
        <p:nvSpPr>
          <p:cNvPr id="233" name="Google Shape;233;p31"/>
          <p:cNvSpPr txBox="1"/>
          <p:nvPr/>
        </p:nvSpPr>
        <p:spPr>
          <a:xfrm>
            <a:off x="4767513" y="3423725"/>
            <a:ext cx="3636000" cy="14454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sz="1100">
                <a:solidFill>
                  <a:schemeClr val="dk1"/>
                </a:solidFill>
              </a:rPr>
              <a:t>Buy OTM put with lower strike + sell ATM call + sell ATM put + buy OTM call with higher strike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a:t>
            </a:r>
            <a:r>
              <a:rPr lang="en" sz="1100">
                <a:solidFill>
                  <a:schemeClr val="dk1"/>
                </a:solidFill>
              </a:rPr>
              <a:t>ake advantage of a drop in volatility and minimal movement from the underlying asset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t>
            </a:r>
            <a:r>
              <a:rPr lang="en" sz="1100">
                <a:solidFill>
                  <a:schemeClr val="dk1"/>
                </a:solidFill>
              </a:rPr>
              <a:t>aximum loss: </a:t>
            </a:r>
            <a:r>
              <a:rPr i="1" lang="en" sz="1100">
                <a:solidFill>
                  <a:schemeClr val="dk1"/>
                </a:solidFill>
              </a:rPr>
              <a:t>strike of bought call – strike of sold call - premiums received</a:t>
            </a:r>
            <a:endParaRPr i="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Maximum profit: </a:t>
            </a:r>
            <a:r>
              <a:rPr i="1" lang="en" sz="1100">
                <a:solidFill>
                  <a:schemeClr val="dk1"/>
                </a:solidFill>
              </a:rPr>
              <a:t>premiums received</a:t>
            </a:r>
            <a:endParaRPr i="1" sz="1100">
              <a:solidFill>
                <a:schemeClr val="dk1"/>
              </a:solidFill>
            </a:endParaRPr>
          </a:p>
        </p:txBody>
      </p:sp>
      <p:pic>
        <p:nvPicPr>
          <p:cNvPr id="234" name="Google Shape;234;p31"/>
          <p:cNvPicPr preferRelativeResize="0"/>
          <p:nvPr/>
        </p:nvPicPr>
        <p:blipFill>
          <a:blip r:embed="rId4">
            <a:alphaModFix/>
          </a:blip>
          <a:stretch>
            <a:fillRect/>
          </a:stretch>
        </p:blipFill>
        <p:spPr>
          <a:xfrm>
            <a:off x="4538888" y="539950"/>
            <a:ext cx="4093284" cy="28075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Trade Example</a:t>
            </a:r>
            <a:endParaRPr b="1" sz="1538">
              <a:solidFill>
                <a:srgbClr val="1C4587"/>
              </a:solidFill>
            </a:endParaRPr>
          </a:p>
        </p:txBody>
      </p:sp>
      <p:sp>
        <p:nvSpPr>
          <p:cNvPr id="240" name="Google Shape;240;p32"/>
          <p:cNvSpPr txBox="1"/>
          <p:nvPr>
            <p:ph idx="1" type="body"/>
          </p:nvPr>
        </p:nvSpPr>
        <p:spPr>
          <a:xfrm>
            <a:off x="311700" y="539950"/>
            <a:ext cx="8520600" cy="3962700"/>
          </a:xfrm>
          <a:prstGeom prst="rect">
            <a:avLst/>
          </a:prstGeom>
          <a:noFill/>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AutoNum type="arabicPeriod"/>
            </a:pPr>
            <a:r>
              <a:rPr lang="en" sz="1100">
                <a:solidFill>
                  <a:schemeClr val="dk1"/>
                </a:solidFill>
              </a:rPr>
              <a:t>Imagine a scenario where you believe there is an underpricing of strong geopolitical tensions coupled up with the central bank planning on pausing interest rate hikes (despite Jay Powell saying the opposite)</a:t>
            </a:r>
            <a:endParaRPr sz="1100">
              <a:solidFill>
                <a:schemeClr val="dk1"/>
              </a:solidFill>
            </a:endParaRPr>
          </a:p>
          <a:p>
            <a:pPr indent="0" lvl="0" marL="457200" rtl="0" algn="l">
              <a:spcBef>
                <a:spcPts val="1200"/>
              </a:spcBef>
              <a:spcAft>
                <a:spcPts val="0"/>
              </a:spcAft>
              <a:buNone/>
            </a:pPr>
            <a:r>
              <a:rPr lang="en" sz="1100">
                <a:solidFill>
                  <a:schemeClr val="dk1"/>
                </a:solidFill>
              </a:rPr>
              <a:t>Macro Implications:</a:t>
            </a:r>
            <a:endParaRPr sz="1100">
              <a:solidFill>
                <a:schemeClr val="dk1"/>
              </a:solidFill>
            </a:endParaRPr>
          </a:p>
          <a:p>
            <a:pPr indent="-298450" lvl="0" marL="914400" rtl="0" algn="l">
              <a:spcBef>
                <a:spcPts val="1200"/>
              </a:spcBef>
              <a:spcAft>
                <a:spcPts val="0"/>
              </a:spcAft>
              <a:buClr>
                <a:schemeClr val="dk1"/>
              </a:buClr>
              <a:buSzPts val="1100"/>
              <a:buChar char="●"/>
            </a:pPr>
            <a:r>
              <a:rPr lang="en" sz="1100">
                <a:solidFill>
                  <a:schemeClr val="dk1"/>
                </a:solidFill>
              </a:rPr>
              <a:t>Weaker USD (interest rate parity adjustments), stronger EM currencies and equities, increased gold prices (gold is positively correlated with implied volatility which has risen)</a:t>
            </a:r>
            <a:endParaRPr sz="1100">
              <a:solidFill>
                <a:schemeClr val="dk1"/>
              </a:solidFill>
            </a:endParaRPr>
          </a:p>
          <a:p>
            <a:pPr indent="0" lvl="0" marL="0" rtl="0" algn="l">
              <a:spcBef>
                <a:spcPts val="1200"/>
              </a:spcBef>
              <a:spcAft>
                <a:spcPts val="0"/>
              </a:spcAft>
              <a:buNone/>
            </a:pPr>
            <a:r>
              <a:rPr lang="en" sz="1100">
                <a:solidFill>
                  <a:schemeClr val="dk1"/>
                </a:solidFill>
              </a:rPr>
              <a:t>	Trade Thesis:</a:t>
            </a:r>
            <a:endParaRPr sz="1100">
              <a:solidFill>
                <a:schemeClr val="dk1"/>
              </a:solidFill>
            </a:endParaRPr>
          </a:p>
          <a:p>
            <a:pPr indent="-298450" lvl="0" marL="914400" rtl="0" algn="l">
              <a:spcBef>
                <a:spcPts val="1200"/>
              </a:spcBef>
              <a:spcAft>
                <a:spcPts val="0"/>
              </a:spcAft>
              <a:buClr>
                <a:schemeClr val="dk1"/>
              </a:buClr>
              <a:buSzPts val="1100"/>
              <a:buChar char="●"/>
            </a:pPr>
            <a:r>
              <a:rPr lang="en" sz="1100">
                <a:solidFill>
                  <a:schemeClr val="dk1"/>
                </a:solidFill>
              </a:rPr>
              <a:t>Lower rates weaken the USD and increase demand for gold, driving its price higher</a:t>
            </a:r>
            <a:endParaRPr sz="1100">
              <a:solidFill>
                <a:schemeClr val="dk1"/>
              </a:solidFill>
            </a:endParaRPr>
          </a:p>
          <a:p>
            <a:pPr indent="0" lvl="0" marL="0" rtl="0" algn="l">
              <a:spcBef>
                <a:spcPts val="1200"/>
              </a:spcBef>
              <a:spcAft>
                <a:spcPts val="0"/>
              </a:spcAft>
              <a:buNone/>
            </a:pPr>
            <a:r>
              <a:rPr lang="en" sz="1100">
                <a:solidFill>
                  <a:schemeClr val="dk1"/>
                </a:solidFill>
              </a:rPr>
              <a:t>	Trade Strategy:</a:t>
            </a:r>
            <a:endParaRPr sz="1100">
              <a:solidFill>
                <a:schemeClr val="dk1"/>
              </a:solidFill>
            </a:endParaRPr>
          </a:p>
          <a:p>
            <a:pPr indent="-298450" lvl="0" marL="914400" rtl="0" algn="l">
              <a:spcBef>
                <a:spcPts val="1200"/>
              </a:spcBef>
              <a:spcAft>
                <a:spcPts val="0"/>
              </a:spcAft>
              <a:buClr>
                <a:schemeClr val="dk1"/>
              </a:buClr>
              <a:buSzPts val="1100"/>
              <a:buChar char="●"/>
            </a:pPr>
            <a:r>
              <a:rPr lang="en" sz="1100">
                <a:solidFill>
                  <a:schemeClr val="dk1"/>
                </a:solidFill>
              </a:rPr>
              <a:t>Long Call Option on Gold ETF or Futures </a:t>
            </a:r>
            <a:r>
              <a:rPr lang="en" sz="1100">
                <a:solidFill>
                  <a:schemeClr val="dk1"/>
                </a:solidFill>
              </a:rPr>
              <a:t>targeting</a:t>
            </a:r>
            <a:r>
              <a:rPr lang="en" sz="1100">
                <a:solidFill>
                  <a:schemeClr val="dk1"/>
                </a:solidFill>
              </a:rPr>
              <a:t> XAU/USD specifically </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Enter at a strike price of slightly OTM to benefit from leverage</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Choose short term expiry date after the anticipated central bank meeting and decision </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No hedge necessary since our risk is only capture through the risk premium</a:t>
            </a:r>
            <a:endParaRPr sz="1100">
              <a:solidFill>
                <a:schemeClr val="dk1"/>
              </a:solidFill>
            </a:endParaRPr>
          </a:p>
          <a:p>
            <a:pPr indent="0" lvl="0" marL="0" rtl="0" algn="l">
              <a:spcBef>
                <a:spcPts val="1200"/>
              </a:spcBef>
              <a:spcAft>
                <a:spcPts val="1200"/>
              </a:spcAft>
              <a:buNone/>
            </a:pPr>
            <a:r>
              <a:rPr lang="en" sz="1100">
                <a:solidFill>
                  <a:schemeClr val="dk1"/>
                </a:solidFill>
              </a:rPr>
              <a:t>If you are unsure about the interest rate decisions of the Fed (i.e you think both strong cuts and hikes are equally mispriced) you can capture this through a non-directional strategy. Does anyone have any ideas?</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311700" y="11965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891"/>
              <a:buNone/>
            </a:pPr>
            <a:r>
              <a:rPr b="1" lang="en" sz="1538">
                <a:solidFill>
                  <a:srgbClr val="1C4587"/>
                </a:solidFill>
              </a:rPr>
              <a:t>Appendix</a:t>
            </a:r>
            <a:endParaRPr b="1" sz="1538">
              <a:solidFill>
                <a:srgbClr val="1C4587"/>
              </a:solidFill>
            </a:endParaRPr>
          </a:p>
        </p:txBody>
      </p:sp>
      <p:pic>
        <p:nvPicPr>
          <p:cNvPr id="246" name="Google Shape;246;p33"/>
          <p:cNvPicPr preferRelativeResize="0"/>
          <p:nvPr/>
        </p:nvPicPr>
        <p:blipFill>
          <a:blip r:embed="rId3">
            <a:alphaModFix/>
          </a:blip>
          <a:stretch>
            <a:fillRect/>
          </a:stretch>
        </p:blipFill>
        <p:spPr>
          <a:xfrm>
            <a:off x="499650" y="539950"/>
            <a:ext cx="3407818" cy="4298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4"/>
          <p:cNvPicPr preferRelativeResize="0"/>
          <p:nvPr/>
        </p:nvPicPr>
        <p:blipFill>
          <a:blip r:embed="rId3">
            <a:alphaModFix/>
          </a:blip>
          <a:stretch>
            <a:fillRect/>
          </a:stretch>
        </p:blipFill>
        <p:spPr>
          <a:xfrm>
            <a:off x="2642150" y="921138"/>
            <a:ext cx="4014926" cy="38790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