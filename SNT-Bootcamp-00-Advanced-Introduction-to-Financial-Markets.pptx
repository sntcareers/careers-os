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005" r:id="rId2"/>
  </p:sldMasterIdLst>
  <p:notesMasterIdLst>
    <p:notesMasterId r:id="rId72"/>
  </p:notesMasterIdLst>
  <p:handoutMasterIdLst>
    <p:handoutMasterId r:id="rId73"/>
  </p:handoutMasterIdLst>
  <p:sldIdLst>
    <p:sldId id="876" r:id="rId3"/>
    <p:sldId id="319" r:id="rId4"/>
    <p:sldId id="268" r:id="rId5"/>
    <p:sldId id="321" r:id="rId6"/>
    <p:sldId id="322" r:id="rId7"/>
    <p:sldId id="324" r:id="rId8"/>
    <p:sldId id="326" r:id="rId9"/>
    <p:sldId id="325" r:id="rId10"/>
    <p:sldId id="328" r:id="rId11"/>
    <p:sldId id="866" r:id="rId12"/>
    <p:sldId id="288" r:id="rId13"/>
    <p:sldId id="290" r:id="rId14"/>
    <p:sldId id="292" r:id="rId15"/>
    <p:sldId id="293" r:id="rId16"/>
    <p:sldId id="879" r:id="rId17"/>
    <p:sldId id="307" r:id="rId18"/>
    <p:sldId id="277" r:id="rId19"/>
    <p:sldId id="309" r:id="rId20"/>
    <p:sldId id="310" r:id="rId21"/>
    <p:sldId id="880" r:id="rId22"/>
    <p:sldId id="881" r:id="rId23"/>
    <p:sldId id="867" r:id="rId24"/>
    <p:sldId id="354" r:id="rId25"/>
    <p:sldId id="355" r:id="rId26"/>
    <p:sldId id="885" r:id="rId27"/>
    <p:sldId id="884" r:id="rId28"/>
    <p:sldId id="886" r:id="rId29"/>
    <p:sldId id="887" r:id="rId30"/>
    <p:sldId id="356" r:id="rId31"/>
    <p:sldId id="888" r:id="rId32"/>
    <p:sldId id="868" r:id="rId33"/>
    <p:sldId id="869" r:id="rId34"/>
    <p:sldId id="870" r:id="rId35"/>
    <p:sldId id="871" r:id="rId36"/>
    <p:sldId id="365" r:id="rId37"/>
    <p:sldId id="872" r:id="rId38"/>
    <p:sldId id="889" r:id="rId39"/>
    <p:sldId id="458" r:id="rId40"/>
    <p:sldId id="497" r:id="rId41"/>
    <p:sldId id="728" r:id="rId42"/>
    <p:sldId id="729" r:id="rId43"/>
    <p:sldId id="469" r:id="rId44"/>
    <p:sldId id="452" r:id="rId45"/>
    <p:sldId id="1347" r:id="rId46"/>
    <p:sldId id="1348" r:id="rId47"/>
    <p:sldId id="657" r:id="rId48"/>
    <p:sldId id="658" r:id="rId49"/>
    <p:sldId id="668" r:id="rId50"/>
    <p:sldId id="660" r:id="rId51"/>
    <p:sldId id="666" r:id="rId52"/>
    <p:sldId id="1352" r:id="rId53"/>
    <p:sldId id="454" r:id="rId54"/>
    <p:sldId id="1356" r:id="rId55"/>
    <p:sldId id="874" r:id="rId56"/>
    <p:sldId id="470" r:id="rId57"/>
    <p:sldId id="471" r:id="rId58"/>
    <p:sldId id="500" r:id="rId59"/>
    <p:sldId id="480" r:id="rId60"/>
    <p:sldId id="481" r:id="rId61"/>
    <p:sldId id="482" r:id="rId62"/>
    <p:sldId id="483" r:id="rId63"/>
    <p:sldId id="484" r:id="rId64"/>
    <p:sldId id="485" r:id="rId65"/>
    <p:sldId id="486" r:id="rId66"/>
    <p:sldId id="487" r:id="rId67"/>
    <p:sldId id="501" r:id="rId68"/>
    <p:sldId id="502" r:id="rId69"/>
    <p:sldId id="488" r:id="rId70"/>
    <p:sldId id="489" r:id="rId71"/>
  </p:sldIdLst>
  <p:sldSz cx="9144000" cy="6858000" type="screen4x3"/>
  <p:notesSz cx="6877050" cy="965358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4156">
          <p15:clr>
            <a:srgbClr val="A4A3A4"/>
          </p15:clr>
        </p15:guide>
        <p15:guide id="2" pos="2880">
          <p15:clr>
            <a:srgbClr val="A4A3A4"/>
          </p15:clr>
        </p15:guide>
      </p15:sldGuideLst>
    </p:ext>
    <p:ext uri="{2D200454-40CA-4A62-9FC3-DE9A4176ACB9}">
      <p15:notesGuideLst xmlns:p15="http://schemas.microsoft.com/office/powerpoint/2012/main">
        <p15:guide id="1" orient="horz" pos="3041" userDrawn="1">
          <p15:clr>
            <a:srgbClr val="A4A3A4"/>
          </p15:clr>
        </p15:guide>
        <p15:guide id="2" pos="216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AA42"/>
    <a:srgbClr val="230576"/>
    <a:srgbClr val="1E0576"/>
    <a:srgbClr val="ED174F"/>
    <a:srgbClr val="232F84"/>
    <a:srgbClr val="0069AA"/>
    <a:srgbClr val="EB529D"/>
    <a:srgbClr val="F47B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31" autoAdjust="0"/>
    <p:restoredTop sz="93447" autoAdjust="0"/>
  </p:normalViewPr>
  <p:slideViewPr>
    <p:cSldViewPr>
      <p:cViewPr varScale="1">
        <p:scale>
          <a:sx n="63" d="100"/>
          <a:sy n="63" d="100"/>
        </p:scale>
        <p:origin x="1236" y="56"/>
      </p:cViewPr>
      <p:guideLst>
        <p:guide orient="horz" pos="415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1" d="100"/>
          <a:sy n="51" d="100"/>
        </p:scale>
        <p:origin x="2658" y="54"/>
      </p:cViewPr>
      <p:guideLst>
        <p:guide orient="horz" pos="3041"/>
        <p:guide pos="216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5A278A-49E1-4647-B50C-8118AB2AA80F}"/>
              </a:ext>
            </a:extLst>
          </p:cNvPr>
          <p:cNvSpPr>
            <a:spLocks noGrp="1"/>
          </p:cNvSpPr>
          <p:nvPr>
            <p:ph type="sldNum" sz="quarter" idx="3"/>
          </p:nvPr>
        </p:nvSpPr>
        <p:spPr>
          <a:xfrm>
            <a:off x="3895715" y="9168438"/>
            <a:ext cx="2979798" cy="483652"/>
          </a:xfrm>
          <a:prstGeom prst="rect">
            <a:avLst/>
          </a:prstGeom>
        </p:spPr>
        <p:txBody>
          <a:bodyPr vert="horz" wrap="square" lIns="91066" tIns="45533" rIns="91066" bIns="45533" numCol="1" anchor="b" anchorCtr="0" compatLnSpc="1">
            <a:prstTxWarp prst="textNoShape">
              <a:avLst/>
            </a:prstTxWarp>
          </a:bodyPr>
          <a:lstStyle>
            <a:lvl1pPr algn="r" eaLnBrk="1" hangingPunct="1">
              <a:defRPr sz="1000" smtClean="0">
                <a:latin typeface="Calibri" panose="020F0502020204030204" pitchFamily="34" charset="0"/>
              </a:defRPr>
            </a:lvl1pPr>
          </a:lstStyle>
          <a:p>
            <a:pPr>
              <a:defRPr/>
            </a:pPr>
            <a:fld id="{7F3FBDAF-8FDB-4388-B460-785FFAC46964}" type="slidenum">
              <a:rPr lang="en-GB" altLang="en-US"/>
              <a:pPr>
                <a:defRPr/>
              </a:pPr>
              <a:t>‹#›</a:t>
            </a:fld>
            <a:endParaRPr lang="en-GB" altLang="en-US"/>
          </a:p>
        </p:txBody>
      </p:sp>
      <p:sp>
        <p:nvSpPr>
          <p:cNvPr id="7" name="Header Placeholder 6">
            <a:extLst>
              <a:ext uri="{FF2B5EF4-FFF2-40B4-BE49-F238E27FC236}">
                <a16:creationId xmlns:a16="http://schemas.microsoft.com/office/drawing/2014/main" id="{60AE0C5B-AFE1-490A-9BEF-409309A3B9E6}"/>
              </a:ext>
            </a:extLst>
          </p:cNvPr>
          <p:cNvSpPr>
            <a:spLocks noGrp="1"/>
          </p:cNvSpPr>
          <p:nvPr>
            <p:ph type="hdr" sz="quarter"/>
          </p:nvPr>
        </p:nvSpPr>
        <p:spPr>
          <a:xfrm>
            <a:off x="1" y="1"/>
            <a:ext cx="2979799" cy="483653"/>
          </a:xfrm>
          <a:prstGeom prst="rect">
            <a:avLst/>
          </a:prstGeom>
        </p:spPr>
        <p:txBody>
          <a:bodyPr vert="horz" lIns="91066" tIns="45533" rIns="91066" bIns="45533" rtlCol="0" anchor="ctr"/>
          <a:lstStyle>
            <a:lvl1pPr algn="l" eaLnBrk="1" fontAlgn="auto" hangingPunct="1">
              <a:spcBef>
                <a:spcPts val="0"/>
              </a:spcBef>
              <a:spcAft>
                <a:spcPts val="0"/>
              </a:spcAft>
              <a:defRPr sz="1000">
                <a:latin typeface="+mn-lt"/>
                <a:cs typeface="+mn-cs"/>
              </a:defRPr>
            </a:lvl1pPr>
          </a:lstStyle>
          <a:p>
            <a:pPr>
              <a:defRPr/>
            </a:pPr>
            <a:endParaRPr lang="en-GB"/>
          </a:p>
        </p:txBody>
      </p:sp>
      <p:sp>
        <p:nvSpPr>
          <p:cNvPr id="8" name="Footer Placeholder 7">
            <a:extLst>
              <a:ext uri="{FF2B5EF4-FFF2-40B4-BE49-F238E27FC236}">
                <a16:creationId xmlns:a16="http://schemas.microsoft.com/office/drawing/2014/main" id="{9559FC84-2252-4B7A-B2F8-E514A1FCEE65}"/>
              </a:ext>
            </a:extLst>
          </p:cNvPr>
          <p:cNvSpPr>
            <a:spLocks noGrp="1"/>
          </p:cNvSpPr>
          <p:nvPr>
            <p:ph type="ftr" sz="quarter" idx="2"/>
          </p:nvPr>
        </p:nvSpPr>
        <p:spPr>
          <a:xfrm>
            <a:off x="1" y="9168438"/>
            <a:ext cx="2979799" cy="483652"/>
          </a:xfrm>
          <a:prstGeom prst="rect">
            <a:avLst/>
          </a:prstGeom>
        </p:spPr>
        <p:txBody>
          <a:bodyPr vert="horz" lIns="91066" tIns="45533" rIns="91066" bIns="45533" rtlCol="0" anchor="b"/>
          <a:lstStyle>
            <a:lvl1pPr algn="l" eaLnBrk="1" fontAlgn="auto" hangingPunct="1">
              <a:spcBef>
                <a:spcPts val="0"/>
              </a:spcBef>
              <a:spcAft>
                <a:spcPts val="0"/>
              </a:spcAft>
              <a:defRPr sz="1000">
                <a:latin typeface="+mn-lt"/>
                <a:cs typeface="+mn-cs"/>
              </a:defRPr>
            </a:lvl1pPr>
          </a:lstStyle>
          <a:p>
            <a:pPr>
              <a:defRPr/>
            </a:pPr>
            <a:endParaRPr lang="en-GB"/>
          </a:p>
        </p:txBody>
      </p:sp>
      <p:pic>
        <p:nvPicPr>
          <p:cNvPr id="11269" name="Picture 6" descr="C:\Users\cdunham\Dropbox\Kaplan\Chantal examples\Kaplan_anchor_point.png">
            <a:extLst>
              <a:ext uri="{FF2B5EF4-FFF2-40B4-BE49-F238E27FC236}">
                <a16:creationId xmlns:a16="http://schemas.microsoft.com/office/drawing/2014/main" id="{37DF74FD-7756-4FDE-9ED5-6704EA0DE2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2310" y="68880"/>
            <a:ext cx="1293961" cy="41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11EB32-1FFD-43D0-B9FB-69D8DF1FBFED}"/>
              </a:ext>
            </a:extLst>
          </p:cNvPr>
          <p:cNvSpPr>
            <a:spLocks noGrp="1"/>
          </p:cNvSpPr>
          <p:nvPr>
            <p:ph type="hdr" sz="quarter"/>
          </p:nvPr>
        </p:nvSpPr>
        <p:spPr>
          <a:xfrm>
            <a:off x="1" y="1"/>
            <a:ext cx="2979799" cy="483653"/>
          </a:xfrm>
          <a:prstGeom prst="rect">
            <a:avLst/>
          </a:prstGeom>
        </p:spPr>
        <p:txBody>
          <a:bodyPr vert="horz" lIns="91066" tIns="45533" rIns="91066" bIns="45533" rtlCol="0" anchor="ctr"/>
          <a:lstStyle>
            <a:lvl1pPr algn="l" eaLnBrk="1" fontAlgn="auto" hangingPunct="1">
              <a:spcBef>
                <a:spcPts val="0"/>
              </a:spcBef>
              <a:spcAft>
                <a:spcPts val="0"/>
              </a:spcAft>
              <a:defRPr sz="1000" b="0">
                <a:latin typeface="+mn-lt"/>
                <a:cs typeface="+mn-cs"/>
              </a:defRPr>
            </a:lvl1pPr>
          </a:lstStyle>
          <a:p>
            <a:pPr>
              <a:defRPr/>
            </a:pPr>
            <a:endParaRPr lang="en-GB"/>
          </a:p>
        </p:txBody>
      </p:sp>
      <p:sp>
        <p:nvSpPr>
          <p:cNvPr id="4" name="Slide Image Placeholder 3">
            <a:extLst>
              <a:ext uri="{FF2B5EF4-FFF2-40B4-BE49-F238E27FC236}">
                <a16:creationId xmlns:a16="http://schemas.microsoft.com/office/drawing/2014/main" id="{C71FC6C5-350B-45D8-A987-7EA7C0232607}"/>
              </a:ext>
            </a:extLst>
          </p:cNvPr>
          <p:cNvSpPr>
            <a:spLocks noGrp="1" noRot="1" noChangeAspect="1"/>
          </p:cNvSpPr>
          <p:nvPr>
            <p:ph type="sldImg" idx="2"/>
          </p:nvPr>
        </p:nvSpPr>
        <p:spPr>
          <a:xfrm>
            <a:off x="1027113" y="725488"/>
            <a:ext cx="4822825" cy="3617912"/>
          </a:xfrm>
          <a:prstGeom prst="rect">
            <a:avLst/>
          </a:prstGeom>
          <a:noFill/>
          <a:ln w="12700">
            <a:solidFill>
              <a:prstClr val="black"/>
            </a:solidFill>
          </a:ln>
        </p:spPr>
        <p:txBody>
          <a:bodyPr vert="horz" lIns="91066" tIns="45533" rIns="91066" bIns="45533" rtlCol="0" anchor="ctr"/>
          <a:lstStyle/>
          <a:p>
            <a:pPr lvl="0"/>
            <a:endParaRPr lang="en-GB" noProof="0"/>
          </a:p>
        </p:txBody>
      </p:sp>
      <p:sp>
        <p:nvSpPr>
          <p:cNvPr id="5" name="Notes Placeholder 4">
            <a:extLst>
              <a:ext uri="{FF2B5EF4-FFF2-40B4-BE49-F238E27FC236}">
                <a16:creationId xmlns:a16="http://schemas.microsoft.com/office/drawing/2014/main" id="{DC708B98-2028-47FF-9143-454187AA9777}"/>
              </a:ext>
            </a:extLst>
          </p:cNvPr>
          <p:cNvSpPr>
            <a:spLocks noGrp="1"/>
          </p:cNvSpPr>
          <p:nvPr>
            <p:ph type="body" sz="quarter" idx="3"/>
          </p:nvPr>
        </p:nvSpPr>
        <p:spPr>
          <a:xfrm>
            <a:off x="686937" y="4584968"/>
            <a:ext cx="5503176" cy="4343890"/>
          </a:xfrm>
          <a:prstGeom prst="rect">
            <a:avLst/>
          </a:prstGeom>
        </p:spPr>
        <p:txBody>
          <a:bodyPr vert="horz" lIns="91066" tIns="45533" rIns="91066" bIns="45533"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5">
            <a:extLst>
              <a:ext uri="{FF2B5EF4-FFF2-40B4-BE49-F238E27FC236}">
                <a16:creationId xmlns:a16="http://schemas.microsoft.com/office/drawing/2014/main" id="{06B4038E-E7BF-4A8D-807C-C5863ECB8F1B}"/>
              </a:ext>
            </a:extLst>
          </p:cNvPr>
          <p:cNvSpPr>
            <a:spLocks noGrp="1"/>
          </p:cNvSpPr>
          <p:nvPr>
            <p:ph type="ftr" sz="quarter" idx="4"/>
          </p:nvPr>
        </p:nvSpPr>
        <p:spPr>
          <a:xfrm>
            <a:off x="1" y="9168438"/>
            <a:ext cx="2979799" cy="483652"/>
          </a:xfrm>
          <a:prstGeom prst="rect">
            <a:avLst/>
          </a:prstGeom>
        </p:spPr>
        <p:txBody>
          <a:bodyPr vert="horz" lIns="91066" tIns="45533" rIns="91066" bIns="45533" rtlCol="0" anchor="b"/>
          <a:lstStyle>
            <a:lvl1pPr algn="l" eaLnBrk="1" fontAlgn="auto" hangingPunct="1">
              <a:spcBef>
                <a:spcPts val="0"/>
              </a:spcBef>
              <a:spcAft>
                <a:spcPts val="0"/>
              </a:spcAft>
              <a:defRPr sz="1000" b="0">
                <a:latin typeface="+mn-lt"/>
                <a:cs typeface="+mn-cs"/>
              </a:defRPr>
            </a:lvl1pPr>
          </a:lstStyle>
          <a:p>
            <a:pPr>
              <a:defRPr/>
            </a:pPr>
            <a:endParaRPr lang="en-GB"/>
          </a:p>
        </p:txBody>
      </p:sp>
      <p:sp>
        <p:nvSpPr>
          <p:cNvPr id="7" name="Slide Number Placeholder 6">
            <a:extLst>
              <a:ext uri="{FF2B5EF4-FFF2-40B4-BE49-F238E27FC236}">
                <a16:creationId xmlns:a16="http://schemas.microsoft.com/office/drawing/2014/main" id="{A119E262-03CA-48F5-8E95-D45816EBD877}"/>
              </a:ext>
            </a:extLst>
          </p:cNvPr>
          <p:cNvSpPr>
            <a:spLocks noGrp="1"/>
          </p:cNvSpPr>
          <p:nvPr>
            <p:ph type="sldNum" sz="quarter" idx="5"/>
          </p:nvPr>
        </p:nvSpPr>
        <p:spPr>
          <a:xfrm>
            <a:off x="3895715" y="9168438"/>
            <a:ext cx="2979798" cy="483652"/>
          </a:xfrm>
          <a:prstGeom prst="rect">
            <a:avLst/>
          </a:prstGeom>
        </p:spPr>
        <p:txBody>
          <a:bodyPr vert="horz" wrap="square" lIns="91066" tIns="45533" rIns="91066" bIns="45533" numCol="1" anchor="b" anchorCtr="0" compatLnSpc="1">
            <a:prstTxWarp prst="textNoShape">
              <a:avLst/>
            </a:prstTxWarp>
          </a:bodyPr>
          <a:lstStyle>
            <a:lvl1pPr algn="r" eaLnBrk="1" hangingPunct="1">
              <a:defRPr sz="1000" smtClean="0">
                <a:latin typeface="Calibri" panose="020F0502020204030204" pitchFamily="34" charset="0"/>
              </a:defRPr>
            </a:lvl1pPr>
          </a:lstStyle>
          <a:p>
            <a:pPr>
              <a:defRPr/>
            </a:pPr>
            <a:fld id="{0023B128-E833-4634-80F8-CB2B3E1FE116}" type="slidenum">
              <a:rPr lang="en-GB" altLang="en-US"/>
              <a:pPr>
                <a:defRPr/>
              </a:pPr>
              <a:t>‹#›</a:t>
            </a:fld>
            <a:endParaRPr lang="en-GB" altLang="en-US"/>
          </a:p>
        </p:txBody>
      </p:sp>
      <p:pic>
        <p:nvPicPr>
          <p:cNvPr id="10247" name="Picture 6" descr="C:\Users\cdunham\Dropbox\Kaplan\Chantal examples\Kaplan_anchor_point.png">
            <a:extLst>
              <a:ext uri="{FF2B5EF4-FFF2-40B4-BE49-F238E27FC236}">
                <a16:creationId xmlns:a16="http://schemas.microsoft.com/office/drawing/2014/main" id="{A29A1EB0-9B21-4544-8771-847419D5D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2310" y="68880"/>
            <a:ext cx="1293961" cy="41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000" kern="1200">
        <a:solidFill>
          <a:schemeClr val="tx1"/>
        </a:solidFill>
        <a:latin typeface="+mn-lt"/>
        <a:ea typeface="+mn-ea"/>
        <a:cs typeface="+mn-cs"/>
      </a:defRPr>
    </a:lvl1pPr>
    <a:lvl2pPr marL="457200" algn="l" rtl="0" eaLnBrk="0" fontAlgn="base" hangingPunct="0">
      <a:spcBef>
        <a:spcPct val="30000"/>
      </a:spcBef>
      <a:spcAft>
        <a:spcPct val="0"/>
      </a:spcAft>
      <a:defRPr sz="1000" kern="1200">
        <a:solidFill>
          <a:schemeClr val="tx1"/>
        </a:solidFill>
        <a:latin typeface="+mn-lt"/>
        <a:ea typeface="+mn-ea"/>
        <a:cs typeface="+mn-cs"/>
      </a:defRPr>
    </a:lvl2pPr>
    <a:lvl3pPr marL="914400" algn="l" rtl="0" eaLnBrk="0" fontAlgn="base" hangingPunct="0">
      <a:spcBef>
        <a:spcPct val="30000"/>
      </a:spcBef>
      <a:spcAft>
        <a:spcPct val="0"/>
      </a:spcAft>
      <a:defRPr sz="1000" kern="1200">
        <a:solidFill>
          <a:schemeClr val="tx1"/>
        </a:solidFill>
        <a:latin typeface="+mn-lt"/>
        <a:ea typeface="+mn-ea"/>
        <a:cs typeface="+mn-cs"/>
      </a:defRPr>
    </a:lvl3pPr>
    <a:lvl4pPr marL="1371600" algn="l" rtl="0" eaLnBrk="0" fontAlgn="base" hangingPunct="0">
      <a:spcBef>
        <a:spcPct val="30000"/>
      </a:spcBef>
      <a:spcAft>
        <a:spcPct val="0"/>
      </a:spcAft>
      <a:defRPr sz="1000" kern="1200">
        <a:solidFill>
          <a:schemeClr val="tx1"/>
        </a:solidFill>
        <a:latin typeface="+mn-lt"/>
        <a:ea typeface="+mn-ea"/>
        <a:cs typeface="+mn-cs"/>
      </a:defRPr>
    </a:lvl4pPr>
    <a:lvl5pPr marL="1828800" algn="l" rtl="0" eaLnBrk="0" fontAlgn="base" hangingPunct="0">
      <a:spcBef>
        <a:spcPct val="30000"/>
      </a:spcBef>
      <a:spcAft>
        <a:spcPct val="0"/>
      </a:spcAft>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investopedia.com/trading-instruments-4427763"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3">
            <a:extLst>
              <a:ext uri="{FF2B5EF4-FFF2-40B4-BE49-F238E27FC236}">
                <a16:creationId xmlns:a16="http://schemas.microsoft.com/office/drawing/2014/main" id="{191EA0E1-9B29-497D-97DE-0CEC8803B9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4">
            <a:extLst>
              <a:ext uri="{FF2B5EF4-FFF2-40B4-BE49-F238E27FC236}">
                <a16:creationId xmlns:a16="http://schemas.microsoft.com/office/drawing/2014/main" id="{C07429EA-D2F9-47E0-9052-A88A3815BD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7412" name="Slide Number Placeholder 4">
            <a:extLst>
              <a:ext uri="{FF2B5EF4-FFF2-40B4-BE49-F238E27FC236}">
                <a16:creationId xmlns:a16="http://schemas.microsoft.com/office/drawing/2014/main" id="{F9318E8A-8D69-4642-A3F0-13B3D497805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7B97605B-C205-4540-94A9-8F8A03EA2871}" type="slidenum">
              <a:rPr lang="en-GB" altLang="en-US"/>
              <a:pPr>
                <a:spcBef>
                  <a:spcPct val="0"/>
                </a:spcBef>
              </a:pPr>
              <a:t>1</a:t>
            </a:fld>
            <a:endParaRPr lang="en-GB" altLang="en-US"/>
          </a:p>
        </p:txBody>
      </p:sp>
    </p:spTree>
    <p:extLst>
      <p:ext uri="{BB962C8B-B14F-4D97-AF65-F5344CB8AC3E}">
        <p14:creationId xmlns:p14="http://schemas.microsoft.com/office/powerpoint/2010/main" val="1419268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4294967295"/>
          </p:nvPr>
        </p:nvSpPr>
        <p:spPr bwMode="auto">
          <a:xfrm>
            <a:off x="4021138" y="9720263"/>
            <a:ext cx="3076575" cy="5127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59" tIns="47380" rIns="94759" bIns="47380"/>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7CE70177-8D71-40B1-962A-111FF8882AD0}" type="slidenum">
              <a:rPr lang="de-DE" altLang="en-US" sz="1800"/>
              <a:pPr eaLnBrk="1" hangingPunct="1">
                <a:spcBef>
                  <a:spcPct val="0"/>
                </a:spcBef>
              </a:pPr>
              <a:t>2</a:t>
            </a:fld>
            <a:endParaRPr lang="de-DE" altLang="en-US" sz="1800"/>
          </a:p>
        </p:txBody>
      </p:sp>
      <p:sp>
        <p:nvSpPr>
          <p:cNvPr id="31747" name="Rectangle 10"/>
          <p:cNvSpPr>
            <a:spLocks noGrp="1" noRot="1" noChangeAspect="1" noChangeArrowheads="1" noTextEdit="1"/>
          </p:cNvSpPr>
          <p:nvPr>
            <p:ph type="sldImg"/>
          </p:nvPr>
        </p:nvSpPr>
        <p:spPr>
          <a:xfrm>
            <a:off x="993775" y="757238"/>
            <a:ext cx="5140325" cy="3856037"/>
          </a:xfrm>
          <a:solidFill>
            <a:srgbClr val="FFFFFF"/>
          </a:solidFill>
          <a:ln>
            <a:solidFill>
              <a:srgbClr val="000000"/>
            </a:solidFill>
          </a:ln>
        </p:spPr>
      </p:sp>
      <p:sp>
        <p:nvSpPr>
          <p:cNvPr id="31748" name="Rectangle 11"/>
          <p:cNvSpPr>
            <a:spLocks noGrp="1" noChangeArrowheads="1"/>
          </p:cNvSpPr>
          <p:nvPr>
            <p:ph type="body" idx="1"/>
          </p:nvPr>
        </p:nvSpPr>
        <p:spPr>
          <a:xfrm>
            <a:off x="236538" y="5334000"/>
            <a:ext cx="6626225" cy="4608513"/>
          </a:xfrm>
          <a:noFill/>
          <a:ln>
            <a:solidFill>
              <a:srgbClr val="000000"/>
            </a:solidFill>
            <a:miter lim="800000"/>
            <a:headEnd/>
            <a:tailEnd/>
          </a:ln>
        </p:spPr>
        <p:txBody>
          <a:bodyPr lIns="96460" tIns="48230" rIns="96460" bIns="48230"/>
          <a:lstStyle/>
          <a:p>
            <a:r>
              <a:rPr lang="en-GB" altLang="en-US" sz="1100" b="1">
                <a:latin typeface="Arial" panose="020B0604020202020204" pitchFamily="34" charset="0"/>
                <a:cs typeface="Arial" panose="020B0604020202020204" pitchFamily="34" charset="0"/>
              </a:rPr>
              <a:t>Provision of a Payment Mechanism</a:t>
            </a:r>
          </a:p>
          <a:p>
            <a:r>
              <a:rPr lang="en-GB" altLang="en-US" sz="1100">
                <a:latin typeface="Arial" panose="020B0604020202020204" pitchFamily="34" charset="0"/>
                <a:cs typeface="Arial" panose="020B0604020202020204" pitchFamily="34" charset="0"/>
              </a:rPr>
              <a:t>The facilitation of payments of funds by non-cash means</a:t>
            </a:r>
          </a:p>
          <a:p>
            <a:r>
              <a:rPr lang="en-GB" altLang="en-US" sz="1100" b="1">
                <a:latin typeface="Arial" panose="020B0604020202020204" pitchFamily="34" charset="0"/>
                <a:cs typeface="Arial" panose="020B0604020202020204" pitchFamily="34" charset="0"/>
              </a:rPr>
              <a:t>Management of Maturity Terms</a:t>
            </a:r>
          </a:p>
          <a:p>
            <a:r>
              <a:rPr lang="en-GB" altLang="en-US" sz="1100">
                <a:latin typeface="Arial" panose="020B0604020202020204" pitchFamily="34" charset="0"/>
                <a:cs typeface="Arial" panose="020B0604020202020204" pitchFamily="34" charset="0"/>
              </a:rPr>
              <a:t>Those with surplus cash often want easy access/redemption, but those who have the deficit often require use of the funds over a much longer term. A financial market brings these two apparent opposing needs together.</a:t>
            </a:r>
          </a:p>
          <a:p>
            <a:r>
              <a:rPr lang="en-GB" altLang="en-US" sz="1100">
                <a:latin typeface="Arial" panose="020B0604020202020204" pitchFamily="34" charset="0"/>
                <a:cs typeface="Arial" panose="020B0604020202020204" pitchFamily="34" charset="0"/>
              </a:rPr>
              <a:t>An effective financial market provides both surplus and deficit parties with a greater choice in how to save and borrow funds</a:t>
            </a:r>
          </a:p>
          <a:p>
            <a:r>
              <a:rPr lang="en-GB" altLang="en-US" sz="1100" b="1">
                <a:latin typeface="Arial" panose="020B0604020202020204" pitchFamily="34" charset="0"/>
                <a:cs typeface="Arial" panose="020B0604020202020204" pitchFamily="34" charset="0"/>
              </a:rPr>
              <a:t>Transformation of Risk</a:t>
            </a:r>
          </a:p>
          <a:p>
            <a:r>
              <a:rPr lang="en-GB" altLang="en-US" sz="1100">
                <a:latin typeface="Arial" panose="020B0604020202020204" pitchFamily="34" charset="0"/>
                <a:cs typeface="Arial" panose="020B0604020202020204" pitchFamily="34" charset="0"/>
              </a:rPr>
              <a:t>Borrowers often require funds for inherently risky investments, but savers often require security.  </a:t>
            </a:r>
          </a:p>
          <a:p>
            <a:r>
              <a:rPr lang="en-GB" altLang="en-US" sz="1100">
                <a:latin typeface="Arial" panose="020B0604020202020204" pitchFamily="34" charset="0"/>
                <a:cs typeface="Arial" panose="020B0604020202020204" pitchFamily="34" charset="0"/>
              </a:rPr>
              <a:t>Financial markets allow the risk to be evaluated, spread and rewarded (for taking on). </a:t>
            </a:r>
          </a:p>
          <a:p>
            <a:r>
              <a:rPr lang="en-GB" altLang="en-US" sz="1100" b="1">
                <a:latin typeface="Arial" panose="020B0604020202020204" pitchFamily="34" charset="0"/>
                <a:cs typeface="Arial" panose="020B0604020202020204" pitchFamily="34" charset="0"/>
              </a:rPr>
              <a:t>Provision of Liquidity </a:t>
            </a:r>
          </a:p>
          <a:p>
            <a:r>
              <a:rPr lang="en-GB" altLang="en-US" sz="1100">
                <a:latin typeface="Arial" panose="020B0604020202020204" pitchFamily="34" charset="0"/>
                <a:cs typeface="Arial" panose="020B0604020202020204" pitchFamily="34" charset="0"/>
              </a:rPr>
              <a:t>Savers require liquidity to readily redeem their assets into cash at short notice and a fair price.</a:t>
            </a:r>
          </a:p>
          <a:p>
            <a:r>
              <a:rPr lang="en-GB" altLang="en-US" sz="1100">
                <a:latin typeface="Arial" panose="020B0604020202020204" pitchFamily="34" charset="0"/>
                <a:cs typeface="Arial" panose="020B0604020202020204" pitchFamily="34" charset="0"/>
              </a:rPr>
              <a:t>Financial Markets bring together numerous potential buyers and sellers.</a:t>
            </a:r>
          </a:p>
          <a:p>
            <a:r>
              <a:rPr lang="en-GB" altLang="en-US" sz="1100" b="1">
                <a:latin typeface="Arial" panose="020B0604020202020204" pitchFamily="34" charset="0"/>
                <a:cs typeface="Arial" panose="020B0604020202020204" pitchFamily="34" charset="0"/>
              </a:rPr>
              <a:t>Cost Efficiency</a:t>
            </a:r>
          </a:p>
          <a:p>
            <a:r>
              <a:rPr lang="en-GB" altLang="en-US" sz="1100">
                <a:latin typeface="Arial" panose="020B0604020202020204" pitchFamily="34" charset="0"/>
                <a:cs typeface="Arial" panose="020B0604020202020204" pitchFamily="34" charset="0"/>
              </a:rPr>
              <a:t>Economies of scales in systems and volumes</a:t>
            </a:r>
            <a:endParaRPr lang="en-GB" altLang="en-US">
              <a:latin typeface="Arial" panose="020B0604020202020204" pitchFamily="34" charset="0"/>
              <a:cs typeface="Arial" panose="020B0604020202020204" pitchFamily="34" charset="0"/>
            </a:endParaRPr>
          </a:p>
          <a:p>
            <a:endParaRPr lang="en-GB" altLang="en-US">
              <a:latin typeface="Arial" panose="020B0604020202020204" pitchFamily="34" charset="0"/>
            </a:endParaRPr>
          </a:p>
        </p:txBody>
      </p:sp>
    </p:spTree>
    <p:extLst>
      <p:ext uri="{BB962C8B-B14F-4D97-AF65-F5344CB8AC3E}">
        <p14:creationId xmlns:p14="http://schemas.microsoft.com/office/powerpoint/2010/main" val="1482112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5">
            <a:extLst>
              <a:ext uri="{FF2B5EF4-FFF2-40B4-BE49-F238E27FC236}">
                <a16:creationId xmlns:a16="http://schemas.microsoft.com/office/drawing/2014/main" id="{4A912C35-9BAF-4CC9-80BB-298C09F50D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6">
            <a:extLst>
              <a:ext uri="{FF2B5EF4-FFF2-40B4-BE49-F238E27FC236}">
                <a16:creationId xmlns:a16="http://schemas.microsoft.com/office/drawing/2014/main" id="{87343257-CE23-4AFE-9CFD-BC220CC9E9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8" name="Slide Number Placeholder 5">
            <a:extLst>
              <a:ext uri="{FF2B5EF4-FFF2-40B4-BE49-F238E27FC236}">
                <a16:creationId xmlns:a16="http://schemas.microsoft.com/office/drawing/2014/main" id="{284285AB-096A-40E3-9B75-FC1E6A12C0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1060315A-6CC0-44C7-B968-E4185CD8C9DE}" type="slidenum">
              <a:rPr lang="en-GB" altLang="en-US"/>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2"/>
          <p:cNvSpPr>
            <a:spLocks noGrp="1" noChangeArrowheads="1"/>
          </p:cNvSpPr>
          <p:nvPr>
            <p:ph type="sldNum" sz="quarter" idx="4294967295"/>
          </p:nvPr>
        </p:nvSpPr>
        <p:spPr bwMode="auto">
          <a:xfrm>
            <a:off x="4021138" y="9720263"/>
            <a:ext cx="3076575" cy="5127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59" tIns="47380" rIns="94759" bIns="47380"/>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45ABBBA-D327-4CD6-83CC-5A71E16DAB09}" type="slidenum">
              <a:rPr lang="en-GB" altLang="en-US" sz="1800"/>
              <a:pPr eaLnBrk="1" hangingPunct="1">
                <a:spcBef>
                  <a:spcPct val="0"/>
                </a:spcBef>
              </a:pPr>
              <a:t>4</a:t>
            </a:fld>
            <a:endParaRPr lang="en-GB" altLang="en-US" sz="1800"/>
          </a:p>
        </p:txBody>
      </p:sp>
      <p:sp>
        <p:nvSpPr>
          <p:cNvPr id="35843" name="Rectangle 11"/>
          <p:cNvSpPr>
            <a:spLocks noGrp="1" noRot="1" noChangeAspect="1" noChangeArrowheads="1" noTextEdit="1"/>
          </p:cNvSpPr>
          <p:nvPr>
            <p:ph type="sldImg"/>
          </p:nvPr>
        </p:nvSpPr>
        <p:spPr>
          <a:xfrm>
            <a:off x="912813" y="725488"/>
            <a:ext cx="5183187" cy="3887787"/>
          </a:xfrm>
          <a:solidFill>
            <a:srgbClr val="FFFFFF"/>
          </a:solidFill>
          <a:ln>
            <a:solidFill>
              <a:srgbClr val="000000"/>
            </a:solidFill>
          </a:ln>
        </p:spPr>
      </p:sp>
      <p:sp>
        <p:nvSpPr>
          <p:cNvPr id="35844" name="Rectangle 12"/>
          <p:cNvSpPr>
            <a:spLocks noGrp="1" noChangeArrowheads="1"/>
          </p:cNvSpPr>
          <p:nvPr>
            <p:ph type="body" idx="1"/>
          </p:nvPr>
        </p:nvSpPr>
        <p:spPr>
          <a:xfrm>
            <a:off x="236538" y="5334000"/>
            <a:ext cx="6626225" cy="4608513"/>
          </a:xfrm>
          <a:solidFill>
            <a:srgbClr val="FFFFFF"/>
          </a:solidFill>
          <a:ln>
            <a:solidFill>
              <a:srgbClr val="000000"/>
            </a:solidFill>
            <a:miter lim="800000"/>
            <a:headEnd/>
            <a:tailEnd/>
          </a:ln>
        </p:spPr>
        <p:txBody>
          <a:bodyPr lIns="96460" tIns="48230" rIns="96460" bIns="48230"/>
          <a:lstStyle/>
          <a:p>
            <a:endParaRPr lang="en-US" altLang="en-US">
              <a:latin typeface="Arial" panose="020B0604020202020204" pitchFamily="34" charset="0"/>
            </a:endParaRPr>
          </a:p>
        </p:txBody>
      </p:sp>
    </p:spTree>
    <p:extLst>
      <p:ext uri="{BB962C8B-B14F-4D97-AF65-F5344CB8AC3E}">
        <p14:creationId xmlns:p14="http://schemas.microsoft.com/office/powerpoint/2010/main" val="3434332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Rot="1" noChangeAspect="1" noChangeArrowheads="1" noTextEdit="1"/>
          </p:cNvSpPr>
          <p:nvPr>
            <p:ph type="sldImg"/>
          </p:nvPr>
        </p:nvSpPr>
        <p:spPr>
          <a:xfrm>
            <a:off x="1031875" y="725488"/>
            <a:ext cx="5040313" cy="3781425"/>
          </a:xfrm>
          <a:solidFill>
            <a:srgbClr val="FFFFFF"/>
          </a:solidFill>
          <a:ln>
            <a:solidFill>
              <a:srgbClr val="000000"/>
            </a:solidFill>
          </a:ln>
        </p:spPr>
      </p:sp>
      <p:sp>
        <p:nvSpPr>
          <p:cNvPr id="37891" name="Rectangle 5"/>
          <p:cNvSpPr>
            <a:spLocks noGrp="1" noChangeArrowheads="1"/>
          </p:cNvSpPr>
          <p:nvPr>
            <p:ph type="body" idx="1"/>
          </p:nvPr>
        </p:nvSpPr>
        <p:spPr>
          <a:xfrm>
            <a:off x="236538" y="5334000"/>
            <a:ext cx="6626225" cy="4608513"/>
          </a:xfrm>
          <a:noFill/>
          <a:ln>
            <a:solidFill>
              <a:srgbClr val="000000"/>
            </a:solidFill>
            <a:miter lim="800000"/>
            <a:headEnd/>
            <a:tailEnd/>
          </a:ln>
        </p:spPr>
        <p:txBody>
          <a:bodyPr lIns="96460" tIns="48230" rIns="96460" bIns="48230"/>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5465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50000"/>
              </a:spcBef>
            </a:pPr>
            <a:fld id="{D343AD2F-DE7E-4B18-8DBB-3B6566A751B9}" type="slidenum">
              <a:rPr lang="en-GB" altLang="en-US" sz="1800"/>
              <a:pPr eaLnBrk="1" hangingPunct="1">
                <a:spcBef>
                  <a:spcPct val="50000"/>
                </a:spcBef>
              </a:pPr>
              <a:t>6</a:t>
            </a:fld>
            <a:endParaRPr lang="en-GB" altLang="en-US" sz="1800"/>
          </a:p>
        </p:txBody>
      </p:sp>
      <p:sp>
        <p:nvSpPr>
          <p:cNvPr id="41987" name="Rectangle 16"/>
          <p:cNvSpPr>
            <a:spLocks noGrp="1" noRot="1" noChangeAspect="1" noChangeArrowheads="1" noTextEdit="1"/>
          </p:cNvSpPr>
          <p:nvPr>
            <p:ph type="sldImg"/>
          </p:nvPr>
        </p:nvSpPr>
        <p:spPr>
          <a:xfrm>
            <a:off x="1031875" y="796925"/>
            <a:ext cx="5086350" cy="3816350"/>
          </a:xfrm>
          <a:solidFill>
            <a:srgbClr val="FFFFFF"/>
          </a:solidFill>
          <a:ln>
            <a:solidFill>
              <a:srgbClr val="000000"/>
            </a:solidFill>
          </a:ln>
        </p:spPr>
      </p:sp>
      <p:sp>
        <p:nvSpPr>
          <p:cNvPr id="41988" name="Rectangle 17"/>
          <p:cNvSpPr>
            <a:spLocks noGrp="1" noChangeArrowheads="1"/>
          </p:cNvSpPr>
          <p:nvPr>
            <p:ph type="body" idx="1"/>
          </p:nvPr>
        </p:nvSpPr>
        <p:spPr>
          <a:xfrm>
            <a:off x="236538" y="5334000"/>
            <a:ext cx="6626225" cy="4608513"/>
          </a:xfrm>
          <a:solidFill>
            <a:srgbClr val="FFFFFF"/>
          </a:solidFill>
          <a:ln>
            <a:solidFill>
              <a:srgbClr val="000000"/>
            </a:solidFill>
            <a:miter lim="800000"/>
            <a:headEnd/>
            <a:tailEnd/>
          </a:ln>
        </p:spPr>
        <p:txBody>
          <a:bodyPr lIns="96460" tIns="48230" rIns="96460" bIns="48230"/>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dirty="0"/>
              <a:t>Fund management firms use their expertise in research and risk management in order to invest clients’ money. By doing so, they earn fees called initial charges (can be rebated), annual management charges (AMC) on assets under management (AUM), performance fees (on hedge fund type strategies) and sometimes exit fees for early redemption:</a:t>
            </a:r>
          </a:p>
          <a:p>
            <a:endParaRPr lang="en-US" altLang="en-US" dirty="0">
              <a:latin typeface="Arial" panose="020B0604020202020204" pitchFamily="34" charset="0"/>
            </a:endParaRPr>
          </a:p>
        </p:txBody>
      </p:sp>
    </p:spTree>
    <p:extLst>
      <p:ext uri="{BB962C8B-B14F-4D97-AF65-F5344CB8AC3E}">
        <p14:creationId xmlns:p14="http://schemas.microsoft.com/office/powerpoint/2010/main" val="1151187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50000"/>
              </a:spcBef>
            </a:pPr>
            <a:fld id="{D9C8C025-857C-48BD-A9AD-AEC5B1DF766C}" type="slidenum">
              <a:rPr lang="en-GB" altLang="en-US" sz="1800"/>
              <a:pPr eaLnBrk="1" hangingPunct="1">
                <a:spcBef>
                  <a:spcPct val="50000"/>
                </a:spcBef>
              </a:pPr>
              <a:t>7</a:t>
            </a:fld>
            <a:endParaRPr lang="en-GB" altLang="en-US" sz="1800"/>
          </a:p>
        </p:txBody>
      </p:sp>
      <p:sp>
        <p:nvSpPr>
          <p:cNvPr id="46083" name="Rectangle 12"/>
          <p:cNvSpPr>
            <a:spLocks noGrp="1" noRot="1" noChangeAspect="1" noChangeArrowheads="1" noTextEdit="1"/>
          </p:cNvSpPr>
          <p:nvPr>
            <p:ph type="sldImg"/>
          </p:nvPr>
        </p:nvSpPr>
        <p:spPr>
          <a:xfrm>
            <a:off x="190500" y="149225"/>
            <a:ext cx="6718300" cy="5040313"/>
          </a:xfrm>
          <a:solidFill>
            <a:srgbClr val="FFFFFF"/>
          </a:solidFill>
          <a:ln>
            <a:solidFill>
              <a:srgbClr val="000000"/>
            </a:solidFill>
          </a:ln>
        </p:spPr>
      </p:sp>
      <p:sp>
        <p:nvSpPr>
          <p:cNvPr id="46084" name="Rectangle 13"/>
          <p:cNvSpPr>
            <a:spLocks noGrp="1" noChangeArrowheads="1"/>
          </p:cNvSpPr>
          <p:nvPr>
            <p:ph type="body" idx="1"/>
          </p:nvPr>
        </p:nvSpPr>
        <p:spPr>
          <a:xfrm>
            <a:off x="236538" y="5334000"/>
            <a:ext cx="6626225" cy="4608513"/>
          </a:xfrm>
          <a:solidFill>
            <a:srgbClr val="FFFFFF"/>
          </a:solidFill>
          <a:ln>
            <a:solidFill>
              <a:srgbClr val="000000"/>
            </a:solidFill>
            <a:miter lim="800000"/>
            <a:headEnd/>
            <a:tailEnd/>
          </a:ln>
        </p:spPr>
        <p:txBody>
          <a:bodyPr lIns="96460" tIns="48230" rIns="96460" bIns="48230"/>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902529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50000"/>
              </a:spcBef>
            </a:pPr>
            <a:fld id="{F090529B-A3BB-4B24-8A09-18E486F716B7}" type="slidenum">
              <a:rPr lang="en-GB" altLang="en-US" sz="1800"/>
              <a:pPr eaLnBrk="1" hangingPunct="1">
                <a:spcBef>
                  <a:spcPct val="50000"/>
                </a:spcBef>
              </a:pPr>
              <a:t>8</a:t>
            </a:fld>
            <a:endParaRPr lang="en-GB" altLang="en-US" sz="1800"/>
          </a:p>
        </p:txBody>
      </p:sp>
      <p:sp>
        <p:nvSpPr>
          <p:cNvPr id="44035" name="Rectangle 14"/>
          <p:cNvSpPr>
            <a:spLocks noGrp="1" noRot="1" noChangeAspect="1" noChangeArrowheads="1" noTextEdit="1"/>
          </p:cNvSpPr>
          <p:nvPr>
            <p:ph type="sldImg"/>
          </p:nvPr>
        </p:nvSpPr>
        <p:spPr>
          <a:xfrm>
            <a:off x="190500" y="149225"/>
            <a:ext cx="6718300" cy="5040313"/>
          </a:xfrm>
          <a:solidFill>
            <a:srgbClr val="FFFFFF"/>
          </a:solidFill>
          <a:ln>
            <a:solidFill>
              <a:srgbClr val="000000"/>
            </a:solidFill>
          </a:ln>
        </p:spPr>
      </p:sp>
      <p:sp>
        <p:nvSpPr>
          <p:cNvPr id="44036" name="Rectangle 15"/>
          <p:cNvSpPr>
            <a:spLocks noGrp="1" noChangeArrowheads="1"/>
          </p:cNvSpPr>
          <p:nvPr>
            <p:ph type="body" idx="1"/>
          </p:nvPr>
        </p:nvSpPr>
        <p:spPr>
          <a:xfrm>
            <a:off x="236538" y="5334000"/>
            <a:ext cx="6626225" cy="4608513"/>
          </a:xfrm>
          <a:solidFill>
            <a:srgbClr val="FFFFFF"/>
          </a:solidFill>
          <a:ln>
            <a:solidFill>
              <a:srgbClr val="000000"/>
            </a:solidFill>
            <a:miter lim="800000"/>
            <a:headEnd/>
            <a:tailEnd/>
          </a:ln>
        </p:spPr>
        <p:txBody>
          <a:bodyPr lIns="96460" tIns="48230" rIns="96460" bIns="48230">
            <a:normAutofit fontScale="92500"/>
          </a:bodyPr>
          <a:lstStyle/>
          <a:p>
            <a:pPr marL="0" indent="0">
              <a:buNone/>
            </a:pPr>
            <a:r>
              <a:rPr lang="en-GB" sz="1000" dirty="0">
                <a:solidFill>
                  <a:srgbClr val="000000"/>
                </a:solidFill>
              </a:rPr>
              <a:t>BREAKING DOWN 'Two And Twenty'</a:t>
            </a:r>
          </a:p>
          <a:p>
            <a:pPr marL="0" indent="0">
              <a:buNone/>
            </a:pPr>
            <a:r>
              <a:rPr lang="en-GB" sz="1000" dirty="0">
                <a:solidFill>
                  <a:srgbClr val="000000"/>
                </a:solidFill>
              </a:rPr>
              <a:t>The 2% management fee is paid to hedge fund managers regardless of the fund’s performance. </a:t>
            </a:r>
          </a:p>
          <a:p>
            <a:pPr marL="0" indent="0">
              <a:buNone/>
            </a:pPr>
            <a:r>
              <a:rPr lang="en-GB" sz="1000" dirty="0">
                <a:solidFill>
                  <a:srgbClr val="000000"/>
                </a:solidFill>
              </a:rPr>
              <a:t>A hedge fund manager with $1 billion of assets under management (AUM) earns $20 million even </a:t>
            </a:r>
          </a:p>
          <a:p>
            <a:pPr marL="0" indent="0">
              <a:buNone/>
            </a:pPr>
            <a:r>
              <a:rPr lang="en-GB" sz="1000" dirty="0">
                <a:solidFill>
                  <a:srgbClr val="000000"/>
                </a:solidFill>
              </a:rPr>
              <a:t>if the fund performs poorly. The 20% profit fee is only paid once the fund achieves a </a:t>
            </a:r>
          </a:p>
          <a:p>
            <a:pPr marL="0" indent="0">
              <a:buNone/>
            </a:pPr>
            <a:r>
              <a:rPr lang="en-GB" sz="1000" dirty="0">
                <a:solidFill>
                  <a:srgbClr val="000000"/>
                </a:solidFill>
              </a:rPr>
              <a:t>level of performance that exceeds a certain profit threshold, typically around 8%. </a:t>
            </a:r>
          </a:p>
          <a:p>
            <a:pPr marL="0" indent="0">
              <a:buNone/>
            </a:pPr>
            <a:r>
              <a:rPr lang="en-GB" sz="1000" dirty="0">
                <a:solidFill>
                  <a:srgbClr val="000000"/>
                </a:solidFill>
              </a:rPr>
              <a:t>Some investors, who have never paid the 20% fee because there haven’t been any profits, consider the 2% management fee to be too high relative to the overall performance of many funds.</a:t>
            </a:r>
          </a:p>
          <a:p>
            <a:br>
              <a:rPr lang="en-GB" dirty="0"/>
            </a:br>
            <a:br>
              <a:rPr lang="en-GB" dirty="0"/>
            </a:br>
            <a:r>
              <a:rPr lang="en-GB" dirty="0"/>
              <a:t>The Alignment of Interests Association (AOI), which represents pension funds, endowments, foundations and family offices in the US, said there was still merit to investing in hedge funds but not without changes to the model. Under the traditional fee structure, hedge funds charge a 2 per cent management fee, in addition to a 20 per cent performance fee. As returns at some of the larger hedge funds falter, investors have become wary that some managers are more concerned about increasing the amount of money invested with them in order to collect more management fees, which </a:t>
            </a:r>
            <a:r>
              <a:rPr lang="en-GB" dirty="0" err="1"/>
              <a:t>disincentivises</a:t>
            </a:r>
            <a:r>
              <a:rPr lang="en-GB" dirty="0"/>
              <a:t> them to take more risk. Investors are paying less scrutiny to the performance fee, which rewards higher returns. “Management fees should not function to generate profits,” the AOI says in a report published on Tuesday. “This creates a conflict of interest for the parties because fund investors are vested in the performance of individual funds, while managers are vested in the health and growth of the business as a whole.” The “2 and 20” fee structure dates back to 1949, when Alfred Winslow Jones founded AW Jones &amp; Co, considered by many to be the first hedge fund. According to the AOI, his model required investors to pay him a 20 per cent incentive fee, a figure inspired by Phoenician merchants, who charged one-fifth of profits from a successful journey. Related article Machine learning set to shake up equity hedge funds AI seen becoming powerful enough to forecast market moves better than humans By the 1980s, funds that mimicked Mr Jones’s strategy started charging a management fee. While initially about 1 per cent, that figure rose to 2 per cent in the early 1990s, and the “2 and 20” quickly became an industry standard. But hedge fund returns have faltered over the past few years, with many being outperformed by cheaper, passive index-tracking funds, and investors have started to question the strategy and the high fees. “Alpha exists,” said Robert Lee, deputy chief investment officer at Texas Tech University. “And it should be rewarded handsomely. Beta however, often masquerading as alpha, is today a commoditised exposure. Beta should be cheap.” Several studies indicate that hedge fund fees have already been significantly reduced, with the average management fee closer to 1.5 per cent. The AOI said that there was no problem paying management fees as long as they were covering legitimate costs. One possible solution is for funds to introduce a tiered management fee, whereby the amount is reduced every time the manager hits another level of assets under management, the AOI said. Investors have also asked some managers to stop at a certain level of assets under management to avoid returns becoming diluted, or to manage a bespoke mandate for them at a negotiated cost. One of the more common discounts is a founders’ share class, where early investors in a fund pay a lower fee.</a:t>
            </a:r>
            <a:endParaRPr lang="en-US" altLang="en-US" dirty="0">
              <a:latin typeface="Arial" panose="020B0604020202020204" pitchFamily="34" charset="0"/>
            </a:endParaRPr>
          </a:p>
        </p:txBody>
      </p:sp>
    </p:spTree>
    <p:extLst>
      <p:ext uri="{BB962C8B-B14F-4D97-AF65-F5344CB8AC3E}">
        <p14:creationId xmlns:p14="http://schemas.microsoft.com/office/powerpoint/2010/main" val="694440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50000"/>
              </a:spcBef>
            </a:pPr>
            <a:fld id="{F78A4E57-A090-4CFA-B119-3DD88911A469}" type="slidenum">
              <a:rPr lang="en-GB" altLang="en-US" sz="1800"/>
              <a:pPr eaLnBrk="1" hangingPunct="1">
                <a:spcBef>
                  <a:spcPct val="50000"/>
                </a:spcBef>
              </a:pPr>
              <a:t>9</a:t>
            </a:fld>
            <a:endParaRPr lang="en-GB" altLang="en-US" sz="1800"/>
          </a:p>
        </p:txBody>
      </p:sp>
      <p:sp>
        <p:nvSpPr>
          <p:cNvPr id="50179" name="Rectangle 14"/>
          <p:cNvSpPr>
            <a:spLocks noGrp="1" noRot="1" noChangeAspect="1" noChangeArrowheads="1" noTextEdit="1"/>
          </p:cNvSpPr>
          <p:nvPr>
            <p:ph type="sldImg"/>
          </p:nvPr>
        </p:nvSpPr>
        <p:spPr>
          <a:xfrm>
            <a:off x="190500" y="149225"/>
            <a:ext cx="6718300" cy="5040313"/>
          </a:xfrm>
          <a:solidFill>
            <a:srgbClr val="FFFFFF"/>
          </a:solidFill>
          <a:ln>
            <a:solidFill>
              <a:srgbClr val="000000"/>
            </a:solidFill>
          </a:ln>
        </p:spPr>
      </p:sp>
      <p:sp>
        <p:nvSpPr>
          <p:cNvPr id="50180" name="Rectangle 15"/>
          <p:cNvSpPr>
            <a:spLocks noGrp="1" noChangeArrowheads="1"/>
          </p:cNvSpPr>
          <p:nvPr>
            <p:ph type="body" idx="1"/>
          </p:nvPr>
        </p:nvSpPr>
        <p:spPr>
          <a:xfrm>
            <a:off x="236538" y="5334000"/>
            <a:ext cx="6626225" cy="4608513"/>
          </a:xfrm>
          <a:solidFill>
            <a:srgbClr val="FFFFFF"/>
          </a:solidFill>
          <a:ln>
            <a:solidFill>
              <a:srgbClr val="000000"/>
            </a:solidFill>
            <a:miter lim="800000"/>
            <a:headEnd/>
            <a:tailEnd/>
          </a:ln>
        </p:spPr>
        <p:txBody>
          <a:bodyPr lIns="96460" tIns="48230" rIns="96460" bIns="48230"/>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43921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5">
            <a:extLst>
              <a:ext uri="{FF2B5EF4-FFF2-40B4-BE49-F238E27FC236}">
                <a16:creationId xmlns:a16="http://schemas.microsoft.com/office/drawing/2014/main" id="{13AB11C8-BE8C-4EAF-9C9D-4DFCD71D4A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6">
            <a:extLst>
              <a:ext uri="{FF2B5EF4-FFF2-40B4-BE49-F238E27FC236}">
                <a16:creationId xmlns:a16="http://schemas.microsoft.com/office/drawing/2014/main" id="{F3B81BEA-D2E2-4DC9-9B5F-79F1F7A92F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5">
            <a:extLst>
              <a:ext uri="{FF2B5EF4-FFF2-40B4-BE49-F238E27FC236}">
                <a16:creationId xmlns:a16="http://schemas.microsoft.com/office/drawing/2014/main" id="{D47364EE-7477-4934-A2C4-809AF56537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17690" indent="-276035">
              <a:spcBef>
                <a:spcPct val="30000"/>
              </a:spcBef>
              <a:defRPr sz="1000">
                <a:solidFill>
                  <a:schemeClr val="tx1"/>
                </a:solidFill>
                <a:latin typeface="Calibri" panose="020F0502020204030204" pitchFamily="34" charset="0"/>
              </a:defRPr>
            </a:lvl2pPr>
            <a:lvl3pPr marL="1104138" indent="-220828">
              <a:spcBef>
                <a:spcPct val="30000"/>
              </a:spcBef>
              <a:defRPr sz="1000">
                <a:solidFill>
                  <a:schemeClr val="tx1"/>
                </a:solidFill>
                <a:latin typeface="Calibri" panose="020F0502020204030204" pitchFamily="34" charset="0"/>
              </a:defRPr>
            </a:lvl3pPr>
            <a:lvl4pPr marL="1545793" indent="-220828">
              <a:spcBef>
                <a:spcPct val="30000"/>
              </a:spcBef>
              <a:defRPr sz="1000">
                <a:solidFill>
                  <a:schemeClr val="tx1"/>
                </a:solidFill>
                <a:latin typeface="Calibri" panose="020F0502020204030204" pitchFamily="34" charset="0"/>
              </a:defRPr>
            </a:lvl4pPr>
            <a:lvl5pPr marL="1987448" indent="-220828">
              <a:spcBef>
                <a:spcPct val="30000"/>
              </a:spcBef>
              <a:defRPr sz="1000">
                <a:solidFill>
                  <a:schemeClr val="tx1"/>
                </a:solidFill>
                <a:latin typeface="Calibri" panose="020F0502020204030204" pitchFamily="34" charset="0"/>
              </a:defRPr>
            </a:lvl5pPr>
            <a:lvl6pPr marL="2429104" indent="-220828" eaLnBrk="0" fontAlgn="base" hangingPunct="0">
              <a:spcBef>
                <a:spcPct val="30000"/>
              </a:spcBef>
              <a:spcAft>
                <a:spcPct val="0"/>
              </a:spcAft>
              <a:defRPr sz="1000">
                <a:solidFill>
                  <a:schemeClr val="tx1"/>
                </a:solidFill>
                <a:latin typeface="Calibri" panose="020F0502020204030204" pitchFamily="34" charset="0"/>
              </a:defRPr>
            </a:lvl6pPr>
            <a:lvl7pPr marL="2870759" indent="-220828" eaLnBrk="0" fontAlgn="base" hangingPunct="0">
              <a:spcBef>
                <a:spcPct val="30000"/>
              </a:spcBef>
              <a:spcAft>
                <a:spcPct val="0"/>
              </a:spcAft>
              <a:defRPr sz="1000">
                <a:solidFill>
                  <a:schemeClr val="tx1"/>
                </a:solidFill>
                <a:latin typeface="Calibri" panose="020F0502020204030204" pitchFamily="34" charset="0"/>
              </a:defRPr>
            </a:lvl7pPr>
            <a:lvl8pPr marL="3312414" indent="-220828" eaLnBrk="0" fontAlgn="base" hangingPunct="0">
              <a:spcBef>
                <a:spcPct val="30000"/>
              </a:spcBef>
              <a:spcAft>
                <a:spcPct val="0"/>
              </a:spcAft>
              <a:defRPr sz="1000">
                <a:solidFill>
                  <a:schemeClr val="tx1"/>
                </a:solidFill>
                <a:latin typeface="Calibri" panose="020F0502020204030204" pitchFamily="34" charset="0"/>
              </a:defRPr>
            </a:lvl8pPr>
            <a:lvl9pPr marL="3754069" indent="-220828"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0F0C4C3C-1867-4D85-B110-01D5C2F559C5}" type="slidenum">
              <a:rPr lang="en-GB" altLang="en-US"/>
              <a:pPr>
                <a:spcBef>
                  <a:spcPct val="0"/>
                </a:spcBef>
              </a:pPr>
              <a:t>10</a:t>
            </a:fld>
            <a:endParaRPr lang="en-GB" altLang="en-US"/>
          </a:p>
        </p:txBody>
      </p:sp>
    </p:spTree>
    <p:extLst>
      <p:ext uri="{BB962C8B-B14F-4D97-AF65-F5344CB8AC3E}">
        <p14:creationId xmlns:p14="http://schemas.microsoft.com/office/powerpoint/2010/main" val="2249464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67329" indent="-295127" eaLnBrk="0" hangingPunct="0">
              <a:defRPr>
                <a:solidFill>
                  <a:schemeClr val="tx1"/>
                </a:solidFill>
                <a:latin typeface="Arial" panose="020B0604020202020204" pitchFamily="34" charset="0"/>
                <a:cs typeface="Arial" panose="020B0604020202020204" pitchFamily="34" charset="0"/>
              </a:defRPr>
            </a:lvl2pPr>
            <a:lvl3pPr marL="1180508" indent="-236102" eaLnBrk="0" hangingPunct="0">
              <a:defRPr>
                <a:solidFill>
                  <a:schemeClr val="tx1"/>
                </a:solidFill>
                <a:latin typeface="Arial" panose="020B0604020202020204" pitchFamily="34" charset="0"/>
                <a:cs typeface="Arial" panose="020B0604020202020204" pitchFamily="34" charset="0"/>
              </a:defRPr>
            </a:lvl3pPr>
            <a:lvl4pPr marL="1652711" indent="-236102" eaLnBrk="0" hangingPunct="0">
              <a:defRPr>
                <a:solidFill>
                  <a:schemeClr val="tx1"/>
                </a:solidFill>
                <a:latin typeface="Arial" panose="020B0604020202020204" pitchFamily="34" charset="0"/>
                <a:cs typeface="Arial" panose="020B0604020202020204" pitchFamily="34" charset="0"/>
              </a:defRPr>
            </a:lvl4pPr>
            <a:lvl5pPr marL="2124913" indent="-236102" eaLnBrk="0" hangingPunct="0">
              <a:defRPr>
                <a:solidFill>
                  <a:schemeClr val="tx1"/>
                </a:solidFill>
                <a:latin typeface="Arial" panose="020B0604020202020204" pitchFamily="34" charset="0"/>
                <a:cs typeface="Arial" panose="020B0604020202020204" pitchFamily="34" charset="0"/>
              </a:defRPr>
            </a:lvl5pPr>
            <a:lvl6pPr marL="259711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69320"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41523"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1372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44406" eaLnBrk="1" fontAlgn="base" hangingPunct="1">
              <a:spcBef>
                <a:spcPct val="0"/>
              </a:spcBef>
              <a:spcAft>
                <a:spcPct val="0"/>
              </a:spcAft>
              <a:buClrTx/>
              <a:defRPr/>
            </a:pPr>
            <a:fld id="{E0F33992-2A44-4AAA-B75E-3FE621F3BA12}" type="slidenum">
              <a:rPr lang="en-GB" altLang="en-US" kern="1200">
                <a:solidFill>
                  <a:prstClr val="black"/>
                </a:solidFill>
                <a:latin typeface="Calibri" panose="020F0502020204030204" pitchFamily="34" charset="0"/>
                <a:ea typeface="+mn-ea"/>
              </a:rPr>
              <a:pPr algn="r" defTabSz="944406" eaLnBrk="1" fontAlgn="base" hangingPunct="1">
                <a:spcBef>
                  <a:spcPct val="0"/>
                </a:spcBef>
                <a:spcAft>
                  <a:spcPct val="0"/>
                </a:spcAft>
                <a:buClrTx/>
                <a:defRPr/>
              </a:pPr>
              <a:t>11</a:t>
            </a:fld>
            <a:endParaRPr lang="en-GB" altLang="en-US" kern="1200">
              <a:solidFill>
                <a:prstClr val="black"/>
              </a:solidFill>
              <a:latin typeface="Calibri" panose="020F0502020204030204" pitchFamily="34" charset="0"/>
              <a:ea typeface="+mn-ea"/>
            </a:endParaRPr>
          </a:p>
        </p:txBody>
      </p:sp>
    </p:spTree>
    <p:extLst>
      <p:ext uri="{BB962C8B-B14F-4D97-AF65-F5344CB8AC3E}">
        <p14:creationId xmlns:p14="http://schemas.microsoft.com/office/powerpoint/2010/main" val="2881368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67329" indent="-295127" eaLnBrk="0" hangingPunct="0">
              <a:defRPr>
                <a:solidFill>
                  <a:schemeClr val="tx1"/>
                </a:solidFill>
                <a:latin typeface="Arial" panose="020B0604020202020204" pitchFamily="34" charset="0"/>
                <a:cs typeface="Arial" panose="020B0604020202020204" pitchFamily="34" charset="0"/>
              </a:defRPr>
            </a:lvl2pPr>
            <a:lvl3pPr marL="1180508" indent="-236102" eaLnBrk="0" hangingPunct="0">
              <a:defRPr>
                <a:solidFill>
                  <a:schemeClr val="tx1"/>
                </a:solidFill>
                <a:latin typeface="Arial" panose="020B0604020202020204" pitchFamily="34" charset="0"/>
                <a:cs typeface="Arial" panose="020B0604020202020204" pitchFamily="34" charset="0"/>
              </a:defRPr>
            </a:lvl3pPr>
            <a:lvl4pPr marL="1652711" indent="-236102" eaLnBrk="0" hangingPunct="0">
              <a:defRPr>
                <a:solidFill>
                  <a:schemeClr val="tx1"/>
                </a:solidFill>
                <a:latin typeface="Arial" panose="020B0604020202020204" pitchFamily="34" charset="0"/>
                <a:cs typeface="Arial" panose="020B0604020202020204" pitchFamily="34" charset="0"/>
              </a:defRPr>
            </a:lvl4pPr>
            <a:lvl5pPr marL="2124913" indent="-236102" eaLnBrk="0" hangingPunct="0">
              <a:defRPr>
                <a:solidFill>
                  <a:schemeClr val="tx1"/>
                </a:solidFill>
                <a:latin typeface="Arial" panose="020B0604020202020204" pitchFamily="34" charset="0"/>
                <a:cs typeface="Arial" panose="020B0604020202020204" pitchFamily="34" charset="0"/>
              </a:defRPr>
            </a:lvl5pPr>
            <a:lvl6pPr marL="259711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69320"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41523"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1372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44406" eaLnBrk="1" fontAlgn="base" hangingPunct="1">
              <a:spcBef>
                <a:spcPct val="0"/>
              </a:spcBef>
              <a:spcAft>
                <a:spcPct val="0"/>
              </a:spcAft>
              <a:buClrTx/>
              <a:defRPr/>
            </a:pPr>
            <a:fld id="{3EFC6FA7-2FE6-41BF-95EC-A2F4A16FCCD7}" type="slidenum">
              <a:rPr lang="en-GB" altLang="en-US" kern="1200">
                <a:solidFill>
                  <a:prstClr val="black"/>
                </a:solidFill>
                <a:latin typeface="Calibri" panose="020F0502020204030204" pitchFamily="34" charset="0"/>
                <a:ea typeface="+mn-ea"/>
              </a:rPr>
              <a:pPr algn="r" defTabSz="944406" eaLnBrk="1" fontAlgn="base" hangingPunct="1">
                <a:spcBef>
                  <a:spcPct val="0"/>
                </a:spcBef>
                <a:spcAft>
                  <a:spcPct val="0"/>
                </a:spcAft>
                <a:buClrTx/>
                <a:defRPr/>
              </a:pPr>
              <a:t>12</a:t>
            </a:fld>
            <a:endParaRPr lang="en-GB" altLang="en-US" kern="1200">
              <a:solidFill>
                <a:prstClr val="black"/>
              </a:solidFill>
              <a:latin typeface="Calibri" panose="020F0502020204030204" pitchFamily="34" charset="0"/>
              <a:ea typeface="+mn-ea"/>
            </a:endParaRPr>
          </a:p>
        </p:txBody>
      </p:sp>
    </p:spTree>
    <p:extLst>
      <p:ext uri="{BB962C8B-B14F-4D97-AF65-F5344CB8AC3E}">
        <p14:creationId xmlns:p14="http://schemas.microsoft.com/office/powerpoint/2010/main" val="1231159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67329" indent="-295127" eaLnBrk="0" hangingPunct="0">
              <a:defRPr>
                <a:solidFill>
                  <a:schemeClr val="tx1"/>
                </a:solidFill>
                <a:latin typeface="Arial" panose="020B0604020202020204" pitchFamily="34" charset="0"/>
                <a:cs typeface="Arial" panose="020B0604020202020204" pitchFamily="34" charset="0"/>
              </a:defRPr>
            </a:lvl2pPr>
            <a:lvl3pPr marL="1180508" indent="-236102" eaLnBrk="0" hangingPunct="0">
              <a:defRPr>
                <a:solidFill>
                  <a:schemeClr val="tx1"/>
                </a:solidFill>
                <a:latin typeface="Arial" panose="020B0604020202020204" pitchFamily="34" charset="0"/>
                <a:cs typeface="Arial" panose="020B0604020202020204" pitchFamily="34" charset="0"/>
              </a:defRPr>
            </a:lvl3pPr>
            <a:lvl4pPr marL="1652711" indent="-236102" eaLnBrk="0" hangingPunct="0">
              <a:defRPr>
                <a:solidFill>
                  <a:schemeClr val="tx1"/>
                </a:solidFill>
                <a:latin typeface="Arial" panose="020B0604020202020204" pitchFamily="34" charset="0"/>
                <a:cs typeface="Arial" panose="020B0604020202020204" pitchFamily="34" charset="0"/>
              </a:defRPr>
            </a:lvl4pPr>
            <a:lvl5pPr marL="2124913" indent="-236102" eaLnBrk="0" hangingPunct="0">
              <a:defRPr>
                <a:solidFill>
                  <a:schemeClr val="tx1"/>
                </a:solidFill>
                <a:latin typeface="Arial" panose="020B0604020202020204" pitchFamily="34" charset="0"/>
                <a:cs typeface="Arial" panose="020B0604020202020204" pitchFamily="34" charset="0"/>
              </a:defRPr>
            </a:lvl5pPr>
            <a:lvl6pPr marL="259711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69320"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41523"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1372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44406" eaLnBrk="1" fontAlgn="base" hangingPunct="1">
              <a:spcBef>
                <a:spcPct val="0"/>
              </a:spcBef>
              <a:spcAft>
                <a:spcPct val="0"/>
              </a:spcAft>
              <a:buClrTx/>
              <a:defRPr/>
            </a:pPr>
            <a:fld id="{040027B6-1F4D-4FAF-B9B6-9E9673D9C50C}" type="slidenum">
              <a:rPr lang="en-GB" altLang="en-US" kern="1200">
                <a:solidFill>
                  <a:prstClr val="black"/>
                </a:solidFill>
                <a:latin typeface="Calibri" panose="020F0502020204030204" pitchFamily="34" charset="0"/>
                <a:ea typeface="+mn-ea"/>
              </a:rPr>
              <a:pPr algn="r" defTabSz="944406" eaLnBrk="1" fontAlgn="base" hangingPunct="1">
                <a:spcBef>
                  <a:spcPct val="0"/>
                </a:spcBef>
                <a:spcAft>
                  <a:spcPct val="0"/>
                </a:spcAft>
                <a:buClrTx/>
                <a:defRPr/>
              </a:pPr>
              <a:t>13</a:t>
            </a:fld>
            <a:endParaRPr lang="en-GB" altLang="en-US" kern="1200">
              <a:solidFill>
                <a:prstClr val="black"/>
              </a:solidFill>
              <a:latin typeface="Calibri" panose="020F0502020204030204" pitchFamily="34" charset="0"/>
              <a:ea typeface="+mn-ea"/>
            </a:endParaRPr>
          </a:p>
        </p:txBody>
      </p:sp>
    </p:spTree>
    <p:extLst>
      <p:ext uri="{BB962C8B-B14F-4D97-AF65-F5344CB8AC3E}">
        <p14:creationId xmlns:p14="http://schemas.microsoft.com/office/powerpoint/2010/main" val="121002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67329" indent="-295127" eaLnBrk="0" hangingPunct="0">
              <a:defRPr>
                <a:solidFill>
                  <a:schemeClr val="tx1"/>
                </a:solidFill>
                <a:latin typeface="Arial" panose="020B0604020202020204" pitchFamily="34" charset="0"/>
                <a:cs typeface="Arial" panose="020B0604020202020204" pitchFamily="34" charset="0"/>
              </a:defRPr>
            </a:lvl2pPr>
            <a:lvl3pPr marL="1180508" indent="-236102" eaLnBrk="0" hangingPunct="0">
              <a:defRPr>
                <a:solidFill>
                  <a:schemeClr val="tx1"/>
                </a:solidFill>
                <a:latin typeface="Arial" panose="020B0604020202020204" pitchFamily="34" charset="0"/>
                <a:cs typeface="Arial" panose="020B0604020202020204" pitchFamily="34" charset="0"/>
              </a:defRPr>
            </a:lvl3pPr>
            <a:lvl4pPr marL="1652711" indent="-236102" eaLnBrk="0" hangingPunct="0">
              <a:defRPr>
                <a:solidFill>
                  <a:schemeClr val="tx1"/>
                </a:solidFill>
                <a:latin typeface="Arial" panose="020B0604020202020204" pitchFamily="34" charset="0"/>
                <a:cs typeface="Arial" panose="020B0604020202020204" pitchFamily="34" charset="0"/>
              </a:defRPr>
            </a:lvl4pPr>
            <a:lvl5pPr marL="2124913" indent="-236102" eaLnBrk="0" hangingPunct="0">
              <a:defRPr>
                <a:solidFill>
                  <a:schemeClr val="tx1"/>
                </a:solidFill>
                <a:latin typeface="Arial" panose="020B0604020202020204" pitchFamily="34" charset="0"/>
                <a:cs typeface="Arial" panose="020B0604020202020204" pitchFamily="34" charset="0"/>
              </a:defRPr>
            </a:lvl5pPr>
            <a:lvl6pPr marL="259711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69320"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41523"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13727" indent="-236102"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44406" eaLnBrk="1" fontAlgn="base" hangingPunct="1">
              <a:spcBef>
                <a:spcPct val="0"/>
              </a:spcBef>
              <a:spcAft>
                <a:spcPct val="0"/>
              </a:spcAft>
              <a:buClrTx/>
              <a:defRPr/>
            </a:pPr>
            <a:fld id="{5DB04D80-8B49-42B9-9D2F-85915A54CBFE}" type="slidenum">
              <a:rPr lang="en-GB" altLang="en-US" kern="1200">
                <a:solidFill>
                  <a:prstClr val="black"/>
                </a:solidFill>
                <a:latin typeface="Calibri" panose="020F0502020204030204" pitchFamily="34" charset="0"/>
                <a:ea typeface="+mn-ea"/>
              </a:rPr>
              <a:pPr algn="r" defTabSz="944406" eaLnBrk="1" fontAlgn="base" hangingPunct="1">
                <a:spcBef>
                  <a:spcPct val="0"/>
                </a:spcBef>
                <a:spcAft>
                  <a:spcPct val="0"/>
                </a:spcAft>
                <a:buClrTx/>
                <a:defRPr/>
              </a:pPr>
              <a:t>14</a:t>
            </a:fld>
            <a:endParaRPr lang="en-GB" altLang="en-US" kern="1200">
              <a:solidFill>
                <a:prstClr val="black"/>
              </a:solidFill>
              <a:latin typeface="Calibri" panose="020F0502020204030204" pitchFamily="34" charset="0"/>
              <a:ea typeface="+mn-ea"/>
            </a:endParaRPr>
          </a:p>
        </p:txBody>
      </p:sp>
    </p:spTree>
    <p:extLst>
      <p:ext uri="{BB962C8B-B14F-4D97-AF65-F5344CB8AC3E}">
        <p14:creationId xmlns:p14="http://schemas.microsoft.com/office/powerpoint/2010/main" val="1930469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5">
            <a:extLst>
              <a:ext uri="{FF2B5EF4-FFF2-40B4-BE49-F238E27FC236}">
                <a16:creationId xmlns:a16="http://schemas.microsoft.com/office/drawing/2014/main" id="{13AB11C8-BE8C-4EAF-9C9D-4DFCD71D4A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6">
            <a:extLst>
              <a:ext uri="{FF2B5EF4-FFF2-40B4-BE49-F238E27FC236}">
                <a16:creationId xmlns:a16="http://schemas.microsoft.com/office/drawing/2014/main" id="{F3B81BEA-D2E2-4DC9-9B5F-79F1F7A92F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5">
            <a:extLst>
              <a:ext uri="{FF2B5EF4-FFF2-40B4-BE49-F238E27FC236}">
                <a16:creationId xmlns:a16="http://schemas.microsoft.com/office/drawing/2014/main" id="{D47364EE-7477-4934-A2C4-809AF56537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0F0C4C3C-1867-4D85-B110-01D5C2F559C5}" type="slidenum">
              <a:rPr lang="en-GB" altLang="en-US"/>
              <a:pPr>
                <a:spcBef>
                  <a:spcPct val="0"/>
                </a:spcBef>
              </a:pPr>
              <a:t>15</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0684384-E0B8-4B84-A894-93F568993691}" type="slidenum">
              <a:rPr lang="en-GB" smtClean="0"/>
              <a:t>16</a:t>
            </a:fld>
            <a:endParaRPr lang="en-GB"/>
          </a:p>
        </p:txBody>
      </p:sp>
    </p:spTree>
    <p:extLst>
      <p:ext uri="{BB962C8B-B14F-4D97-AF65-F5344CB8AC3E}">
        <p14:creationId xmlns:p14="http://schemas.microsoft.com/office/powerpoint/2010/main" val="12689504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3">
            <a:extLst>
              <a:ext uri="{FF2B5EF4-FFF2-40B4-BE49-F238E27FC236}">
                <a16:creationId xmlns:a16="http://schemas.microsoft.com/office/drawing/2014/main" id="{7AFC9434-BBDD-4142-8C85-30FD8988EE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4">
            <a:extLst>
              <a:ext uri="{FF2B5EF4-FFF2-40B4-BE49-F238E27FC236}">
                <a16:creationId xmlns:a16="http://schemas.microsoft.com/office/drawing/2014/main" id="{E830727A-5D9C-4B37-89B0-C4730AA1CB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9940" name="Slide Number Placeholder 5">
            <a:extLst>
              <a:ext uri="{FF2B5EF4-FFF2-40B4-BE49-F238E27FC236}">
                <a16:creationId xmlns:a16="http://schemas.microsoft.com/office/drawing/2014/main" id="{4255FA62-05F2-4AB3-8277-F9C9228E44D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B7CA462E-A9CC-4685-98EE-F8B02BA47E97}" type="slidenum">
              <a:rPr lang="en-GB" altLang="en-US"/>
              <a:pPr>
                <a:spcBef>
                  <a:spcPct val="0"/>
                </a:spcBef>
              </a:pPr>
              <a:t>17</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7" name="Slide Image Placeholder 3"/>
          <p:cNvSpPr>
            <a:spLocks noGrp="1" noRot="1" noChangeAspect="1" noTextEdit="1"/>
          </p:cNvSpPr>
          <p:nvPr>
            <p:ph type="sldImg"/>
          </p:nvPr>
        </p:nvSpPr>
        <p:spPr>
          <a:ln/>
        </p:spPr>
      </p:sp>
      <p:sp>
        <p:nvSpPr>
          <p:cNvPr id="295938" name="Notes Placeholder 4"/>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
        <p:nvSpPr>
          <p:cNvPr id="2" name="Slide Number Placeholder 1"/>
          <p:cNvSpPr>
            <a:spLocks noGrp="1"/>
          </p:cNvSpPr>
          <p:nvPr>
            <p:ph type="sldNum" sz="quarter" idx="10"/>
          </p:nvPr>
        </p:nvSpPr>
        <p:spPr/>
        <p:txBody>
          <a:bodyPr/>
          <a:lstStyle/>
          <a:p>
            <a:fld id="{10684384-E0B8-4B84-A894-93F568993691}" type="slidenum">
              <a:rPr lang="en-GB" smtClean="0"/>
              <a:t>18</a:t>
            </a:fld>
            <a:endParaRPr lang="en-GB"/>
          </a:p>
        </p:txBody>
      </p:sp>
    </p:spTree>
    <p:extLst>
      <p:ext uri="{BB962C8B-B14F-4D97-AF65-F5344CB8AC3E}">
        <p14:creationId xmlns:p14="http://schemas.microsoft.com/office/powerpoint/2010/main" val="4245884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Slide Image Placeholder 5"/>
          <p:cNvSpPr>
            <a:spLocks noGrp="1" noRot="1" noChangeAspect="1" noTextEdit="1"/>
          </p:cNvSpPr>
          <p:nvPr>
            <p:ph type="sldImg"/>
          </p:nvPr>
        </p:nvSpPr>
        <p:spPr>
          <a:ln/>
        </p:spPr>
      </p:sp>
      <p:sp>
        <p:nvSpPr>
          <p:cNvPr id="300034" name="Notes Placeholder 6"/>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
        <p:nvSpPr>
          <p:cNvPr id="2" name="Slide Number Placeholder 1"/>
          <p:cNvSpPr>
            <a:spLocks noGrp="1"/>
          </p:cNvSpPr>
          <p:nvPr>
            <p:ph type="sldNum" sz="quarter" idx="10"/>
          </p:nvPr>
        </p:nvSpPr>
        <p:spPr/>
        <p:txBody>
          <a:bodyPr/>
          <a:lstStyle/>
          <a:p>
            <a:fld id="{10684384-E0B8-4B84-A894-93F568993691}" type="slidenum">
              <a:rPr lang="en-GB" smtClean="0"/>
              <a:t>19</a:t>
            </a:fld>
            <a:endParaRPr lang="en-GB"/>
          </a:p>
        </p:txBody>
      </p:sp>
    </p:spTree>
    <p:extLst>
      <p:ext uri="{BB962C8B-B14F-4D97-AF65-F5344CB8AC3E}">
        <p14:creationId xmlns:p14="http://schemas.microsoft.com/office/powerpoint/2010/main" val="2119218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10"/>
          </p:nvPr>
        </p:nvSpPr>
        <p:spPr/>
        <p:txBody>
          <a:bodyPr/>
          <a:lstStyle/>
          <a:p>
            <a:fld id="{11840855-A671-49B0-96C3-95D6F92B15C1}" type="slidenum">
              <a:rPr lang="en-GB" smtClean="0"/>
              <a:t>20</a:t>
            </a:fld>
            <a:endParaRPr lang="en-GB"/>
          </a:p>
        </p:txBody>
      </p:sp>
    </p:spTree>
    <p:extLst>
      <p:ext uri="{BB962C8B-B14F-4D97-AF65-F5344CB8AC3E}">
        <p14:creationId xmlns:p14="http://schemas.microsoft.com/office/powerpoint/2010/main" val="3844712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5">
            <a:extLst>
              <a:ext uri="{FF2B5EF4-FFF2-40B4-BE49-F238E27FC236}">
                <a16:creationId xmlns:a16="http://schemas.microsoft.com/office/drawing/2014/main" id="{5AE41EA1-6A7F-4F8D-B3B2-20B397F325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6">
            <a:extLst>
              <a:ext uri="{FF2B5EF4-FFF2-40B4-BE49-F238E27FC236}">
                <a16:creationId xmlns:a16="http://schemas.microsoft.com/office/drawing/2014/main" id="{687FF213-3341-443F-BDF5-A13ACE92AE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5">
            <a:extLst>
              <a:ext uri="{FF2B5EF4-FFF2-40B4-BE49-F238E27FC236}">
                <a16:creationId xmlns:a16="http://schemas.microsoft.com/office/drawing/2014/main" id="{F958A2E4-3ECD-4EF1-9A69-CA7D7EE350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3279763F-1BBF-4A32-9E40-D694604FABCC}" type="slidenum">
              <a:rPr lang="en-GB" altLang="en-US"/>
              <a:pPr>
                <a:spcBef>
                  <a:spcPct val="0"/>
                </a:spcBef>
              </a:pPr>
              <a:t>22</a:t>
            </a:fld>
            <a:endParaRPr lang="en-GB" altLang="en-US"/>
          </a:p>
        </p:txBody>
      </p:sp>
    </p:spTree>
    <p:extLst>
      <p:ext uri="{BB962C8B-B14F-4D97-AF65-F5344CB8AC3E}">
        <p14:creationId xmlns:p14="http://schemas.microsoft.com/office/powerpoint/2010/main" val="1919487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a:extLst>
              <a:ext uri="{FF2B5EF4-FFF2-40B4-BE49-F238E27FC236}">
                <a16:creationId xmlns:a16="http://schemas.microsoft.com/office/drawing/2014/main" id="{00C4E459-2B5C-44C9-B535-D8723E7373B9}"/>
              </a:ext>
            </a:extLst>
          </p:cNvPr>
          <p:cNvSpPr>
            <a:spLocks noGrp="1" noRot="1" noChangeAspect="1" noChangeArrowheads="1" noTextEdit="1"/>
          </p:cNvSpPr>
          <p:nvPr>
            <p:ph type="sldImg"/>
          </p:nvPr>
        </p:nvSpPr>
        <p:spPr>
          <a:xfrm>
            <a:off x="168275" y="87313"/>
            <a:ext cx="6705600" cy="5029200"/>
          </a:xfrm>
          <a:ln/>
        </p:spPr>
      </p:sp>
      <p:sp>
        <p:nvSpPr>
          <p:cNvPr id="95235" name="Rectangle 3">
            <a:extLst>
              <a:ext uri="{FF2B5EF4-FFF2-40B4-BE49-F238E27FC236}">
                <a16:creationId xmlns:a16="http://schemas.microsoft.com/office/drawing/2014/main" id="{AA903453-5510-49D9-9008-50A5F1AE1365}"/>
              </a:ext>
            </a:extLst>
          </p:cNvPr>
          <p:cNvSpPr>
            <a:spLocks noGrp="1" noChangeArrowheads="1"/>
          </p:cNvSpPr>
          <p:nvPr>
            <p:ph type="body" idx="1"/>
          </p:nvPr>
        </p:nvSpPr>
        <p:spPr>
          <a:xfrm>
            <a:off x="239663" y="5333330"/>
            <a:ext cx="5684837"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GB" altLang="en-US" sz="800" dirty="0">
                <a:latin typeface="Arial" panose="020B0604020202020204" pitchFamily="34" charset="0"/>
                <a:cs typeface="Arial" panose="020B0604020202020204" pitchFamily="34" charset="0"/>
              </a:rPr>
              <a:t>The British Bankers’ Association ceased quoting Libor for eight maturities and stopped all quotes for </a:t>
            </a:r>
            <a:r>
              <a:rPr lang="en-GB" altLang="en-US" sz="800" b="1" dirty="0">
                <a:latin typeface="Arial" panose="020B0604020202020204" pitchFamily="34" charset="0"/>
                <a:cs typeface="Arial" panose="020B0604020202020204" pitchFamily="34" charset="0"/>
              </a:rPr>
              <a:t>two currencies</a:t>
            </a:r>
            <a:r>
              <a:rPr lang="en-GB" altLang="en-US" sz="800" dirty="0">
                <a:latin typeface="Arial" panose="020B0604020202020204" pitchFamily="34" charset="0"/>
                <a:cs typeface="Arial" panose="020B0604020202020204" pitchFamily="34" charset="0"/>
              </a:rPr>
              <a:t>, in line with its plan to cut the number of benchmarks following the rate-rigging scandal. </a:t>
            </a:r>
          </a:p>
          <a:p>
            <a:pPr>
              <a:lnSpc>
                <a:spcPct val="80000"/>
              </a:lnSpc>
            </a:pPr>
            <a:r>
              <a:rPr lang="en-GB" altLang="en-US" sz="800" dirty="0">
                <a:latin typeface="Arial" panose="020B0604020202020204" pitchFamily="34" charset="0"/>
                <a:cs typeface="Arial" panose="020B0604020202020204" pitchFamily="34" charset="0"/>
              </a:rPr>
              <a:t>The London-based lobby group ceased publishing Libor for the </a:t>
            </a:r>
            <a:r>
              <a:rPr lang="en-GB" altLang="en-US" sz="800" b="1" dirty="0">
                <a:latin typeface="Arial" panose="020B0604020202020204" pitchFamily="34" charset="0"/>
                <a:cs typeface="Arial" panose="020B0604020202020204" pitchFamily="34" charset="0"/>
              </a:rPr>
              <a:t>Canadian and Australian dollars</a:t>
            </a:r>
            <a:r>
              <a:rPr lang="en-GB" altLang="en-US" sz="800" dirty="0">
                <a:latin typeface="Arial" panose="020B0604020202020204" pitchFamily="34" charset="0"/>
                <a:cs typeface="Arial" panose="020B0604020202020204" pitchFamily="34" charset="0"/>
              </a:rPr>
              <a:t> at the end of May 2013, according to its website. It </a:t>
            </a:r>
            <a:r>
              <a:rPr lang="en-GB" altLang="en-US" sz="800" b="1" dirty="0">
                <a:latin typeface="Arial" panose="020B0604020202020204" pitchFamily="34" charset="0"/>
                <a:cs typeface="Arial" panose="020B0604020202020204" pitchFamily="34" charset="0"/>
              </a:rPr>
              <a:t>discontinued maturities</a:t>
            </a:r>
            <a:r>
              <a:rPr lang="en-GB" altLang="en-US" sz="800" dirty="0">
                <a:latin typeface="Arial" panose="020B0604020202020204" pitchFamily="34" charset="0"/>
                <a:cs typeface="Arial" panose="020B0604020202020204" pitchFamily="34" charset="0"/>
              </a:rPr>
              <a:t> such as the </a:t>
            </a:r>
            <a:r>
              <a:rPr lang="en-GB" altLang="en-US" sz="800" b="1" dirty="0">
                <a:latin typeface="Arial" panose="020B0604020202020204" pitchFamily="34" charset="0"/>
                <a:cs typeface="Arial" panose="020B0604020202020204" pitchFamily="34" charset="0"/>
              </a:rPr>
              <a:t>two-week, five-month and 11-month tenors</a:t>
            </a:r>
            <a:r>
              <a:rPr lang="en-GB" altLang="en-US" sz="800" dirty="0">
                <a:latin typeface="Arial" panose="020B0604020202020204" pitchFamily="34" charset="0"/>
                <a:cs typeface="Arial" panose="020B0604020202020204" pitchFamily="34" charset="0"/>
              </a:rPr>
              <a:t> for </a:t>
            </a:r>
            <a:r>
              <a:rPr lang="en-GB" altLang="en-US" sz="800" b="1" dirty="0">
                <a:latin typeface="Arial" panose="020B0604020202020204" pitchFamily="34" charset="0"/>
                <a:cs typeface="Arial" panose="020B0604020202020204" pitchFamily="34" charset="0"/>
              </a:rPr>
              <a:t>all remaining currencies</a:t>
            </a:r>
            <a:r>
              <a:rPr lang="en-GB" altLang="en-US" sz="800" dirty="0">
                <a:latin typeface="Arial" panose="020B0604020202020204" pitchFamily="34" charset="0"/>
                <a:cs typeface="Arial" panose="020B0604020202020204" pitchFamily="34" charset="0"/>
              </a:rPr>
              <a:t>. That brings the number of quoted rates to 37, according to the BBA. Rebecca Park, a spokeswoman for the BBA, declined to comment on the process, first announced in November.</a:t>
            </a:r>
          </a:p>
          <a:p>
            <a:pPr>
              <a:lnSpc>
                <a:spcPct val="80000"/>
              </a:lnSpc>
            </a:pPr>
            <a:r>
              <a:rPr lang="en-GB" altLang="en-US" sz="800" b="1" dirty="0">
                <a:latin typeface="Arial" panose="020B0604020202020204" pitchFamily="34" charset="0"/>
                <a:cs typeface="Arial" panose="020B0604020202020204" pitchFamily="34" charset="0"/>
              </a:rPr>
              <a:t>12 Jun 2013 </a:t>
            </a:r>
            <a:r>
              <a:rPr lang="en-GB" altLang="en-US" sz="800" dirty="0">
                <a:latin typeface="Arial" panose="020B0604020202020204" pitchFamily="34" charset="0"/>
                <a:cs typeface="Arial" panose="020B0604020202020204" pitchFamily="34" charset="0"/>
              </a:rPr>
              <a:t>BBA LIBOR today announced that following the recommendations set out in the Wheatley Review, with effect from 1st July 2013, the publication of individual bank’s submissions to LIBOR will be embargoed for 3 months. The BBA also announced today that the publication of “same day” EURO LIBOR rates for 1 week and 1 month, will cease from 31st July 2013.  These 2 rates were supplemental to the “spot” EUR LIBOR rates for all seven LIBOR tenors, which will continue as usual. Individual bank submissions will remain available in real-time to the LIBOR benchmark administrators for the purposes of calculating the rate and for monitoring and surveillance.  The information will also remain available to the FCA for the purpose of supervision.</a:t>
            </a:r>
          </a:p>
          <a:p>
            <a:pPr>
              <a:lnSpc>
                <a:spcPct val="80000"/>
              </a:lnSpc>
            </a:pPr>
            <a:r>
              <a:rPr lang="en-GB" altLang="en-US" sz="800" dirty="0">
                <a:latin typeface="Arial" panose="020B0604020202020204" pitchFamily="34" charset="0"/>
                <a:cs typeface="Arial" panose="020B0604020202020204" pitchFamily="34" charset="0"/>
              </a:rPr>
              <a:t>Individual submissions will be published after a period of 3 months. The daily publication of the final LIBOR rates will not be affected.</a:t>
            </a:r>
          </a:p>
          <a:p>
            <a:pPr>
              <a:lnSpc>
                <a:spcPct val="80000"/>
              </a:lnSpc>
            </a:pPr>
            <a:r>
              <a:rPr lang="en-GB" altLang="en-US" sz="800" dirty="0">
                <a:latin typeface="Arial" panose="020B0604020202020204" pitchFamily="34" charset="0"/>
                <a:cs typeface="Arial" panose="020B0604020202020204" pitchFamily="34" charset="0"/>
              </a:rPr>
              <a:t>Since the Review was published in September 2012, the BBA has been fully committed to implementing its recommendations and working to ensure a smooth transition to a new administrator. This has so far involved consulting on streamlining the number of LIBOR currencies and maturities, so that instead of ten currencies and 15 maturities there will be five currencies and seven maturities quoted every day. The last rates for the New Zealand dollar were published at the end of February, and the final publication of Swedish Kroner and Danish Krone rates occurred last Thursday (28th March). At the end of May, the Canadian and Australian dollar rates will also cease publication. We are also announcing today that, with effect from today (2nd April 2013), Euro LIBOR rates and Euro same-day LIBOR rates will no longer be published on UK bank holidays. This brings Euro LIBOR into line with all other LIBOR currencies. </a:t>
            </a:r>
          </a:p>
          <a:p>
            <a:pPr>
              <a:lnSpc>
                <a:spcPct val="80000"/>
              </a:lnSpc>
            </a:pPr>
            <a:r>
              <a:rPr lang="en-GB" altLang="en-US" sz="800" dirty="0">
                <a:latin typeface="Arial" panose="020B0604020202020204" pitchFamily="34" charset="0"/>
                <a:cs typeface="Arial" panose="020B0604020202020204" pitchFamily="34" charset="0"/>
              </a:rPr>
              <a:t>Historically - </a:t>
            </a:r>
            <a:r>
              <a:rPr lang="en-GB" altLang="en-US" sz="800" b="1" dirty="0">
                <a:latin typeface="Arial" panose="020B0604020202020204" pitchFamily="34" charset="0"/>
                <a:cs typeface="Arial" panose="020B0604020202020204" pitchFamily="34" charset="0"/>
              </a:rPr>
              <a:t>AUD</a:t>
            </a:r>
            <a:r>
              <a:rPr lang="en-GB" altLang="en-US" sz="800" dirty="0">
                <a:latin typeface="Arial" panose="020B0604020202020204" pitchFamily="34" charset="0"/>
                <a:cs typeface="Arial" panose="020B0604020202020204" pitchFamily="34" charset="0"/>
              </a:rPr>
              <a:t> (Australian Dollar)</a:t>
            </a:r>
            <a:br>
              <a:rPr lang="en-GB" altLang="en-US" sz="800" dirty="0">
                <a:latin typeface="Arial" panose="020B0604020202020204" pitchFamily="34" charset="0"/>
                <a:cs typeface="Arial" panose="020B0604020202020204" pitchFamily="34" charset="0"/>
              </a:rPr>
            </a:br>
            <a:r>
              <a:rPr lang="en-GB" altLang="en-US" sz="800" dirty="0">
                <a:latin typeface="Arial" panose="020B0604020202020204" pitchFamily="34" charset="0"/>
                <a:cs typeface="Arial" panose="020B0604020202020204" pitchFamily="34" charset="0"/>
              </a:rPr>
              <a:t>C</a:t>
            </a:r>
            <a:r>
              <a:rPr lang="en-GB" altLang="en-US" sz="800" b="1" dirty="0">
                <a:latin typeface="Arial" panose="020B0604020202020204" pitchFamily="34" charset="0"/>
                <a:cs typeface="Arial" panose="020B0604020202020204" pitchFamily="34" charset="0"/>
              </a:rPr>
              <a:t>AD</a:t>
            </a:r>
            <a:r>
              <a:rPr lang="en-GB" altLang="en-US" sz="800" dirty="0">
                <a:latin typeface="Arial" panose="020B0604020202020204" pitchFamily="34" charset="0"/>
                <a:cs typeface="Arial" panose="020B0604020202020204" pitchFamily="34" charset="0"/>
              </a:rPr>
              <a:t> (Canadian Dollar)</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CHF</a:t>
            </a:r>
            <a:r>
              <a:rPr lang="en-GB" altLang="en-US" sz="800" dirty="0">
                <a:latin typeface="Arial" panose="020B0604020202020204" pitchFamily="34" charset="0"/>
                <a:cs typeface="Arial" panose="020B0604020202020204" pitchFamily="34" charset="0"/>
              </a:rPr>
              <a:t> (Swiss Franc)</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DKK</a:t>
            </a:r>
            <a:r>
              <a:rPr lang="en-GB" altLang="en-US" sz="800" dirty="0">
                <a:latin typeface="Arial" panose="020B0604020202020204" pitchFamily="34" charset="0"/>
                <a:cs typeface="Arial" panose="020B0604020202020204" pitchFamily="34" charset="0"/>
              </a:rPr>
              <a:t> (Danish Krone)</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EUR</a:t>
            </a:r>
            <a:r>
              <a:rPr lang="en-GB" altLang="en-US" sz="800" dirty="0">
                <a:latin typeface="Arial" panose="020B0604020202020204" pitchFamily="34" charset="0"/>
                <a:cs typeface="Arial" panose="020B0604020202020204" pitchFamily="34" charset="0"/>
              </a:rPr>
              <a:t> (Euro)</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GBP</a:t>
            </a:r>
            <a:r>
              <a:rPr lang="en-GB" altLang="en-US" sz="800" dirty="0">
                <a:latin typeface="Arial" panose="020B0604020202020204" pitchFamily="34" charset="0"/>
                <a:cs typeface="Arial" panose="020B0604020202020204" pitchFamily="34" charset="0"/>
              </a:rPr>
              <a:t> (Sterling)</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JPY</a:t>
            </a:r>
            <a:r>
              <a:rPr lang="en-GB" altLang="en-US" sz="800" dirty="0">
                <a:latin typeface="Arial" panose="020B0604020202020204" pitchFamily="34" charset="0"/>
                <a:cs typeface="Arial" panose="020B0604020202020204" pitchFamily="34" charset="0"/>
              </a:rPr>
              <a:t> (Japanese Yen)</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NZD</a:t>
            </a:r>
            <a:r>
              <a:rPr lang="en-GB" altLang="en-US" sz="800" dirty="0">
                <a:latin typeface="Arial" panose="020B0604020202020204" pitchFamily="34" charset="0"/>
                <a:cs typeface="Arial" panose="020B0604020202020204" pitchFamily="34" charset="0"/>
              </a:rPr>
              <a:t> (New Zealand Dollar)</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SEK</a:t>
            </a:r>
            <a:r>
              <a:rPr lang="en-GB" altLang="en-US" sz="800" dirty="0">
                <a:latin typeface="Arial" panose="020B0604020202020204" pitchFamily="34" charset="0"/>
                <a:cs typeface="Arial" panose="020B0604020202020204" pitchFamily="34" charset="0"/>
              </a:rPr>
              <a:t> (</a:t>
            </a:r>
            <a:r>
              <a:rPr lang="en-GB" altLang="en-US" sz="800" dirty="0" err="1">
                <a:latin typeface="Arial" panose="020B0604020202020204" pitchFamily="34" charset="0"/>
                <a:cs typeface="Arial" panose="020B0604020202020204" pitchFamily="34" charset="0"/>
              </a:rPr>
              <a:t>Swedisk</a:t>
            </a:r>
            <a:r>
              <a:rPr lang="en-GB" altLang="en-US" sz="800" dirty="0">
                <a:latin typeface="Arial" panose="020B0604020202020204" pitchFamily="34" charset="0"/>
                <a:cs typeface="Arial" panose="020B0604020202020204" pitchFamily="34" charset="0"/>
              </a:rPr>
              <a:t> Krona)</a:t>
            </a:r>
            <a:br>
              <a:rPr lang="en-GB" altLang="en-US" sz="800" dirty="0">
                <a:latin typeface="Arial" panose="020B0604020202020204" pitchFamily="34" charset="0"/>
                <a:cs typeface="Arial" panose="020B0604020202020204" pitchFamily="34" charset="0"/>
              </a:rPr>
            </a:br>
            <a:r>
              <a:rPr lang="en-GB" altLang="en-US" sz="800" b="1" dirty="0">
                <a:latin typeface="Arial" panose="020B0604020202020204" pitchFamily="34" charset="0"/>
                <a:cs typeface="Arial" panose="020B0604020202020204" pitchFamily="34" charset="0"/>
              </a:rPr>
              <a:t>USD</a:t>
            </a:r>
            <a:r>
              <a:rPr lang="en-GB" altLang="en-US" sz="800" dirty="0">
                <a:latin typeface="Arial" panose="020B0604020202020204" pitchFamily="34" charset="0"/>
                <a:cs typeface="Arial" panose="020B0604020202020204" pitchFamily="34" charset="0"/>
              </a:rPr>
              <a:t> (US Dollar) </a:t>
            </a:r>
          </a:p>
        </p:txBody>
      </p:sp>
    </p:spTree>
    <p:extLst>
      <p:ext uri="{BB962C8B-B14F-4D97-AF65-F5344CB8AC3E}">
        <p14:creationId xmlns:p14="http://schemas.microsoft.com/office/powerpoint/2010/main" val="662852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
            <a:extLst>
              <a:ext uri="{FF2B5EF4-FFF2-40B4-BE49-F238E27FC236}">
                <a16:creationId xmlns:a16="http://schemas.microsoft.com/office/drawing/2014/main" id="{6A7271D9-DE30-4747-A102-91B3F7420CC1}"/>
              </a:ext>
            </a:extLst>
          </p:cNvPr>
          <p:cNvSpPr>
            <a:spLocks noGrp="1" noRot="1" noChangeAspect="1" noChangeArrowheads="1" noTextEdit="1"/>
          </p:cNvSpPr>
          <p:nvPr>
            <p:ph type="sldImg"/>
          </p:nvPr>
        </p:nvSpPr>
        <p:spPr>
          <a:xfrm>
            <a:off x="196850" y="149225"/>
            <a:ext cx="6705600" cy="5029200"/>
          </a:xfrm>
          <a:ln/>
        </p:spPr>
      </p:sp>
      <p:sp>
        <p:nvSpPr>
          <p:cNvPr id="103427" name="Rectangle 3">
            <a:extLst>
              <a:ext uri="{FF2B5EF4-FFF2-40B4-BE49-F238E27FC236}">
                <a16:creationId xmlns:a16="http://schemas.microsoft.com/office/drawing/2014/main" id="{AC95097B-FA61-4C25-B5F6-EED259BE3C9F}"/>
              </a:ext>
            </a:extLst>
          </p:cNvPr>
          <p:cNvSpPr>
            <a:spLocks noGrp="1" noChangeArrowheads="1"/>
          </p:cNvSpPr>
          <p:nvPr>
            <p:ph type="body" idx="1"/>
          </p:nvPr>
        </p:nvSpPr>
        <p:spPr>
          <a:xfrm>
            <a:off x="709613" y="5480520"/>
            <a:ext cx="5684837"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GB" altLang="en-US" sz="900" dirty="0">
                <a:latin typeface="Arial" panose="020B0604020202020204" pitchFamily="34" charset="0"/>
                <a:cs typeface="Arial" panose="020B0604020202020204" pitchFamily="34" charset="0"/>
              </a:rPr>
              <a:t>The British Bankers’ Association ceased quoting Libor for eight maturities and stopped all quotes for </a:t>
            </a:r>
            <a:r>
              <a:rPr lang="en-GB" altLang="en-US" sz="900" b="1" dirty="0">
                <a:latin typeface="Arial" panose="020B0604020202020204" pitchFamily="34" charset="0"/>
                <a:cs typeface="Arial" panose="020B0604020202020204" pitchFamily="34" charset="0"/>
              </a:rPr>
              <a:t>two currencies</a:t>
            </a:r>
            <a:r>
              <a:rPr lang="en-GB" altLang="en-US" sz="900" dirty="0">
                <a:latin typeface="Arial" panose="020B0604020202020204" pitchFamily="34" charset="0"/>
                <a:cs typeface="Arial" panose="020B0604020202020204" pitchFamily="34" charset="0"/>
              </a:rPr>
              <a:t>, in line with its plan to cut the number of benchmarks following the rate-rigging scandal. </a:t>
            </a:r>
          </a:p>
          <a:p>
            <a:pPr>
              <a:lnSpc>
                <a:spcPct val="90000"/>
              </a:lnSpc>
            </a:pPr>
            <a:r>
              <a:rPr lang="en-GB" altLang="en-US" sz="900" dirty="0">
                <a:latin typeface="Arial" panose="020B0604020202020204" pitchFamily="34" charset="0"/>
                <a:cs typeface="Arial" panose="020B0604020202020204" pitchFamily="34" charset="0"/>
              </a:rPr>
              <a:t>The London-based lobby group ceased publishing Libor for the </a:t>
            </a:r>
            <a:r>
              <a:rPr lang="en-GB" altLang="en-US" sz="900" b="1" dirty="0">
                <a:latin typeface="Arial" panose="020B0604020202020204" pitchFamily="34" charset="0"/>
                <a:cs typeface="Arial" panose="020B0604020202020204" pitchFamily="34" charset="0"/>
              </a:rPr>
              <a:t>Canadian and Australian dollars</a:t>
            </a:r>
            <a:r>
              <a:rPr lang="en-GB" altLang="en-US" sz="900" dirty="0">
                <a:latin typeface="Arial" panose="020B0604020202020204" pitchFamily="34" charset="0"/>
                <a:cs typeface="Arial" panose="020B0604020202020204" pitchFamily="34" charset="0"/>
              </a:rPr>
              <a:t> at the end of May 2013, according to its website. It </a:t>
            </a:r>
            <a:r>
              <a:rPr lang="en-GB" altLang="en-US" sz="900" b="1" dirty="0">
                <a:latin typeface="Arial" panose="020B0604020202020204" pitchFamily="34" charset="0"/>
                <a:cs typeface="Arial" panose="020B0604020202020204" pitchFamily="34" charset="0"/>
              </a:rPr>
              <a:t>discontinued maturities</a:t>
            </a:r>
            <a:r>
              <a:rPr lang="en-GB" altLang="en-US" sz="900" dirty="0">
                <a:latin typeface="Arial" panose="020B0604020202020204" pitchFamily="34" charset="0"/>
                <a:cs typeface="Arial" panose="020B0604020202020204" pitchFamily="34" charset="0"/>
              </a:rPr>
              <a:t> such as the </a:t>
            </a:r>
            <a:r>
              <a:rPr lang="en-GB" altLang="en-US" sz="900" b="1" dirty="0">
                <a:latin typeface="Arial" panose="020B0604020202020204" pitchFamily="34" charset="0"/>
                <a:cs typeface="Arial" panose="020B0604020202020204" pitchFamily="34" charset="0"/>
              </a:rPr>
              <a:t>two-week, five-month and 11-month tenors</a:t>
            </a:r>
            <a:r>
              <a:rPr lang="en-GB" altLang="en-US" sz="900" dirty="0">
                <a:latin typeface="Arial" panose="020B0604020202020204" pitchFamily="34" charset="0"/>
                <a:cs typeface="Arial" panose="020B0604020202020204" pitchFamily="34" charset="0"/>
              </a:rPr>
              <a:t> for </a:t>
            </a:r>
            <a:r>
              <a:rPr lang="en-GB" altLang="en-US" sz="900" b="1" dirty="0">
                <a:latin typeface="Arial" panose="020B0604020202020204" pitchFamily="34" charset="0"/>
                <a:cs typeface="Arial" panose="020B0604020202020204" pitchFamily="34" charset="0"/>
              </a:rPr>
              <a:t>all remaining currencies</a:t>
            </a:r>
            <a:r>
              <a:rPr lang="en-GB" altLang="en-US" sz="900" dirty="0">
                <a:latin typeface="Arial" panose="020B0604020202020204" pitchFamily="34" charset="0"/>
                <a:cs typeface="Arial" panose="020B0604020202020204" pitchFamily="34" charset="0"/>
              </a:rPr>
              <a:t>. That brings the number of quoted rates to 37, according to the BBA. Rebecca Park, a spokeswoman for the BBA, declined to comment on the process, first announced in November. </a:t>
            </a: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r>
              <a:rPr lang="en-GB" altLang="en-US" sz="900" dirty="0">
                <a:latin typeface="Arial" panose="020B0604020202020204" pitchFamily="34" charset="0"/>
                <a:cs typeface="Arial" panose="020B0604020202020204" pitchFamily="34" charset="0"/>
              </a:rPr>
              <a:t>12 Jun 2013</a:t>
            </a:r>
          </a:p>
          <a:p>
            <a:pPr>
              <a:lnSpc>
                <a:spcPct val="90000"/>
              </a:lnSpc>
            </a:pPr>
            <a:r>
              <a:rPr lang="en-GB" altLang="en-US" sz="900" dirty="0">
                <a:latin typeface="Arial" panose="020B0604020202020204" pitchFamily="34" charset="0"/>
                <a:cs typeface="Arial" panose="020B0604020202020204" pitchFamily="34" charset="0"/>
              </a:rPr>
              <a:t>BBA LIBOR today announced that following the recommendations set out in the Wheatley Review, with effect from 1st July 2013, the publication of individual bank’s submissions to LIBOR will be embargoed for 3 months. The BBA also announced today that the publication of “same day” EURO LIBOR rates for 1 week and 1 month, will cease from 31st July 2013.  These 2 rates were supplemental to the “spot” EUR LIBOR rates for all seven LIBOR tenors, which will continue as usual.  </a:t>
            </a:r>
          </a:p>
          <a:p>
            <a:pPr>
              <a:lnSpc>
                <a:spcPct val="90000"/>
              </a:lnSpc>
            </a:pPr>
            <a:r>
              <a:rPr lang="en-GB" altLang="en-US" sz="900" dirty="0">
                <a:latin typeface="Arial" panose="020B0604020202020204" pitchFamily="34" charset="0"/>
                <a:cs typeface="Arial" panose="020B0604020202020204" pitchFamily="34" charset="0"/>
              </a:rPr>
              <a:t>Individual bank submissions will remain available in real-time to the LIBOR benchmark administrators for the purposes of calculating the rate and for monitoring and surveillance.  The information will also remain available to the FCA for the purpose of supervision.</a:t>
            </a:r>
          </a:p>
          <a:p>
            <a:pPr>
              <a:lnSpc>
                <a:spcPct val="90000"/>
              </a:lnSpc>
            </a:pPr>
            <a:r>
              <a:rPr lang="en-GB" altLang="en-US" sz="900" dirty="0">
                <a:latin typeface="Arial" panose="020B0604020202020204" pitchFamily="34" charset="0"/>
                <a:cs typeface="Arial" panose="020B0604020202020204" pitchFamily="34" charset="0"/>
              </a:rPr>
              <a:t>Individual submissions will be published after a period of 3 months. The daily publication of the final LIBOR rates will not be affected.</a:t>
            </a: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r>
              <a:rPr lang="en-GB" altLang="en-US" sz="900" dirty="0">
                <a:latin typeface="Arial" panose="020B0604020202020204" pitchFamily="34" charset="0"/>
                <a:cs typeface="Arial" panose="020B0604020202020204" pitchFamily="34" charset="0"/>
              </a:rPr>
              <a:t>Since the Review was published in September 2012, the BBA has been fully committed to implementing its recommendations and working to ensure a smooth transition to a new administrator. This has so far involved consulting on streamlining the number of LIBOR currencies and maturities, so that instead of ten currencies and 15 maturities there will be five currencies and seven maturities quoted every day. The last rates for the New Zealand dollar were published at the end of February, and the final publication of Swedish Kroner and Danish Krone rates occurred last Thursday (28th March). At the end of May, the Canadian and Australian dollar rates will also cease publication. We are also announcing today that, with effect from today (2nd April 2013), Euro LIBOR rates and Euro same-day LIBOR rates will no longer be published on UK bank holidays. This brings Euro LIBOR into line with all other LIBOR currencies. </a:t>
            </a:r>
          </a:p>
        </p:txBody>
      </p:sp>
    </p:spTree>
    <p:extLst>
      <p:ext uri="{BB962C8B-B14F-4D97-AF65-F5344CB8AC3E}">
        <p14:creationId xmlns:p14="http://schemas.microsoft.com/office/powerpoint/2010/main" val="558372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
            <a:extLst>
              <a:ext uri="{FF2B5EF4-FFF2-40B4-BE49-F238E27FC236}">
                <a16:creationId xmlns:a16="http://schemas.microsoft.com/office/drawing/2014/main" id="{6A7271D9-DE30-4747-A102-91B3F7420CC1}"/>
              </a:ext>
            </a:extLst>
          </p:cNvPr>
          <p:cNvSpPr>
            <a:spLocks noGrp="1" noRot="1" noChangeAspect="1" noChangeArrowheads="1" noTextEdit="1"/>
          </p:cNvSpPr>
          <p:nvPr>
            <p:ph type="sldImg"/>
          </p:nvPr>
        </p:nvSpPr>
        <p:spPr>
          <a:xfrm>
            <a:off x="196850" y="149225"/>
            <a:ext cx="6705600" cy="5029200"/>
          </a:xfrm>
          <a:ln/>
        </p:spPr>
      </p:sp>
      <p:sp>
        <p:nvSpPr>
          <p:cNvPr id="103427" name="Rectangle 3">
            <a:extLst>
              <a:ext uri="{FF2B5EF4-FFF2-40B4-BE49-F238E27FC236}">
                <a16:creationId xmlns:a16="http://schemas.microsoft.com/office/drawing/2014/main" id="{AC95097B-FA61-4C25-B5F6-EED259BE3C9F}"/>
              </a:ext>
            </a:extLst>
          </p:cNvPr>
          <p:cNvSpPr>
            <a:spLocks noGrp="1" noChangeArrowheads="1"/>
          </p:cNvSpPr>
          <p:nvPr>
            <p:ph type="body" idx="1"/>
          </p:nvPr>
        </p:nvSpPr>
        <p:spPr>
          <a:xfrm>
            <a:off x="709613" y="5480520"/>
            <a:ext cx="5684837"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47500" lnSpcReduction="20000"/>
          </a:bodyPr>
          <a:lstStyle/>
          <a:p>
            <a:pP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IBORs</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are </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"term rates"</a:t>
            </a:r>
            <a:r>
              <a:rPr lang="en-GB" sz="1800" b="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which means they are published for different periods of time such as 3 months or 6 months and are </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"forward looking"</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which means they are published at the beginning of the borrowing period. Due to IBORs “forward looking” nature it incorporates a </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term premium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to compensate for the risk of default over the term for which it is calculated.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Most RFRs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are </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"backward-looking"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overnight rates based on actual historic transactions. They are published at the end of the overnight borrowing period. </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RFRs therefore do not incorporate any term premium </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which is imbedded in the IBOR calculation due to lending to another bank on a longer-term basis.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altLang="en-US" sz="900" dirty="0">
                <a:latin typeface="Arial" panose="020B0604020202020204" pitchFamily="34" charset="0"/>
                <a:cs typeface="Arial" panose="020B0604020202020204" pitchFamily="34" charset="0"/>
              </a:rPr>
              <a:t>“</a:t>
            </a: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From 1 April 2021, HSBC will no longer sign new lending contracts based on GBP LIBOR that mature post 2021,</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regardless of the jurisdiction or governing law used in the documentation. We will offer Sterling Overnight Index Average (SONIA) or the Bank of England’s Bank Rate as alternatives to GBP LIBOR where available and subject to eligibility criteria.</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800" b="1" dirty="0">
                <a:effectLst/>
                <a:latin typeface="Times New Roman" panose="02020603050405020304" pitchFamily="18" charset="0"/>
                <a:ea typeface="Times New Roman" panose="02020603050405020304" pitchFamily="18" charset="0"/>
              </a:rPr>
              <a:t>From 1 July 2021,</a:t>
            </a:r>
            <a:r>
              <a:rPr lang="en-GB" sz="1800" dirty="0">
                <a:effectLst/>
                <a:latin typeface="Times New Roman" panose="02020603050405020304" pitchFamily="18" charset="0"/>
                <a:ea typeface="Times New Roman" panose="02020603050405020304" pitchFamily="18" charset="0"/>
              </a:rPr>
              <a:t> in line with the ARRC’s best practice recommendation and regulatory guidance, </a:t>
            </a:r>
            <a:r>
              <a:rPr lang="en-GB" sz="1800" b="1" dirty="0">
                <a:effectLst/>
                <a:latin typeface="Times New Roman" panose="02020603050405020304" pitchFamily="18" charset="0"/>
                <a:ea typeface="Times New Roman" panose="02020603050405020304" pitchFamily="18" charset="0"/>
              </a:rPr>
              <a:t>we aim to stop offering new USD LIBOR-based loans, securitisations and derivatives that mature post 2021</a:t>
            </a:r>
            <a:r>
              <a:rPr lang="en-GB" sz="1800" dirty="0">
                <a:effectLst/>
                <a:latin typeface="Times New Roman" panose="02020603050405020304" pitchFamily="18" charset="0"/>
                <a:ea typeface="Times New Roman" panose="02020603050405020304" pitchFamily="18" charset="0"/>
              </a:rPr>
              <a:t> and offer the Secured Overnight Financing Rate (SOFR) as an alternative, wherever possible”</a:t>
            </a: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r>
              <a:rPr lang="en-GB" altLang="en-US" sz="900" dirty="0">
                <a:latin typeface="Arial" panose="020B0604020202020204" pitchFamily="34" charset="0"/>
                <a:cs typeface="Arial" panose="020B0604020202020204" pitchFamily="34" charset="0"/>
              </a:rPr>
              <a:t>The British Bankers’ Association ceased quoting Libor for eight maturities and stopped all quotes for </a:t>
            </a:r>
            <a:r>
              <a:rPr lang="en-GB" altLang="en-US" sz="900" b="1" dirty="0">
                <a:latin typeface="Arial" panose="020B0604020202020204" pitchFamily="34" charset="0"/>
                <a:cs typeface="Arial" panose="020B0604020202020204" pitchFamily="34" charset="0"/>
              </a:rPr>
              <a:t>two currencies</a:t>
            </a:r>
            <a:r>
              <a:rPr lang="en-GB" altLang="en-US" sz="900" dirty="0">
                <a:latin typeface="Arial" panose="020B0604020202020204" pitchFamily="34" charset="0"/>
                <a:cs typeface="Arial" panose="020B0604020202020204" pitchFamily="34" charset="0"/>
              </a:rPr>
              <a:t>, in line with its plan to cut the number of benchmarks following the rate-rigging scandal. </a:t>
            </a:r>
          </a:p>
          <a:p>
            <a:pPr>
              <a:lnSpc>
                <a:spcPct val="90000"/>
              </a:lnSpc>
            </a:pPr>
            <a:r>
              <a:rPr lang="en-GB" altLang="en-US" sz="900" dirty="0">
                <a:latin typeface="Arial" panose="020B0604020202020204" pitchFamily="34" charset="0"/>
                <a:cs typeface="Arial" panose="020B0604020202020204" pitchFamily="34" charset="0"/>
              </a:rPr>
              <a:t>The London-based lobby group ceased publishing Libor for the </a:t>
            </a:r>
            <a:r>
              <a:rPr lang="en-GB" altLang="en-US" sz="900" b="1" dirty="0">
                <a:latin typeface="Arial" panose="020B0604020202020204" pitchFamily="34" charset="0"/>
                <a:cs typeface="Arial" panose="020B0604020202020204" pitchFamily="34" charset="0"/>
              </a:rPr>
              <a:t>Canadian and Australian dollars</a:t>
            </a:r>
            <a:r>
              <a:rPr lang="en-GB" altLang="en-US" sz="900" dirty="0">
                <a:latin typeface="Arial" panose="020B0604020202020204" pitchFamily="34" charset="0"/>
                <a:cs typeface="Arial" panose="020B0604020202020204" pitchFamily="34" charset="0"/>
              </a:rPr>
              <a:t> at the end of May 2013, according to its website. It </a:t>
            </a:r>
            <a:r>
              <a:rPr lang="en-GB" altLang="en-US" sz="900" b="1" dirty="0">
                <a:latin typeface="Arial" panose="020B0604020202020204" pitchFamily="34" charset="0"/>
                <a:cs typeface="Arial" panose="020B0604020202020204" pitchFamily="34" charset="0"/>
              </a:rPr>
              <a:t>discontinued maturities</a:t>
            </a:r>
            <a:r>
              <a:rPr lang="en-GB" altLang="en-US" sz="900" dirty="0">
                <a:latin typeface="Arial" panose="020B0604020202020204" pitchFamily="34" charset="0"/>
                <a:cs typeface="Arial" panose="020B0604020202020204" pitchFamily="34" charset="0"/>
              </a:rPr>
              <a:t> such as the </a:t>
            </a:r>
            <a:r>
              <a:rPr lang="en-GB" altLang="en-US" sz="900" b="1" dirty="0">
                <a:latin typeface="Arial" panose="020B0604020202020204" pitchFamily="34" charset="0"/>
                <a:cs typeface="Arial" panose="020B0604020202020204" pitchFamily="34" charset="0"/>
              </a:rPr>
              <a:t>two-week, five-month and 11-month tenors</a:t>
            </a:r>
            <a:r>
              <a:rPr lang="en-GB" altLang="en-US" sz="900" dirty="0">
                <a:latin typeface="Arial" panose="020B0604020202020204" pitchFamily="34" charset="0"/>
                <a:cs typeface="Arial" panose="020B0604020202020204" pitchFamily="34" charset="0"/>
              </a:rPr>
              <a:t> for </a:t>
            </a:r>
            <a:r>
              <a:rPr lang="en-GB" altLang="en-US" sz="900" b="1" dirty="0">
                <a:latin typeface="Arial" panose="020B0604020202020204" pitchFamily="34" charset="0"/>
                <a:cs typeface="Arial" panose="020B0604020202020204" pitchFamily="34" charset="0"/>
              </a:rPr>
              <a:t>all remaining currencies</a:t>
            </a:r>
            <a:r>
              <a:rPr lang="en-GB" altLang="en-US" sz="900" dirty="0">
                <a:latin typeface="Arial" panose="020B0604020202020204" pitchFamily="34" charset="0"/>
                <a:cs typeface="Arial" panose="020B0604020202020204" pitchFamily="34" charset="0"/>
              </a:rPr>
              <a:t>. That brings the number of quoted rates to 37, according to the BBA. Rebecca Park, a spokeswoman for the BBA, declined to comment on the process, first announced in November. </a:t>
            </a: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r>
              <a:rPr lang="en-GB" altLang="en-US" sz="900" dirty="0">
                <a:latin typeface="Arial" panose="020B0604020202020204" pitchFamily="34" charset="0"/>
                <a:cs typeface="Arial" panose="020B0604020202020204" pitchFamily="34" charset="0"/>
              </a:rPr>
              <a:t>12 Jun 2013</a:t>
            </a:r>
          </a:p>
          <a:p>
            <a:pPr>
              <a:lnSpc>
                <a:spcPct val="90000"/>
              </a:lnSpc>
            </a:pPr>
            <a:r>
              <a:rPr lang="en-GB" altLang="en-US" sz="900" dirty="0">
                <a:latin typeface="Arial" panose="020B0604020202020204" pitchFamily="34" charset="0"/>
                <a:cs typeface="Arial" panose="020B0604020202020204" pitchFamily="34" charset="0"/>
              </a:rPr>
              <a:t>BBA LIBOR today announced that following the recommendations set out in the Wheatley Review, with effect from 1st July 2013, the publication of individual bank’s submissions to LIBOR will be embargoed for 3 months. The BBA also announced today that the publication of “same day” EURO LIBOR rates for 1 week and 1 month, will cease from 31st July 2013.  These 2 rates were supplemental to the “spot” EUR LIBOR rates for all seven LIBOR tenors, which will continue as usual.  </a:t>
            </a:r>
          </a:p>
          <a:p>
            <a:pPr>
              <a:lnSpc>
                <a:spcPct val="90000"/>
              </a:lnSpc>
            </a:pPr>
            <a:r>
              <a:rPr lang="en-GB" altLang="en-US" sz="900" dirty="0">
                <a:latin typeface="Arial" panose="020B0604020202020204" pitchFamily="34" charset="0"/>
                <a:cs typeface="Arial" panose="020B0604020202020204" pitchFamily="34" charset="0"/>
              </a:rPr>
              <a:t>Individual bank submissions will remain available in real-time to the LIBOR benchmark administrators for the purposes of calculating the rate and for monitoring and surveillance.  The information will also remain available to the FCA for the purpose of supervision.</a:t>
            </a:r>
          </a:p>
          <a:p>
            <a:pPr>
              <a:lnSpc>
                <a:spcPct val="90000"/>
              </a:lnSpc>
            </a:pPr>
            <a:r>
              <a:rPr lang="en-GB" altLang="en-US" sz="900" dirty="0">
                <a:latin typeface="Arial" panose="020B0604020202020204" pitchFamily="34" charset="0"/>
                <a:cs typeface="Arial" panose="020B0604020202020204" pitchFamily="34" charset="0"/>
              </a:rPr>
              <a:t>Individual submissions will be published after a period of 3 months. The daily publication of the final LIBOR rates will not be affected.</a:t>
            </a:r>
          </a:p>
          <a:p>
            <a:pPr>
              <a:lnSpc>
                <a:spcPct val="90000"/>
              </a:lnSpc>
            </a:pPr>
            <a:endParaRPr lang="en-GB" altLang="en-US" sz="900" dirty="0">
              <a:latin typeface="Arial" panose="020B0604020202020204" pitchFamily="34" charset="0"/>
              <a:cs typeface="Arial" panose="020B0604020202020204" pitchFamily="34" charset="0"/>
            </a:endParaRPr>
          </a:p>
          <a:p>
            <a:pPr>
              <a:lnSpc>
                <a:spcPct val="90000"/>
              </a:lnSpc>
            </a:pPr>
            <a:r>
              <a:rPr lang="en-GB" altLang="en-US" sz="900" dirty="0">
                <a:latin typeface="Arial" panose="020B0604020202020204" pitchFamily="34" charset="0"/>
                <a:cs typeface="Arial" panose="020B0604020202020204" pitchFamily="34" charset="0"/>
              </a:rPr>
              <a:t>Since the Review was published in September 2012, the BBA has been fully committed to implementing its recommendations and working to ensure a smooth transition to a new administrator. This has so far involved consulting on streamlining the number of LIBOR currencies and maturities, so that instead of ten currencies and 15 maturities there will be five currencies and seven maturities quoted every day. The last rates for the New Zealand dollar were published at the end of February, and the final publication of Swedish Kroner and Danish Krone rates occurred last Thursday (28th March). At the end of May, the Canadian and Australian dollar rates will also cease publication. We are also announcing today that, with effect from today (2nd April 2013), Euro LIBOR rates and Euro same-day LIBOR rates will no longer be published on UK bank holidays. This brings Euro LIBOR into line with all other LIBOR currencies. </a:t>
            </a:r>
          </a:p>
        </p:txBody>
      </p:sp>
    </p:spTree>
    <p:extLst>
      <p:ext uri="{BB962C8B-B14F-4D97-AF65-F5344CB8AC3E}">
        <p14:creationId xmlns:p14="http://schemas.microsoft.com/office/powerpoint/2010/main" val="1723830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234479F7-0A4D-405C-B425-2C19A43838F3}"/>
              </a:ext>
            </a:extLst>
          </p:cNvPr>
          <p:cNvSpPr>
            <a:spLocks noGrp="1" noRot="1" noChangeAspect="1" noChangeArrowheads="1" noTextEdit="1"/>
          </p:cNvSpPr>
          <p:nvPr>
            <p:ph type="sldImg"/>
          </p:nvPr>
        </p:nvSpPr>
        <p:spPr>
          <a:xfrm>
            <a:off x="196850" y="149225"/>
            <a:ext cx="6705600" cy="5029200"/>
          </a:xfrm>
          <a:ln/>
        </p:spPr>
      </p:sp>
      <p:sp>
        <p:nvSpPr>
          <p:cNvPr id="2" name="Notes Placeholder 1">
            <a:extLst>
              <a:ext uri="{FF2B5EF4-FFF2-40B4-BE49-F238E27FC236}">
                <a16:creationId xmlns:a16="http://schemas.microsoft.com/office/drawing/2014/main" id="{F88D2C63-CB62-4788-9211-07C305B0DB19}"/>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74765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234479F7-0A4D-405C-B425-2C19A43838F3}"/>
              </a:ext>
            </a:extLst>
          </p:cNvPr>
          <p:cNvSpPr>
            <a:spLocks noGrp="1" noRot="1" noChangeAspect="1" noChangeArrowheads="1" noTextEdit="1"/>
          </p:cNvSpPr>
          <p:nvPr>
            <p:ph type="sldImg"/>
          </p:nvPr>
        </p:nvSpPr>
        <p:spPr>
          <a:xfrm>
            <a:off x="196850" y="149225"/>
            <a:ext cx="6705600" cy="5029200"/>
          </a:xfrm>
          <a:ln/>
        </p:spPr>
      </p:sp>
      <p:sp>
        <p:nvSpPr>
          <p:cNvPr id="2" name="Notes Placeholder 1">
            <a:extLst>
              <a:ext uri="{FF2B5EF4-FFF2-40B4-BE49-F238E27FC236}">
                <a16:creationId xmlns:a16="http://schemas.microsoft.com/office/drawing/2014/main" id="{F88D2C63-CB62-4788-9211-07C305B0DB19}"/>
              </a:ext>
            </a:extLst>
          </p:cNvPr>
          <p:cNvSpPr>
            <a:spLocks noGrp="1"/>
          </p:cNvSpPr>
          <p:nvPr>
            <p:ph type="body" idx="1"/>
          </p:nvPr>
        </p:nvSpPr>
        <p:spPr/>
        <p:txBody>
          <a:bodyPr>
            <a:normAutofit fontScale="70000" lnSpcReduction="20000"/>
          </a:bodyPr>
          <a:lstStyle/>
          <a:p>
            <a:r>
              <a:rPr lang="en-GB" sz="2000" dirty="0"/>
              <a:t>Compounded SONIA is extremely robust:</a:t>
            </a:r>
          </a:p>
          <a:p>
            <a:r>
              <a:rPr lang="en-GB" sz="2000" dirty="0"/>
              <a:t>•Overnight SONIA is underpinned by ~£60bn1worth of daily transactions, reported to the Bank of England </a:t>
            </a:r>
          </a:p>
          <a:p>
            <a:r>
              <a:rPr lang="en-GB" sz="2000" dirty="0"/>
              <a:t>•Taking this rate every business day means there is a very large volume of transactions underpinning the final interest rate. E.g. £60bn x number of business days in interest period = significant volume</a:t>
            </a:r>
          </a:p>
          <a:p>
            <a:r>
              <a:rPr lang="en-GB" sz="2000" dirty="0"/>
              <a:t>Calculating interest on a compounded basis reduces the contribution of ‘one-off’ volatility in interest rates, that may occur due to unusual supply and demand factors affecting a benchmark rate on a particular day</a:t>
            </a:r>
          </a:p>
          <a:p>
            <a:r>
              <a:rPr lang="en-GB" sz="2000" dirty="0">
                <a:effectLst/>
                <a:latin typeface="Arial" panose="020B0604020202020204" pitchFamily="34" charset="0"/>
              </a:rPr>
              <a:t>When using compounded SONIA, the interest rate payable is aggregated over the interest period and finalised at the end. The eventual rate becomes increasingly certain as the end of each period approaches and most of the SONIA observations are known.</a:t>
            </a:r>
          </a:p>
          <a:p>
            <a:r>
              <a:rPr lang="en-GB" sz="2000" dirty="0">
                <a:effectLst/>
                <a:latin typeface="Arial" panose="020B0604020202020204" pitchFamily="34" charset="0"/>
              </a:rPr>
              <a:t>•But we know firms need a period of certainty over their payments to operate smoothly. The market has therefore developed conventions to provide time after the last SONIA observation for the final interest to be calculated &amp; verified before it needs to be paid.</a:t>
            </a:r>
          </a:p>
          <a:p>
            <a:r>
              <a:rPr lang="en-GB" sz="2000" dirty="0">
                <a:effectLst/>
                <a:latin typeface="Arial" panose="020B0604020202020204" pitchFamily="34" charset="0"/>
              </a:rPr>
              <a:t>•For example, the period for calculating interest may start (typically) five days before the actual interest period begins, so it finishes that number of days before the interest is due.</a:t>
            </a:r>
            <a:endParaRPr lang="en-GB" sz="2000" dirty="0"/>
          </a:p>
          <a:p>
            <a:endParaRPr lang="en-GB" dirty="0"/>
          </a:p>
        </p:txBody>
      </p:sp>
    </p:spTree>
    <p:extLst>
      <p:ext uri="{BB962C8B-B14F-4D97-AF65-F5344CB8AC3E}">
        <p14:creationId xmlns:p14="http://schemas.microsoft.com/office/powerpoint/2010/main" val="41288764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234479F7-0A4D-405C-B425-2C19A43838F3}"/>
              </a:ext>
            </a:extLst>
          </p:cNvPr>
          <p:cNvSpPr>
            <a:spLocks noGrp="1" noRot="1" noChangeAspect="1" noChangeArrowheads="1" noTextEdit="1"/>
          </p:cNvSpPr>
          <p:nvPr>
            <p:ph type="sldImg"/>
          </p:nvPr>
        </p:nvSpPr>
        <p:spPr>
          <a:xfrm>
            <a:off x="196850" y="149225"/>
            <a:ext cx="6705600" cy="5029200"/>
          </a:xfrm>
          <a:ln/>
        </p:spPr>
      </p:sp>
      <p:sp>
        <p:nvSpPr>
          <p:cNvPr id="2" name="Notes Placeholder 1">
            <a:extLst>
              <a:ext uri="{FF2B5EF4-FFF2-40B4-BE49-F238E27FC236}">
                <a16:creationId xmlns:a16="http://schemas.microsoft.com/office/drawing/2014/main" id="{F88D2C63-CB62-4788-9211-07C305B0DB19}"/>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725732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a:extLst>
              <a:ext uri="{FF2B5EF4-FFF2-40B4-BE49-F238E27FC236}">
                <a16:creationId xmlns:a16="http://schemas.microsoft.com/office/drawing/2014/main" id="{34D8D901-1784-40BA-807E-3ED491410704}"/>
              </a:ext>
            </a:extLst>
          </p:cNvPr>
          <p:cNvSpPr>
            <a:spLocks noGrp="1" noRot="1" noChangeAspect="1" noChangeArrowheads="1" noTextEdit="1"/>
          </p:cNvSpPr>
          <p:nvPr>
            <p:ph type="sldImg"/>
          </p:nvPr>
        </p:nvSpPr>
        <p:spPr>
          <a:xfrm>
            <a:off x="196850" y="149225"/>
            <a:ext cx="6705600" cy="5029200"/>
          </a:xfrm>
          <a:ln/>
        </p:spPr>
      </p:sp>
      <p:sp>
        <p:nvSpPr>
          <p:cNvPr id="45060" name="Rectangle 4">
            <a:extLst>
              <a:ext uri="{FF2B5EF4-FFF2-40B4-BE49-F238E27FC236}">
                <a16:creationId xmlns:a16="http://schemas.microsoft.com/office/drawing/2014/main" id="{92073470-62F4-418C-B65B-1AF88D7C1535}"/>
              </a:ext>
            </a:extLst>
          </p:cNvPr>
          <p:cNvSpPr>
            <a:spLocks noGrp="1" noChangeArrowheads="1"/>
          </p:cNvSpPr>
          <p:nvPr>
            <p:ph type="body" idx="1"/>
          </p:nvPr>
        </p:nvSpPr>
        <p:spPr>
          <a:xfrm>
            <a:off x="709613" y="5408512"/>
            <a:ext cx="5684837"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p>
            <a:r>
              <a:rPr lang="en-GB" sz="1600" dirty="0"/>
              <a:t>There are 20 </a:t>
            </a:r>
            <a:r>
              <a:rPr lang="en-GB" sz="1600" dirty="0">
                <a:hlinkClick r:id="rId3"/>
              </a:rPr>
              <a:t>panel banks</a:t>
            </a:r>
            <a:r>
              <a:rPr lang="en-GB" sz="1600" dirty="0"/>
              <a:t> that contribute to Euribor. These are the financial institutions that handle the largest volume of eurozone money market transactions. As of 2018, these panel banks include: </a:t>
            </a:r>
          </a:p>
          <a:p>
            <a:pPr>
              <a:buFont typeface="Arial" panose="020B0604020202020204" pitchFamily="34" charset="0"/>
              <a:buChar char="•"/>
            </a:pPr>
            <a:r>
              <a:rPr lang="en-GB" sz="1600" dirty="0"/>
              <a:t>Belfius (Belgium)</a:t>
            </a:r>
          </a:p>
          <a:p>
            <a:pPr>
              <a:buFont typeface="Arial" panose="020B0604020202020204" pitchFamily="34" charset="0"/>
              <a:buChar char="•"/>
            </a:pPr>
            <a:r>
              <a:rPr lang="en-GB" sz="1600" dirty="0"/>
              <a:t>BNP Paribas (France)</a:t>
            </a:r>
          </a:p>
          <a:p>
            <a:pPr>
              <a:buFont typeface="Arial" panose="020B0604020202020204" pitchFamily="34" charset="0"/>
              <a:buChar char="•"/>
            </a:pPr>
            <a:r>
              <a:rPr lang="en-GB" sz="1600" dirty="0"/>
              <a:t>HSBC France</a:t>
            </a:r>
          </a:p>
          <a:p>
            <a:pPr>
              <a:buFont typeface="Arial" panose="020B0604020202020204" pitchFamily="34" charset="0"/>
              <a:buChar char="•"/>
            </a:pPr>
            <a:r>
              <a:rPr lang="en-GB" sz="1600" dirty="0"/>
              <a:t>Natixis (France)</a:t>
            </a:r>
          </a:p>
          <a:p>
            <a:pPr>
              <a:buFont typeface="Arial" panose="020B0604020202020204" pitchFamily="34" charset="0"/>
              <a:buChar char="•"/>
            </a:pPr>
            <a:r>
              <a:rPr lang="en-GB" sz="1600" dirty="0"/>
              <a:t>Crédit Agricole (France)</a:t>
            </a:r>
          </a:p>
          <a:p>
            <a:pPr>
              <a:buFont typeface="Arial" panose="020B0604020202020204" pitchFamily="34" charset="0"/>
              <a:buChar char="•"/>
            </a:pPr>
            <a:r>
              <a:rPr lang="en-GB" sz="1600" dirty="0"/>
              <a:t>Société Générale (France)</a:t>
            </a:r>
          </a:p>
          <a:p>
            <a:pPr>
              <a:buFont typeface="Arial" panose="020B0604020202020204" pitchFamily="34" charset="0"/>
              <a:buChar char="•"/>
            </a:pPr>
            <a:r>
              <a:rPr lang="en-GB" sz="1600" dirty="0"/>
              <a:t>Deutsche Bank (Germany)</a:t>
            </a:r>
          </a:p>
          <a:p>
            <a:pPr>
              <a:buFont typeface="Arial" panose="020B0604020202020204" pitchFamily="34" charset="0"/>
              <a:buChar char="•"/>
            </a:pPr>
            <a:r>
              <a:rPr lang="en-GB" sz="1600" dirty="0"/>
              <a:t>DZ Bank (Germany)</a:t>
            </a:r>
          </a:p>
          <a:p>
            <a:pPr>
              <a:buFont typeface="Arial" panose="020B0604020202020204" pitchFamily="34" charset="0"/>
              <a:buChar char="•"/>
            </a:pPr>
            <a:r>
              <a:rPr lang="en-GB" sz="1600" dirty="0"/>
              <a:t>National Bank of Greece</a:t>
            </a:r>
          </a:p>
          <a:p>
            <a:pPr>
              <a:buFont typeface="Arial" panose="020B0604020202020204" pitchFamily="34" charset="0"/>
              <a:buChar char="•"/>
            </a:pPr>
            <a:r>
              <a:rPr lang="en-GB" sz="1600" dirty="0"/>
              <a:t>Intesa Sanpaolo (Italy)</a:t>
            </a:r>
          </a:p>
          <a:p>
            <a:pPr>
              <a:buFont typeface="Arial" panose="020B0604020202020204" pitchFamily="34" charset="0"/>
              <a:buChar char="•"/>
            </a:pPr>
            <a:r>
              <a:rPr lang="en-GB" sz="1600" dirty="0"/>
              <a:t>Monte </a:t>
            </a:r>
            <a:r>
              <a:rPr lang="en-GB" sz="1600" dirty="0" err="1"/>
              <a:t>dei</a:t>
            </a:r>
            <a:r>
              <a:rPr lang="en-GB" sz="1600" dirty="0"/>
              <a:t> </a:t>
            </a:r>
            <a:r>
              <a:rPr lang="en-GB" sz="1600" dirty="0" err="1"/>
              <a:t>Paschi</a:t>
            </a:r>
            <a:r>
              <a:rPr lang="en-GB" sz="1600" dirty="0"/>
              <a:t> di Siena (Italy)</a:t>
            </a:r>
          </a:p>
          <a:p>
            <a:pPr>
              <a:buFont typeface="Arial" panose="020B0604020202020204" pitchFamily="34" charset="0"/>
              <a:buChar char="•"/>
            </a:pPr>
            <a:r>
              <a:rPr lang="en-GB" sz="1600" dirty="0"/>
              <a:t>UniCredit (Italy)</a:t>
            </a:r>
          </a:p>
          <a:p>
            <a:pPr>
              <a:buFont typeface="Arial" panose="020B0604020202020204" pitchFamily="34" charset="0"/>
              <a:buChar char="•"/>
            </a:pPr>
            <a:r>
              <a:rPr lang="en-GB" sz="1600" dirty="0"/>
              <a:t>Banque et </a:t>
            </a:r>
            <a:r>
              <a:rPr lang="en-GB" sz="1600" dirty="0" err="1"/>
              <a:t>Caisse</a:t>
            </a:r>
            <a:r>
              <a:rPr lang="en-GB" sz="1600" dirty="0"/>
              <a:t> </a:t>
            </a:r>
            <a:r>
              <a:rPr lang="en-GB" sz="1600" dirty="0" err="1"/>
              <a:t>d'Épargne</a:t>
            </a:r>
            <a:r>
              <a:rPr lang="en-GB" sz="1600" dirty="0"/>
              <a:t> de </a:t>
            </a:r>
            <a:r>
              <a:rPr lang="en-GB" sz="1600" dirty="0" err="1"/>
              <a:t>l'État</a:t>
            </a:r>
            <a:r>
              <a:rPr lang="en-GB" sz="1600" dirty="0"/>
              <a:t> (Luxembourg)</a:t>
            </a:r>
          </a:p>
          <a:p>
            <a:pPr>
              <a:buFont typeface="Arial" panose="020B0604020202020204" pitchFamily="34" charset="0"/>
              <a:buChar char="•"/>
            </a:pPr>
            <a:r>
              <a:rPr lang="en-GB" sz="1600" dirty="0"/>
              <a:t>ING Bank (Netherlands)</a:t>
            </a:r>
          </a:p>
          <a:p>
            <a:pPr>
              <a:buFont typeface="Arial" panose="020B0604020202020204" pitchFamily="34" charset="0"/>
              <a:buChar char="•"/>
            </a:pPr>
            <a:r>
              <a:rPr lang="en-GB" sz="1600" dirty="0"/>
              <a:t>Caixa </a:t>
            </a:r>
            <a:r>
              <a:rPr lang="en-GB" sz="1600" dirty="0" err="1"/>
              <a:t>Geral</a:t>
            </a:r>
            <a:r>
              <a:rPr lang="en-GB" sz="1600" dirty="0"/>
              <a:t> De </a:t>
            </a:r>
            <a:r>
              <a:rPr lang="en-GB" sz="1600" dirty="0" err="1"/>
              <a:t>Depósitos</a:t>
            </a:r>
            <a:r>
              <a:rPr lang="en-GB" sz="1600" dirty="0"/>
              <a:t> (Portugal)</a:t>
            </a:r>
          </a:p>
          <a:p>
            <a:pPr>
              <a:buFont typeface="Arial" panose="020B0604020202020204" pitchFamily="34" charset="0"/>
              <a:buChar char="•"/>
            </a:pPr>
            <a:r>
              <a:rPr lang="en-GB" sz="1600" dirty="0"/>
              <a:t>Banco Bilbao Vizcaya Argentaria (Spain)</a:t>
            </a:r>
          </a:p>
          <a:p>
            <a:pPr>
              <a:buFont typeface="Arial" panose="020B0604020202020204" pitchFamily="34" charset="0"/>
              <a:buChar char="•"/>
            </a:pPr>
            <a:r>
              <a:rPr lang="en-GB" sz="1600" dirty="0"/>
              <a:t>Banco Santander (Spain)</a:t>
            </a:r>
          </a:p>
          <a:p>
            <a:pPr>
              <a:buFont typeface="Arial" panose="020B0604020202020204" pitchFamily="34" charset="0"/>
              <a:buChar char="•"/>
            </a:pPr>
            <a:r>
              <a:rPr lang="en-GB" sz="1600" dirty="0"/>
              <a:t>CECABANK (Spain)</a:t>
            </a:r>
          </a:p>
          <a:p>
            <a:pPr>
              <a:buFont typeface="Arial" panose="020B0604020202020204" pitchFamily="34" charset="0"/>
              <a:buChar char="•"/>
            </a:pPr>
            <a:r>
              <a:rPr lang="en-GB" sz="1600" dirty="0" err="1"/>
              <a:t>CaixaBank</a:t>
            </a:r>
            <a:r>
              <a:rPr lang="en-GB" sz="1600" dirty="0"/>
              <a:t> (Spain)</a:t>
            </a:r>
          </a:p>
          <a:p>
            <a:pPr>
              <a:buFont typeface="Arial" panose="020B0604020202020204" pitchFamily="34" charset="0"/>
              <a:buChar char="•"/>
            </a:pPr>
            <a:r>
              <a:rPr lang="en-GB" sz="1600" dirty="0"/>
              <a:t>Barclays (Britain)</a:t>
            </a:r>
          </a:p>
        </p:txBody>
      </p:sp>
    </p:spTree>
    <p:extLst>
      <p:ext uri="{BB962C8B-B14F-4D97-AF65-F5344CB8AC3E}">
        <p14:creationId xmlns:p14="http://schemas.microsoft.com/office/powerpoint/2010/main" val="1196759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5">
            <a:extLst>
              <a:ext uri="{FF2B5EF4-FFF2-40B4-BE49-F238E27FC236}">
                <a16:creationId xmlns:a16="http://schemas.microsoft.com/office/drawing/2014/main" id="{5AE41EA1-6A7F-4F8D-B3B2-20B397F325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6">
            <a:extLst>
              <a:ext uri="{FF2B5EF4-FFF2-40B4-BE49-F238E27FC236}">
                <a16:creationId xmlns:a16="http://schemas.microsoft.com/office/drawing/2014/main" id="{687FF213-3341-443F-BDF5-A13ACE92AE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5">
            <a:extLst>
              <a:ext uri="{FF2B5EF4-FFF2-40B4-BE49-F238E27FC236}">
                <a16:creationId xmlns:a16="http://schemas.microsoft.com/office/drawing/2014/main" id="{F958A2E4-3ECD-4EF1-9A69-CA7D7EE350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3279763F-1BBF-4A32-9E40-D694604FABCC}" type="slidenum">
              <a:rPr lang="en-GB" altLang="en-US"/>
              <a:pPr>
                <a:spcBef>
                  <a:spcPct val="0"/>
                </a:spcBef>
              </a:pPr>
              <a:t>30</a:t>
            </a:fld>
            <a:endParaRPr lang="en-GB" altLang="en-US"/>
          </a:p>
        </p:txBody>
      </p:sp>
    </p:spTree>
    <p:extLst>
      <p:ext uri="{BB962C8B-B14F-4D97-AF65-F5344CB8AC3E}">
        <p14:creationId xmlns:p14="http://schemas.microsoft.com/office/powerpoint/2010/main" val="4284131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5">
            <a:extLst>
              <a:ext uri="{FF2B5EF4-FFF2-40B4-BE49-F238E27FC236}">
                <a16:creationId xmlns:a16="http://schemas.microsoft.com/office/drawing/2014/main" id="{6CB64CC8-0D9D-43F1-B9B6-7D9ED281E7AA}"/>
              </a:ext>
            </a:extLst>
          </p:cNvPr>
          <p:cNvSpPr>
            <a:spLocks noGrp="1" noRot="1" noChangeAspect="1" noChangeArrowheads="1" noTextEdit="1"/>
          </p:cNvSpPr>
          <p:nvPr>
            <p:ph type="sldImg"/>
          </p:nvPr>
        </p:nvSpPr>
        <p:spPr>
          <a:xfrm>
            <a:off x="306388" y="509588"/>
            <a:ext cx="6486525" cy="4864100"/>
          </a:xfrm>
        </p:spPr>
      </p:sp>
      <p:sp>
        <p:nvSpPr>
          <p:cNvPr id="95235" name="Rectangle 26">
            <a:extLst>
              <a:ext uri="{FF2B5EF4-FFF2-40B4-BE49-F238E27FC236}">
                <a16:creationId xmlns:a16="http://schemas.microsoft.com/office/drawing/2014/main" id="{F0EAA5BF-A455-4D3A-8538-296D2A19D5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2925794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9">
            <a:extLst>
              <a:ext uri="{FF2B5EF4-FFF2-40B4-BE49-F238E27FC236}">
                <a16:creationId xmlns:a16="http://schemas.microsoft.com/office/drawing/2014/main" id="{DEBD0C5B-DF6B-4B93-980C-3A0364B841BA}"/>
              </a:ext>
            </a:extLst>
          </p:cNvPr>
          <p:cNvSpPr>
            <a:spLocks noGrp="1" noRot="1" noChangeAspect="1" noChangeArrowheads="1" noTextEdit="1"/>
          </p:cNvSpPr>
          <p:nvPr>
            <p:ph type="sldImg"/>
          </p:nvPr>
        </p:nvSpPr>
        <p:spPr>
          <a:xfrm>
            <a:off x="306388" y="509588"/>
            <a:ext cx="6486525" cy="4864100"/>
          </a:xfrm>
        </p:spPr>
      </p:sp>
      <p:sp>
        <p:nvSpPr>
          <p:cNvPr id="96259" name="Rectangle 10">
            <a:extLst>
              <a:ext uri="{FF2B5EF4-FFF2-40B4-BE49-F238E27FC236}">
                <a16:creationId xmlns:a16="http://schemas.microsoft.com/office/drawing/2014/main" id="{1015BA2F-C5E4-4FA1-92EC-9095687535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6858919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7">
            <a:extLst>
              <a:ext uri="{FF2B5EF4-FFF2-40B4-BE49-F238E27FC236}">
                <a16:creationId xmlns:a16="http://schemas.microsoft.com/office/drawing/2014/main" id="{BCC62E14-6DEC-42F0-8094-D4BC1E104252}"/>
              </a:ext>
            </a:extLst>
          </p:cNvPr>
          <p:cNvSpPr>
            <a:spLocks noGrp="1" noRot="1" noChangeAspect="1" noChangeArrowheads="1" noTextEdit="1"/>
          </p:cNvSpPr>
          <p:nvPr>
            <p:ph type="sldImg"/>
          </p:nvPr>
        </p:nvSpPr>
        <p:spPr>
          <a:xfrm>
            <a:off x="306388" y="509588"/>
            <a:ext cx="6486525" cy="4864100"/>
          </a:xfrm>
        </p:spPr>
      </p:sp>
      <p:sp>
        <p:nvSpPr>
          <p:cNvPr id="99331" name="Rectangle 28">
            <a:extLst>
              <a:ext uri="{FF2B5EF4-FFF2-40B4-BE49-F238E27FC236}">
                <a16:creationId xmlns:a16="http://schemas.microsoft.com/office/drawing/2014/main" id="{C1933F1C-246B-4040-8E0A-5710DE7A147C}"/>
              </a:ext>
            </a:extLst>
          </p:cNvPr>
          <p:cNvSpPr>
            <a:spLocks noGrp="1" noChangeArrowheads="1"/>
          </p:cNvSpPr>
          <p:nvPr>
            <p:ph type="body" idx="1"/>
          </p:nvPr>
        </p:nvSpPr>
        <p:spPr>
          <a:xfrm>
            <a:off x="306388" y="5628132"/>
            <a:ext cx="5684837"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Arial" panose="020B0604020202020204" pitchFamily="34" charset="0"/>
              </a:rPr>
              <a:t>Euro Commercial Paper is an unsecured general obligation in the form of a promissory bearer note, issued on a discount or interest-bearing basis by large commercial and industrial organizations. Maturities of ECP range from a few days up to one year, with most being 182 days; the minimum amount is usually $500,000. </a:t>
            </a:r>
            <a:endParaRPr lang="en-US" altLang="en-US" dirty="0">
              <a:latin typeface="Arial" panose="020B0604020202020204" pitchFamily="34" charset="0"/>
            </a:endParaRPr>
          </a:p>
        </p:txBody>
      </p:sp>
    </p:spTree>
    <p:extLst>
      <p:ext uri="{BB962C8B-B14F-4D97-AF65-F5344CB8AC3E}">
        <p14:creationId xmlns:p14="http://schemas.microsoft.com/office/powerpoint/2010/main" val="1703652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5">
            <a:extLst>
              <a:ext uri="{FF2B5EF4-FFF2-40B4-BE49-F238E27FC236}">
                <a16:creationId xmlns:a16="http://schemas.microsoft.com/office/drawing/2014/main" id="{EA78CBEC-487D-4444-994C-8BA017B8658B}"/>
              </a:ext>
            </a:extLst>
          </p:cNvPr>
          <p:cNvSpPr>
            <a:spLocks noGrp="1" noRot="1" noChangeAspect="1" noChangeArrowheads="1" noTextEdit="1"/>
          </p:cNvSpPr>
          <p:nvPr>
            <p:ph type="sldImg"/>
          </p:nvPr>
        </p:nvSpPr>
        <p:spPr>
          <a:xfrm>
            <a:off x="306388" y="509588"/>
            <a:ext cx="6486525" cy="4864100"/>
          </a:xfrm>
        </p:spPr>
      </p:sp>
      <p:sp>
        <p:nvSpPr>
          <p:cNvPr id="100355" name="Rectangle 16">
            <a:extLst>
              <a:ext uri="{FF2B5EF4-FFF2-40B4-BE49-F238E27FC236}">
                <a16:creationId xmlns:a16="http://schemas.microsoft.com/office/drawing/2014/main" id="{571B4DA1-1A61-45B5-8E31-54E8A4276C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92241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4294967295"/>
          </p:nvPr>
        </p:nvSpPr>
        <p:spPr bwMode="auto">
          <a:xfrm>
            <a:off x="4021138" y="9721850"/>
            <a:ext cx="3076575" cy="511175"/>
          </a:xfrm>
          <a:prstGeom prst="rect">
            <a:avLst/>
          </a:prstGeom>
          <a:ln>
            <a:miter lim="800000"/>
            <a:headEnd/>
            <a:tailEnd/>
          </a:ln>
        </p:spPr>
        <p:txBody>
          <a:bodyPr lIns="91429" tIns="45714" rIns="91429" bIns="45714"/>
          <a:lstStyle/>
          <a:p>
            <a:pPr>
              <a:defRPr/>
            </a:pPr>
            <a:fld id="{8B66C20A-064B-493D-BD77-BB1B6D6861C1}" type="slidenum">
              <a:rPr lang="en-GB">
                <a:effectLst>
                  <a:outerShdw blurRad="38100" dist="38100" dir="2700000" algn="tl">
                    <a:srgbClr val="000000">
                      <a:alpha val="43137"/>
                    </a:srgbClr>
                  </a:outerShdw>
                </a:effectLst>
                <a:latin typeface="Arial" charset="0"/>
                <a:cs typeface="+mn-cs"/>
              </a:rPr>
              <a:pPr>
                <a:defRPr/>
              </a:pPr>
              <a:t>35</a:t>
            </a:fld>
            <a:endParaRPr lang="en-GB" dirty="0">
              <a:effectLst>
                <a:outerShdw blurRad="38100" dist="38100" dir="2700000" algn="tl">
                  <a:srgbClr val="000000">
                    <a:alpha val="43137"/>
                  </a:srgbClr>
                </a:outerShdw>
              </a:effectLst>
              <a:latin typeface="Arial" charset="0"/>
              <a:cs typeface="+mn-cs"/>
            </a:endParaRPr>
          </a:p>
        </p:txBody>
      </p:sp>
      <p:sp>
        <p:nvSpPr>
          <p:cNvPr id="21507" name="Rectangle 2"/>
          <p:cNvSpPr>
            <a:spLocks noGrp="1" noRot="1" noChangeAspect="1" noChangeArrowheads="1" noTextEdit="1"/>
          </p:cNvSpPr>
          <p:nvPr>
            <p:ph type="sldImg"/>
          </p:nvPr>
        </p:nvSpPr>
        <p:spPr>
          <a:xfrm>
            <a:off x="-274638" y="454025"/>
            <a:ext cx="7648576" cy="5735638"/>
          </a:xfrm>
          <a:prstGeom prst="rect">
            <a:avLst/>
          </a:prstGeom>
        </p:spPr>
      </p:sp>
    </p:spTree>
    <p:extLst>
      <p:ext uri="{BB962C8B-B14F-4D97-AF65-F5344CB8AC3E}">
        <p14:creationId xmlns:p14="http://schemas.microsoft.com/office/powerpoint/2010/main" val="25259873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BE524D82-BF70-427D-8F29-D3DDD6AC23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DE165F3B-5E3B-4793-88A2-A352F7ACA1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81924" name="Slide Number Placeholder 3">
            <a:extLst>
              <a:ext uri="{FF2B5EF4-FFF2-40B4-BE49-F238E27FC236}">
                <a16:creationId xmlns:a16="http://schemas.microsoft.com/office/drawing/2014/main" id="{7D803764-3E01-45E2-8308-637896B1EF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B3A6325-B4BA-4374-8A26-5FEB974F5CEB}" type="slidenum">
              <a:rPr lang="en-GB" altLang="en-US" sz="1300"/>
              <a:pPr>
                <a:spcBef>
                  <a:spcPct val="0"/>
                </a:spcBef>
              </a:pPr>
              <a:t>36</a:t>
            </a:fld>
            <a:endParaRPr lang="en-GB" altLang="en-US" sz="1300"/>
          </a:p>
        </p:txBody>
      </p:sp>
    </p:spTree>
    <p:extLst>
      <p:ext uri="{BB962C8B-B14F-4D97-AF65-F5344CB8AC3E}">
        <p14:creationId xmlns:p14="http://schemas.microsoft.com/office/powerpoint/2010/main" val="3660603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5">
            <a:extLst>
              <a:ext uri="{FF2B5EF4-FFF2-40B4-BE49-F238E27FC236}">
                <a16:creationId xmlns:a16="http://schemas.microsoft.com/office/drawing/2014/main" id="{5AE41EA1-6A7F-4F8D-B3B2-20B397F325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6">
            <a:extLst>
              <a:ext uri="{FF2B5EF4-FFF2-40B4-BE49-F238E27FC236}">
                <a16:creationId xmlns:a16="http://schemas.microsoft.com/office/drawing/2014/main" id="{687FF213-3341-443F-BDF5-A13ACE92AE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2" name="Slide Number Placeholder 5">
            <a:extLst>
              <a:ext uri="{FF2B5EF4-FFF2-40B4-BE49-F238E27FC236}">
                <a16:creationId xmlns:a16="http://schemas.microsoft.com/office/drawing/2014/main" id="{F958A2E4-3ECD-4EF1-9A69-CA7D7EE350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3279763F-1BBF-4A32-9E40-D694604FABCC}" type="slidenum">
              <a:rPr lang="en-GB" altLang="en-US"/>
              <a:pPr>
                <a:spcBef>
                  <a:spcPct val="0"/>
                </a:spcBef>
              </a:pPr>
              <a:t>37</a:t>
            </a:fld>
            <a:endParaRPr lang="en-GB" altLang="en-US"/>
          </a:p>
        </p:txBody>
      </p:sp>
    </p:spTree>
    <p:extLst>
      <p:ext uri="{BB962C8B-B14F-4D97-AF65-F5344CB8AC3E}">
        <p14:creationId xmlns:p14="http://schemas.microsoft.com/office/powerpoint/2010/main" val="39768818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3A259373-7272-4338-81CA-C1EBCF602E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a:extLst>
              <a:ext uri="{FF2B5EF4-FFF2-40B4-BE49-F238E27FC236}">
                <a16:creationId xmlns:a16="http://schemas.microsoft.com/office/drawing/2014/main" id="{0809C75C-65B9-4ECA-86AA-B5424E8C54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00356" name="Slide Number Placeholder 3">
            <a:extLst>
              <a:ext uri="{FF2B5EF4-FFF2-40B4-BE49-F238E27FC236}">
                <a16:creationId xmlns:a16="http://schemas.microsoft.com/office/drawing/2014/main" id="{DD4ACC3C-CF71-4EDA-871A-2ACC6819E3F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F3F8ADD-6B1A-48EC-ABE6-0D582DB80BFF}" type="slidenum">
              <a:rPr lang="en-GB" altLang="en-US" sz="1300"/>
              <a:pPr>
                <a:spcBef>
                  <a:spcPct val="0"/>
                </a:spcBef>
              </a:pPr>
              <a:t>38</a:t>
            </a:fld>
            <a:endParaRPr lang="en-GB" altLang="en-US"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4A3663A5-24A6-46A2-9427-8ABB2C0EE6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ED688ADB-E630-462C-92D6-F6F1D87085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08548" name="Slide Number Placeholder 3">
            <a:extLst>
              <a:ext uri="{FF2B5EF4-FFF2-40B4-BE49-F238E27FC236}">
                <a16:creationId xmlns:a16="http://schemas.microsoft.com/office/drawing/2014/main" id="{62EC09D6-B848-4B92-A686-60BE757783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D846F8F-0B23-4E66-B382-9FF63906DC1D}" type="slidenum">
              <a:rPr lang="en-GB" altLang="en-US" sz="1300"/>
              <a:pPr>
                <a:spcBef>
                  <a:spcPct val="0"/>
                </a:spcBef>
              </a:pPr>
              <a:t>39</a:t>
            </a:fld>
            <a:endParaRPr lang="en-GB" altLang="en-US"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B86B2FAE-8E0D-47DD-AA94-944E706C7E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C27A71C7-7ABC-4711-B4FA-7A26844459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112644" name="Slide Number Placeholder 3">
            <a:extLst>
              <a:ext uri="{FF2B5EF4-FFF2-40B4-BE49-F238E27FC236}">
                <a16:creationId xmlns:a16="http://schemas.microsoft.com/office/drawing/2014/main" id="{F856DC3E-8088-4249-8090-5CBD13CD35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4CAB922-BA86-419E-9A67-3577FEAF86D3}" type="slidenum">
              <a:rPr lang="en-GB" altLang="en-US" sz="1300"/>
              <a:pPr>
                <a:spcBef>
                  <a:spcPct val="0"/>
                </a:spcBef>
              </a:pPr>
              <a:t>40</a:t>
            </a:fld>
            <a:endParaRPr lang="en-GB" altLang="en-US"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a:extLst>
              <a:ext uri="{FF2B5EF4-FFF2-40B4-BE49-F238E27FC236}">
                <a16:creationId xmlns:a16="http://schemas.microsoft.com/office/drawing/2014/main" id="{64818696-CA43-40E2-8A6C-D5EAB58BD5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1427" name="Notes Placeholder 2">
            <a:extLst>
              <a:ext uri="{FF2B5EF4-FFF2-40B4-BE49-F238E27FC236}">
                <a16:creationId xmlns:a16="http://schemas.microsoft.com/office/drawing/2014/main" id="{1A7BE63C-1D34-4D1A-8C88-1B65EDB0AB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231428" name="Slide Number Placeholder 3">
            <a:extLst>
              <a:ext uri="{FF2B5EF4-FFF2-40B4-BE49-F238E27FC236}">
                <a16:creationId xmlns:a16="http://schemas.microsoft.com/office/drawing/2014/main" id="{1E10D446-BB3C-4960-927B-A67E282A9E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1DED78D-F6BF-430F-AA82-8BF18D67D1F7}" type="slidenum">
              <a:rPr lang="en-GB" altLang="en-US" sz="1300"/>
              <a:pPr>
                <a:spcBef>
                  <a:spcPct val="0"/>
                </a:spcBef>
              </a:pPr>
              <a:t>41</a:t>
            </a:fld>
            <a:endParaRPr lang="en-GB" altLang="en-US"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5">
            <a:extLst>
              <a:ext uri="{FF2B5EF4-FFF2-40B4-BE49-F238E27FC236}">
                <a16:creationId xmlns:a16="http://schemas.microsoft.com/office/drawing/2014/main" id="{3FEF0ED5-4713-4F6C-AF72-DDBA5F9127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6">
            <a:extLst>
              <a:ext uri="{FF2B5EF4-FFF2-40B4-BE49-F238E27FC236}">
                <a16:creationId xmlns:a16="http://schemas.microsoft.com/office/drawing/2014/main" id="{CDE101BA-3FEB-4AF2-B95B-247607B150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0420" name="Slide Number Placeholder 5">
            <a:extLst>
              <a:ext uri="{FF2B5EF4-FFF2-40B4-BE49-F238E27FC236}">
                <a16:creationId xmlns:a16="http://schemas.microsoft.com/office/drawing/2014/main" id="{0695F13A-65D7-4275-9524-F0B0C305D7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A286FC34-6F5E-44E9-8F6E-6DFEE19AD78F}" type="slidenum">
              <a:rPr lang="en-GB" altLang="en-US"/>
              <a:pPr>
                <a:spcBef>
                  <a:spcPct val="0"/>
                </a:spcBef>
              </a:pPr>
              <a:t>42</a:t>
            </a:fld>
            <a:endParaRPr lang="en-GB" altLang="en-US"/>
          </a:p>
        </p:txBody>
      </p:sp>
    </p:spTree>
    <p:extLst>
      <p:ext uri="{BB962C8B-B14F-4D97-AF65-F5344CB8AC3E}">
        <p14:creationId xmlns:p14="http://schemas.microsoft.com/office/powerpoint/2010/main" val="13902648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2CA4D854-E69F-460F-BC7D-CFEBBC4CA5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4C9DDABF-9DA5-402B-B85C-DE35298AD8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dirty="0"/>
          </a:p>
        </p:txBody>
      </p:sp>
      <p:sp>
        <p:nvSpPr>
          <p:cNvPr id="36868" name="Slide Number Placeholder 3">
            <a:extLst>
              <a:ext uri="{FF2B5EF4-FFF2-40B4-BE49-F238E27FC236}">
                <a16:creationId xmlns:a16="http://schemas.microsoft.com/office/drawing/2014/main" id="{6AB4DEB0-BF1A-4396-AB70-1826D80EF0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5BD72EA-D8AE-436C-B747-DCBF242F6CA5}" type="slidenum">
              <a:rPr lang="en-GB" altLang="en-US" sz="1300"/>
              <a:pPr>
                <a:spcBef>
                  <a:spcPct val="0"/>
                </a:spcBef>
              </a:pPr>
              <a:t>43</a:t>
            </a:fld>
            <a:endParaRPr lang="en-GB" altLang="en-US" sz="13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D898F34E-7DD2-466D-B209-32E23876AE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9D58AA42-A603-4CF2-A796-293044311B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38916" name="Slide Number Placeholder 3">
            <a:extLst>
              <a:ext uri="{FF2B5EF4-FFF2-40B4-BE49-F238E27FC236}">
                <a16:creationId xmlns:a16="http://schemas.microsoft.com/office/drawing/2014/main" id="{78E8F005-3DAA-4C51-A306-4CE9A66506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89B218-ECBE-443A-BCD0-13D46903C73D}" type="slidenum">
              <a:rPr lang="en-GB" altLang="en-US" sz="1300"/>
              <a:pPr>
                <a:spcBef>
                  <a:spcPct val="0"/>
                </a:spcBef>
              </a:pPr>
              <a:t>44</a:t>
            </a:fld>
            <a:endParaRPr lang="en-GB" altLang="en-US" sz="13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CDE4739B-D167-4DBF-9ED2-EAEF7C7C1B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4F48C296-50DE-4133-9742-D2530C1D9A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0964" name="Slide Number Placeholder 3">
            <a:extLst>
              <a:ext uri="{FF2B5EF4-FFF2-40B4-BE49-F238E27FC236}">
                <a16:creationId xmlns:a16="http://schemas.microsoft.com/office/drawing/2014/main" id="{3700DEA8-8C61-48D4-9E14-ACAA8B97D3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29FDC15-A278-4CCD-BFF2-7A34639BD346}" type="slidenum">
              <a:rPr lang="en-GB" altLang="en-US" sz="1300"/>
              <a:pPr>
                <a:spcBef>
                  <a:spcPct val="0"/>
                </a:spcBef>
              </a:pPr>
              <a:t>45</a:t>
            </a:fld>
            <a:endParaRPr lang="en-GB" altLang="en-US"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10C80970-3AED-4D3E-B9EB-F388D72798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E9844CCB-BBF6-490A-8635-B6F6BAA30F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3012" name="Slide Number Placeholder 3">
            <a:extLst>
              <a:ext uri="{FF2B5EF4-FFF2-40B4-BE49-F238E27FC236}">
                <a16:creationId xmlns:a16="http://schemas.microsoft.com/office/drawing/2014/main" id="{9CB52AD2-0919-4191-B7C7-D13098C3305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5DF50F8-C4CD-4F63-93F2-715D8FB51DF3}" type="slidenum">
              <a:rPr lang="en-GB" altLang="en-US" sz="1300"/>
              <a:pPr>
                <a:spcBef>
                  <a:spcPct val="0"/>
                </a:spcBef>
              </a:pPr>
              <a:t>46</a:t>
            </a:fld>
            <a:endParaRPr lang="en-GB" altLang="en-US" sz="13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43FCE4AE-53D0-4F34-B4C6-7E4831B4D1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D9A261D5-4C79-470A-9E5B-029D491BE7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5060" name="Slide Number Placeholder 3">
            <a:extLst>
              <a:ext uri="{FF2B5EF4-FFF2-40B4-BE49-F238E27FC236}">
                <a16:creationId xmlns:a16="http://schemas.microsoft.com/office/drawing/2014/main" id="{1BE2365F-4024-4250-AB83-34AB52E28D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10C435B-8EFC-4928-9018-EB2B041B8E31}" type="slidenum">
              <a:rPr lang="en-GB" altLang="en-US" sz="1300"/>
              <a:pPr>
                <a:spcBef>
                  <a:spcPct val="0"/>
                </a:spcBef>
              </a:pPr>
              <a:t>47</a:t>
            </a:fld>
            <a:endParaRPr lang="en-GB" altLang="en-US" sz="13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B1FB3DF9-7D3F-4C6B-B2FF-D2712F2561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E5004B2B-B11F-4440-9DBB-ED1132D9BA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9156" name="Slide Number Placeholder 3">
            <a:extLst>
              <a:ext uri="{FF2B5EF4-FFF2-40B4-BE49-F238E27FC236}">
                <a16:creationId xmlns:a16="http://schemas.microsoft.com/office/drawing/2014/main" id="{0BA33BC1-072F-460A-BFD3-75036758C0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1EAF489-A287-4DC0-8FD3-729CC2693CD1}" type="slidenum">
              <a:rPr lang="en-GB" altLang="en-US" sz="1300"/>
              <a:pPr>
                <a:spcBef>
                  <a:spcPct val="0"/>
                </a:spcBef>
              </a:pPr>
              <a:t>48</a:t>
            </a:fld>
            <a:endParaRPr lang="en-GB" altLang="en-US" sz="13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4C417657-24D2-46C2-9C98-0B63136D8F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587AC276-8EC4-43DC-B916-DE6C1F1CA6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51204" name="Slide Number Placeholder 3">
            <a:extLst>
              <a:ext uri="{FF2B5EF4-FFF2-40B4-BE49-F238E27FC236}">
                <a16:creationId xmlns:a16="http://schemas.microsoft.com/office/drawing/2014/main" id="{0DC0ADA0-2A11-4C39-BE14-2013FA0E09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47CE46F-035D-456B-85A9-5054D367EB67}" type="slidenum">
              <a:rPr lang="en-GB" altLang="en-US" sz="1300"/>
              <a:pPr>
                <a:spcBef>
                  <a:spcPct val="0"/>
                </a:spcBef>
              </a:pPr>
              <a:t>49</a:t>
            </a:fld>
            <a:endParaRPr lang="en-GB" altLang="en-US" sz="13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EE754661-DEA4-4E8E-9834-4C410139A9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B7EA9E1E-1D6D-47CB-933E-FFD8166E84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59396" name="Slide Number Placeholder 3">
            <a:extLst>
              <a:ext uri="{FF2B5EF4-FFF2-40B4-BE49-F238E27FC236}">
                <a16:creationId xmlns:a16="http://schemas.microsoft.com/office/drawing/2014/main" id="{35E565B2-6639-48FC-8279-0F351B24F9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F27DC5E-79BA-43FE-AF57-FBF2F46332AA}" type="slidenum">
              <a:rPr lang="en-GB" altLang="en-US" sz="1300"/>
              <a:pPr>
                <a:spcBef>
                  <a:spcPct val="0"/>
                </a:spcBef>
              </a:pPr>
              <a:t>50</a:t>
            </a:fld>
            <a:endParaRPr lang="en-GB" altLang="en-US"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1D8A3EA1-FA5A-4015-961D-42437A8A0D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2C7B641B-9D63-451B-8A99-3EFB373397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69636" name="Slide Number Placeholder 3">
            <a:extLst>
              <a:ext uri="{FF2B5EF4-FFF2-40B4-BE49-F238E27FC236}">
                <a16:creationId xmlns:a16="http://schemas.microsoft.com/office/drawing/2014/main" id="{A3ECCB7A-9652-4677-A073-219AF0D28D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FA7546-0EDB-4885-B4D7-EF21ED249474}" type="slidenum">
              <a:rPr lang="en-GB" altLang="en-US" sz="1300"/>
              <a:pPr>
                <a:spcBef>
                  <a:spcPct val="0"/>
                </a:spcBef>
              </a:pPr>
              <a:t>51</a:t>
            </a:fld>
            <a:endParaRPr lang="en-GB" altLang="en-US"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760B5060-AE19-4B27-98CA-B670B66693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5085C540-36BC-46F8-BD74-3D434BFFB1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71684" name="Slide Number Placeholder 3">
            <a:extLst>
              <a:ext uri="{FF2B5EF4-FFF2-40B4-BE49-F238E27FC236}">
                <a16:creationId xmlns:a16="http://schemas.microsoft.com/office/drawing/2014/main" id="{0CA0C3CC-85E8-4352-9E42-98450DD59E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81E2A9-E957-45E9-81B6-5E731B443958}" type="slidenum">
              <a:rPr lang="en-GB" altLang="en-US" sz="1300"/>
              <a:pPr>
                <a:spcBef>
                  <a:spcPct val="0"/>
                </a:spcBef>
              </a:pPr>
              <a:t>52</a:t>
            </a:fld>
            <a:endParaRPr lang="en-GB" altLang="en-US" sz="13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A720DC2F-DD50-4792-8420-D2D62DAD4C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7E681C9F-AEFC-4683-971C-7E9EC8728D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79876" name="Slide Number Placeholder 3">
            <a:extLst>
              <a:ext uri="{FF2B5EF4-FFF2-40B4-BE49-F238E27FC236}">
                <a16:creationId xmlns:a16="http://schemas.microsoft.com/office/drawing/2014/main" id="{A3155DE9-1FA6-4215-BE0E-AB944C2387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66BFC31-152E-4B27-AD5D-A59DF1DC8350}" type="slidenum">
              <a:rPr lang="en-GB" altLang="en-US" sz="1300"/>
              <a:pPr>
                <a:spcBef>
                  <a:spcPct val="0"/>
                </a:spcBef>
              </a:pPr>
              <a:t>53</a:t>
            </a:fld>
            <a:endParaRPr lang="en-GB" altLang="en-US" sz="13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5">
            <a:extLst>
              <a:ext uri="{FF2B5EF4-FFF2-40B4-BE49-F238E27FC236}">
                <a16:creationId xmlns:a16="http://schemas.microsoft.com/office/drawing/2014/main" id="{3FEF0ED5-4713-4F6C-AF72-DDBA5F9127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6">
            <a:extLst>
              <a:ext uri="{FF2B5EF4-FFF2-40B4-BE49-F238E27FC236}">
                <a16:creationId xmlns:a16="http://schemas.microsoft.com/office/drawing/2014/main" id="{CDE101BA-3FEB-4AF2-B95B-247607B150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60420" name="Slide Number Placeholder 5">
            <a:extLst>
              <a:ext uri="{FF2B5EF4-FFF2-40B4-BE49-F238E27FC236}">
                <a16:creationId xmlns:a16="http://schemas.microsoft.com/office/drawing/2014/main" id="{0695F13A-65D7-4275-9524-F0B0C305D7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A286FC34-6F5E-44E9-8F6E-6DFEE19AD78F}" type="slidenum">
              <a:rPr lang="en-GB" altLang="en-US"/>
              <a:pPr>
                <a:spcBef>
                  <a:spcPct val="0"/>
                </a:spcBef>
              </a:pPr>
              <a:t>54</a:t>
            </a:fld>
            <a:endParaRPr lang="en-GB" altLang="en-US"/>
          </a:p>
        </p:txBody>
      </p:sp>
    </p:spTree>
    <p:extLst>
      <p:ext uri="{BB962C8B-B14F-4D97-AF65-F5344CB8AC3E}">
        <p14:creationId xmlns:p14="http://schemas.microsoft.com/office/powerpoint/2010/main" val="18515970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0684384-E0B8-4B84-A894-93F568993691}" type="slidenum">
              <a:rPr lang="en-GB" smtClean="0"/>
              <a:t>55</a:t>
            </a:fld>
            <a:endParaRPr lang="en-GB"/>
          </a:p>
        </p:txBody>
      </p:sp>
    </p:spTree>
    <p:extLst>
      <p:ext uri="{BB962C8B-B14F-4D97-AF65-F5344CB8AC3E}">
        <p14:creationId xmlns:p14="http://schemas.microsoft.com/office/powerpoint/2010/main" val="23229821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0684384-E0B8-4B84-A894-93F568993691}" type="slidenum">
              <a:rPr lang="en-GB" smtClean="0"/>
              <a:t>56</a:t>
            </a:fld>
            <a:endParaRPr lang="en-GB"/>
          </a:p>
        </p:txBody>
      </p:sp>
    </p:spTree>
    <p:extLst>
      <p:ext uri="{BB962C8B-B14F-4D97-AF65-F5344CB8AC3E}">
        <p14:creationId xmlns:p14="http://schemas.microsoft.com/office/powerpoint/2010/main" val="25584199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32E3A5B7-8CF5-433D-B34E-5BE786FFA4FD}" type="slidenum">
              <a:rPr lang="en-GB" altLang="en-US">
                <a:latin typeface="Arial" panose="020B0604020202020204" pitchFamily="34" charset="0"/>
              </a:rPr>
              <a:pPr>
                <a:spcBef>
                  <a:spcPct val="0"/>
                </a:spcBef>
              </a:pPr>
              <a:t>57</a:t>
            </a:fld>
            <a:endParaRPr lang="en-GB" altLang="en-US">
              <a:latin typeface="Arial" panose="020B0604020202020204" pitchFamily="34" charset="0"/>
            </a:endParaRPr>
          </a:p>
        </p:txBody>
      </p:sp>
      <p:sp>
        <p:nvSpPr>
          <p:cNvPr id="34819" name="Rectangle 9"/>
          <p:cNvSpPr>
            <a:spLocks noGrp="1" noRot="1" noChangeAspect="1" noChangeArrowheads="1" noTextEdit="1"/>
          </p:cNvSpPr>
          <p:nvPr>
            <p:ph type="sldImg"/>
          </p:nvPr>
        </p:nvSpPr>
        <p:spPr>
          <a:xfrm>
            <a:off x="369888" y="128588"/>
            <a:ext cx="6362700" cy="4772025"/>
          </a:xfrm>
          <a:ln/>
        </p:spPr>
      </p:sp>
      <p:sp>
        <p:nvSpPr>
          <p:cNvPr id="34820" name="Rectangle 10"/>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42898490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8DD403F7-8F4D-4B95-8CA1-2FD000E94133}" type="slidenum">
              <a:rPr lang="en-GB" altLang="en-US">
                <a:latin typeface="Arial" panose="020B0604020202020204" pitchFamily="34" charset="0"/>
              </a:rPr>
              <a:pPr>
                <a:spcBef>
                  <a:spcPct val="0"/>
                </a:spcBef>
              </a:pPr>
              <a:t>58</a:t>
            </a:fld>
            <a:endParaRPr lang="en-GB" altLang="en-US">
              <a:latin typeface="Arial" panose="020B0604020202020204" pitchFamily="34" charset="0"/>
            </a:endParaRPr>
          </a:p>
        </p:txBody>
      </p:sp>
      <p:sp>
        <p:nvSpPr>
          <p:cNvPr id="75779" name="Rectangle 13"/>
          <p:cNvSpPr>
            <a:spLocks noGrp="1" noRot="1" noChangeAspect="1" noChangeArrowheads="1" noTextEdit="1"/>
          </p:cNvSpPr>
          <p:nvPr>
            <p:ph type="sldImg"/>
          </p:nvPr>
        </p:nvSpPr>
        <p:spPr>
          <a:xfrm>
            <a:off x="369888" y="128588"/>
            <a:ext cx="6362700" cy="4772025"/>
          </a:xfrm>
          <a:ln/>
        </p:spPr>
      </p:sp>
      <p:sp>
        <p:nvSpPr>
          <p:cNvPr id="75780" name="Rectangle 14"/>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24622903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20077FA6-D8EC-4F6C-BDB0-95C01C8B1CCE}" type="slidenum">
              <a:rPr lang="en-GB" altLang="en-US">
                <a:latin typeface="Arial" panose="020B0604020202020204" pitchFamily="34" charset="0"/>
              </a:rPr>
              <a:pPr>
                <a:spcBef>
                  <a:spcPct val="0"/>
                </a:spcBef>
              </a:pPr>
              <a:t>59</a:t>
            </a:fld>
            <a:endParaRPr lang="en-GB" altLang="en-US">
              <a:latin typeface="Arial" panose="020B0604020202020204" pitchFamily="34" charset="0"/>
            </a:endParaRPr>
          </a:p>
        </p:txBody>
      </p:sp>
      <p:sp>
        <p:nvSpPr>
          <p:cNvPr id="77827" name="Rectangle 35"/>
          <p:cNvSpPr>
            <a:spLocks noGrp="1" noRot="1" noChangeAspect="1" noChangeArrowheads="1" noTextEdit="1"/>
          </p:cNvSpPr>
          <p:nvPr>
            <p:ph type="sldImg"/>
          </p:nvPr>
        </p:nvSpPr>
        <p:spPr>
          <a:xfrm>
            <a:off x="369888" y="128588"/>
            <a:ext cx="6362700" cy="4772025"/>
          </a:xfrm>
          <a:ln/>
        </p:spPr>
      </p:sp>
      <p:sp>
        <p:nvSpPr>
          <p:cNvPr id="77828" name="Rectangle 36"/>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33849998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DDCE37C2-3E9A-4CB3-A096-AA56724DB628}" type="slidenum">
              <a:rPr lang="en-GB" altLang="en-US">
                <a:latin typeface="Arial" panose="020B0604020202020204" pitchFamily="34" charset="0"/>
              </a:rPr>
              <a:pPr>
                <a:spcBef>
                  <a:spcPct val="0"/>
                </a:spcBef>
              </a:pPr>
              <a:t>60</a:t>
            </a:fld>
            <a:endParaRPr lang="en-GB" altLang="en-US">
              <a:latin typeface="Arial" panose="020B0604020202020204" pitchFamily="34" charset="0"/>
            </a:endParaRPr>
          </a:p>
        </p:txBody>
      </p:sp>
      <p:sp>
        <p:nvSpPr>
          <p:cNvPr id="79875" name="Rectangle 11"/>
          <p:cNvSpPr>
            <a:spLocks noGrp="1" noRot="1" noChangeAspect="1" noChangeArrowheads="1" noTextEdit="1"/>
          </p:cNvSpPr>
          <p:nvPr>
            <p:ph type="sldImg"/>
          </p:nvPr>
        </p:nvSpPr>
        <p:spPr>
          <a:xfrm>
            <a:off x="369888" y="128588"/>
            <a:ext cx="6362700" cy="4772025"/>
          </a:xfrm>
          <a:ln/>
        </p:spPr>
      </p:sp>
      <p:sp>
        <p:nvSpPr>
          <p:cNvPr id="79876" name="Rectangle 12"/>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26841994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5">
            <a:extLst>
              <a:ext uri="{FF2B5EF4-FFF2-40B4-BE49-F238E27FC236}">
                <a16:creationId xmlns:a16="http://schemas.microsoft.com/office/drawing/2014/main" id="{6613CE26-6C37-46C2-874D-B891A0310C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6">
            <a:extLst>
              <a:ext uri="{FF2B5EF4-FFF2-40B4-BE49-F238E27FC236}">
                <a16:creationId xmlns:a16="http://schemas.microsoft.com/office/drawing/2014/main" id="{26443AAF-A2B8-4465-8D86-DC54D95B43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0660" name="Slide Number Placeholder 5">
            <a:extLst>
              <a:ext uri="{FF2B5EF4-FFF2-40B4-BE49-F238E27FC236}">
                <a16:creationId xmlns:a16="http://schemas.microsoft.com/office/drawing/2014/main" id="{7D31AD12-EE9A-4654-BD04-5607814C4B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C334175F-AE58-45F0-BCB8-D7EA3E7F30FA}" type="slidenum">
              <a:rPr lang="en-GB" altLang="en-US"/>
              <a:pPr>
                <a:spcBef>
                  <a:spcPct val="0"/>
                </a:spcBef>
              </a:pPr>
              <a:t>61</a:t>
            </a:fld>
            <a:endParaRPr lang="en-GB" altLang="en-US"/>
          </a:p>
        </p:txBody>
      </p:sp>
    </p:spTree>
    <p:extLst>
      <p:ext uri="{BB962C8B-B14F-4D97-AF65-F5344CB8AC3E}">
        <p14:creationId xmlns:p14="http://schemas.microsoft.com/office/powerpoint/2010/main" val="2876241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5">
            <a:extLst>
              <a:ext uri="{FF2B5EF4-FFF2-40B4-BE49-F238E27FC236}">
                <a16:creationId xmlns:a16="http://schemas.microsoft.com/office/drawing/2014/main" id="{67E7FD48-DDB2-441C-8F1E-2EA70D1FF0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6">
            <a:extLst>
              <a:ext uri="{FF2B5EF4-FFF2-40B4-BE49-F238E27FC236}">
                <a16:creationId xmlns:a16="http://schemas.microsoft.com/office/drawing/2014/main" id="{BF7D4DF3-4C65-4B4C-BCC1-C19DE055BC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2708" name="Slide Number Placeholder 5">
            <a:extLst>
              <a:ext uri="{FF2B5EF4-FFF2-40B4-BE49-F238E27FC236}">
                <a16:creationId xmlns:a16="http://schemas.microsoft.com/office/drawing/2014/main" id="{FF91CDBA-D904-42F8-BF30-F1006E016F1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CBA54C24-420C-489E-8DE7-595F919CAC1A}" type="slidenum">
              <a:rPr lang="en-GB" altLang="en-US"/>
              <a:pPr>
                <a:spcBef>
                  <a:spcPct val="0"/>
                </a:spcBef>
              </a:pPr>
              <a:t>62</a:t>
            </a:fld>
            <a:endParaRPr lang="en-GB" altLang="en-US"/>
          </a:p>
        </p:txBody>
      </p:sp>
    </p:spTree>
    <p:extLst>
      <p:ext uri="{BB962C8B-B14F-4D97-AF65-F5344CB8AC3E}">
        <p14:creationId xmlns:p14="http://schemas.microsoft.com/office/powerpoint/2010/main" val="22632458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5">
            <a:extLst>
              <a:ext uri="{FF2B5EF4-FFF2-40B4-BE49-F238E27FC236}">
                <a16:creationId xmlns:a16="http://schemas.microsoft.com/office/drawing/2014/main" id="{7133D195-DD35-4F94-9A20-C860EAB700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6">
            <a:extLst>
              <a:ext uri="{FF2B5EF4-FFF2-40B4-BE49-F238E27FC236}">
                <a16:creationId xmlns:a16="http://schemas.microsoft.com/office/drawing/2014/main" id="{6952F678-3BC9-4A38-814E-F42B2F272B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5">
            <a:extLst>
              <a:ext uri="{FF2B5EF4-FFF2-40B4-BE49-F238E27FC236}">
                <a16:creationId xmlns:a16="http://schemas.microsoft.com/office/drawing/2014/main" id="{36CCA18F-9D0F-4BB0-ACC1-51A58F4E972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CFC53AB6-07E5-4E51-955F-51D81E218CB3}" type="slidenum">
              <a:rPr lang="en-GB" altLang="en-US"/>
              <a:pPr>
                <a:spcBef>
                  <a:spcPct val="0"/>
                </a:spcBef>
              </a:pPr>
              <a:t>63</a:t>
            </a:fld>
            <a:endParaRPr lang="en-GB" altLang="en-US"/>
          </a:p>
        </p:txBody>
      </p:sp>
    </p:spTree>
    <p:extLst>
      <p:ext uri="{BB962C8B-B14F-4D97-AF65-F5344CB8AC3E}">
        <p14:creationId xmlns:p14="http://schemas.microsoft.com/office/powerpoint/2010/main" val="3180830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3">
            <a:extLst>
              <a:ext uri="{FF2B5EF4-FFF2-40B4-BE49-F238E27FC236}">
                <a16:creationId xmlns:a16="http://schemas.microsoft.com/office/drawing/2014/main" id="{AD6E94A4-50B4-434A-837C-4B0EA705DA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4">
            <a:extLst>
              <a:ext uri="{FF2B5EF4-FFF2-40B4-BE49-F238E27FC236}">
                <a16:creationId xmlns:a16="http://schemas.microsoft.com/office/drawing/2014/main" id="{B5472AFC-0366-400A-B3DA-1AFE5218EC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6804" name="Slide Number Placeholder 5">
            <a:extLst>
              <a:ext uri="{FF2B5EF4-FFF2-40B4-BE49-F238E27FC236}">
                <a16:creationId xmlns:a16="http://schemas.microsoft.com/office/drawing/2014/main" id="{7158E59B-C7A2-4453-8566-E7E37CEEB5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D361AA07-C2EF-435F-8079-D81DA54BFC54}" type="slidenum">
              <a:rPr lang="en-GB" altLang="en-US"/>
              <a:pPr>
                <a:spcBef>
                  <a:spcPct val="0"/>
                </a:spcBef>
              </a:pPr>
              <a:t>64</a:t>
            </a:fld>
            <a:endParaRPr lang="en-GB" altLang="en-US"/>
          </a:p>
        </p:txBody>
      </p:sp>
    </p:spTree>
    <p:extLst>
      <p:ext uri="{BB962C8B-B14F-4D97-AF65-F5344CB8AC3E}">
        <p14:creationId xmlns:p14="http://schemas.microsoft.com/office/powerpoint/2010/main" val="34414349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3">
            <a:extLst>
              <a:ext uri="{FF2B5EF4-FFF2-40B4-BE49-F238E27FC236}">
                <a16:creationId xmlns:a16="http://schemas.microsoft.com/office/drawing/2014/main" id="{C14EB2EA-2888-45F3-9307-3290CB9C2D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4">
            <a:extLst>
              <a:ext uri="{FF2B5EF4-FFF2-40B4-BE49-F238E27FC236}">
                <a16:creationId xmlns:a16="http://schemas.microsoft.com/office/drawing/2014/main" id="{AABD180E-4DD1-4559-A317-2E54A77240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8852" name="Slide Number Placeholder 5">
            <a:extLst>
              <a:ext uri="{FF2B5EF4-FFF2-40B4-BE49-F238E27FC236}">
                <a16:creationId xmlns:a16="http://schemas.microsoft.com/office/drawing/2014/main" id="{7066CE6B-C4B7-4066-A8C4-A298659AD12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000">
                <a:solidFill>
                  <a:schemeClr val="tx1"/>
                </a:solidFill>
                <a:latin typeface="Calibri" panose="020F0502020204030204" pitchFamily="34" charset="0"/>
              </a:defRPr>
            </a:lvl1pPr>
            <a:lvl2pPr marL="742950" indent="-285750">
              <a:spcBef>
                <a:spcPct val="30000"/>
              </a:spcBef>
              <a:defRPr sz="1000">
                <a:solidFill>
                  <a:schemeClr val="tx1"/>
                </a:solidFill>
                <a:latin typeface="Calibri" panose="020F0502020204030204" pitchFamily="34" charset="0"/>
              </a:defRPr>
            </a:lvl2pPr>
            <a:lvl3pPr marL="1143000" indent="-228600">
              <a:spcBef>
                <a:spcPct val="30000"/>
              </a:spcBef>
              <a:defRPr sz="1000">
                <a:solidFill>
                  <a:schemeClr val="tx1"/>
                </a:solidFill>
                <a:latin typeface="Calibri" panose="020F0502020204030204" pitchFamily="34" charset="0"/>
              </a:defRPr>
            </a:lvl3pPr>
            <a:lvl4pPr marL="1600200" indent="-228600">
              <a:spcBef>
                <a:spcPct val="30000"/>
              </a:spcBef>
              <a:defRPr sz="1000">
                <a:solidFill>
                  <a:schemeClr val="tx1"/>
                </a:solidFill>
                <a:latin typeface="Calibri" panose="020F0502020204030204" pitchFamily="34" charset="0"/>
              </a:defRPr>
            </a:lvl4pPr>
            <a:lvl5pPr marL="2057400" indent="-228600">
              <a:spcBef>
                <a:spcPct val="30000"/>
              </a:spcBef>
              <a:defRPr sz="1000">
                <a:solidFill>
                  <a:schemeClr val="tx1"/>
                </a:solidFill>
                <a:latin typeface="Calibri" panose="020F0502020204030204" pitchFamily="34" charset="0"/>
              </a:defRPr>
            </a:lvl5pPr>
            <a:lvl6pPr marL="2514600" indent="-228600" eaLnBrk="0" fontAlgn="base" hangingPunct="0">
              <a:spcBef>
                <a:spcPct val="30000"/>
              </a:spcBef>
              <a:spcAft>
                <a:spcPct val="0"/>
              </a:spcAft>
              <a:defRPr sz="1000">
                <a:solidFill>
                  <a:schemeClr val="tx1"/>
                </a:solidFill>
                <a:latin typeface="Calibri" panose="020F0502020204030204" pitchFamily="34" charset="0"/>
              </a:defRPr>
            </a:lvl6pPr>
            <a:lvl7pPr marL="2971800" indent="-228600" eaLnBrk="0" fontAlgn="base" hangingPunct="0">
              <a:spcBef>
                <a:spcPct val="30000"/>
              </a:spcBef>
              <a:spcAft>
                <a:spcPct val="0"/>
              </a:spcAft>
              <a:defRPr sz="1000">
                <a:solidFill>
                  <a:schemeClr val="tx1"/>
                </a:solidFill>
                <a:latin typeface="Calibri" panose="020F0502020204030204" pitchFamily="34" charset="0"/>
              </a:defRPr>
            </a:lvl7pPr>
            <a:lvl8pPr marL="3429000" indent="-228600" eaLnBrk="0" fontAlgn="base" hangingPunct="0">
              <a:spcBef>
                <a:spcPct val="30000"/>
              </a:spcBef>
              <a:spcAft>
                <a:spcPct val="0"/>
              </a:spcAft>
              <a:defRPr sz="1000">
                <a:solidFill>
                  <a:schemeClr val="tx1"/>
                </a:solidFill>
                <a:latin typeface="Calibri" panose="020F0502020204030204" pitchFamily="34" charset="0"/>
              </a:defRPr>
            </a:lvl8pPr>
            <a:lvl9pPr marL="3886200" indent="-228600" eaLnBrk="0" fontAlgn="base" hangingPunct="0">
              <a:spcBef>
                <a:spcPct val="30000"/>
              </a:spcBef>
              <a:spcAft>
                <a:spcPct val="0"/>
              </a:spcAft>
              <a:defRPr sz="1000">
                <a:solidFill>
                  <a:schemeClr val="tx1"/>
                </a:solidFill>
                <a:latin typeface="Calibri" panose="020F0502020204030204" pitchFamily="34" charset="0"/>
              </a:defRPr>
            </a:lvl9pPr>
          </a:lstStyle>
          <a:p>
            <a:pPr>
              <a:spcBef>
                <a:spcPct val="0"/>
              </a:spcBef>
            </a:pPr>
            <a:fld id="{357AA638-3259-4F4A-9F10-45B0C8D8D42B}" type="slidenum">
              <a:rPr lang="en-GB" altLang="en-US"/>
              <a:pPr>
                <a:spcBef>
                  <a:spcPct val="0"/>
                </a:spcBef>
              </a:pPr>
              <a:t>65</a:t>
            </a:fld>
            <a:endParaRPr lang="en-GB" altLang="en-US"/>
          </a:p>
        </p:txBody>
      </p:sp>
    </p:spTree>
    <p:extLst>
      <p:ext uri="{BB962C8B-B14F-4D97-AF65-F5344CB8AC3E}">
        <p14:creationId xmlns:p14="http://schemas.microsoft.com/office/powerpoint/2010/main" val="8034881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7BC02A84-398D-4618-B8C0-3F90E028E591}" type="slidenum">
              <a:rPr lang="en-GB" altLang="en-US">
                <a:latin typeface="Arial" panose="020B0604020202020204" pitchFamily="34" charset="0"/>
              </a:rPr>
              <a:pPr>
                <a:spcBef>
                  <a:spcPct val="0"/>
                </a:spcBef>
              </a:pPr>
              <a:t>66</a:t>
            </a:fld>
            <a:endParaRPr lang="en-GB" altLang="en-US">
              <a:latin typeface="Arial" panose="020B0604020202020204" pitchFamily="34" charset="0"/>
            </a:endParaRPr>
          </a:p>
        </p:txBody>
      </p:sp>
      <p:sp>
        <p:nvSpPr>
          <p:cNvPr id="122883" name="Rectangle 17"/>
          <p:cNvSpPr>
            <a:spLocks noGrp="1" noRot="1" noChangeAspect="1" noChangeArrowheads="1" noTextEdit="1"/>
          </p:cNvSpPr>
          <p:nvPr>
            <p:ph type="sldImg"/>
          </p:nvPr>
        </p:nvSpPr>
        <p:spPr>
          <a:xfrm>
            <a:off x="369888" y="128588"/>
            <a:ext cx="6362700" cy="4772025"/>
          </a:xfrm>
          <a:ln/>
        </p:spPr>
      </p:sp>
      <p:sp>
        <p:nvSpPr>
          <p:cNvPr id="122884" name="Rectangle 18"/>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3806847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7EC8AD1B-8EB9-48D6-9BDE-71E80F96E35D}" type="slidenum">
              <a:rPr lang="en-GB" altLang="en-US">
                <a:latin typeface="Arial" panose="020B0604020202020204" pitchFamily="34" charset="0"/>
              </a:rPr>
              <a:pPr>
                <a:spcBef>
                  <a:spcPct val="0"/>
                </a:spcBef>
              </a:pPr>
              <a:t>67</a:t>
            </a:fld>
            <a:endParaRPr lang="en-GB" altLang="en-US">
              <a:latin typeface="Arial" panose="020B0604020202020204" pitchFamily="34" charset="0"/>
            </a:endParaRPr>
          </a:p>
        </p:txBody>
      </p:sp>
      <p:sp>
        <p:nvSpPr>
          <p:cNvPr id="129027" name="Rectangle 15"/>
          <p:cNvSpPr>
            <a:spLocks noGrp="1" noRot="1" noChangeAspect="1" noChangeArrowheads="1" noTextEdit="1"/>
          </p:cNvSpPr>
          <p:nvPr>
            <p:ph type="sldImg"/>
          </p:nvPr>
        </p:nvSpPr>
        <p:spPr>
          <a:xfrm>
            <a:off x="369888" y="128588"/>
            <a:ext cx="6362700" cy="4772025"/>
          </a:xfrm>
          <a:ln/>
        </p:spPr>
      </p:sp>
      <p:sp>
        <p:nvSpPr>
          <p:cNvPr id="129028" name="Rectangle 16"/>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33820467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9"/>
          <p:cNvSpPr>
            <a:spLocks noGrp="1" noChangeArrowheads="1"/>
          </p:cNvSpPr>
          <p:nvPr>
            <p:ph type="sldNum" sz="quarter" idx="4294967295"/>
          </p:nvPr>
        </p:nvSpPr>
        <p:spPr bwMode="auto">
          <a:xfrm>
            <a:off x="4024313" y="9721850"/>
            <a:ext cx="3078162"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Verdana" panose="020B0604030504040204" pitchFamily="34" charset="0"/>
              </a:defRPr>
            </a:lvl1pPr>
            <a:lvl2pPr marL="742950" indent="-285750">
              <a:spcBef>
                <a:spcPct val="30000"/>
              </a:spcBef>
              <a:defRPr sz="1200">
                <a:solidFill>
                  <a:schemeClr val="tx1"/>
                </a:solidFill>
                <a:latin typeface="Verdana" panose="020B0604030504040204" pitchFamily="34" charset="0"/>
              </a:defRPr>
            </a:lvl2pPr>
            <a:lvl3pPr marL="1143000" indent="-228600">
              <a:spcBef>
                <a:spcPct val="30000"/>
              </a:spcBef>
              <a:defRPr sz="1200">
                <a:solidFill>
                  <a:schemeClr val="tx1"/>
                </a:solidFill>
                <a:latin typeface="Verdana" panose="020B0604030504040204" pitchFamily="34" charset="0"/>
              </a:defRPr>
            </a:lvl3pPr>
            <a:lvl4pPr marL="1600200" indent="-228600">
              <a:spcBef>
                <a:spcPct val="30000"/>
              </a:spcBef>
              <a:defRPr sz="1200">
                <a:solidFill>
                  <a:schemeClr val="tx1"/>
                </a:solidFill>
                <a:latin typeface="Verdana" panose="020B0604030504040204" pitchFamily="34" charset="0"/>
              </a:defRPr>
            </a:lvl4pPr>
            <a:lvl5pPr marL="2057400" indent="-228600">
              <a:spcBef>
                <a:spcPct val="30000"/>
              </a:spcBef>
              <a:defRPr sz="1200">
                <a:solidFill>
                  <a:schemeClr val="tx1"/>
                </a:solidFill>
                <a:latin typeface="Verdana" panose="020B0604030504040204" pitchFamily="34" charset="0"/>
              </a:defRPr>
            </a:lvl5pPr>
            <a:lvl6pPr marL="2514600" indent="-228600" eaLnBrk="0" fontAlgn="base" hangingPunct="0">
              <a:spcBef>
                <a:spcPct val="30000"/>
              </a:spcBef>
              <a:spcAft>
                <a:spcPct val="0"/>
              </a:spcAft>
              <a:defRPr sz="1200">
                <a:solidFill>
                  <a:schemeClr val="tx1"/>
                </a:solidFill>
                <a:latin typeface="Verdana" panose="020B0604030504040204" pitchFamily="34" charset="0"/>
              </a:defRPr>
            </a:lvl6pPr>
            <a:lvl7pPr marL="2971800" indent="-228600" eaLnBrk="0" fontAlgn="base" hangingPunct="0">
              <a:spcBef>
                <a:spcPct val="30000"/>
              </a:spcBef>
              <a:spcAft>
                <a:spcPct val="0"/>
              </a:spcAft>
              <a:defRPr sz="1200">
                <a:solidFill>
                  <a:schemeClr val="tx1"/>
                </a:solidFill>
                <a:latin typeface="Verdana" panose="020B0604030504040204" pitchFamily="34" charset="0"/>
              </a:defRPr>
            </a:lvl7pPr>
            <a:lvl8pPr marL="3429000" indent="-228600" eaLnBrk="0" fontAlgn="base" hangingPunct="0">
              <a:spcBef>
                <a:spcPct val="30000"/>
              </a:spcBef>
              <a:spcAft>
                <a:spcPct val="0"/>
              </a:spcAft>
              <a:defRPr sz="1200">
                <a:solidFill>
                  <a:schemeClr val="tx1"/>
                </a:solidFill>
                <a:latin typeface="Verdana" panose="020B0604030504040204" pitchFamily="34" charset="0"/>
              </a:defRPr>
            </a:lvl8pPr>
            <a:lvl9pPr marL="3886200" indent="-228600" eaLnBrk="0" fontAlgn="base" hangingPunct="0">
              <a:spcBef>
                <a:spcPct val="30000"/>
              </a:spcBef>
              <a:spcAft>
                <a:spcPct val="0"/>
              </a:spcAft>
              <a:defRPr sz="1200">
                <a:solidFill>
                  <a:schemeClr val="tx1"/>
                </a:solidFill>
                <a:latin typeface="Verdana" panose="020B0604030504040204" pitchFamily="34" charset="0"/>
              </a:defRPr>
            </a:lvl9pPr>
          </a:lstStyle>
          <a:p>
            <a:pPr>
              <a:spcBef>
                <a:spcPct val="0"/>
              </a:spcBef>
            </a:pPr>
            <a:fld id="{C0D82321-5196-4CD4-B8A1-7B64955FEF3C}" type="slidenum">
              <a:rPr lang="en-GB" altLang="en-US">
                <a:latin typeface="Arial" panose="020B0604020202020204" pitchFamily="34" charset="0"/>
              </a:rPr>
              <a:pPr>
                <a:spcBef>
                  <a:spcPct val="0"/>
                </a:spcBef>
              </a:pPr>
              <a:t>68</a:t>
            </a:fld>
            <a:endParaRPr lang="en-GB" altLang="en-US">
              <a:latin typeface="Arial" panose="020B0604020202020204" pitchFamily="34" charset="0"/>
            </a:endParaRPr>
          </a:p>
        </p:txBody>
      </p:sp>
      <p:sp>
        <p:nvSpPr>
          <p:cNvPr id="83971" name="Rectangle 11"/>
          <p:cNvSpPr>
            <a:spLocks noGrp="1" noRot="1" noChangeAspect="1" noChangeArrowheads="1" noTextEdit="1"/>
          </p:cNvSpPr>
          <p:nvPr>
            <p:ph type="sldImg"/>
          </p:nvPr>
        </p:nvSpPr>
        <p:spPr>
          <a:xfrm>
            <a:off x="369888" y="128588"/>
            <a:ext cx="6362700" cy="4772025"/>
          </a:xfrm>
          <a:ln/>
        </p:spPr>
      </p:sp>
      <p:sp>
        <p:nvSpPr>
          <p:cNvPr id="83972" name="Rectangle 12"/>
          <p:cNvSpPr>
            <a:spLocks noGrp="1" noChangeArrowheads="1"/>
          </p:cNvSpPr>
          <p:nvPr>
            <p:ph type="body" idx="1"/>
          </p:nvPr>
        </p:nvSpPr>
        <p:spPr>
          <a:xfrm>
            <a:off x="711200" y="5334000"/>
            <a:ext cx="5683250" cy="4132263"/>
          </a:xfrm>
          <a:noFill/>
        </p:spPr>
        <p:txBody>
          <a:bodyPr/>
          <a:lstStyle/>
          <a:p>
            <a:endParaRPr lang="en-US" altLang="en-US"/>
          </a:p>
        </p:txBody>
      </p:sp>
    </p:spTree>
    <p:extLst>
      <p:ext uri="{BB962C8B-B14F-4D97-AF65-F5344CB8AC3E}">
        <p14:creationId xmlns:p14="http://schemas.microsoft.com/office/powerpoint/2010/main" val="27989297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0684384-E0B8-4B84-A894-93F568993691}" type="slidenum">
              <a:rPr lang="en-GB" smtClean="0"/>
              <a:t>69</a:t>
            </a:fld>
            <a:endParaRPr lang="en-GB"/>
          </a:p>
        </p:txBody>
      </p:sp>
    </p:spTree>
    <p:extLst>
      <p:ext uri="{BB962C8B-B14F-4D97-AF65-F5344CB8AC3E}">
        <p14:creationId xmlns:p14="http://schemas.microsoft.com/office/powerpoint/2010/main" val="5947591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with text box">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382BC65-4A8C-4C7E-B45D-1E59BDB64261}"/>
              </a:ext>
            </a:extLst>
          </p:cNvPr>
          <p:cNvCxnSpPr/>
          <p:nvPr userDrawn="1"/>
        </p:nvCxnSpPr>
        <p:spPr>
          <a:xfrm>
            <a:off x="611188" y="1000125"/>
            <a:ext cx="8072437" cy="1588"/>
          </a:xfrm>
          <a:prstGeom prst="line">
            <a:avLst/>
          </a:prstGeom>
          <a:ln w="19050">
            <a:solidFill>
              <a:srgbClr val="2A7FAB"/>
            </a:solidFill>
          </a:ln>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612794" y="261075"/>
            <a:ext cx="8063662" cy="720000"/>
          </a:xfrm>
          <a:noFill/>
          <a:ln>
            <a:noFill/>
          </a:ln>
        </p:spPr>
        <p:txBody>
          <a:bodyPr>
            <a:normAutofit/>
          </a:bodyPr>
          <a:lstStyle>
            <a:lvl1pPr>
              <a:defRPr lang="en-GB" sz="3600" b="1" dirty="0" smtClean="0">
                <a:solidFill>
                  <a:srgbClr val="230576"/>
                </a:solidFill>
                <a:latin typeface="Calibri" pitchFamily="34" charset="0"/>
                <a:ea typeface="ヒラギノ角ゴ Pro W3" pitchFamily="1" charset="-128"/>
                <a:cs typeface="Calibri" pitchFamily="34" charset="0"/>
              </a:defRPr>
            </a:lvl1pPr>
          </a:lstStyle>
          <a:p>
            <a:pPr lvl="0"/>
            <a:r>
              <a:rPr lang="en-US" dirty="0"/>
              <a:t>Click to edit Master title style</a:t>
            </a:r>
            <a:endParaRPr lang="en-GB" dirty="0"/>
          </a:p>
        </p:txBody>
      </p:sp>
      <p:sp>
        <p:nvSpPr>
          <p:cNvPr id="8" name="Content Placeholder 2"/>
          <p:cNvSpPr>
            <a:spLocks noGrp="1"/>
          </p:cNvSpPr>
          <p:nvPr>
            <p:ph idx="1"/>
          </p:nvPr>
        </p:nvSpPr>
        <p:spPr>
          <a:xfrm>
            <a:off x="611189" y="1268413"/>
            <a:ext cx="8032778" cy="4525963"/>
          </a:xfrm>
          <a:noFill/>
          <a:ln>
            <a:noFill/>
          </a:ln>
        </p:spPr>
        <p:txBody>
          <a:bodyPr/>
          <a:lstStyle>
            <a:lvl1pPr>
              <a:spcBef>
                <a:spcPts val="600"/>
              </a:spcBef>
              <a:buFont typeface="Arial" pitchFamily="34" charset="0"/>
              <a:buChar char="•"/>
              <a:defRPr lang="en-US" sz="2400" dirty="0" smtClean="0">
                <a:solidFill>
                  <a:srgbClr val="1E0576"/>
                </a:solidFill>
                <a:latin typeface="Calibri" pitchFamily="34" charset="0"/>
                <a:ea typeface="ヒラギノ角ゴ Pro W3" pitchFamily="1" charset="-128"/>
                <a:cs typeface="Calibri" pitchFamily="34" charset="0"/>
              </a:defRPr>
            </a:lvl1pPr>
            <a:lvl2pPr>
              <a:buFont typeface="Calibri" pitchFamily="34" charset="0"/>
              <a:buChar char="‐"/>
              <a:defRPr lang="en-US" sz="2400" dirty="0" smtClean="0">
                <a:solidFill>
                  <a:srgbClr val="1E0576"/>
                </a:solidFill>
                <a:latin typeface="Calibri" pitchFamily="34" charset="0"/>
                <a:ea typeface="ヒラギノ角ゴ Pro W3" pitchFamily="1" charset="-128"/>
                <a:cs typeface="Calibri" pitchFamily="34" charset="0"/>
              </a:defRPr>
            </a:lvl2pPr>
            <a:lvl3pPr>
              <a:buFont typeface="Courier New" pitchFamily="49" charset="0"/>
              <a:buChar char="o"/>
              <a:defRPr sz="2400">
                <a:solidFill>
                  <a:srgbClr val="1E0576"/>
                </a:solidFill>
                <a:latin typeface="Calibri" pitchFamily="34" charset="0"/>
                <a:cs typeface="Calibri" pitchFamily="34" charset="0"/>
              </a:defRPr>
            </a:lvl3pPr>
            <a:lvl4pPr>
              <a:buFont typeface="Wingdings" pitchFamily="2" charset="2"/>
              <a:buChar char="§"/>
              <a:defRPr sz="2400">
                <a:solidFill>
                  <a:srgbClr val="1E0576"/>
                </a:solidFill>
                <a:latin typeface="Calibri" pitchFamily="34" charset="0"/>
                <a:cs typeface="Calibri" pitchFamily="34" charset="0"/>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1"/>
            <a:endParaRPr lang="en-US" dirty="0"/>
          </a:p>
        </p:txBody>
      </p:sp>
      <p:sp>
        <p:nvSpPr>
          <p:cNvPr id="5" name="Slide Number Placeholder 4">
            <a:extLst>
              <a:ext uri="{FF2B5EF4-FFF2-40B4-BE49-F238E27FC236}">
                <a16:creationId xmlns:a16="http://schemas.microsoft.com/office/drawing/2014/main" id="{4F0057E2-1C34-4000-94AF-E9AA2DC77D25}"/>
              </a:ext>
            </a:extLst>
          </p:cNvPr>
          <p:cNvSpPr>
            <a:spLocks noGrp="1"/>
          </p:cNvSpPr>
          <p:nvPr>
            <p:ph type="sldNum" sz="quarter" idx="10"/>
          </p:nvPr>
        </p:nvSpPr>
        <p:spPr/>
        <p:txBody>
          <a:bodyPr/>
          <a:lstStyle>
            <a:lvl1pPr>
              <a:defRPr smtClean="0"/>
            </a:lvl1pPr>
          </a:lstStyle>
          <a:p>
            <a:pPr>
              <a:defRPr/>
            </a:pPr>
            <a:fld id="{0A8B7600-B602-4E43-B8C0-4D84AB8E2D42}" type="slidenum">
              <a:rPr lang="en-GB" altLang="en-US"/>
              <a:pPr>
                <a:defRPr/>
              </a:pPr>
              <a:t>‹#›</a:t>
            </a:fld>
            <a:endParaRPr lang="en-GB" altLang="en-US"/>
          </a:p>
        </p:txBody>
      </p:sp>
      <p:pic>
        <p:nvPicPr>
          <p:cNvPr id="2" name="Picture 1">
            <a:extLst>
              <a:ext uri="{FF2B5EF4-FFF2-40B4-BE49-F238E27FC236}">
                <a16:creationId xmlns:a16="http://schemas.microsoft.com/office/drawing/2014/main" id="{C0BAB65D-66AA-E724-0084-0DA6BD717D37}"/>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300525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without text box">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98D650E-DAAB-4A2B-B795-D24EABA6584A}"/>
              </a:ext>
            </a:extLst>
          </p:cNvPr>
          <p:cNvCxnSpPr/>
          <p:nvPr userDrawn="1"/>
        </p:nvCxnSpPr>
        <p:spPr>
          <a:xfrm>
            <a:off x="611188" y="1000125"/>
            <a:ext cx="8072437" cy="1588"/>
          </a:xfrm>
          <a:prstGeom prst="line">
            <a:avLst/>
          </a:prstGeom>
          <a:ln w="19050">
            <a:solidFill>
              <a:srgbClr val="2A7FAB"/>
            </a:solidFill>
          </a:ln>
        </p:spPr>
        <p:style>
          <a:lnRef idx="1">
            <a:schemeClr val="accent1"/>
          </a:lnRef>
          <a:fillRef idx="0">
            <a:schemeClr val="accent1"/>
          </a:fillRef>
          <a:effectRef idx="0">
            <a:schemeClr val="accent1"/>
          </a:effectRef>
          <a:fontRef idx="minor">
            <a:schemeClr val="tx1"/>
          </a:fontRef>
        </p:style>
      </p:cxnSp>
      <p:sp>
        <p:nvSpPr>
          <p:cNvPr id="3" name="Title Placeholder 1"/>
          <p:cNvSpPr>
            <a:spLocks noGrp="1"/>
          </p:cNvSpPr>
          <p:nvPr>
            <p:ph type="title"/>
          </p:nvPr>
        </p:nvSpPr>
        <p:spPr bwMode="auto">
          <a:xfrm>
            <a:off x="611188" y="260350"/>
            <a:ext cx="8065268" cy="720725"/>
          </a:xfrm>
          <a:prstGeom prst="rect">
            <a:avLst/>
          </a:prstGeom>
          <a:noFill/>
          <a:ln w="9525">
            <a:noFill/>
            <a:miter lim="800000"/>
            <a:headEnd/>
            <a:tailEnd/>
          </a:ln>
        </p:spPr>
        <p:txBody>
          <a:bodyPr/>
          <a:lstStyle>
            <a:lvl1pPr>
              <a:defRPr>
                <a:solidFill>
                  <a:srgbClr val="1E0576"/>
                </a:solidFill>
              </a:defRPr>
            </a:lvl1pPr>
          </a:lstStyle>
          <a:p>
            <a:pPr lvl="0"/>
            <a:r>
              <a:rPr lang="en-US" dirty="0"/>
              <a:t>Click to edit Master title style</a:t>
            </a:r>
            <a:endParaRPr lang="en-GB" dirty="0"/>
          </a:p>
        </p:txBody>
      </p:sp>
      <p:sp>
        <p:nvSpPr>
          <p:cNvPr id="5" name="Slide Number Placeholder 4">
            <a:extLst>
              <a:ext uri="{FF2B5EF4-FFF2-40B4-BE49-F238E27FC236}">
                <a16:creationId xmlns:a16="http://schemas.microsoft.com/office/drawing/2014/main" id="{6CEA0FC7-F9F2-4D26-B534-7D372FE56A95}"/>
              </a:ext>
            </a:extLst>
          </p:cNvPr>
          <p:cNvSpPr>
            <a:spLocks noGrp="1"/>
          </p:cNvSpPr>
          <p:nvPr>
            <p:ph type="sldNum" sz="quarter" idx="10"/>
          </p:nvPr>
        </p:nvSpPr>
        <p:spPr/>
        <p:txBody>
          <a:bodyPr/>
          <a:lstStyle>
            <a:lvl1pPr>
              <a:defRPr smtClean="0"/>
            </a:lvl1pPr>
          </a:lstStyle>
          <a:p>
            <a:pPr>
              <a:defRPr/>
            </a:pPr>
            <a:fld id="{A87C6826-5D55-42A8-9922-33821DA066D9}" type="slidenum">
              <a:rPr lang="en-GB" altLang="en-US"/>
              <a:pPr>
                <a:defRPr/>
              </a:pPr>
              <a:t>‹#›</a:t>
            </a:fld>
            <a:endParaRPr lang="en-GB" altLang="en-US"/>
          </a:p>
        </p:txBody>
      </p:sp>
      <p:pic>
        <p:nvPicPr>
          <p:cNvPr id="2" name="Picture 1">
            <a:extLst>
              <a:ext uri="{FF2B5EF4-FFF2-40B4-BE49-F238E27FC236}">
                <a16:creationId xmlns:a16="http://schemas.microsoft.com/office/drawing/2014/main" id="{8D147A80-4ED6-4363-DB3C-311CFB6815BE}"/>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3761404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5" descr="Kaplan_LearningCurveGraphic_2745onWHT.png">
            <a:extLst>
              <a:ext uri="{FF2B5EF4-FFF2-40B4-BE49-F238E27FC236}">
                <a16:creationId xmlns:a16="http://schemas.microsoft.com/office/drawing/2014/main" id="{36D745E9-36FD-4DF1-A50F-F6B3AB8D5EB4}"/>
              </a:ext>
            </a:extLst>
          </p:cNvPr>
          <p:cNvPicPr>
            <a:picLocks noChangeAspect="1"/>
          </p:cNvPicPr>
          <p:nvPr userDrawn="1"/>
        </p:nvPicPr>
        <p:blipFill>
          <a:blip r:embed="rId2">
            <a:extLst>
              <a:ext uri="{28A0092B-C50C-407E-A947-70E740481C1C}">
                <a14:useLocalDpi xmlns:a14="http://schemas.microsoft.com/office/drawing/2010/main" val="0"/>
              </a:ext>
            </a:extLst>
          </a:blip>
          <a:srcRect l="19810" t="6622" b="29889"/>
          <a:stretch>
            <a:fillRect/>
          </a:stretch>
        </p:blipFill>
        <p:spPr bwMode="auto">
          <a:xfrm>
            <a:off x="250825" y="260350"/>
            <a:ext cx="8208963" cy="633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20130211_White-logo.png">
            <a:extLst>
              <a:ext uri="{FF2B5EF4-FFF2-40B4-BE49-F238E27FC236}">
                <a16:creationId xmlns:a16="http://schemas.microsoft.com/office/drawing/2014/main" id="{A8BA9F8E-3BD7-4A03-8DA1-8E3069A7816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48500" y="5516563"/>
            <a:ext cx="188753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Green K.png">
            <a:extLst>
              <a:ext uri="{FF2B5EF4-FFF2-40B4-BE49-F238E27FC236}">
                <a16:creationId xmlns:a16="http://schemas.microsoft.com/office/drawing/2014/main" id="{4FD336CD-02DD-4AC8-80FA-F0006B8C728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50825" y="255588"/>
            <a:ext cx="93662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4927" y="1628800"/>
            <a:ext cx="7772400" cy="1470025"/>
          </a:xfrm>
        </p:spPr>
        <p:txBody>
          <a:bodyPr/>
          <a:lstStyle>
            <a:lvl1pPr>
              <a:defRPr b="1">
                <a:solidFill>
                  <a:srgbClr val="1E0576"/>
                </a:solidFill>
              </a:defRPr>
            </a:lvl1pPr>
          </a:lstStyle>
          <a:p>
            <a:r>
              <a:rPr lang="en-US" dirty="0"/>
              <a:t>Click to edit Master title style</a:t>
            </a:r>
          </a:p>
        </p:txBody>
      </p:sp>
      <p:sp>
        <p:nvSpPr>
          <p:cNvPr id="3" name="Subtitle 2"/>
          <p:cNvSpPr>
            <a:spLocks noGrp="1"/>
          </p:cNvSpPr>
          <p:nvPr>
            <p:ph type="subTitle" idx="1"/>
          </p:nvPr>
        </p:nvSpPr>
        <p:spPr>
          <a:xfrm>
            <a:off x="533400" y="3212976"/>
            <a:ext cx="6400800" cy="1283047"/>
          </a:xfrm>
        </p:spPr>
        <p:txBody>
          <a:bodyPr/>
          <a:lstStyle>
            <a:lvl1pPr marL="0" indent="0" algn="l">
              <a:buNone/>
              <a:defRPr sz="2400" b="0">
                <a:solidFill>
                  <a:srgbClr val="1E0576"/>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pic>
        <p:nvPicPr>
          <p:cNvPr id="7" name="Picture 6">
            <a:extLst>
              <a:ext uri="{FF2B5EF4-FFF2-40B4-BE49-F238E27FC236}">
                <a16:creationId xmlns:a16="http://schemas.microsoft.com/office/drawing/2014/main" id="{521209A8-B31C-181F-7D51-586872CA16D5}"/>
              </a:ext>
            </a:extLst>
          </p:cNvPr>
          <p:cNvPicPr>
            <a:picLocks noChangeAspect="1"/>
          </p:cNvPicPr>
          <p:nvPr userDrawn="1"/>
        </p:nvPicPr>
        <p:blipFill>
          <a:blip r:embed="rId5"/>
          <a:stretch>
            <a:fillRect/>
          </a:stretch>
        </p:blipFill>
        <p:spPr>
          <a:xfrm>
            <a:off x="233258" y="151182"/>
            <a:ext cx="2578898" cy="1261594"/>
          </a:xfrm>
          <a:prstGeom prst="rect">
            <a:avLst/>
          </a:prstGeom>
        </p:spPr>
      </p:pic>
      <p:pic>
        <p:nvPicPr>
          <p:cNvPr id="8" name="Picture 7">
            <a:extLst>
              <a:ext uri="{FF2B5EF4-FFF2-40B4-BE49-F238E27FC236}">
                <a16:creationId xmlns:a16="http://schemas.microsoft.com/office/drawing/2014/main" id="{3179B294-45F2-3FDD-E9DA-048C9E2AE1F1}"/>
              </a:ext>
            </a:extLst>
          </p:cNvPr>
          <p:cNvPicPr>
            <a:picLocks noChangeAspect="1"/>
          </p:cNvPicPr>
          <p:nvPr userDrawn="1"/>
        </p:nvPicPr>
        <p:blipFill>
          <a:blip r:embed="rId5"/>
          <a:stretch>
            <a:fillRect/>
          </a:stretch>
        </p:blipFill>
        <p:spPr>
          <a:xfrm>
            <a:off x="6565102" y="5393132"/>
            <a:ext cx="2578898" cy="1261594"/>
          </a:xfrm>
          <a:prstGeom prst="rect">
            <a:avLst/>
          </a:prstGeom>
        </p:spPr>
      </p:pic>
    </p:spTree>
    <p:extLst>
      <p:ext uri="{BB962C8B-B14F-4D97-AF65-F5344CB8AC3E}">
        <p14:creationId xmlns:p14="http://schemas.microsoft.com/office/powerpoint/2010/main" val="870698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pic>
        <p:nvPicPr>
          <p:cNvPr id="4" name="Picture 5">
            <a:extLst>
              <a:ext uri="{FF2B5EF4-FFF2-40B4-BE49-F238E27FC236}">
                <a16:creationId xmlns:a16="http://schemas.microsoft.com/office/drawing/2014/main" id="{D916A54C-BA12-4F6A-8E94-8F9DD7F2FD8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3932" t="79842" r="25496" b="9216"/>
          <a:stretch>
            <a:fillRect/>
          </a:stretch>
        </p:blipFill>
        <p:spPr bwMode="auto">
          <a:xfrm>
            <a:off x="0" y="2205038"/>
            <a:ext cx="9144000"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descr="Green K.png">
            <a:extLst>
              <a:ext uri="{FF2B5EF4-FFF2-40B4-BE49-F238E27FC236}">
                <a16:creationId xmlns:a16="http://schemas.microsoft.com/office/drawing/2014/main" id="{0D3AFEEB-E144-4511-9A11-43CB29E0A0E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0825" y="260350"/>
            <a:ext cx="9239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Green K.png">
            <a:extLst>
              <a:ext uri="{FF2B5EF4-FFF2-40B4-BE49-F238E27FC236}">
                <a16:creationId xmlns:a16="http://schemas.microsoft.com/office/drawing/2014/main" id="{A1652571-B02D-4C98-8AF4-0269DC4F9C9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50825" y="255588"/>
            <a:ext cx="93662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71472" y="2924944"/>
            <a:ext cx="8032750" cy="720725"/>
          </a:xfrm>
        </p:spPr>
        <p:txBody>
          <a:bodyPr/>
          <a:lstStyle>
            <a:lvl1pPr>
              <a:defRPr>
                <a:solidFill>
                  <a:schemeClr val="bg1"/>
                </a:solidFill>
              </a:defRPr>
            </a:lvl1pPr>
          </a:lstStyle>
          <a:p>
            <a:r>
              <a:rPr lang="en-US" dirty="0"/>
              <a:t>Click to edit Master title style</a:t>
            </a:r>
            <a:endParaRPr lang="en-GB" dirty="0"/>
          </a:p>
        </p:txBody>
      </p:sp>
      <p:sp>
        <p:nvSpPr>
          <p:cNvPr id="8" name="Text Placeholder 7"/>
          <p:cNvSpPr>
            <a:spLocks noGrp="1"/>
          </p:cNvSpPr>
          <p:nvPr>
            <p:ph type="body" sz="quarter" idx="11"/>
          </p:nvPr>
        </p:nvSpPr>
        <p:spPr>
          <a:xfrm>
            <a:off x="3635896" y="3717032"/>
            <a:ext cx="4968552" cy="431800"/>
          </a:xfrm>
        </p:spPr>
        <p:txBody>
          <a:bodyPr/>
          <a:lstStyle>
            <a:lvl1pPr algn="r">
              <a:buNone/>
              <a:defRPr>
                <a:solidFill>
                  <a:schemeClr val="bg1"/>
                </a:solidFill>
              </a:defRPr>
            </a:lvl1pPr>
          </a:lstStyle>
          <a:p>
            <a:pPr lvl="0"/>
            <a:r>
              <a:rPr lang="en-US" dirty="0"/>
              <a:t>Click to edit Master text style</a:t>
            </a:r>
            <a:endParaRPr lang="en-GB" dirty="0"/>
          </a:p>
        </p:txBody>
      </p:sp>
      <p:sp>
        <p:nvSpPr>
          <p:cNvPr id="9" name="Slide Number Placeholder 4">
            <a:extLst>
              <a:ext uri="{FF2B5EF4-FFF2-40B4-BE49-F238E27FC236}">
                <a16:creationId xmlns:a16="http://schemas.microsoft.com/office/drawing/2014/main" id="{B0BFD6EE-0167-4374-B5E0-4C6034477DE8}"/>
              </a:ext>
            </a:extLst>
          </p:cNvPr>
          <p:cNvSpPr>
            <a:spLocks noGrp="1"/>
          </p:cNvSpPr>
          <p:nvPr>
            <p:ph type="sldNum" sz="quarter" idx="12"/>
          </p:nvPr>
        </p:nvSpPr>
        <p:spPr/>
        <p:txBody>
          <a:bodyPr/>
          <a:lstStyle>
            <a:lvl1pPr>
              <a:defRPr smtClean="0">
                <a:solidFill>
                  <a:srgbClr val="1E0576"/>
                </a:solidFill>
              </a:defRPr>
            </a:lvl1pPr>
          </a:lstStyle>
          <a:p>
            <a:pPr>
              <a:defRPr/>
            </a:pPr>
            <a:fld id="{5DBB28E0-818A-400E-BF5B-AEA4CFC80500}" type="slidenum">
              <a:rPr lang="en-GB" altLang="en-US"/>
              <a:pPr>
                <a:defRPr/>
              </a:pPr>
              <a:t>‹#›</a:t>
            </a:fld>
            <a:endParaRPr lang="en-GB" altLang="en-US"/>
          </a:p>
        </p:txBody>
      </p:sp>
      <p:pic>
        <p:nvPicPr>
          <p:cNvPr id="3" name="Picture 2">
            <a:extLst>
              <a:ext uri="{FF2B5EF4-FFF2-40B4-BE49-F238E27FC236}">
                <a16:creationId xmlns:a16="http://schemas.microsoft.com/office/drawing/2014/main" id="{836EBAB6-7142-CDFF-7CBD-804ADC788969}"/>
              </a:ext>
            </a:extLst>
          </p:cNvPr>
          <p:cNvPicPr>
            <a:picLocks noChangeAspect="1"/>
          </p:cNvPicPr>
          <p:nvPr userDrawn="1"/>
        </p:nvPicPr>
        <p:blipFill>
          <a:blip r:embed="rId5"/>
          <a:stretch>
            <a:fillRect/>
          </a:stretch>
        </p:blipFill>
        <p:spPr>
          <a:xfrm>
            <a:off x="233258" y="151182"/>
            <a:ext cx="2578898" cy="1261594"/>
          </a:xfrm>
          <a:prstGeom prst="rect">
            <a:avLst/>
          </a:prstGeom>
        </p:spPr>
      </p:pic>
    </p:spTree>
    <p:extLst>
      <p:ext uri="{BB962C8B-B14F-4D97-AF65-F5344CB8AC3E}">
        <p14:creationId xmlns:p14="http://schemas.microsoft.com/office/powerpoint/2010/main" val="910140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2940473-A621-4150-88C0-63B7D996B927}"/>
              </a:ext>
            </a:extLst>
          </p:cNvPr>
          <p:cNvSpPr>
            <a:spLocks noGrp="1"/>
          </p:cNvSpPr>
          <p:nvPr>
            <p:ph type="sldNum" sz="quarter" idx="10"/>
          </p:nvPr>
        </p:nvSpPr>
        <p:spPr/>
        <p:txBody>
          <a:bodyPr/>
          <a:lstStyle>
            <a:lvl1pPr>
              <a:defRPr smtClean="0">
                <a:solidFill>
                  <a:srgbClr val="1E0576"/>
                </a:solidFill>
              </a:defRPr>
            </a:lvl1pPr>
          </a:lstStyle>
          <a:p>
            <a:pPr>
              <a:defRPr/>
            </a:pPr>
            <a:fld id="{3272F494-1FBF-4A5E-B2C7-CEEB80DFB08E}" type="slidenum">
              <a:rPr lang="en-GB" altLang="en-US"/>
              <a:pPr>
                <a:defRPr/>
              </a:pPr>
              <a:t>‹#›</a:t>
            </a:fld>
            <a:endParaRPr lang="en-GB" altLang="en-US"/>
          </a:p>
        </p:txBody>
      </p:sp>
      <p:pic>
        <p:nvPicPr>
          <p:cNvPr id="3" name="Picture 2">
            <a:extLst>
              <a:ext uri="{FF2B5EF4-FFF2-40B4-BE49-F238E27FC236}">
                <a16:creationId xmlns:a16="http://schemas.microsoft.com/office/drawing/2014/main" id="{6E546F35-C6C0-C5D8-B2FA-F48D720A42C1}"/>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333795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2067F-FE6E-47D4-B4ED-5A12297E5067}"/>
              </a:ext>
            </a:extLst>
          </p:cNvPr>
          <p:cNvSpPr>
            <a:spLocks noChangeArrowheads="1"/>
          </p:cNvSpPr>
          <p:nvPr userDrawn="1"/>
        </p:nvSpPr>
        <p:spPr bwMode="auto">
          <a:xfrm>
            <a:off x="684213" y="1004888"/>
            <a:ext cx="799147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defRPr/>
            </a:pPr>
            <a:r>
              <a:rPr lang="en-GB" altLang="en-US" sz="1600" i="1">
                <a:solidFill>
                  <a:srgbClr val="1E0576"/>
                </a:solidFill>
                <a:latin typeface="Calibri" pitchFamily="34" charset="0"/>
                <a:cs typeface="Times New Roman" pitchFamily="18" charset="0"/>
              </a:rPr>
              <a:t>Kaplan has prepared this document to complement a lecture and it may not stand alone. It is intended for training purposes and does not constitute legal or other advice; or the rendering of legal, consulting or other professional services of any kind. </a:t>
            </a:r>
          </a:p>
          <a:p>
            <a:pPr>
              <a:defRPr/>
            </a:pPr>
            <a:endParaRPr lang="en-GB" altLang="en-US" sz="1600">
              <a:solidFill>
                <a:srgbClr val="1E0576"/>
              </a:solidFill>
              <a:latin typeface="Calibri" pitchFamily="34" charset="0"/>
            </a:endParaRPr>
          </a:p>
          <a:p>
            <a:pPr>
              <a:defRPr/>
            </a:pPr>
            <a:r>
              <a:rPr lang="en-GB" altLang="en-US" sz="1600" i="1">
                <a:solidFill>
                  <a:srgbClr val="1E0576"/>
                </a:solidFill>
                <a:latin typeface="Calibri" pitchFamily="34" charset="0"/>
                <a:cs typeface="Times New Roman" pitchFamily="18" charset="0"/>
              </a:rPr>
              <a:t>Users of these materials should not rely upon or construe the information or materials as legal or other professional advice in any manner. They should not act or fail to act based upon the information in these materials without seeking the services of a competent legal, or other, professional.</a:t>
            </a:r>
          </a:p>
          <a:p>
            <a:pPr>
              <a:defRPr/>
            </a:pPr>
            <a:endParaRPr lang="en-GB" altLang="en-US" sz="1600">
              <a:solidFill>
                <a:srgbClr val="1E0576"/>
              </a:solidFill>
              <a:latin typeface="Calibri" pitchFamily="34" charset="0"/>
            </a:endParaRPr>
          </a:p>
          <a:p>
            <a:pPr>
              <a:defRPr/>
            </a:pPr>
            <a:r>
              <a:rPr lang="en-GB" altLang="en-US" sz="1600" i="1">
                <a:solidFill>
                  <a:srgbClr val="1E0576"/>
                </a:solidFill>
                <a:latin typeface="Calibri" pitchFamily="34" charset="0"/>
                <a:cs typeface="Times New Roman" pitchFamily="18" charset="0"/>
              </a:rPr>
              <a:t>No responsibility can be accepted by the presenter, or any member of its group of companies, for any loss occasioned by any persons acting, or refraining from acting, as a result of information contained in these materials.</a:t>
            </a:r>
          </a:p>
          <a:p>
            <a:pPr>
              <a:defRPr/>
            </a:pPr>
            <a:endParaRPr lang="en-GB" altLang="en-US" sz="1600">
              <a:solidFill>
                <a:srgbClr val="1E0576"/>
              </a:solidFill>
              <a:latin typeface="Calibri" pitchFamily="34" charset="0"/>
            </a:endParaRPr>
          </a:p>
          <a:p>
            <a:pPr>
              <a:defRPr/>
            </a:pPr>
            <a:r>
              <a:rPr lang="en-GB" altLang="en-US" sz="1600" i="1">
                <a:solidFill>
                  <a:srgbClr val="1E0576"/>
                </a:solidFill>
                <a:latin typeface="Calibri" pitchFamily="34" charset="0"/>
                <a:cs typeface="Times New Roman" pitchFamily="18" charset="0"/>
              </a:rPr>
              <a:t>Kaplan reserves copyright to and this material which may not be circulated, reproduced or published in whole or part without the written consent of Kaplan.</a:t>
            </a:r>
            <a:endParaRPr lang="en-GB" altLang="en-US" sz="1600">
              <a:solidFill>
                <a:srgbClr val="1E0576"/>
              </a:solidFill>
              <a:latin typeface="Calibri" pitchFamily="34" charset="0"/>
            </a:endParaRPr>
          </a:p>
        </p:txBody>
      </p:sp>
      <p:sp>
        <p:nvSpPr>
          <p:cNvPr id="3" name="Slide Number Placeholder 2">
            <a:extLst>
              <a:ext uri="{FF2B5EF4-FFF2-40B4-BE49-F238E27FC236}">
                <a16:creationId xmlns:a16="http://schemas.microsoft.com/office/drawing/2014/main" id="{2019FB46-C77D-4E41-B6C5-36D2993993F6}"/>
              </a:ext>
            </a:extLst>
          </p:cNvPr>
          <p:cNvSpPr>
            <a:spLocks noGrp="1"/>
          </p:cNvSpPr>
          <p:nvPr>
            <p:ph type="sldNum" sz="quarter" idx="10"/>
          </p:nvPr>
        </p:nvSpPr>
        <p:spPr/>
        <p:txBody>
          <a:bodyPr/>
          <a:lstStyle>
            <a:lvl1pPr>
              <a:defRPr smtClean="0">
                <a:solidFill>
                  <a:srgbClr val="1E0576"/>
                </a:solidFill>
              </a:defRPr>
            </a:lvl1pPr>
          </a:lstStyle>
          <a:p>
            <a:pPr>
              <a:defRPr/>
            </a:pPr>
            <a:fld id="{7BE52DD9-C956-4FAD-AD25-D5B65B3476A6}" type="slidenum">
              <a:rPr lang="en-GB" altLang="en-US"/>
              <a:pPr>
                <a:defRPr/>
              </a:pPr>
              <a:t>‹#›</a:t>
            </a:fld>
            <a:endParaRPr lang="en-GB" altLang="en-US"/>
          </a:p>
        </p:txBody>
      </p:sp>
      <p:pic>
        <p:nvPicPr>
          <p:cNvPr id="4" name="Picture 3">
            <a:extLst>
              <a:ext uri="{FF2B5EF4-FFF2-40B4-BE49-F238E27FC236}">
                <a16:creationId xmlns:a16="http://schemas.microsoft.com/office/drawing/2014/main" id="{51360ECC-A0F9-5E60-5B97-EDDC471ABFDD}"/>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330594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131ECD-BD0B-8A96-9D67-68CF78F1AFD9}"/>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99131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 Slide with text box">
    <p:spTree>
      <p:nvGrpSpPr>
        <p:cNvPr id="1" name=""/>
        <p:cNvGrpSpPr/>
        <p:nvPr/>
      </p:nvGrpSpPr>
      <p:grpSpPr>
        <a:xfrm>
          <a:off x="0" y="0"/>
          <a:ext cx="0" cy="0"/>
          <a:chOff x="0" y="0"/>
          <a:chExt cx="0" cy="0"/>
        </a:xfrm>
      </p:grpSpPr>
      <p:sp>
        <p:nvSpPr>
          <p:cNvPr id="8" name="Shape 8"/>
          <p:cNvSpPr>
            <a:spLocks noGrp="1"/>
          </p:cNvSpPr>
          <p:nvPr>
            <p:ph type="title"/>
          </p:nvPr>
        </p:nvSpPr>
        <p:spPr>
          <a:prstGeom prst="rect">
            <a:avLst/>
          </a:prstGeom>
        </p:spPr>
        <p:txBody>
          <a:bodyPr/>
          <a:lstStyle>
            <a:lvl1pPr>
              <a:defRPr>
                <a:solidFill>
                  <a:srgbClr val="352F84"/>
                </a:solidFill>
              </a:defRPr>
            </a:lvl1pPr>
          </a:lstStyle>
          <a:p>
            <a:pPr lvl="0"/>
            <a:r>
              <a:rPr lang="en-GB"/>
              <a:t>Click to edit Master title style</a:t>
            </a:r>
            <a:endParaRPr dirty="0"/>
          </a:p>
        </p:txBody>
      </p:sp>
      <p:sp>
        <p:nvSpPr>
          <p:cNvPr id="9" name="Shape 9"/>
          <p:cNvSpPr>
            <a:spLocks noGrp="1"/>
          </p:cNvSpPr>
          <p:nvPr>
            <p:ph type="body" idx="1"/>
          </p:nvPr>
        </p:nvSpPr>
        <p:spPr>
          <a:prstGeom prst="rect">
            <a:avLst/>
          </a:prstGeom>
        </p:spPr>
        <p:txBody>
          <a:bodyPr/>
          <a:lstStyle>
            <a:lvl1pPr marL="63500" indent="0">
              <a:buNone/>
              <a:defRPr b="1">
                <a:solidFill>
                  <a:srgbClr val="352F84"/>
                </a:solidFill>
              </a:defRPr>
            </a:lvl1pPr>
            <a:lvl2pPr marL="361950" indent="-271463">
              <a:buFont typeface="Wingdings" panose="05000000000000000000" pitchFamily="2" charset="2"/>
              <a:buChar char="§"/>
              <a:defRPr sz="2000">
                <a:solidFill>
                  <a:srgbClr val="352F84"/>
                </a:solidFill>
              </a:defRPr>
            </a:lvl2pPr>
            <a:lvl3pPr>
              <a:buChar char="•"/>
              <a:defRPr sz="2000">
                <a:solidFill>
                  <a:srgbClr val="352F84"/>
                </a:solidFill>
              </a:defRPr>
            </a:lvl3pPr>
            <a:lvl4pPr>
              <a:buChar char="•"/>
              <a:defRPr sz="1800">
                <a:solidFill>
                  <a:srgbClr val="352F84"/>
                </a:solidFill>
              </a:defRPr>
            </a:lvl4pPr>
            <a:lvl5pPr>
              <a:buChar char="•"/>
              <a:defRPr sz="1800">
                <a:solidFill>
                  <a:srgbClr val="352F84"/>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dirty="0"/>
          </a:p>
        </p:txBody>
      </p:sp>
      <p:sp>
        <p:nvSpPr>
          <p:cNvPr id="4" name="Shape 6"/>
          <p:cNvSpPr>
            <a:spLocks noGrp="1"/>
          </p:cNvSpPr>
          <p:nvPr>
            <p:ph type="sldNum" sz="quarter" idx="10"/>
          </p:nvPr>
        </p:nvSpPr>
        <p:spPr>
          <a:ln/>
        </p:spPr>
        <p:txBody>
          <a:bodyPr/>
          <a:lstStyle>
            <a:lvl1pPr>
              <a:defRPr/>
            </a:lvl1pPr>
          </a:lstStyle>
          <a:p>
            <a:pPr>
              <a:defRPr/>
            </a:pPr>
            <a:fld id="{9A24C3DA-F84C-144E-A40F-25C8A39B1487}" type="slidenum">
              <a:rPr lang="en-US"/>
              <a:pPr>
                <a:defRPr/>
              </a:pPr>
              <a:t>‹#›</a:t>
            </a:fld>
            <a:endParaRPr lang="en-US"/>
          </a:p>
        </p:txBody>
      </p:sp>
      <p:pic>
        <p:nvPicPr>
          <p:cNvPr id="2" name="Picture 1">
            <a:extLst>
              <a:ext uri="{FF2B5EF4-FFF2-40B4-BE49-F238E27FC236}">
                <a16:creationId xmlns:a16="http://schemas.microsoft.com/office/drawing/2014/main" id="{E3D0EB03-4707-35A6-EBB6-DD04AC8EE546}"/>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105018465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Bulleted Text">
    <p:spTree>
      <p:nvGrpSpPr>
        <p:cNvPr id="1" name=""/>
        <p:cNvGrpSpPr/>
        <p:nvPr/>
      </p:nvGrpSpPr>
      <p:grpSpPr>
        <a:xfrm>
          <a:off x="0" y="0"/>
          <a:ext cx="0" cy="0"/>
          <a:chOff x="0" y="0"/>
          <a:chExt cx="0" cy="0"/>
        </a:xfrm>
      </p:grpSpPr>
      <p:sp>
        <p:nvSpPr>
          <p:cNvPr id="11" name="Title Placeholder 1"/>
          <p:cNvSpPr>
            <a:spLocks noGrp="1"/>
          </p:cNvSpPr>
          <p:nvPr>
            <p:ph type="title"/>
          </p:nvPr>
        </p:nvSpPr>
        <p:spPr bwMode="gray">
          <a:xfrm>
            <a:off x="443253" y="511822"/>
            <a:ext cx="8229600" cy="54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t>Click to edit Master title style</a:t>
            </a:r>
            <a:endParaRPr lang="en-US" dirty="0"/>
          </a:p>
        </p:txBody>
      </p:sp>
      <p:sp>
        <p:nvSpPr>
          <p:cNvPr id="12" name="Text Placeholder 2"/>
          <p:cNvSpPr>
            <a:spLocks noGrp="1"/>
          </p:cNvSpPr>
          <p:nvPr>
            <p:ph idx="1"/>
          </p:nvPr>
        </p:nvSpPr>
        <p:spPr bwMode="gray">
          <a:xfrm>
            <a:off x="443253" y="1161144"/>
            <a:ext cx="8229600" cy="426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Straight Connector 28"/>
          <p:cNvCxnSpPr>
            <a:cxnSpLocks noChangeShapeType="1"/>
          </p:cNvCxnSpPr>
          <p:nvPr userDrawn="1"/>
        </p:nvCxnSpPr>
        <p:spPr bwMode="gray">
          <a:xfrm>
            <a:off x="460545" y="424116"/>
            <a:ext cx="8229600" cy="0"/>
          </a:xfrm>
          <a:prstGeom prst="line">
            <a:avLst/>
          </a:prstGeom>
          <a:noFill/>
          <a:ln w="19050" algn="ctr">
            <a:solidFill>
              <a:srgbClr val="B6B9BB"/>
            </a:solidFill>
            <a:round/>
            <a:headEnd/>
            <a:tailEnd/>
          </a:ln>
          <a:extLst>
            <a:ext uri="{909E8E84-426E-40DD-AFC4-6F175D3DCCD1}">
              <a14:hiddenFill xmlns:a14="http://schemas.microsoft.com/office/drawing/2010/main">
                <a:noFill/>
              </a14:hiddenFill>
            </a:ext>
          </a:extLst>
        </p:spPr>
      </p:cxnSp>
      <p:sp>
        <p:nvSpPr>
          <p:cNvPr id="14" name="Footer Placeholder 3"/>
          <p:cNvSpPr>
            <a:spLocks noGrp="1"/>
          </p:cNvSpPr>
          <p:nvPr>
            <p:ph type="ftr" sz="quarter" idx="3"/>
          </p:nvPr>
        </p:nvSpPr>
        <p:spPr>
          <a:xfrm>
            <a:off x="460545" y="5553983"/>
            <a:ext cx="8229600" cy="365125"/>
          </a:xfrm>
          <a:prstGeom prst="rect">
            <a:avLst/>
          </a:prstGeom>
        </p:spPr>
        <p:txBody>
          <a:bodyPr vert="horz" lIns="0" tIns="45720" rIns="0" bIns="45720" rtlCol="0" anchor="b" anchorCtr="0"/>
          <a:lstStyle>
            <a:lvl1pPr algn="l">
              <a:defRPr sz="831">
                <a:solidFill>
                  <a:schemeClr val="tx1"/>
                </a:solidFill>
              </a:defRPr>
            </a:lvl1pPr>
          </a:lstStyle>
          <a:p>
            <a:endParaRPr lang="en-US" dirty="0"/>
          </a:p>
        </p:txBody>
      </p:sp>
      <p:pic>
        <p:nvPicPr>
          <p:cNvPr id="2" name="Picture 1">
            <a:extLst>
              <a:ext uri="{FF2B5EF4-FFF2-40B4-BE49-F238E27FC236}">
                <a16:creationId xmlns:a16="http://schemas.microsoft.com/office/drawing/2014/main" id="{DF34CB9E-4813-0FD0-8A2F-16413C77C44B}"/>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487523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6B349C3-2E8A-96EE-A19F-9BE685443F8B}"/>
              </a:ext>
            </a:extLst>
          </p:cNvPr>
          <p:cNvPicPr>
            <a:picLocks noChangeAspect="1"/>
          </p:cNvPicPr>
          <p:nvPr userDrawn="1"/>
        </p:nvPicPr>
        <p:blipFill>
          <a:blip r:embed="rId2"/>
          <a:stretch>
            <a:fillRect/>
          </a:stretch>
        </p:blipFill>
        <p:spPr>
          <a:xfrm>
            <a:off x="7670724" y="6021388"/>
            <a:ext cx="1473276" cy="720725"/>
          </a:xfrm>
          <a:prstGeom prst="rect">
            <a:avLst/>
          </a:prstGeom>
        </p:spPr>
      </p:pic>
    </p:spTree>
    <p:extLst>
      <p:ext uri="{BB962C8B-B14F-4D97-AF65-F5344CB8AC3E}">
        <p14:creationId xmlns:p14="http://schemas.microsoft.com/office/powerpoint/2010/main" val="3677598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894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FF2EBFF-754E-4F2B-BDC9-382E9FF76BF4}"/>
              </a:ext>
            </a:extLst>
          </p:cNvPr>
          <p:cNvSpPr>
            <a:spLocks noGrp="1"/>
          </p:cNvSpPr>
          <p:nvPr>
            <p:ph type="title"/>
          </p:nvPr>
        </p:nvSpPr>
        <p:spPr bwMode="auto">
          <a:xfrm>
            <a:off x="611188" y="260350"/>
            <a:ext cx="8032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7C892BCC-0D10-47DF-9C26-594FCDC4B435}"/>
              </a:ext>
            </a:extLst>
          </p:cNvPr>
          <p:cNvSpPr>
            <a:spLocks noGrp="1"/>
          </p:cNvSpPr>
          <p:nvPr>
            <p:ph type="body" idx="1"/>
          </p:nvPr>
        </p:nvSpPr>
        <p:spPr bwMode="auto">
          <a:xfrm>
            <a:off x="609600" y="1268413"/>
            <a:ext cx="8034338"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sp>
        <p:nvSpPr>
          <p:cNvPr id="5" name="Slide Number Placeholder 4">
            <a:extLst>
              <a:ext uri="{FF2B5EF4-FFF2-40B4-BE49-F238E27FC236}">
                <a16:creationId xmlns:a16="http://schemas.microsoft.com/office/drawing/2014/main" id="{D7CFA920-F071-4C0E-8C57-D139EEB10327}"/>
              </a:ext>
            </a:extLst>
          </p:cNvPr>
          <p:cNvSpPr>
            <a:spLocks noGrp="1"/>
          </p:cNvSpPr>
          <p:nvPr>
            <p:ph type="sldNum" sz="quarter" idx="4"/>
          </p:nvPr>
        </p:nvSpPr>
        <p:spPr>
          <a:xfrm>
            <a:off x="468313" y="6376988"/>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002060"/>
                </a:solidFill>
                <a:latin typeface="Calibri" panose="020F0502020204030204" pitchFamily="34" charset="0"/>
                <a:cs typeface="Calibri" panose="020F0502020204030204" pitchFamily="34" charset="0"/>
              </a:defRPr>
            </a:lvl1pPr>
          </a:lstStyle>
          <a:p>
            <a:pPr>
              <a:defRPr/>
            </a:pPr>
            <a:fld id="{88875D59-68D7-40B2-B120-EC140D990D1F}" type="slidenum">
              <a:rPr lang="en-GB" altLang="en-US"/>
              <a:pPr>
                <a:defRPr/>
              </a:pPr>
              <a:t>‹#›</a:t>
            </a:fld>
            <a:endParaRPr lang="en-GB" altLang="en-US"/>
          </a:p>
        </p:txBody>
      </p:sp>
      <p:pic>
        <p:nvPicPr>
          <p:cNvPr id="1029" name="Picture 14" descr="20130211_White-logo.png">
            <a:extLst>
              <a:ext uri="{FF2B5EF4-FFF2-40B4-BE49-F238E27FC236}">
                <a16:creationId xmlns:a16="http://schemas.microsoft.com/office/drawing/2014/main" id="{179FA6C3-C509-4980-B667-E49C20A3C119}"/>
              </a:ext>
            </a:extLst>
          </p:cNvPr>
          <p:cNvPicPr>
            <a:picLocks noChangeAspect="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7851775" y="6026150"/>
            <a:ext cx="112871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3D56E308-1D35-4694-0BAB-682E65EF434C}"/>
              </a:ext>
            </a:extLst>
          </p:cNvPr>
          <p:cNvPicPr>
            <a:picLocks noChangeAspect="1"/>
          </p:cNvPicPr>
          <p:nvPr userDrawn="1"/>
        </p:nvPicPr>
        <p:blipFill>
          <a:blip r:embed="rId13"/>
          <a:stretch>
            <a:fillRect/>
          </a:stretch>
        </p:blipFill>
        <p:spPr>
          <a:xfrm>
            <a:off x="7670724" y="6021388"/>
            <a:ext cx="1473276" cy="720725"/>
          </a:xfrm>
          <a:prstGeom prst="rect">
            <a:avLst/>
          </a:prstGeom>
        </p:spPr>
      </p:pic>
    </p:spTree>
  </p:cSld>
  <p:clrMap bg1="lt1" tx1="dk1" bg2="lt2" tx2="dk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70" r:id="rId7"/>
    <p:sldLayoutId id="2147484373" r:id="rId8"/>
    <p:sldLayoutId id="2147484374" r:id="rId9"/>
    <p:sldLayoutId id="2147484375" r:id="rId10"/>
  </p:sldLayoutIdLst>
  <p:hf sldNum="0" hdr="0" dt="0"/>
  <p:txStyles>
    <p:titleStyle>
      <a:lvl1pPr algn="l" rtl="0" eaLnBrk="0" fontAlgn="base" hangingPunct="0">
        <a:spcBef>
          <a:spcPct val="0"/>
        </a:spcBef>
        <a:spcAft>
          <a:spcPct val="0"/>
        </a:spcAft>
        <a:defRPr lang="en-GB" sz="3600" b="1" kern="1200">
          <a:solidFill>
            <a:srgbClr val="1E0576"/>
          </a:solidFill>
          <a:latin typeface="Calibri" pitchFamily="34" charset="0"/>
          <a:ea typeface="ヒラギノ角ゴ Pro W3" pitchFamily="1" charset="-128"/>
          <a:cs typeface="Calibri" pitchFamily="34" charset="0"/>
        </a:defRPr>
      </a:lvl1pPr>
      <a:lvl2pPr algn="l" rtl="0" eaLnBrk="0" fontAlgn="base" hangingPunct="0">
        <a:spcBef>
          <a:spcPct val="0"/>
        </a:spcBef>
        <a:spcAft>
          <a:spcPct val="0"/>
        </a:spcAft>
        <a:defRPr sz="3600" b="1">
          <a:solidFill>
            <a:srgbClr val="1E0576"/>
          </a:solidFill>
          <a:latin typeface="Calibri" pitchFamily="34" charset="0"/>
          <a:ea typeface="ヒラギノ角ゴ Pro W3" pitchFamily="1" charset="-128"/>
          <a:cs typeface="Calibri" pitchFamily="34" charset="0"/>
        </a:defRPr>
      </a:lvl2pPr>
      <a:lvl3pPr algn="l" rtl="0" eaLnBrk="0" fontAlgn="base" hangingPunct="0">
        <a:spcBef>
          <a:spcPct val="0"/>
        </a:spcBef>
        <a:spcAft>
          <a:spcPct val="0"/>
        </a:spcAft>
        <a:defRPr sz="3600" b="1">
          <a:solidFill>
            <a:srgbClr val="1E0576"/>
          </a:solidFill>
          <a:latin typeface="Calibri" pitchFamily="34" charset="0"/>
          <a:ea typeface="ヒラギノ角ゴ Pro W3" pitchFamily="1" charset="-128"/>
          <a:cs typeface="Calibri" pitchFamily="34" charset="0"/>
        </a:defRPr>
      </a:lvl3pPr>
      <a:lvl4pPr algn="l" rtl="0" eaLnBrk="0" fontAlgn="base" hangingPunct="0">
        <a:spcBef>
          <a:spcPct val="0"/>
        </a:spcBef>
        <a:spcAft>
          <a:spcPct val="0"/>
        </a:spcAft>
        <a:defRPr sz="3600" b="1">
          <a:solidFill>
            <a:srgbClr val="1E0576"/>
          </a:solidFill>
          <a:latin typeface="Calibri" pitchFamily="34" charset="0"/>
          <a:ea typeface="ヒラギノ角ゴ Pro W3" pitchFamily="1" charset="-128"/>
          <a:cs typeface="Calibri" pitchFamily="34" charset="0"/>
        </a:defRPr>
      </a:lvl4pPr>
      <a:lvl5pPr algn="l" rtl="0" eaLnBrk="0" fontAlgn="base" hangingPunct="0">
        <a:spcBef>
          <a:spcPct val="0"/>
        </a:spcBef>
        <a:spcAft>
          <a:spcPct val="0"/>
        </a:spcAft>
        <a:defRPr sz="3600" b="1">
          <a:solidFill>
            <a:srgbClr val="1E0576"/>
          </a:solidFill>
          <a:latin typeface="Calibri" pitchFamily="34" charset="0"/>
          <a:ea typeface="ヒラギノ角ゴ Pro W3" pitchFamily="1" charset="-128"/>
          <a:cs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lang="en-US" sz="2400" kern="1200">
          <a:solidFill>
            <a:srgbClr val="1E0576"/>
          </a:solidFill>
          <a:latin typeface="Calibri" pitchFamily="34" charset="0"/>
          <a:ea typeface="ヒラギノ角ゴ Pro W3" pitchFamily="1" charset="-128"/>
          <a:cs typeface="Calibri" pitchFamily="34" charset="0"/>
        </a:defRPr>
      </a:lvl1pPr>
      <a:lvl2pPr marL="742950" indent="-285750" algn="l" rtl="0" eaLnBrk="0" fontAlgn="base" hangingPunct="0">
        <a:spcBef>
          <a:spcPct val="20000"/>
        </a:spcBef>
        <a:spcAft>
          <a:spcPct val="0"/>
        </a:spcAft>
        <a:buFont typeface="Arial" panose="020B0604020202020204" pitchFamily="34" charset="0"/>
        <a:buChar char="–"/>
        <a:defRPr lang="en-US" sz="2200" kern="1200">
          <a:solidFill>
            <a:srgbClr val="333399"/>
          </a:solidFill>
          <a:latin typeface="Calibri" pitchFamily="34" charset="0"/>
          <a:ea typeface="ヒラギノ角ゴ Pro W3" pitchFamily="1" charset="-128"/>
          <a:cs typeface="Calibri" pitchFamily="34" charset="0"/>
        </a:defRPr>
      </a:lvl2pPr>
      <a:lvl3pPr marL="1143000" indent="-228600" algn="l" rtl="0" eaLnBrk="0" fontAlgn="base" hangingPunct="0">
        <a:spcBef>
          <a:spcPct val="20000"/>
        </a:spcBef>
        <a:spcAft>
          <a:spcPct val="0"/>
        </a:spcAft>
        <a:buFont typeface="Arial" panose="020B0604020202020204" pitchFamily="34" charset="0"/>
        <a:buChar char="•"/>
        <a:defRPr lang="en-US" sz="2400" kern="1200">
          <a:solidFill>
            <a:schemeClr val="tx1"/>
          </a:solidFill>
          <a:latin typeface="+mn-lt"/>
          <a:ea typeface="ヒラギノ角ゴ Pro W3" pitchFamily="1"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lang="en-US" sz="2000" kern="1200">
          <a:solidFill>
            <a:schemeClr val="tx1"/>
          </a:solidFill>
          <a:latin typeface="+mn-lt"/>
          <a:ea typeface="ヒラギノ角ゴ Pro W3" pitchFamily="1"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lang="en-GB" sz="2000" kern="1200">
          <a:solidFill>
            <a:schemeClr val="tx1"/>
          </a:solidFill>
          <a:latin typeface="+mn-lt"/>
          <a:ea typeface="ヒラギノ角ゴ Pro W3"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362" r:id="rId1"/>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a:extLst>
              <a:ext uri="{FF2B5EF4-FFF2-40B4-BE49-F238E27FC236}">
                <a16:creationId xmlns:a16="http://schemas.microsoft.com/office/drawing/2014/main" id="{6EA18193-7459-4D07-988B-1676F83D78AC}"/>
              </a:ext>
            </a:extLst>
          </p:cNvPr>
          <p:cNvSpPr>
            <a:spLocks noGrp="1"/>
          </p:cNvSpPr>
          <p:nvPr>
            <p:ph type="title"/>
          </p:nvPr>
        </p:nvSpPr>
        <p:spPr>
          <a:xfrm>
            <a:off x="555625" y="2564904"/>
            <a:ext cx="8032750" cy="1368028"/>
          </a:xfrm>
        </p:spPr>
        <p:txBody>
          <a:bodyPr/>
          <a:lstStyle/>
          <a:p>
            <a:pPr algn="ctr">
              <a:lnSpc>
                <a:spcPts val="2625"/>
              </a:lnSpc>
            </a:pPr>
            <a:br>
              <a:rPr altLang="en-US" dirty="0">
                <a:ea typeface="ヒラギノ角ゴ Pro W3" pitchFamily="-112" charset="-128"/>
              </a:rPr>
            </a:br>
            <a:r>
              <a:rPr altLang="en-US" dirty="0">
                <a:ea typeface="ヒラギノ角ゴ Pro W3" pitchFamily="-112" charset="-128"/>
              </a:rPr>
              <a:t>Global Financial Markets: The Big Picture</a:t>
            </a:r>
          </a:p>
        </p:txBody>
      </p:sp>
    </p:spTree>
    <p:extLst>
      <p:ext uri="{BB962C8B-B14F-4D97-AF65-F5344CB8AC3E}">
        <p14:creationId xmlns:p14="http://schemas.microsoft.com/office/powerpoint/2010/main" val="63893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p:cNvSpPr>
          <p:nvPr>
            <p:ph type="title"/>
          </p:nvPr>
        </p:nvSpPr>
        <p:spPr/>
        <p:txBody>
          <a:bodyPr/>
          <a:lstStyle/>
          <a:p>
            <a:r>
              <a:rPr lang="en-GB" altLang="en-US" dirty="0"/>
              <a:t>Financial Markets</a:t>
            </a:r>
          </a:p>
        </p:txBody>
      </p:sp>
      <p:sp>
        <p:nvSpPr>
          <p:cNvPr id="30723" name="Rectangle 8"/>
          <p:cNvSpPr>
            <a:spLocks noGrp="1"/>
          </p:cNvSpPr>
          <p:nvPr>
            <p:ph sz="half" idx="4294967295"/>
          </p:nvPr>
        </p:nvSpPr>
        <p:spPr>
          <a:xfrm>
            <a:off x="0" y="4797425"/>
            <a:ext cx="4052888" cy="1222375"/>
          </a:xfrm>
        </p:spPr>
        <p:txBody>
          <a:bodyPr/>
          <a:lstStyle/>
          <a:p>
            <a:pPr lvl="1">
              <a:lnSpc>
                <a:spcPct val="100000"/>
              </a:lnSpc>
            </a:pPr>
            <a:r>
              <a:rPr lang="en-GB" altLang="en-US" sz="1800" dirty="0"/>
              <a:t>Provision of a payment mechanisms</a:t>
            </a:r>
          </a:p>
          <a:p>
            <a:pPr lvl="1">
              <a:lnSpc>
                <a:spcPct val="100000"/>
              </a:lnSpc>
            </a:pPr>
            <a:r>
              <a:rPr lang="en-GB" altLang="en-US" sz="1800" dirty="0"/>
              <a:t>Management of maturity terms</a:t>
            </a:r>
          </a:p>
          <a:p>
            <a:pPr lvl="1">
              <a:lnSpc>
                <a:spcPct val="100000"/>
              </a:lnSpc>
            </a:pPr>
            <a:r>
              <a:rPr lang="en-GB" altLang="en-US" sz="1800" dirty="0"/>
              <a:t>Transformation of risk</a:t>
            </a:r>
          </a:p>
        </p:txBody>
      </p:sp>
      <p:sp>
        <p:nvSpPr>
          <p:cNvPr id="30724" name="Rectangle 14"/>
          <p:cNvSpPr>
            <a:spLocks noGrp="1" noChangeArrowheads="1"/>
          </p:cNvSpPr>
          <p:nvPr>
            <p:ph sz="half" idx="4294967295"/>
          </p:nvPr>
        </p:nvSpPr>
        <p:spPr>
          <a:xfrm>
            <a:off x="5105400" y="4724400"/>
            <a:ext cx="4038600" cy="1162050"/>
          </a:xfrm>
        </p:spPr>
        <p:txBody>
          <a:bodyPr lIns="91398" tIns="45699" rIns="91398" bIns="45699"/>
          <a:lstStyle/>
          <a:p>
            <a:pPr lvl="1" eaLnBrk="1" hangingPunct="1">
              <a:lnSpc>
                <a:spcPct val="100000"/>
              </a:lnSpc>
            </a:pPr>
            <a:r>
              <a:rPr lang="en-GB" altLang="en-US" sz="1800" dirty="0"/>
              <a:t>Provision of liquidity </a:t>
            </a:r>
          </a:p>
          <a:p>
            <a:pPr lvl="1" eaLnBrk="1" hangingPunct="1">
              <a:lnSpc>
                <a:spcPct val="100000"/>
              </a:lnSpc>
            </a:pPr>
            <a:r>
              <a:rPr lang="en-GB" altLang="en-US" sz="1800" dirty="0"/>
              <a:t>Cost efficiency</a:t>
            </a:r>
          </a:p>
          <a:p>
            <a:pPr eaLnBrk="1" hangingPunct="1">
              <a:lnSpc>
                <a:spcPct val="100000"/>
              </a:lnSpc>
            </a:pPr>
            <a:endParaRPr lang="en-GB" altLang="en-US" sz="1600" dirty="0"/>
          </a:p>
        </p:txBody>
      </p:sp>
      <p:grpSp>
        <p:nvGrpSpPr>
          <p:cNvPr id="2" name="Group 1">
            <a:extLst>
              <a:ext uri="{FF2B5EF4-FFF2-40B4-BE49-F238E27FC236}">
                <a16:creationId xmlns:a16="http://schemas.microsoft.com/office/drawing/2014/main" id="{0174F1A4-0B39-4527-88B7-0A3D26364CD6}"/>
              </a:ext>
            </a:extLst>
          </p:cNvPr>
          <p:cNvGrpSpPr/>
          <p:nvPr/>
        </p:nvGrpSpPr>
        <p:grpSpPr>
          <a:xfrm>
            <a:off x="467930" y="1642878"/>
            <a:ext cx="8223637" cy="2827132"/>
            <a:chOff x="449216" y="2082799"/>
            <a:chExt cx="8223637" cy="2827132"/>
          </a:xfrm>
        </p:grpSpPr>
        <p:sp>
          <p:nvSpPr>
            <p:cNvPr id="24" name="Right Bracket 23"/>
            <p:cNvSpPr/>
            <p:nvPr/>
          </p:nvSpPr>
          <p:spPr>
            <a:xfrm rot="16200000">
              <a:off x="4413855" y="2023751"/>
              <a:ext cx="344187" cy="4216183"/>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0" name="Elbow Connector 19"/>
            <p:cNvCxnSpPr/>
            <p:nvPr/>
          </p:nvCxnSpPr>
          <p:spPr>
            <a:xfrm rot="5400000">
              <a:off x="5932234" y="3034001"/>
              <a:ext cx="1045451" cy="2706410"/>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3476676" y="2082799"/>
              <a:ext cx="2162754" cy="62064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Markets and intermediaries</a:t>
              </a:r>
            </a:p>
          </p:txBody>
        </p:sp>
        <p:sp>
          <p:nvSpPr>
            <p:cNvPr id="5" name="Isosceles Triangle 4"/>
            <p:cNvSpPr/>
            <p:nvPr/>
          </p:nvSpPr>
          <p:spPr>
            <a:xfrm>
              <a:off x="4212021" y="3959750"/>
              <a:ext cx="692063" cy="88259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1884459" y="4277804"/>
              <a:ext cx="1311965" cy="341907"/>
            </a:xfrm>
            <a:prstGeom prst="rect">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Reward</a:t>
              </a:r>
            </a:p>
          </p:txBody>
        </p:sp>
        <p:sp>
          <p:nvSpPr>
            <p:cNvPr id="12" name="Rounded Rectangle 11"/>
            <p:cNvSpPr/>
            <p:nvPr/>
          </p:nvSpPr>
          <p:spPr>
            <a:xfrm>
              <a:off x="5919681" y="4277804"/>
              <a:ext cx="1311965" cy="341907"/>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Risk</a:t>
              </a:r>
            </a:p>
          </p:txBody>
        </p:sp>
        <p:sp>
          <p:nvSpPr>
            <p:cNvPr id="7" name="Rounded Rectangle 6"/>
            <p:cNvSpPr/>
            <p:nvPr/>
          </p:nvSpPr>
          <p:spPr>
            <a:xfrm>
              <a:off x="449216" y="2731419"/>
              <a:ext cx="1717449" cy="1160890"/>
            </a:xfrm>
            <a:prstGeom prst="rect">
              <a:avLst/>
            </a:prstGeom>
            <a:solidFill>
              <a:srgbClr val="D8D4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Lenders</a:t>
              </a:r>
            </a:p>
            <a:p>
              <a:pPr marL="182563" indent="-182563">
                <a:buClr>
                  <a:srgbClr val="CC0033"/>
                </a:buClr>
                <a:buFont typeface="Arial" panose="020B0604020202020204" pitchFamily="34" charset="0"/>
                <a:buChar char="•"/>
              </a:pPr>
              <a:r>
                <a:rPr lang="en-GB" sz="1600" dirty="0">
                  <a:solidFill>
                    <a:schemeClr val="tx1"/>
                  </a:solidFill>
                </a:rPr>
                <a:t>Retail</a:t>
              </a:r>
            </a:p>
            <a:p>
              <a:pPr marL="182563" indent="-182563">
                <a:buClr>
                  <a:srgbClr val="CC0033"/>
                </a:buClr>
                <a:buFont typeface="Arial" panose="020B0604020202020204" pitchFamily="34" charset="0"/>
                <a:buChar char="•"/>
              </a:pPr>
              <a:r>
                <a:rPr lang="en-GB" sz="1600" dirty="0">
                  <a:solidFill>
                    <a:schemeClr val="tx1"/>
                  </a:solidFill>
                </a:rPr>
                <a:t>Companies/</a:t>
              </a:r>
            </a:p>
            <a:p>
              <a:pPr>
                <a:buClr>
                  <a:srgbClr val="CC0033"/>
                </a:buClr>
              </a:pPr>
              <a:r>
                <a:rPr lang="en-GB" sz="1600" dirty="0">
                  <a:solidFill>
                    <a:schemeClr val="tx1"/>
                  </a:solidFill>
                </a:rPr>
                <a:t>    Institutions</a:t>
              </a:r>
            </a:p>
          </p:txBody>
        </p:sp>
        <p:sp>
          <p:nvSpPr>
            <p:cNvPr id="14" name="Rounded Rectangle 13"/>
            <p:cNvSpPr/>
            <p:nvPr/>
          </p:nvSpPr>
          <p:spPr>
            <a:xfrm>
              <a:off x="6949440" y="2731419"/>
              <a:ext cx="1723413" cy="1160890"/>
            </a:xfrm>
            <a:prstGeom prst="rect">
              <a:avLst/>
            </a:prstGeom>
            <a:solidFill>
              <a:srgbClr val="D8D4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Borrowers</a:t>
              </a:r>
            </a:p>
            <a:p>
              <a:pPr marL="182563" indent="-182563">
                <a:buClr>
                  <a:srgbClr val="CC0033"/>
                </a:buClr>
                <a:buFont typeface="Arial" panose="020B0604020202020204" pitchFamily="34" charset="0"/>
                <a:buChar char="•"/>
              </a:pPr>
              <a:r>
                <a:rPr lang="en-GB" sz="1600" dirty="0">
                  <a:solidFill>
                    <a:schemeClr val="tx1"/>
                  </a:solidFill>
                </a:rPr>
                <a:t>Retail</a:t>
              </a:r>
            </a:p>
            <a:p>
              <a:pPr marL="182563" indent="-182563">
                <a:buClr>
                  <a:srgbClr val="CC0033"/>
                </a:buClr>
                <a:buFont typeface="Arial" panose="020B0604020202020204" pitchFamily="34" charset="0"/>
                <a:buChar char="•"/>
              </a:pPr>
              <a:r>
                <a:rPr lang="en-GB" sz="1600" dirty="0">
                  <a:solidFill>
                    <a:schemeClr val="tx1"/>
                  </a:solidFill>
                </a:rPr>
                <a:t>Companies</a:t>
              </a:r>
            </a:p>
            <a:p>
              <a:pPr marL="182563" indent="-182563">
                <a:buClr>
                  <a:srgbClr val="CC0033"/>
                </a:buClr>
                <a:buFont typeface="Arial" panose="020B0604020202020204" pitchFamily="34" charset="0"/>
                <a:buChar char="•"/>
              </a:pPr>
              <a:r>
                <a:rPr lang="en-GB" sz="1600" dirty="0">
                  <a:solidFill>
                    <a:schemeClr val="tx1"/>
                  </a:solidFill>
                </a:rPr>
                <a:t>Governments</a:t>
              </a:r>
            </a:p>
          </p:txBody>
        </p:sp>
        <p:cxnSp>
          <p:nvCxnSpPr>
            <p:cNvPr id="18" name="Elbow Connector 17"/>
            <p:cNvCxnSpPr/>
            <p:nvPr/>
          </p:nvCxnSpPr>
          <p:spPr>
            <a:xfrm rot="5400000" flipH="1" flipV="1">
              <a:off x="2223159" y="1477903"/>
              <a:ext cx="338298" cy="2168735"/>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V="1">
              <a:off x="6554648" y="1479852"/>
              <a:ext cx="338298" cy="2168735"/>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p:nvPr/>
          </p:nvCxnSpPr>
          <p:spPr>
            <a:xfrm rot="10800000">
              <a:off x="1307941" y="3892310"/>
              <a:ext cx="2750736" cy="1017621"/>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03893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8905AB4B-1E74-444C-A61D-8F8630BF4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688975"/>
            <a:ext cx="8870950" cy="598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p:cNvSpPr>
          <p:nvPr>
            <p:ph type="title"/>
          </p:nvPr>
        </p:nvSpPr>
        <p:spPr/>
        <p:txBody>
          <a:bodyPr/>
          <a:lstStyle/>
          <a:p>
            <a:r>
              <a:rPr lang="en-GB" altLang="en-US" dirty="0"/>
              <a:t>Market Participants (Wholesale)</a:t>
            </a:r>
          </a:p>
        </p:txBody>
      </p:sp>
      <p:sp>
        <p:nvSpPr>
          <p:cNvPr id="34819" name="Rounded Rectangle 3"/>
          <p:cNvSpPr>
            <a:spLocks noChangeArrowheads="1"/>
          </p:cNvSpPr>
          <p:nvPr/>
        </p:nvSpPr>
        <p:spPr bwMode="auto">
          <a:xfrm>
            <a:off x="419100" y="1285875"/>
            <a:ext cx="2659063" cy="500063"/>
          </a:xfrm>
          <a:prstGeom prst="rect">
            <a:avLst/>
          </a:prstGeom>
          <a:solidFill>
            <a:srgbClr val="3B265E"/>
          </a:solidFill>
          <a:ln>
            <a:noFill/>
          </a:ln>
          <a:extLst>
            <a:ext uri="{91240B29-F687-4F45-9708-019B960494DF}">
              <a14:hiddenLine xmlns:a14="http://schemas.microsoft.com/office/drawing/2010/main" w="25400" algn="ctr">
                <a:solidFill>
                  <a:srgbClr val="000000"/>
                </a:solidFill>
                <a:round/>
                <a:headEnd/>
                <a:tailEnd/>
              </a14:hiddenLine>
            </a:ext>
          </a:extLst>
        </p:spPr>
        <p:txBody>
          <a:bodyPr lIns="45720" rIns="4572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GB" altLang="en-US" b="1" dirty="0">
                <a:solidFill>
                  <a:schemeClr val="bg1"/>
                </a:solidFill>
                <a:latin typeface="+mj-lt"/>
              </a:rPr>
              <a:t>Sell-side</a:t>
            </a:r>
          </a:p>
        </p:txBody>
      </p:sp>
      <p:sp>
        <p:nvSpPr>
          <p:cNvPr id="34820" name="Rounded Rectangle 4"/>
          <p:cNvSpPr>
            <a:spLocks noChangeArrowheads="1"/>
          </p:cNvSpPr>
          <p:nvPr/>
        </p:nvSpPr>
        <p:spPr bwMode="auto">
          <a:xfrm>
            <a:off x="3282950" y="1285875"/>
            <a:ext cx="2657475" cy="500063"/>
          </a:xfrm>
          <a:prstGeom prst="rect">
            <a:avLst/>
          </a:prstGeom>
          <a:solidFill>
            <a:srgbClr val="CC0033"/>
          </a:solidFill>
          <a:ln>
            <a:noFill/>
          </a:ln>
          <a:extLst>
            <a:ext uri="{91240B29-F687-4F45-9708-019B960494DF}">
              <a14:hiddenLine xmlns:a14="http://schemas.microsoft.com/office/drawing/2010/main" w="25400" algn="ctr">
                <a:solidFill>
                  <a:srgbClr val="000000"/>
                </a:solidFill>
                <a:round/>
                <a:headEnd/>
                <a:tailEnd/>
              </a14:hiddenLine>
            </a:ext>
          </a:extLst>
        </p:spPr>
        <p:txBody>
          <a:bodyPr lIns="45720" rIns="4572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GB" altLang="en-US" b="1" dirty="0">
                <a:solidFill>
                  <a:schemeClr val="bg1"/>
                </a:solidFill>
                <a:latin typeface="+mj-lt"/>
              </a:rPr>
              <a:t>Buy-side</a:t>
            </a:r>
          </a:p>
        </p:txBody>
      </p:sp>
      <p:sp>
        <p:nvSpPr>
          <p:cNvPr id="6" name="Rounded Rectangle 5"/>
          <p:cNvSpPr>
            <a:spLocks noChangeArrowheads="1"/>
          </p:cNvSpPr>
          <p:nvPr/>
        </p:nvSpPr>
        <p:spPr bwMode="auto">
          <a:xfrm>
            <a:off x="6126163" y="1285875"/>
            <a:ext cx="2659062" cy="500063"/>
          </a:xfrm>
          <a:prstGeom prst="rect">
            <a:avLst/>
          </a:prstGeom>
          <a:solidFill>
            <a:srgbClr val="007A87"/>
          </a:solidFill>
          <a:ln>
            <a:noFill/>
          </a:ln>
        </p:spPr>
        <p:txBody>
          <a:bodyPr lIns="45720" rIns="45720" anchor="ctr"/>
          <a:lstStyle/>
          <a:p>
            <a:pPr algn="ctr" eaLnBrk="1" hangingPunct="1">
              <a:defRPr/>
            </a:pPr>
            <a:r>
              <a:rPr lang="en-GB" b="1" dirty="0">
                <a:solidFill>
                  <a:schemeClr val="bg1"/>
                </a:solidFill>
                <a:latin typeface="+mj-lt"/>
                <a:cs typeface="+mn-cs"/>
              </a:rPr>
              <a:t>Support</a:t>
            </a:r>
          </a:p>
        </p:txBody>
      </p:sp>
      <p:sp>
        <p:nvSpPr>
          <p:cNvPr id="34822" name="Rounded Rectangle 6"/>
          <p:cNvSpPr>
            <a:spLocks noChangeArrowheads="1"/>
          </p:cNvSpPr>
          <p:nvPr/>
        </p:nvSpPr>
        <p:spPr bwMode="auto">
          <a:xfrm>
            <a:off x="419100" y="1785938"/>
            <a:ext cx="2659063" cy="3959225"/>
          </a:xfrm>
          <a:prstGeom prst="rect">
            <a:avLst/>
          </a:prstGeom>
          <a:solidFill>
            <a:schemeClr val="bg1"/>
          </a:solidFill>
          <a:ln w="38100" algn="ctr">
            <a:solidFill>
              <a:srgbClr val="3B265E"/>
            </a:solidFill>
            <a:round/>
            <a:headEnd/>
            <a:tailEnd/>
          </a:ln>
        </p:spPr>
        <p:txBody>
          <a:bodyPr lIns="72000" tIns="72000" rIns="72000" bIns="72000"/>
          <a:lstStyle>
            <a:lvl1pPr marL="177800" indent="-177800">
              <a:defRPr>
                <a:solidFill>
                  <a:schemeClr val="tx1"/>
                </a:solidFill>
                <a:latin typeface="Arial" panose="020B0604020202020204" pitchFamily="34" charset="0"/>
                <a:cs typeface="Arial" panose="020B0604020202020204" pitchFamily="34" charset="0"/>
              </a:defRPr>
            </a:lvl1pPr>
            <a:lvl2pPr marL="177800" indent="-1778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spcAft>
                <a:spcPts val="600"/>
              </a:spcAft>
              <a:buClr>
                <a:srgbClr val="CC0033"/>
              </a:buClr>
              <a:buFontTx/>
              <a:buChar char="•"/>
            </a:pPr>
            <a:r>
              <a:rPr lang="en-GB" altLang="en-US" sz="1600" dirty="0"/>
              <a:t>Brokers – agents on behalf of clients</a:t>
            </a:r>
          </a:p>
          <a:p>
            <a:pPr lvl="1" eaLnBrk="1" hangingPunct="1">
              <a:spcAft>
                <a:spcPts val="600"/>
              </a:spcAft>
              <a:buClr>
                <a:srgbClr val="CC0033"/>
              </a:buClr>
              <a:buFontTx/>
              <a:buChar char="•"/>
            </a:pPr>
            <a:r>
              <a:rPr lang="en-GB" altLang="en-US" sz="1600" dirty="0"/>
              <a:t>Direct market participants, e.g. members of a stock exchange</a:t>
            </a:r>
          </a:p>
          <a:p>
            <a:pPr lvl="1" eaLnBrk="1" hangingPunct="1">
              <a:spcAft>
                <a:spcPts val="600"/>
              </a:spcAft>
              <a:buClr>
                <a:srgbClr val="CC0033"/>
              </a:buClr>
              <a:buFontTx/>
              <a:buChar char="•"/>
            </a:pPr>
            <a:r>
              <a:rPr lang="en-GB" altLang="en-US" sz="1600" dirty="0"/>
              <a:t>Inter-dealer brokers (IDB’s) act as intermediaries between </a:t>
            </a:r>
            <a:br>
              <a:rPr lang="en-GB" altLang="en-US" sz="1600" dirty="0"/>
            </a:br>
            <a:r>
              <a:rPr lang="en-GB" altLang="en-US" sz="1600" dirty="0"/>
              <a:t>market-makers and provide anonymity</a:t>
            </a:r>
          </a:p>
          <a:p>
            <a:pPr lvl="1" eaLnBrk="1" hangingPunct="1">
              <a:spcAft>
                <a:spcPts val="600"/>
              </a:spcAft>
              <a:buClr>
                <a:srgbClr val="CC0033"/>
              </a:buClr>
              <a:buFontTx/>
              <a:buChar char="•"/>
            </a:pPr>
            <a:r>
              <a:rPr lang="en-GB" altLang="en-US" sz="1600" dirty="0"/>
              <a:t>Proprietor traders</a:t>
            </a:r>
          </a:p>
          <a:p>
            <a:pPr eaLnBrk="1" hangingPunct="1">
              <a:spcAft>
                <a:spcPts val="600"/>
              </a:spcAft>
              <a:buFont typeface="Arial" panose="020B0604020202020204" pitchFamily="34" charset="0"/>
              <a:buChar char="•"/>
            </a:pPr>
            <a:endParaRPr lang="en-GB" altLang="en-US" sz="1600" dirty="0"/>
          </a:p>
        </p:txBody>
      </p:sp>
      <p:sp>
        <p:nvSpPr>
          <p:cNvPr id="34823" name="Rounded Rectangle 7"/>
          <p:cNvSpPr>
            <a:spLocks noChangeArrowheads="1"/>
          </p:cNvSpPr>
          <p:nvPr/>
        </p:nvSpPr>
        <p:spPr bwMode="auto">
          <a:xfrm>
            <a:off x="3282950" y="1785938"/>
            <a:ext cx="2657475" cy="3959225"/>
          </a:xfrm>
          <a:prstGeom prst="rect">
            <a:avLst/>
          </a:prstGeom>
          <a:solidFill>
            <a:schemeClr val="bg1"/>
          </a:solidFill>
          <a:ln w="38100" algn="ctr">
            <a:solidFill>
              <a:srgbClr val="CC0033"/>
            </a:solidFill>
            <a:round/>
            <a:headEnd/>
            <a:tailEnd/>
          </a:ln>
        </p:spPr>
        <p:txBody>
          <a:bodyPr lIns="72000" tIns="72000" rIns="72000" bIns="72000"/>
          <a:lstStyle>
            <a:lvl1pPr marL="177800" indent="-177800">
              <a:defRPr>
                <a:solidFill>
                  <a:schemeClr val="tx1"/>
                </a:solidFill>
                <a:latin typeface="Arial" panose="020B0604020202020204" pitchFamily="34" charset="0"/>
                <a:cs typeface="Arial" panose="020B0604020202020204" pitchFamily="34" charset="0"/>
              </a:defRPr>
            </a:lvl1pPr>
            <a:lvl2pPr marL="177800" indent="-1778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spcAft>
                <a:spcPts val="600"/>
              </a:spcAft>
              <a:buClr>
                <a:srgbClr val="CC0033"/>
              </a:buClr>
              <a:buFontTx/>
              <a:buChar char="•"/>
            </a:pPr>
            <a:r>
              <a:rPr lang="en-GB" altLang="en-US" sz="1600"/>
              <a:t>Individual investors</a:t>
            </a:r>
          </a:p>
          <a:p>
            <a:pPr eaLnBrk="1" hangingPunct="1">
              <a:spcAft>
                <a:spcPts val="600"/>
              </a:spcAft>
              <a:buClr>
                <a:srgbClr val="CC0033"/>
              </a:buClr>
              <a:buFontTx/>
              <a:buChar char="•"/>
            </a:pPr>
            <a:r>
              <a:rPr lang="en-GB" altLang="en-US" sz="1600"/>
              <a:t>Investment managers acting for institutional investors</a:t>
            </a:r>
          </a:p>
          <a:p>
            <a:pPr eaLnBrk="1" hangingPunct="1">
              <a:spcAft>
                <a:spcPts val="600"/>
              </a:spcAft>
              <a:buClr>
                <a:srgbClr val="CC0033"/>
              </a:buClr>
              <a:buFontTx/>
              <a:buChar char="•"/>
            </a:pPr>
            <a:r>
              <a:rPr lang="en-GB" altLang="en-US" sz="1600"/>
              <a:t>Private client brokers acting for high net worth individuals</a:t>
            </a:r>
          </a:p>
          <a:p>
            <a:pPr eaLnBrk="1" hangingPunct="1">
              <a:spcAft>
                <a:spcPts val="600"/>
              </a:spcAft>
              <a:buClr>
                <a:srgbClr val="CC0033"/>
              </a:buClr>
              <a:buFontTx/>
              <a:buChar char="•"/>
            </a:pPr>
            <a:r>
              <a:rPr lang="en-GB" altLang="en-US" sz="1600"/>
              <a:t>Hedge funds</a:t>
            </a:r>
          </a:p>
        </p:txBody>
      </p:sp>
      <p:sp>
        <p:nvSpPr>
          <p:cNvPr id="34824" name="Rounded Rectangle 8"/>
          <p:cNvSpPr>
            <a:spLocks noChangeArrowheads="1"/>
          </p:cNvSpPr>
          <p:nvPr/>
        </p:nvSpPr>
        <p:spPr bwMode="auto">
          <a:xfrm>
            <a:off x="6156325" y="1773238"/>
            <a:ext cx="2659063" cy="3959225"/>
          </a:xfrm>
          <a:prstGeom prst="rect">
            <a:avLst/>
          </a:prstGeom>
          <a:solidFill>
            <a:schemeClr val="bg1"/>
          </a:solidFill>
          <a:ln w="38100" algn="ctr">
            <a:solidFill>
              <a:srgbClr val="007A87"/>
            </a:solidFill>
            <a:round/>
            <a:headEnd/>
            <a:tailEnd/>
          </a:ln>
        </p:spPr>
        <p:txBody>
          <a:bodyPr lIns="72000" tIns="72000" rIns="72000" bIns="72000"/>
          <a:lstStyle>
            <a:lvl1pPr marL="342900" indent="-342900">
              <a:defRPr>
                <a:solidFill>
                  <a:schemeClr val="tx1"/>
                </a:solidFill>
                <a:latin typeface="Arial" panose="020B0604020202020204" pitchFamily="34" charset="0"/>
                <a:cs typeface="Arial" panose="020B0604020202020204" pitchFamily="34" charset="0"/>
              </a:defRPr>
            </a:lvl1pPr>
            <a:lvl2pPr marL="177800" indent="-1778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spcAft>
                <a:spcPts val="600"/>
              </a:spcAft>
              <a:buClr>
                <a:srgbClr val="CC0033"/>
              </a:buClr>
              <a:buFontTx/>
              <a:buChar char="•"/>
            </a:pPr>
            <a:r>
              <a:rPr lang="en-GB" altLang="en-US" sz="1600" dirty="0"/>
              <a:t>Stock exchanges</a:t>
            </a:r>
          </a:p>
          <a:p>
            <a:pPr lvl="1" eaLnBrk="1" hangingPunct="1">
              <a:spcAft>
                <a:spcPts val="600"/>
              </a:spcAft>
              <a:buClr>
                <a:srgbClr val="CC0033"/>
              </a:buClr>
              <a:buFontTx/>
              <a:buChar char="•"/>
            </a:pPr>
            <a:r>
              <a:rPr lang="en-GB" altLang="en-US" sz="1600" dirty="0"/>
              <a:t>Clearing houses</a:t>
            </a:r>
          </a:p>
          <a:p>
            <a:pPr lvl="1" eaLnBrk="1" hangingPunct="1">
              <a:spcAft>
                <a:spcPts val="600"/>
              </a:spcAft>
              <a:buClr>
                <a:srgbClr val="CC0033"/>
              </a:buClr>
              <a:buFontTx/>
              <a:buChar char="•"/>
            </a:pPr>
            <a:r>
              <a:rPr lang="en-GB" altLang="en-US" sz="1600" dirty="0"/>
              <a:t>Industry bodies </a:t>
            </a:r>
          </a:p>
          <a:p>
            <a:pPr lvl="1" eaLnBrk="1" hangingPunct="1">
              <a:spcAft>
                <a:spcPts val="600"/>
              </a:spcAft>
              <a:buClr>
                <a:srgbClr val="3B265E"/>
              </a:buClr>
              <a:buFont typeface="Wingdings" panose="05000000000000000000" pitchFamily="2" charset="2"/>
              <a:buNone/>
            </a:pPr>
            <a:r>
              <a:rPr lang="en-GB" altLang="en-US" sz="1600" dirty="0"/>
              <a:t>	(e.g. ISMA or ISDA)</a:t>
            </a:r>
          </a:p>
          <a:p>
            <a:pPr lvl="1" eaLnBrk="1" hangingPunct="1">
              <a:spcAft>
                <a:spcPts val="600"/>
              </a:spcAft>
              <a:buClr>
                <a:srgbClr val="CC0033"/>
              </a:buClr>
              <a:buFontTx/>
              <a:buChar char="•"/>
            </a:pPr>
            <a:r>
              <a:rPr lang="en-GB" altLang="en-US" sz="1600" dirty="0"/>
              <a:t>Regulators</a:t>
            </a:r>
          </a:p>
          <a:p>
            <a:pPr lvl="1" eaLnBrk="1" hangingPunct="1">
              <a:spcAft>
                <a:spcPts val="600"/>
              </a:spcAft>
              <a:buClr>
                <a:srgbClr val="CC0033"/>
              </a:buClr>
              <a:buFontTx/>
              <a:buChar char="•"/>
            </a:pPr>
            <a:r>
              <a:rPr lang="en-GB" altLang="en-US" sz="1600" dirty="0"/>
              <a:t>Data vendors (e.g. Bloomberg or Reuters)</a:t>
            </a:r>
          </a:p>
          <a:p>
            <a:pPr lvl="1" eaLnBrk="1" hangingPunct="1">
              <a:spcAft>
                <a:spcPts val="600"/>
              </a:spcAft>
              <a:buClr>
                <a:srgbClr val="CC0033"/>
              </a:buClr>
              <a:buFontTx/>
              <a:buChar char="•"/>
            </a:pPr>
            <a:r>
              <a:rPr lang="en-GB" altLang="en-US" sz="1600" dirty="0"/>
              <a:t>Custodians</a:t>
            </a:r>
          </a:p>
        </p:txBody>
      </p:sp>
    </p:spTree>
    <p:extLst>
      <p:ext uri="{BB962C8B-B14F-4D97-AF65-F5344CB8AC3E}">
        <p14:creationId xmlns:p14="http://schemas.microsoft.com/office/powerpoint/2010/main" val="341418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443252" y="1365380"/>
            <a:ext cx="6760630" cy="1636772"/>
          </a:xfrm>
          <a:prstGeom prst="rect">
            <a:avLst/>
          </a:prstGeom>
          <a:noFill/>
          <a:ln w="38100" algn="ctr">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36867" name="Text Box 3"/>
          <p:cNvSpPr txBox="1">
            <a:spLocks noChangeArrowheads="1"/>
          </p:cNvSpPr>
          <p:nvPr/>
        </p:nvSpPr>
        <p:spPr bwMode="auto">
          <a:xfrm>
            <a:off x="539750" y="1705163"/>
            <a:ext cx="1079500" cy="1082675"/>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dirty="0"/>
              <a:t>Traders and market makers</a:t>
            </a:r>
          </a:p>
        </p:txBody>
      </p:sp>
      <p:sp>
        <p:nvSpPr>
          <p:cNvPr id="36868" name="Text Box 4"/>
          <p:cNvSpPr txBox="1">
            <a:spLocks noChangeArrowheads="1"/>
          </p:cNvSpPr>
          <p:nvPr/>
        </p:nvSpPr>
        <p:spPr bwMode="auto">
          <a:xfrm>
            <a:off x="2197087" y="3794368"/>
            <a:ext cx="1727200" cy="83820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Credit/market risk analysts (reporting)</a:t>
            </a:r>
          </a:p>
        </p:txBody>
      </p:sp>
      <p:sp>
        <p:nvSpPr>
          <p:cNvPr id="36869" name="Text Box 5"/>
          <p:cNvSpPr txBox="1">
            <a:spLocks noChangeArrowheads="1"/>
          </p:cNvSpPr>
          <p:nvPr/>
        </p:nvSpPr>
        <p:spPr bwMode="auto">
          <a:xfrm>
            <a:off x="3059113" y="1705163"/>
            <a:ext cx="936625" cy="593725"/>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Sales people</a:t>
            </a:r>
          </a:p>
        </p:txBody>
      </p:sp>
      <p:sp>
        <p:nvSpPr>
          <p:cNvPr id="36870" name="Text Box 6"/>
          <p:cNvSpPr txBox="1">
            <a:spLocks noChangeArrowheads="1"/>
          </p:cNvSpPr>
          <p:nvPr/>
        </p:nvSpPr>
        <p:spPr bwMode="auto">
          <a:xfrm>
            <a:off x="4283062" y="3794368"/>
            <a:ext cx="1728787" cy="83820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Product controllers (finance)</a:t>
            </a:r>
          </a:p>
        </p:txBody>
      </p:sp>
      <p:sp>
        <p:nvSpPr>
          <p:cNvPr id="36871" name="Text Box 7"/>
          <p:cNvSpPr txBox="1">
            <a:spLocks noChangeArrowheads="1"/>
          </p:cNvSpPr>
          <p:nvPr/>
        </p:nvSpPr>
        <p:spPr bwMode="auto">
          <a:xfrm rot="16200000">
            <a:off x="5652653" y="3503627"/>
            <a:ext cx="4655907" cy="379413"/>
          </a:xfrm>
          <a:prstGeom prst="rect">
            <a:avLst/>
          </a:prstGeom>
          <a:noFill/>
          <a:ln w="38100" algn="ctr">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Legal and compliance officers, HR</a:t>
            </a:r>
          </a:p>
        </p:txBody>
      </p:sp>
      <p:sp>
        <p:nvSpPr>
          <p:cNvPr id="36872" name="Text Box 8"/>
          <p:cNvSpPr txBox="1">
            <a:spLocks noChangeArrowheads="1"/>
          </p:cNvSpPr>
          <p:nvPr/>
        </p:nvSpPr>
        <p:spPr bwMode="auto">
          <a:xfrm>
            <a:off x="2697957" y="5478210"/>
            <a:ext cx="2881312" cy="34925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Operations/support analysts</a:t>
            </a:r>
          </a:p>
        </p:txBody>
      </p:sp>
      <p:sp>
        <p:nvSpPr>
          <p:cNvPr id="36873" name="Text Box 9"/>
          <p:cNvSpPr txBox="1">
            <a:spLocks noChangeArrowheads="1"/>
          </p:cNvSpPr>
          <p:nvPr/>
        </p:nvSpPr>
        <p:spPr bwMode="auto">
          <a:xfrm rot="16200000">
            <a:off x="5147829" y="3503627"/>
            <a:ext cx="4655906" cy="379413"/>
          </a:xfrm>
          <a:prstGeom prst="rect">
            <a:avLst/>
          </a:prstGeom>
          <a:noFill/>
          <a:ln w="38100" algn="ctr">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IT analysts, business analysts, prime brokerage</a:t>
            </a:r>
            <a:endParaRPr lang="en-GB" altLang="en-US"/>
          </a:p>
        </p:txBody>
      </p:sp>
      <p:sp>
        <p:nvSpPr>
          <p:cNvPr id="36874" name="Text Box 10"/>
          <p:cNvSpPr txBox="1">
            <a:spLocks noChangeArrowheads="1"/>
          </p:cNvSpPr>
          <p:nvPr/>
        </p:nvSpPr>
        <p:spPr bwMode="auto">
          <a:xfrm>
            <a:off x="1692275" y="1705163"/>
            <a:ext cx="1296988" cy="83820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Fund/quant research analysts</a:t>
            </a:r>
          </a:p>
        </p:txBody>
      </p:sp>
      <p:sp>
        <p:nvSpPr>
          <p:cNvPr id="36875" name="Rectangle 11"/>
          <p:cNvSpPr>
            <a:spLocks noChangeArrowheads="1"/>
          </p:cNvSpPr>
          <p:nvPr/>
        </p:nvSpPr>
        <p:spPr bwMode="auto">
          <a:xfrm>
            <a:off x="1987550" y="3649905"/>
            <a:ext cx="4249738" cy="1103259"/>
          </a:xfrm>
          <a:prstGeom prst="rect">
            <a:avLst/>
          </a:prstGeom>
          <a:noFill/>
          <a:ln w="38100">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36876" name="Rectangle 12"/>
          <p:cNvSpPr>
            <a:spLocks noChangeArrowheads="1"/>
          </p:cNvSpPr>
          <p:nvPr/>
        </p:nvSpPr>
        <p:spPr bwMode="auto">
          <a:xfrm>
            <a:off x="2519363" y="5353757"/>
            <a:ext cx="3238500" cy="598156"/>
          </a:xfrm>
          <a:prstGeom prst="rect">
            <a:avLst/>
          </a:prstGeom>
          <a:noFill/>
          <a:ln w="38100">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36877" name="Text Box 13"/>
          <p:cNvSpPr txBox="1">
            <a:spLocks noChangeArrowheads="1"/>
          </p:cNvSpPr>
          <p:nvPr/>
        </p:nvSpPr>
        <p:spPr bwMode="auto">
          <a:xfrm>
            <a:off x="443253" y="997137"/>
            <a:ext cx="7848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b="1" dirty="0"/>
              <a:t>Front office – Revenue generating; clients = Corporates/Governments/Banks/Asset Managers</a:t>
            </a:r>
          </a:p>
        </p:txBody>
      </p:sp>
      <p:sp>
        <p:nvSpPr>
          <p:cNvPr id="36878" name="Text Box 14"/>
          <p:cNvSpPr txBox="1">
            <a:spLocks noChangeArrowheads="1"/>
          </p:cNvSpPr>
          <p:nvPr/>
        </p:nvSpPr>
        <p:spPr bwMode="auto">
          <a:xfrm>
            <a:off x="443253" y="3061737"/>
            <a:ext cx="7523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b="1" dirty="0"/>
              <a:t>Middle office – Reporting, cost saving and efficiency improvements </a:t>
            </a:r>
            <a:br>
              <a:rPr lang="en-GB" altLang="en-US" sz="1200" b="1" dirty="0"/>
            </a:br>
            <a:r>
              <a:rPr lang="en-GB" altLang="en-US" sz="1200" b="1" dirty="0"/>
              <a:t>Clients = Front office, senior management</a:t>
            </a:r>
          </a:p>
        </p:txBody>
      </p:sp>
      <p:sp>
        <p:nvSpPr>
          <p:cNvPr id="36879" name="Text Box 15"/>
          <p:cNvSpPr txBox="1">
            <a:spLocks noChangeArrowheads="1"/>
          </p:cNvSpPr>
          <p:nvPr/>
        </p:nvSpPr>
        <p:spPr bwMode="auto">
          <a:xfrm>
            <a:off x="443253" y="4830924"/>
            <a:ext cx="7488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sz="1200" b="1" dirty="0"/>
              <a:t>Back office – Processing, cost saving and efficiency improvements</a:t>
            </a:r>
            <a:br>
              <a:rPr lang="en-GB" altLang="en-US" sz="1200" b="1" dirty="0"/>
            </a:br>
            <a:r>
              <a:rPr lang="en-GB" altLang="en-US" sz="1200" b="1" dirty="0"/>
              <a:t>Clients = Front/middle office, external clients, senior management</a:t>
            </a:r>
          </a:p>
        </p:txBody>
      </p:sp>
      <p:sp>
        <p:nvSpPr>
          <p:cNvPr id="36880" name="Text Box 16"/>
          <p:cNvSpPr txBox="1">
            <a:spLocks noChangeArrowheads="1"/>
          </p:cNvSpPr>
          <p:nvPr/>
        </p:nvSpPr>
        <p:spPr bwMode="auto">
          <a:xfrm>
            <a:off x="5414661" y="1792252"/>
            <a:ext cx="1719387" cy="83820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Corp financiers and M&amp;A specialists</a:t>
            </a:r>
          </a:p>
        </p:txBody>
      </p:sp>
      <p:sp>
        <p:nvSpPr>
          <p:cNvPr id="36881" name="Text Box 17"/>
          <p:cNvSpPr txBox="1">
            <a:spLocks noChangeArrowheads="1"/>
          </p:cNvSpPr>
          <p:nvPr/>
        </p:nvSpPr>
        <p:spPr bwMode="auto">
          <a:xfrm rot="16200000">
            <a:off x="6142394" y="3518709"/>
            <a:ext cx="4655907" cy="349250"/>
          </a:xfrm>
          <a:prstGeom prst="rect">
            <a:avLst/>
          </a:prstGeom>
          <a:noFill/>
          <a:ln w="38100" algn="ctr">
            <a:solidFill>
              <a:srgbClr val="3B265E"/>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Senior management – CEO, COO, CTO, CFO, etc.</a:t>
            </a:r>
          </a:p>
        </p:txBody>
      </p:sp>
      <p:sp>
        <p:nvSpPr>
          <p:cNvPr id="36882" name="Text Box 18"/>
          <p:cNvSpPr txBox="1">
            <a:spLocks noChangeArrowheads="1"/>
          </p:cNvSpPr>
          <p:nvPr/>
        </p:nvSpPr>
        <p:spPr bwMode="auto">
          <a:xfrm>
            <a:off x="3059113" y="2425888"/>
            <a:ext cx="1296987" cy="349250"/>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Structurers</a:t>
            </a:r>
          </a:p>
        </p:txBody>
      </p:sp>
      <p:sp>
        <p:nvSpPr>
          <p:cNvPr id="36883" name="Text Box 19"/>
          <p:cNvSpPr txBox="1">
            <a:spLocks noChangeArrowheads="1"/>
          </p:cNvSpPr>
          <p:nvPr/>
        </p:nvSpPr>
        <p:spPr bwMode="auto">
          <a:xfrm>
            <a:off x="4413100" y="1705163"/>
            <a:ext cx="936625" cy="1082675"/>
          </a:xfrm>
          <a:prstGeom prst="rect">
            <a:avLst/>
          </a:prstGeom>
          <a:noFill/>
          <a:ln w="12700" algn="ctr">
            <a:solidFill>
              <a:srgbClr val="CC003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600"/>
              <a:t>Debt/ equity capital markets</a:t>
            </a:r>
          </a:p>
        </p:txBody>
      </p:sp>
      <p:sp>
        <p:nvSpPr>
          <p:cNvPr id="36884" name="Text Box 20"/>
          <p:cNvSpPr txBox="1">
            <a:spLocks noChangeArrowheads="1"/>
          </p:cNvSpPr>
          <p:nvPr/>
        </p:nvSpPr>
        <p:spPr bwMode="auto">
          <a:xfrm>
            <a:off x="539750" y="1376510"/>
            <a:ext cx="4895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400" b="1" dirty="0"/>
              <a:t>Capital markets</a:t>
            </a:r>
          </a:p>
        </p:txBody>
      </p:sp>
      <p:sp>
        <p:nvSpPr>
          <p:cNvPr id="36885" name="Line 21"/>
          <p:cNvSpPr>
            <a:spLocks noChangeShapeType="1"/>
          </p:cNvSpPr>
          <p:nvPr/>
        </p:nvSpPr>
        <p:spPr bwMode="auto">
          <a:xfrm>
            <a:off x="4844774" y="1417826"/>
            <a:ext cx="0" cy="28733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6886" name="Text Box 22"/>
          <p:cNvSpPr txBox="1">
            <a:spLocks noChangeArrowheads="1"/>
          </p:cNvSpPr>
          <p:nvPr/>
        </p:nvSpPr>
        <p:spPr bwMode="auto">
          <a:xfrm>
            <a:off x="4970184" y="1376510"/>
            <a:ext cx="23034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sz="1400" b="1" dirty="0"/>
              <a:t>Investment banking</a:t>
            </a:r>
          </a:p>
        </p:txBody>
      </p:sp>
      <p:sp>
        <p:nvSpPr>
          <p:cNvPr id="36887" name="Line 23"/>
          <p:cNvSpPr>
            <a:spLocks noChangeShapeType="1"/>
          </p:cNvSpPr>
          <p:nvPr/>
        </p:nvSpPr>
        <p:spPr bwMode="auto">
          <a:xfrm>
            <a:off x="4844774" y="2786251"/>
            <a:ext cx="0" cy="2159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36888" name="Rectangle 27"/>
          <p:cNvSpPr>
            <a:spLocks noGrp="1"/>
          </p:cNvSpPr>
          <p:nvPr>
            <p:ph type="title"/>
          </p:nvPr>
        </p:nvSpPr>
        <p:spPr/>
        <p:txBody>
          <a:bodyPr/>
          <a:lstStyle/>
          <a:p>
            <a:r>
              <a:rPr lang="en-GB" altLang="en-US" dirty="0"/>
              <a:t>Sell-side – A typical Investment Bank</a:t>
            </a:r>
          </a:p>
        </p:txBody>
      </p:sp>
    </p:spTree>
    <p:extLst>
      <p:ext uri="{BB962C8B-B14F-4D97-AF65-F5344CB8AC3E}">
        <p14:creationId xmlns:p14="http://schemas.microsoft.com/office/powerpoint/2010/main" val="3301116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445218A-3708-4476-9AF9-2216519D9E8E}"/>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 uri="{28A0092B-C50C-407E-A947-70E740481C1C}">
                <a14:useLocalDpi xmlns:a14="http://schemas.microsoft.com/office/drawing/2010/main" val="0"/>
              </a:ext>
            </a:extLst>
          </a:blip>
          <a:stretch>
            <a:fillRect/>
          </a:stretch>
        </p:blipFill>
        <p:spPr>
          <a:xfrm>
            <a:off x="395536" y="2131119"/>
            <a:ext cx="7704856" cy="2979642"/>
          </a:xfrm>
          <a:prstGeom prst="rect">
            <a:avLst/>
          </a:prstGeom>
        </p:spPr>
      </p:pic>
      <p:sp>
        <p:nvSpPr>
          <p:cNvPr id="3" name="Title 2"/>
          <p:cNvSpPr>
            <a:spLocks noGrp="1"/>
          </p:cNvSpPr>
          <p:nvPr>
            <p:ph type="title"/>
          </p:nvPr>
        </p:nvSpPr>
        <p:spPr/>
        <p:txBody>
          <a:bodyPr/>
          <a:lstStyle/>
          <a:p>
            <a:br>
              <a:rPr lang="en-GB" altLang="en-US" dirty="0"/>
            </a:br>
            <a:r>
              <a:rPr lang="en-GB" altLang="en-US" dirty="0"/>
              <a:t>Buy Side – an Asset Management Firm</a:t>
            </a:r>
            <a:br>
              <a:rPr lang="en-GB" altLang="en-US" dirty="0"/>
            </a:br>
            <a:endParaRPr lang="en-GB" dirty="0"/>
          </a:p>
        </p:txBody>
      </p:sp>
    </p:spTree>
    <p:extLst>
      <p:ext uri="{BB962C8B-B14F-4D97-AF65-F5344CB8AC3E}">
        <p14:creationId xmlns:p14="http://schemas.microsoft.com/office/powerpoint/2010/main" val="168659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p:cNvSpPr>
          <p:nvPr>
            <p:ph type="title"/>
          </p:nvPr>
        </p:nvSpPr>
        <p:spPr/>
        <p:txBody>
          <a:bodyPr/>
          <a:lstStyle/>
          <a:p>
            <a:r>
              <a:rPr lang="en-GB" altLang="en-US"/>
              <a:t>Different Investment Philosophies</a:t>
            </a:r>
            <a:endParaRPr lang="en-GB" altLang="en-US" dirty="0"/>
          </a:p>
        </p:txBody>
      </p:sp>
      <p:sp>
        <p:nvSpPr>
          <p:cNvPr id="45059" name="Rectangle 6"/>
          <p:cNvSpPr>
            <a:spLocks noGrp="1"/>
          </p:cNvSpPr>
          <p:nvPr>
            <p:ph idx="1"/>
          </p:nvPr>
        </p:nvSpPr>
        <p:spPr>
          <a:xfrm>
            <a:off x="251520" y="1268413"/>
            <a:ext cx="8032778" cy="4525963"/>
          </a:xfrm>
        </p:spPr>
        <p:txBody>
          <a:bodyPr/>
          <a:lstStyle/>
          <a:p>
            <a:pPr marL="400050" lvl="1" indent="0">
              <a:spcBef>
                <a:spcPts val="300"/>
              </a:spcBef>
              <a:buNone/>
            </a:pPr>
            <a:r>
              <a:rPr lang="en-GB" altLang="en-US" sz="1800" dirty="0">
                <a:solidFill>
                  <a:srgbClr val="1E0576"/>
                </a:solidFill>
              </a:rPr>
              <a:t>Active fund managers do not believe the markets to be efficient:</a:t>
            </a:r>
          </a:p>
          <a:p>
            <a:pPr lvl="2" indent="-285750">
              <a:spcBef>
                <a:spcPts val="300"/>
              </a:spcBef>
              <a:buFont typeface="Arial" panose="020B0604020202020204" pitchFamily="34" charset="0"/>
              <a:buChar char="•"/>
            </a:pPr>
            <a:r>
              <a:rPr lang="en-GB" altLang="en-US" sz="1800" dirty="0">
                <a:solidFill>
                  <a:srgbClr val="1E0576"/>
                </a:solidFill>
              </a:rPr>
              <a:t>Pick assets that could outperform the benchmark over the fund’s </a:t>
            </a:r>
            <a:br>
              <a:rPr lang="en-GB" altLang="en-US" sz="1800" dirty="0">
                <a:solidFill>
                  <a:srgbClr val="1E0576"/>
                </a:solidFill>
              </a:rPr>
            </a:br>
            <a:r>
              <a:rPr lang="en-GB" altLang="en-US" sz="1800" dirty="0">
                <a:solidFill>
                  <a:srgbClr val="1E0576"/>
                </a:solidFill>
              </a:rPr>
              <a:t>investment horizon</a:t>
            </a:r>
          </a:p>
          <a:p>
            <a:pPr lvl="2" indent="-285750">
              <a:spcBef>
                <a:spcPts val="300"/>
              </a:spcBef>
              <a:buFont typeface="Arial" panose="020B0604020202020204" pitchFamily="34" charset="0"/>
              <a:buChar char="•"/>
            </a:pPr>
            <a:r>
              <a:rPr lang="en-GB" altLang="en-US" sz="1800" dirty="0">
                <a:solidFill>
                  <a:srgbClr val="1E0576"/>
                </a:solidFill>
              </a:rPr>
              <a:t>Theoretically cheap, recovery plays, </a:t>
            </a:r>
            <a:r>
              <a:rPr lang="en-GB" altLang="en-US" sz="1800" dirty="0" err="1">
                <a:solidFill>
                  <a:srgbClr val="1E0576"/>
                </a:solidFill>
              </a:rPr>
              <a:t>unethicals</a:t>
            </a:r>
            <a:r>
              <a:rPr lang="en-GB" altLang="en-US" sz="1800" dirty="0">
                <a:solidFill>
                  <a:srgbClr val="1E0576"/>
                </a:solidFill>
              </a:rPr>
              <a:t>, etc.</a:t>
            </a:r>
          </a:p>
          <a:p>
            <a:pPr lvl="2" indent="-285750">
              <a:spcBef>
                <a:spcPts val="300"/>
              </a:spcBef>
              <a:buFont typeface="Arial" panose="020B0604020202020204" pitchFamily="34" charset="0"/>
              <a:buChar char="•"/>
            </a:pPr>
            <a:r>
              <a:rPr lang="en-GB" altLang="en-US" sz="1800" dirty="0">
                <a:solidFill>
                  <a:srgbClr val="1E0576"/>
                </a:solidFill>
              </a:rPr>
              <a:t>Seek to beat the market</a:t>
            </a:r>
          </a:p>
          <a:p>
            <a:pPr lvl="2" indent="-285750">
              <a:spcBef>
                <a:spcPts val="300"/>
              </a:spcBef>
              <a:buFont typeface="Arial" panose="020B0604020202020204" pitchFamily="34" charset="0"/>
              <a:buChar char="•"/>
            </a:pPr>
            <a:r>
              <a:rPr lang="en-GB" altLang="en-US" sz="1800" dirty="0">
                <a:solidFill>
                  <a:srgbClr val="1E0576"/>
                </a:solidFill>
              </a:rPr>
              <a:t>Consumes research – broker and in-house</a:t>
            </a:r>
          </a:p>
          <a:p>
            <a:pPr lvl="2" indent="-285750">
              <a:spcBef>
                <a:spcPts val="300"/>
              </a:spcBef>
              <a:buFont typeface="Arial" panose="020B0604020202020204" pitchFamily="34" charset="0"/>
              <a:buChar char="•"/>
            </a:pPr>
            <a:r>
              <a:rPr lang="en-GB" altLang="en-US" sz="1800" dirty="0">
                <a:solidFill>
                  <a:srgbClr val="1E0576"/>
                </a:solidFill>
              </a:rPr>
              <a:t>Styles: Growth, value, income, etc. </a:t>
            </a:r>
          </a:p>
          <a:p>
            <a:pPr marL="857250" lvl="2" indent="0">
              <a:spcBef>
                <a:spcPts val="300"/>
              </a:spcBef>
              <a:buNone/>
            </a:pPr>
            <a:endParaRPr lang="en-GB" altLang="en-US" sz="1800" dirty="0">
              <a:solidFill>
                <a:srgbClr val="1E0576"/>
              </a:solidFill>
            </a:endParaRPr>
          </a:p>
          <a:p>
            <a:pPr marL="400050" lvl="1" indent="0">
              <a:spcBef>
                <a:spcPts val="300"/>
              </a:spcBef>
              <a:buNone/>
            </a:pPr>
            <a:r>
              <a:rPr lang="en-GB" altLang="en-US" sz="1800" dirty="0">
                <a:solidFill>
                  <a:srgbClr val="1E0576"/>
                </a:solidFill>
              </a:rPr>
              <a:t>Passive fund managers believe the market is efficient, it is impossible to </a:t>
            </a:r>
          </a:p>
          <a:p>
            <a:pPr marL="400050" lvl="1" indent="0">
              <a:spcBef>
                <a:spcPts val="300"/>
              </a:spcBef>
              <a:buNone/>
            </a:pPr>
            <a:r>
              <a:rPr lang="en-GB" altLang="en-US" sz="1800" dirty="0">
                <a:solidFill>
                  <a:srgbClr val="1E0576"/>
                </a:solidFill>
              </a:rPr>
              <a:t>outperform the index:</a:t>
            </a:r>
          </a:p>
          <a:p>
            <a:pPr lvl="2" indent="-285750">
              <a:spcBef>
                <a:spcPts val="300"/>
              </a:spcBef>
              <a:buFont typeface="Arial" panose="020B0604020202020204" pitchFamily="34" charset="0"/>
              <a:buChar char="•"/>
            </a:pPr>
            <a:r>
              <a:rPr lang="en-GB" altLang="en-US" sz="1800" dirty="0">
                <a:solidFill>
                  <a:srgbClr val="1E0576"/>
                </a:solidFill>
              </a:rPr>
              <a:t>Benchmark should therefore be replicated or tracked</a:t>
            </a:r>
          </a:p>
          <a:p>
            <a:pPr lvl="2" indent="-285750">
              <a:spcBef>
                <a:spcPts val="300"/>
              </a:spcBef>
              <a:buFont typeface="Arial" panose="020B0604020202020204" pitchFamily="34" charset="0"/>
              <a:buChar char="•"/>
            </a:pPr>
            <a:r>
              <a:rPr lang="en-GB" altLang="en-US" sz="1800" dirty="0">
                <a:solidFill>
                  <a:srgbClr val="1E0576"/>
                </a:solidFill>
              </a:rPr>
              <a:t>No one can beat the market (in the long run)</a:t>
            </a:r>
          </a:p>
          <a:p>
            <a:pPr lvl="2" indent="-285750">
              <a:spcBef>
                <a:spcPts val="300"/>
              </a:spcBef>
              <a:buFont typeface="Arial" panose="020B0604020202020204" pitchFamily="34" charset="0"/>
              <a:buChar char="•"/>
            </a:pPr>
            <a:r>
              <a:rPr lang="en-GB" altLang="en-US" sz="1800" dirty="0">
                <a:solidFill>
                  <a:srgbClr val="1E0576"/>
                </a:solidFill>
              </a:rPr>
              <a:t>Light on research, heavy on IT</a:t>
            </a:r>
          </a:p>
          <a:p>
            <a:pPr marL="400050" lvl="1" indent="0">
              <a:spcBef>
                <a:spcPts val="300"/>
              </a:spcBef>
              <a:buNone/>
            </a:pPr>
            <a:endParaRPr lang="en-GB" altLang="en-US" sz="1800" dirty="0">
              <a:solidFill>
                <a:srgbClr val="1E0576"/>
              </a:solidFill>
            </a:endParaRPr>
          </a:p>
          <a:p>
            <a:pPr marL="400050" lvl="1" indent="0">
              <a:spcBef>
                <a:spcPts val="300"/>
              </a:spcBef>
              <a:buNone/>
            </a:pPr>
            <a:r>
              <a:rPr lang="en-GB" altLang="en-US" sz="1800" dirty="0">
                <a:solidFill>
                  <a:srgbClr val="1E0576"/>
                </a:solidFill>
              </a:rPr>
              <a:t>A hedge fund’s aim is to:</a:t>
            </a:r>
          </a:p>
          <a:p>
            <a:pPr lvl="2" indent="-285750">
              <a:spcBef>
                <a:spcPts val="300"/>
              </a:spcBef>
              <a:buFont typeface="Arial" panose="020B0604020202020204" pitchFamily="34" charset="0"/>
              <a:buChar char="•"/>
            </a:pPr>
            <a:r>
              <a:rPr lang="en-GB" altLang="en-US" sz="1800" dirty="0">
                <a:solidFill>
                  <a:srgbClr val="1E0576"/>
                </a:solidFill>
              </a:rPr>
              <a:t>Provide </a:t>
            </a:r>
            <a:r>
              <a:rPr lang="en-GB" altLang="en-US" sz="1800" b="1" dirty="0">
                <a:solidFill>
                  <a:srgbClr val="1E0576"/>
                </a:solidFill>
              </a:rPr>
              <a:t>absolute returns </a:t>
            </a:r>
            <a:r>
              <a:rPr lang="en-GB" altLang="en-US" sz="1800" dirty="0">
                <a:solidFill>
                  <a:srgbClr val="1E0576"/>
                </a:solidFill>
              </a:rPr>
              <a:t>(Alpha) – regardless of market direction</a:t>
            </a:r>
          </a:p>
          <a:p>
            <a:pPr lvl="2" indent="-285750">
              <a:spcBef>
                <a:spcPts val="300"/>
              </a:spcBef>
              <a:buFont typeface="Arial" panose="020B0604020202020204" pitchFamily="34" charset="0"/>
              <a:buChar char="•"/>
            </a:pPr>
            <a:r>
              <a:rPr lang="en-GB" altLang="en-US" sz="1800" dirty="0">
                <a:solidFill>
                  <a:srgbClr val="1E0576"/>
                </a:solidFill>
              </a:rPr>
              <a:t>Take short or long positions</a:t>
            </a:r>
          </a:p>
          <a:p>
            <a:pPr lvl="2" indent="-285750">
              <a:spcBef>
                <a:spcPts val="300"/>
              </a:spcBef>
              <a:buFont typeface="Arial" panose="020B0604020202020204" pitchFamily="34" charset="0"/>
              <a:buChar char="•"/>
            </a:pPr>
            <a:r>
              <a:rPr lang="en-GB" altLang="en-US" sz="1800" dirty="0">
                <a:solidFill>
                  <a:srgbClr val="1E0576"/>
                </a:solidFill>
              </a:rPr>
              <a:t>Consumes research</a:t>
            </a:r>
          </a:p>
          <a:p>
            <a:pPr marL="857250" lvl="2" indent="0">
              <a:spcBef>
                <a:spcPts val="300"/>
              </a:spcBef>
              <a:buNone/>
            </a:pPr>
            <a:endParaRPr lang="en-GB" altLang="en-US" sz="1800" dirty="0">
              <a:solidFill>
                <a:srgbClr val="000000"/>
              </a:solidFill>
            </a:endParaRPr>
          </a:p>
        </p:txBody>
      </p:sp>
    </p:spTree>
    <p:extLst>
      <p:ext uri="{BB962C8B-B14F-4D97-AF65-F5344CB8AC3E}">
        <p14:creationId xmlns:p14="http://schemas.microsoft.com/office/powerpoint/2010/main" val="279628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79A9A2-2A1E-4288-B624-B015D83B9595}"/>
              </a:ext>
            </a:extLst>
          </p:cNvPr>
          <p:cNvSpPr>
            <a:spLocks noGrp="1"/>
          </p:cNvSpPr>
          <p:nvPr>
            <p:ph type="title"/>
          </p:nvPr>
        </p:nvSpPr>
        <p:spPr/>
        <p:txBody>
          <a:bodyPr/>
          <a:lstStyle/>
          <a:p>
            <a:r>
              <a:rPr lang="en-GB" dirty="0"/>
              <a:t>Buy Side – Hedge Funds</a:t>
            </a:r>
          </a:p>
        </p:txBody>
      </p:sp>
      <p:sp>
        <p:nvSpPr>
          <p:cNvPr id="43011" name="Rectangle 6"/>
          <p:cNvSpPr>
            <a:spLocks noGrp="1"/>
          </p:cNvSpPr>
          <p:nvPr>
            <p:ph sz="quarter" idx="4294967295"/>
          </p:nvPr>
        </p:nvSpPr>
        <p:spPr>
          <a:xfrm>
            <a:off x="251520" y="1268413"/>
            <a:ext cx="8034338" cy="4752975"/>
          </a:xfrm>
        </p:spPr>
        <p:txBody>
          <a:bodyPr/>
          <a:lstStyle/>
          <a:p>
            <a:pPr marL="400050" lvl="1" indent="0">
              <a:buNone/>
            </a:pPr>
            <a:r>
              <a:rPr lang="en-GB" altLang="en-US" sz="1800" dirty="0">
                <a:solidFill>
                  <a:srgbClr val="1E0576"/>
                </a:solidFill>
              </a:rPr>
              <a:t>Hedge funds:</a:t>
            </a:r>
          </a:p>
          <a:p>
            <a:pPr lvl="1">
              <a:lnSpc>
                <a:spcPct val="100000"/>
              </a:lnSpc>
              <a:buFont typeface="Arial" panose="020B0604020202020204" pitchFamily="34" charset="0"/>
              <a:buChar char="•"/>
            </a:pPr>
            <a:r>
              <a:rPr lang="en-GB" altLang="en-US" sz="1800" dirty="0">
                <a:solidFill>
                  <a:srgbClr val="1E0576"/>
                </a:solidFill>
              </a:rPr>
              <a:t>Are generally not open to the public or promoted to private investors (with exceptions)</a:t>
            </a:r>
          </a:p>
          <a:p>
            <a:pPr lvl="1">
              <a:lnSpc>
                <a:spcPct val="100000"/>
              </a:lnSpc>
              <a:buFont typeface="Arial" panose="020B0604020202020204" pitchFamily="34" charset="0"/>
              <a:buChar char="•"/>
            </a:pPr>
            <a:r>
              <a:rPr lang="en-GB" altLang="en-US" sz="1800" dirty="0">
                <a:solidFill>
                  <a:srgbClr val="1E0576"/>
                </a:solidFill>
              </a:rPr>
              <a:t>Use creative, innovative and often aggressive investment strategies</a:t>
            </a:r>
          </a:p>
          <a:p>
            <a:pPr lvl="1">
              <a:lnSpc>
                <a:spcPct val="100000"/>
              </a:lnSpc>
              <a:buFont typeface="Arial" panose="020B0604020202020204" pitchFamily="34" charset="0"/>
              <a:buChar char="•"/>
            </a:pPr>
            <a:r>
              <a:rPr lang="en-GB" altLang="en-US" sz="1800" dirty="0">
                <a:solidFill>
                  <a:srgbClr val="1E0576"/>
                </a:solidFill>
              </a:rPr>
              <a:t>Invest their own money alongside their clients</a:t>
            </a:r>
          </a:p>
          <a:p>
            <a:pPr>
              <a:lnSpc>
                <a:spcPct val="100000"/>
              </a:lnSpc>
            </a:pPr>
            <a:endParaRPr lang="en-GB" altLang="en-US" sz="1800" dirty="0"/>
          </a:p>
          <a:p>
            <a:pPr marL="400050" lvl="1" indent="0">
              <a:buNone/>
            </a:pPr>
            <a:r>
              <a:rPr lang="en-GB" altLang="en-US" sz="1800" dirty="0">
                <a:solidFill>
                  <a:srgbClr val="1E0576"/>
                </a:solidFill>
              </a:rPr>
              <a:t>Hedge fund managers earn a management fee and will also earn a performance fee if </a:t>
            </a:r>
          </a:p>
          <a:p>
            <a:pPr marL="400050" lvl="1" indent="0">
              <a:buNone/>
            </a:pPr>
            <a:r>
              <a:rPr lang="en-GB" altLang="en-US" sz="1800" dirty="0">
                <a:solidFill>
                  <a:srgbClr val="1E0576"/>
                </a:solidFill>
              </a:rPr>
              <a:t>targets are met. For example </a:t>
            </a:r>
            <a:r>
              <a:rPr lang="en-GB" sz="1800" dirty="0">
                <a:solidFill>
                  <a:srgbClr val="1E0576"/>
                </a:solidFill>
              </a:rPr>
              <a:t>'Two And Twenty’ - hedge fund managers charge a flat 2% </a:t>
            </a:r>
          </a:p>
          <a:p>
            <a:pPr marL="400050" lvl="1" indent="0">
              <a:buNone/>
            </a:pPr>
            <a:r>
              <a:rPr lang="en-GB" sz="1800" dirty="0">
                <a:solidFill>
                  <a:srgbClr val="1E0576"/>
                </a:solidFill>
              </a:rPr>
              <a:t>of total asset value management fee and an additional 20% of performance </a:t>
            </a:r>
          </a:p>
          <a:p>
            <a:pPr marL="400050" lvl="1" indent="0">
              <a:buNone/>
            </a:pPr>
            <a:r>
              <a:rPr lang="en-GB" sz="1800" dirty="0">
                <a:solidFill>
                  <a:srgbClr val="1E0576"/>
                </a:solidFill>
              </a:rPr>
              <a:t>(using ‘watermarks)</a:t>
            </a:r>
          </a:p>
          <a:p>
            <a:pPr marL="0" indent="0">
              <a:buNone/>
            </a:pPr>
            <a:br>
              <a:rPr lang="en-GB" sz="1800" dirty="0">
                <a:solidFill>
                  <a:srgbClr val="000000"/>
                </a:solidFill>
              </a:rPr>
            </a:br>
            <a:br>
              <a:rPr lang="en-GB" dirty="0"/>
            </a:br>
            <a:endParaRPr lang="en-GB" altLang="en-US" sz="1800" dirty="0">
              <a:solidFill>
                <a:srgbClr val="000000"/>
              </a:solidFill>
            </a:endParaRPr>
          </a:p>
        </p:txBody>
      </p:sp>
    </p:spTree>
    <p:extLst>
      <p:ext uri="{BB962C8B-B14F-4D97-AF65-F5344CB8AC3E}">
        <p14:creationId xmlns:p14="http://schemas.microsoft.com/office/powerpoint/2010/main" val="3178737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59"/>
          <p:cNvSpPr>
            <a:spLocks noGrp="1"/>
          </p:cNvSpPr>
          <p:nvPr>
            <p:ph type="title"/>
          </p:nvPr>
        </p:nvSpPr>
        <p:spPr/>
        <p:txBody>
          <a:bodyPr/>
          <a:lstStyle/>
          <a:p>
            <a:r>
              <a:rPr lang="en-GB" altLang="en-US" dirty="0"/>
              <a:t>Active vs. Passive vs. Absolute Returns</a:t>
            </a:r>
            <a:endParaRPr lang="en-US" altLang="en-US" dirty="0"/>
          </a:p>
        </p:txBody>
      </p:sp>
      <p:grpSp>
        <p:nvGrpSpPr>
          <p:cNvPr id="2" name="Group 1">
            <a:extLst>
              <a:ext uri="{FF2B5EF4-FFF2-40B4-BE49-F238E27FC236}">
                <a16:creationId xmlns:a16="http://schemas.microsoft.com/office/drawing/2014/main" id="{5BC3F164-E288-465F-A5D3-DE9DED3CF3B7}"/>
              </a:ext>
            </a:extLst>
          </p:cNvPr>
          <p:cNvGrpSpPr/>
          <p:nvPr/>
        </p:nvGrpSpPr>
        <p:grpSpPr>
          <a:xfrm>
            <a:off x="463990" y="1599705"/>
            <a:ext cx="8208863" cy="4268588"/>
            <a:chOff x="463990" y="1599705"/>
            <a:chExt cx="8208863" cy="4268588"/>
          </a:xfrm>
        </p:grpSpPr>
        <p:sp>
          <p:nvSpPr>
            <p:cNvPr id="19" name="Text Box 2"/>
            <p:cNvSpPr txBox="1">
              <a:spLocks noChangeArrowheads="1"/>
            </p:cNvSpPr>
            <p:nvPr/>
          </p:nvSpPr>
          <p:spPr bwMode="auto">
            <a:xfrm>
              <a:off x="7161553" y="4306037"/>
              <a:ext cx="936625" cy="307777"/>
            </a:xfrm>
            <a:prstGeom prst="rect">
              <a:avLst/>
            </a:prstGeom>
            <a:noFill/>
            <a:ln w="12700" algn="ctr">
              <a:noFill/>
              <a:miter lim="800000"/>
              <a:headEnd/>
              <a:tailEnd/>
            </a:ln>
          </p:spPr>
          <p:txBody>
            <a:bodyPr>
              <a:spAutoFit/>
            </a:bodyPr>
            <a:lstStyle/>
            <a:p>
              <a:pPr>
                <a:spcBef>
                  <a:spcPct val="50000"/>
                </a:spcBef>
              </a:pPr>
              <a:r>
                <a:rPr lang="en-GB" sz="1400" b="1" dirty="0">
                  <a:solidFill>
                    <a:srgbClr val="CC0033"/>
                  </a:solidFill>
                </a:rPr>
                <a:t>Passive</a:t>
              </a:r>
            </a:p>
          </p:txBody>
        </p:sp>
        <p:sp>
          <p:nvSpPr>
            <p:cNvPr id="20" name="Line 4"/>
            <p:cNvSpPr>
              <a:spLocks noChangeShapeType="1"/>
            </p:cNvSpPr>
            <p:nvPr/>
          </p:nvSpPr>
          <p:spPr bwMode="auto">
            <a:xfrm>
              <a:off x="824253" y="1688602"/>
              <a:ext cx="0" cy="3887788"/>
            </a:xfrm>
            <a:prstGeom prst="line">
              <a:avLst/>
            </a:prstGeom>
            <a:noFill/>
            <a:ln w="12700">
              <a:solidFill>
                <a:schemeClr val="tx1"/>
              </a:solidFill>
              <a:round/>
              <a:headEnd/>
              <a:tailEnd/>
            </a:ln>
          </p:spPr>
          <p:txBody>
            <a:bodyPr>
              <a:spAutoFit/>
            </a:bodyPr>
            <a:lstStyle/>
            <a:p>
              <a:endParaRPr lang="en-US" sz="4000"/>
            </a:p>
          </p:txBody>
        </p:sp>
        <p:sp>
          <p:nvSpPr>
            <p:cNvPr id="21" name="Line 5"/>
            <p:cNvSpPr>
              <a:spLocks noChangeShapeType="1"/>
            </p:cNvSpPr>
            <p:nvPr/>
          </p:nvSpPr>
          <p:spPr bwMode="auto">
            <a:xfrm>
              <a:off x="824254" y="5570040"/>
              <a:ext cx="6265863" cy="0"/>
            </a:xfrm>
            <a:prstGeom prst="line">
              <a:avLst/>
            </a:prstGeom>
            <a:noFill/>
            <a:ln w="12700">
              <a:solidFill>
                <a:schemeClr val="tx1"/>
              </a:solidFill>
              <a:round/>
              <a:headEnd/>
              <a:tailEnd/>
            </a:ln>
          </p:spPr>
          <p:txBody>
            <a:bodyPr>
              <a:spAutoFit/>
            </a:bodyPr>
            <a:lstStyle/>
            <a:p>
              <a:endParaRPr lang="en-US" sz="4000"/>
            </a:p>
          </p:txBody>
        </p:sp>
        <p:sp>
          <p:nvSpPr>
            <p:cNvPr id="22" name="Line 6"/>
            <p:cNvSpPr>
              <a:spLocks noChangeShapeType="1"/>
            </p:cNvSpPr>
            <p:nvPr/>
          </p:nvSpPr>
          <p:spPr bwMode="auto">
            <a:xfrm>
              <a:off x="825841" y="2769690"/>
              <a:ext cx="6265862" cy="0"/>
            </a:xfrm>
            <a:prstGeom prst="line">
              <a:avLst/>
            </a:prstGeom>
            <a:noFill/>
            <a:ln w="12700">
              <a:solidFill>
                <a:srgbClr val="808080"/>
              </a:solidFill>
              <a:prstDash val="dash"/>
              <a:round/>
              <a:headEnd/>
              <a:tailEnd/>
            </a:ln>
          </p:spPr>
          <p:txBody>
            <a:bodyPr>
              <a:spAutoFit/>
            </a:bodyPr>
            <a:lstStyle/>
            <a:p>
              <a:endParaRPr lang="en-US" sz="4000"/>
            </a:p>
          </p:txBody>
        </p:sp>
        <p:sp>
          <p:nvSpPr>
            <p:cNvPr id="23" name="Freeform 7"/>
            <p:cNvSpPr>
              <a:spLocks/>
            </p:cNvSpPr>
            <p:nvPr/>
          </p:nvSpPr>
          <p:spPr bwMode="auto">
            <a:xfrm>
              <a:off x="825842" y="2769691"/>
              <a:ext cx="6335712" cy="1775760"/>
            </a:xfrm>
            <a:custGeom>
              <a:avLst/>
              <a:gdLst>
                <a:gd name="T0" fmla="*/ 0 w 3992"/>
                <a:gd name="T1" fmla="*/ 0 h 1641"/>
                <a:gd name="T2" fmla="*/ 2147483647 w 3992"/>
                <a:gd name="T3" fmla="*/ 2147483647 h 1641"/>
                <a:gd name="T4" fmla="*/ 2147483647 w 3992"/>
                <a:gd name="T5" fmla="*/ 2147483647 h 1641"/>
                <a:gd name="T6" fmla="*/ 2147483647 w 3992"/>
                <a:gd name="T7" fmla="*/ 2147483647 h 1641"/>
                <a:gd name="T8" fmla="*/ 2147483647 w 3992"/>
                <a:gd name="T9" fmla="*/ 2147483647 h 1641"/>
                <a:gd name="T10" fmla="*/ 2147483647 w 3992"/>
                <a:gd name="T11" fmla="*/ 2147483647 h 1641"/>
                <a:gd name="T12" fmla="*/ 2147483647 w 3992"/>
                <a:gd name="T13" fmla="*/ 2147483647 h 1641"/>
                <a:gd name="T14" fmla="*/ 2147483647 w 3992"/>
                <a:gd name="T15" fmla="*/ 2147483647 h 1641"/>
                <a:gd name="T16" fmla="*/ 2147483647 w 3992"/>
                <a:gd name="T17" fmla="*/ 2147483647 h 16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92"/>
                <a:gd name="T28" fmla="*/ 0 h 1641"/>
                <a:gd name="T29" fmla="*/ 3992 w 3992"/>
                <a:gd name="T30" fmla="*/ 1641 h 16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92" h="1641">
                  <a:moveTo>
                    <a:pt x="0" y="0"/>
                  </a:moveTo>
                  <a:cubicBezTo>
                    <a:pt x="114" y="163"/>
                    <a:pt x="228" y="326"/>
                    <a:pt x="409" y="409"/>
                  </a:cubicBezTo>
                  <a:cubicBezTo>
                    <a:pt x="590" y="492"/>
                    <a:pt x="885" y="401"/>
                    <a:pt x="1089" y="499"/>
                  </a:cubicBezTo>
                  <a:cubicBezTo>
                    <a:pt x="1293" y="597"/>
                    <a:pt x="1414" y="907"/>
                    <a:pt x="1633" y="998"/>
                  </a:cubicBezTo>
                  <a:cubicBezTo>
                    <a:pt x="1852" y="1089"/>
                    <a:pt x="2200" y="946"/>
                    <a:pt x="2404" y="1044"/>
                  </a:cubicBezTo>
                  <a:cubicBezTo>
                    <a:pt x="2608" y="1142"/>
                    <a:pt x="2692" y="1535"/>
                    <a:pt x="2858" y="1588"/>
                  </a:cubicBezTo>
                  <a:cubicBezTo>
                    <a:pt x="3024" y="1641"/>
                    <a:pt x="3251" y="1361"/>
                    <a:pt x="3402" y="1361"/>
                  </a:cubicBezTo>
                  <a:cubicBezTo>
                    <a:pt x="3553" y="1361"/>
                    <a:pt x="3667" y="1565"/>
                    <a:pt x="3765" y="1588"/>
                  </a:cubicBezTo>
                  <a:cubicBezTo>
                    <a:pt x="3863" y="1611"/>
                    <a:pt x="3927" y="1554"/>
                    <a:pt x="3992" y="1497"/>
                  </a:cubicBezTo>
                </a:path>
              </a:pathLst>
            </a:custGeom>
            <a:noFill/>
            <a:ln w="12700">
              <a:solidFill>
                <a:srgbClr val="CC0033"/>
              </a:solidFill>
              <a:round/>
              <a:headEnd/>
              <a:tailEnd/>
            </a:ln>
          </p:spPr>
          <p:txBody>
            <a:bodyPr/>
            <a:lstStyle/>
            <a:p>
              <a:endParaRPr lang="en-US" sz="4000"/>
            </a:p>
          </p:txBody>
        </p:sp>
        <p:sp>
          <p:nvSpPr>
            <p:cNvPr id="24" name="Freeform 8"/>
            <p:cNvSpPr>
              <a:spLocks/>
            </p:cNvSpPr>
            <p:nvPr/>
          </p:nvSpPr>
          <p:spPr bwMode="auto">
            <a:xfrm>
              <a:off x="824253" y="2787395"/>
              <a:ext cx="6337300" cy="707886"/>
            </a:xfrm>
            <a:custGeom>
              <a:avLst/>
              <a:gdLst>
                <a:gd name="T0" fmla="*/ 0 w 3992"/>
                <a:gd name="T1" fmla="*/ 0 h 1641"/>
                <a:gd name="T2" fmla="*/ 2147483647 w 3992"/>
                <a:gd name="T3" fmla="*/ 2147483647 h 1641"/>
                <a:gd name="T4" fmla="*/ 2147483647 w 3992"/>
                <a:gd name="T5" fmla="*/ 2147483647 h 1641"/>
                <a:gd name="T6" fmla="*/ 2147483647 w 3992"/>
                <a:gd name="T7" fmla="*/ 2147483647 h 1641"/>
                <a:gd name="T8" fmla="*/ 2147483647 w 3992"/>
                <a:gd name="T9" fmla="*/ 2147483647 h 1641"/>
                <a:gd name="T10" fmla="*/ 2147483647 w 3992"/>
                <a:gd name="T11" fmla="*/ 2147483647 h 1641"/>
                <a:gd name="T12" fmla="*/ 2147483647 w 3992"/>
                <a:gd name="T13" fmla="*/ 2147483647 h 1641"/>
                <a:gd name="T14" fmla="*/ 2147483647 w 3992"/>
                <a:gd name="T15" fmla="*/ 2147483647 h 1641"/>
                <a:gd name="T16" fmla="*/ 2147483647 w 3992"/>
                <a:gd name="T17" fmla="*/ 2147483647 h 16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92"/>
                <a:gd name="T28" fmla="*/ 0 h 1641"/>
                <a:gd name="T29" fmla="*/ 3992 w 3992"/>
                <a:gd name="T30" fmla="*/ 1641 h 16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92" h="1641">
                  <a:moveTo>
                    <a:pt x="0" y="0"/>
                  </a:moveTo>
                  <a:cubicBezTo>
                    <a:pt x="114" y="163"/>
                    <a:pt x="228" y="326"/>
                    <a:pt x="409" y="409"/>
                  </a:cubicBezTo>
                  <a:cubicBezTo>
                    <a:pt x="590" y="492"/>
                    <a:pt x="885" y="401"/>
                    <a:pt x="1089" y="499"/>
                  </a:cubicBezTo>
                  <a:cubicBezTo>
                    <a:pt x="1293" y="597"/>
                    <a:pt x="1414" y="907"/>
                    <a:pt x="1633" y="998"/>
                  </a:cubicBezTo>
                  <a:cubicBezTo>
                    <a:pt x="1852" y="1089"/>
                    <a:pt x="2200" y="946"/>
                    <a:pt x="2404" y="1044"/>
                  </a:cubicBezTo>
                  <a:cubicBezTo>
                    <a:pt x="2608" y="1142"/>
                    <a:pt x="2692" y="1535"/>
                    <a:pt x="2858" y="1588"/>
                  </a:cubicBezTo>
                  <a:cubicBezTo>
                    <a:pt x="3024" y="1641"/>
                    <a:pt x="3251" y="1361"/>
                    <a:pt x="3402" y="1361"/>
                  </a:cubicBezTo>
                  <a:cubicBezTo>
                    <a:pt x="3553" y="1361"/>
                    <a:pt x="3667" y="1565"/>
                    <a:pt x="3765" y="1588"/>
                  </a:cubicBezTo>
                  <a:cubicBezTo>
                    <a:pt x="3863" y="1611"/>
                    <a:pt x="3927" y="1554"/>
                    <a:pt x="3992" y="1497"/>
                  </a:cubicBezTo>
                </a:path>
              </a:pathLst>
            </a:custGeom>
            <a:noFill/>
            <a:ln w="12700">
              <a:solidFill>
                <a:schemeClr val="tx1"/>
              </a:solidFill>
              <a:round/>
              <a:headEnd/>
              <a:tailEnd/>
            </a:ln>
          </p:spPr>
          <p:txBody>
            <a:bodyPr>
              <a:spAutoFit/>
            </a:bodyPr>
            <a:lstStyle/>
            <a:p>
              <a:endParaRPr lang="en-US" sz="4000"/>
            </a:p>
          </p:txBody>
        </p:sp>
        <p:sp>
          <p:nvSpPr>
            <p:cNvPr id="25" name="Freeform 9"/>
            <p:cNvSpPr>
              <a:spLocks/>
            </p:cNvSpPr>
            <p:nvPr/>
          </p:nvSpPr>
          <p:spPr bwMode="auto">
            <a:xfrm>
              <a:off x="824253" y="2789311"/>
              <a:ext cx="6337300" cy="1582738"/>
            </a:xfrm>
            <a:custGeom>
              <a:avLst/>
              <a:gdLst>
                <a:gd name="T0" fmla="*/ 0 w 3992"/>
                <a:gd name="T1" fmla="*/ 0 h 1641"/>
                <a:gd name="T2" fmla="*/ 2147483647 w 3992"/>
                <a:gd name="T3" fmla="*/ 2147483647 h 1641"/>
                <a:gd name="T4" fmla="*/ 2147483647 w 3992"/>
                <a:gd name="T5" fmla="*/ 2147483647 h 1641"/>
                <a:gd name="T6" fmla="*/ 2147483647 w 3992"/>
                <a:gd name="T7" fmla="*/ 2147483647 h 1641"/>
                <a:gd name="T8" fmla="*/ 2147483647 w 3992"/>
                <a:gd name="T9" fmla="*/ 2147483647 h 1641"/>
                <a:gd name="T10" fmla="*/ 2147483647 w 3992"/>
                <a:gd name="T11" fmla="*/ 2147483647 h 1641"/>
                <a:gd name="T12" fmla="*/ 2147483647 w 3992"/>
                <a:gd name="T13" fmla="*/ 2147483647 h 1641"/>
                <a:gd name="T14" fmla="*/ 2147483647 w 3992"/>
                <a:gd name="T15" fmla="*/ 2147483647 h 1641"/>
                <a:gd name="T16" fmla="*/ 2147483647 w 3992"/>
                <a:gd name="T17" fmla="*/ 2147483647 h 16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92"/>
                <a:gd name="T28" fmla="*/ 0 h 1641"/>
                <a:gd name="T29" fmla="*/ 3992 w 3992"/>
                <a:gd name="T30" fmla="*/ 1641 h 16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92" h="1641">
                  <a:moveTo>
                    <a:pt x="0" y="0"/>
                  </a:moveTo>
                  <a:cubicBezTo>
                    <a:pt x="114" y="163"/>
                    <a:pt x="228" y="326"/>
                    <a:pt x="409" y="409"/>
                  </a:cubicBezTo>
                  <a:cubicBezTo>
                    <a:pt x="590" y="492"/>
                    <a:pt x="885" y="401"/>
                    <a:pt x="1089" y="499"/>
                  </a:cubicBezTo>
                  <a:cubicBezTo>
                    <a:pt x="1293" y="597"/>
                    <a:pt x="1414" y="907"/>
                    <a:pt x="1633" y="998"/>
                  </a:cubicBezTo>
                  <a:cubicBezTo>
                    <a:pt x="1852" y="1089"/>
                    <a:pt x="2200" y="946"/>
                    <a:pt x="2404" y="1044"/>
                  </a:cubicBezTo>
                  <a:cubicBezTo>
                    <a:pt x="2608" y="1142"/>
                    <a:pt x="2692" y="1535"/>
                    <a:pt x="2858" y="1588"/>
                  </a:cubicBezTo>
                  <a:cubicBezTo>
                    <a:pt x="3024" y="1641"/>
                    <a:pt x="3251" y="1361"/>
                    <a:pt x="3402" y="1361"/>
                  </a:cubicBezTo>
                  <a:cubicBezTo>
                    <a:pt x="3553" y="1361"/>
                    <a:pt x="3667" y="1565"/>
                    <a:pt x="3765" y="1588"/>
                  </a:cubicBezTo>
                  <a:cubicBezTo>
                    <a:pt x="3863" y="1611"/>
                    <a:pt x="3927" y="1554"/>
                    <a:pt x="3992" y="1497"/>
                  </a:cubicBezTo>
                </a:path>
              </a:pathLst>
            </a:custGeom>
            <a:noFill/>
            <a:ln w="12700">
              <a:solidFill>
                <a:srgbClr val="3B265E"/>
              </a:solidFill>
              <a:round/>
              <a:headEnd/>
              <a:tailEnd/>
            </a:ln>
          </p:spPr>
          <p:txBody>
            <a:bodyPr/>
            <a:lstStyle/>
            <a:p>
              <a:endParaRPr lang="en-US" sz="4000"/>
            </a:p>
          </p:txBody>
        </p:sp>
        <p:sp>
          <p:nvSpPr>
            <p:cNvPr id="26" name="Freeform 10"/>
            <p:cNvSpPr>
              <a:spLocks/>
            </p:cNvSpPr>
            <p:nvPr/>
          </p:nvSpPr>
          <p:spPr bwMode="auto">
            <a:xfrm>
              <a:off x="824254" y="2079509"/>
              <a:ext cx="6265863" cy="707886"/>
            </a:xfrm>
            <a:custGeom>
              <a:avLst/>
              <a:gdLst>
                <a:gd name="T0" fmla="*/ 0 w 4037"/>
                <a:gd name="T1" fmla="*/ 2147483647 h 332"/>
                <a:gd name="T2" fmla="*/ 2147483647 w 4037"/>
                <a:gd name="T3" fmla="*/ 2147483647 h 332"/>
                <a:gd name="T4" fmla="*/ 2147483647 w 4037"/>
                <a:gd name="T5" fmla="*/ 2147483647 h 332"/>
                <a:gd name="T6" fmla="*/ 2147483647 w 4037"/>
                <a:gd name="T7" fmla="*/ 2147483647 h 332"/>
                <a:gd name="T8" fmla="*/ 2147483647 w 4037"/>
                <a:gd name="T9" fmla="*/ 2147483647 h 332"/>
                <a:gd name="T10" fmla="*/ 0 60000 65536"/>
                <a:gd name="T11" fmla="*/ 0 60000 65536"/>
                <a:gd name="T12" fmla="*/ 0 60000 65536"/>
                <a:gd name="T13" fmla="*/ 0 60000 65536"/>
                <a:gd name="T14" fmla="*/ 0 60000 65536"/>
                <a:gd name="T15" fmla="*/ 0 w 4037"/>
                <a:gd name="T16" fmla="*/ 0 h 332"/>
                <a:gd name="T17" fmla="*/ 4037 w 4037"/>
                <a:gd name="T18" fmla="*/ 332 h 332"/>
              </a:gdLst>
              <a:ahLst/>
              <a:cxnLst>
                <a:cxn ang="T10">
                  <a:pos x="T0" y="T1"/>
                </a:cxn>
                <a:cxn ang="T11">
                  <a:pos x="T2" y="T3"/>
                </a:cxn>
                <a:cxn ang="T12">
                  <a:pos x="T4" y="T5"/>
                </a:cxn>
                <a:cxn ang="T13">
                  <a:pos x="T6" y="T7"/>
                </a:cxn>
                <a:cxn ang="T14">
                  <a:pos x="T8" y="T9"/>
                </a:cxn>
              </a:cxnLst>
              <a:rect l="T15" t="T16" r="T17" b="T18"/>
              <a:pathLst>
                <a:path w="4037" h="332">
                  <a:moveTo>
                    <a:pt x="0" y="332"/>
                  </a:moveTo>
                  <a:cubicBezTo>
                    <a:pt x="287" y="283"/>
                    <a:pt x="575" y="234"/>
                    <a:pt x="998" y="196"/>
                  </a:cubicBezTo>
                  <a:cubicBezTo>
                    <a:pt x="1421" y="158"/>
                    <a:pt x="2117" y="136"/>
                    <a:pt x="2540" y="106"/>
                  </a:cubicBezTo>
                  <a:cubicBezTo>
                    <a:pt x="2963" y="76"/>
                    <a:pt x="3289" y="30"/>
                    <a:pt x="3538" y="15"/>
                  </a:cubicBezTo>
                  <a:cubicBezTo>
                    <a:pt x="3787" y="0"/>
                    <a:pt x="3912" y="7"/>
                    <a:pt x="4037" y="15"/>
                  </a:cubicBezTo>
                </a:path>
              </a:pathLst>
            </a:custGeom>
            <a:noFill/>
            <a:ln w="12700">
              <a:solidFill>
                <a:srgbClr val="007A87"/>
              </a:solidFill>
              <a:round/>
              <a:headEnd/>
              <a:tailEnd/>
            </a:ln>
          </p:spPr>
          <p:txBody>
            <a:bodyPr>
              <a:spAutoFit/>
            </a:bodyPr>
            <a:lstStyle/>
            <a:p>
              <a:endParaRPr lang="en-US" sz="4000"/>
            </a:p>
          </p:txBody>
        </p:sp>
        <p:sp>
          <p:nvSpPr>
            <p:cNvPr id="27" name="Text Box 11"/>
            <p:cNvSpPr txBox="1">
              <a:spLocks noChangeArrowheads="1"/>
            </p:cNvSpPr>
            <p:nvPr/>
          </p:nvSpPr>
          <p:spPr bwMode="auto">
            <a:xfrm>
              <a:off x="7161553" y="3257712"/>
              <a:ext cx="1511300" cy="307777"/>
            </a:xfrm>
            <a:prstGeom prst="rect">
              <a:avLst/>
            </a:prstGeom>
            <a:noFill/>
            <a:ln w="12700" algn="ctr">
              <a:noFill/>
              <a:miter lim="800000"/>
              <a:headEnd/>
              <a:tailEnd/>
            </a:ln>
          </p:spPr>
          <p:txBody>
            <a:bodyPr>
              <a:spAutoFit/>
            </a:bodyPr>
            <a:lstStyle/>
            <a:p>
              <a:pPr>
                <a:spcBef>
                  <a:spcPct val="50000"/>
                </a:spcBef>
              </a:pPr>
              <a:r>
                <a:rPr lang="en-GB" sz="1400" b="1" dirty="0"/>
                <a:t>Active</a:t>
              </a:r>
            </a:p>
          </p:txBody>
        </p:sp>
        <p:sp>
          <p:nvSpPr>
            <p:cNvPr id="28" name="Text Box 12"/>
            <p:cNvSpPr txBox="1">
              <a:spLocks noChangeArrowheads="1"/>
            </p:cNvSpPr>
            <p:nvPr/>
          </p:nvSpPr>
          <p:spPr bwMode="auto">
            <a:xfrm>
              <a:off x="7161553" y="4043168"/>
              <a:ext cx="1511300" cy="307777"/>
            </a:xfrm>
            <a:prstGeom prst="rect">
              <a:avLst/>
            </a:prstGeom>
            <a:noFill/>
            <a:ln w="12700" algn="ctr">
              <a:noFill/>
              <a:miter lim="800000"/>
              <a:headEnd/>
              <a:tailEnd/>
            </a:ln>
          </p:spPr>
          <p:txBody>
            <a:bodyPr>
              <a:spAutoFit/>
            </a:bodyPr>
            <a:lstStyle/>
            <a:p>
              <a:pPr>
                <a:spcBef>
                  <a:spcPct val="50000"/>
                </a:spcBef>
              </a:pPr>
              <a:r>
                <a:rPr lang="en-GB" sz="1400" b="1" dirty="0">
                  <a:solidFill>
                    <a:srgbClr val="3B265E"/>
                  </a:solidFill>
                </a:rPr>
                <a:t>Market</a:t>
              </a:r>
            </a:p>
          </p:txBody>
        </p:sp>
        <p:sp>
          <p:nvSpPr>
            <p:cNvPr id="29" name="Text Box 13"/>
            <p:cNvSpPr txBox="1">
              <a:spLocks noChangeArrowheads="1"/>
            </p:cNvSpPr>
            <p:nvPr/>
          </p:nvSpPr>
          <p:spPr bwMode="auto">
            <a:xfrm>
              <a:off x="6984142" y="1946520"/>
              <a:ext cx="1511300" cy="307777"/>
            </a:xfrm>
            <a:prstGeom prst="rect">
              <a:avLst/>
            </a:prstGeom>
            <a:noFill/>
            <a:ln w="12700" algn="ctr">
              <a:noFill/>
              <a:miter lim="800000"/>
              <a:headEnd/>
              <a:tailEnd/>
            </a:ln>
          </p:spPr>
          <p:txBody>
            <a:bodyPr>
              <a:spAutoFit/>
            </a:bodyPr>
            <a:lstStyle/>
            <a:p>
              <a:pPr algn="ctr">
                <a:spcBef>
                  <a:spcPct val="50000"/>
                </a:spcBef>
              </a:pPr>
              <a:r>
                <a:rPr lang="en-GB" sz="1400" b="1" dirty="0">
                  <a:solidFill>
                    <a:srgbClr val="007A87"/>
                  </a:solidFill>
                </a:rPr>
                <a:t>Hedge fund</a:t>
              </a:r>
            </a:p>
          </p:txBody>
        </p:sp>
        <p:sp>
          <p:nvSpPr>
            <p:cNvPr id="30" name="Text Box 14"/>
            <p:cNvSpPr txBox="1">
              <a:spLocks noChangeArrowheads="1"/>
            </p:cNvSpPr>
            <p:nvPr/>
          </p:nvSpPr>
          <p:spPr bwMode="auto">
            <a:xfrm rot="-5400000">
              <a:off x="77335" y="1986360"/>
              <a:ext cx="1081088" cy="307777"/>
            </a:xfrm>
            <a:prstGeom prst="rect">
              <a:avLst/>
            </a:prstGeom>
            <a:noFill/>
            <a:ln w="12700" algn="ctr">
              <a:noFill/>
              <a:miter lim="800000"/>
              <a:headEnd/>
              <a:tailEnd/>
            </a:ln>
          </p:spPr>
          <p:txBody>
            <a:bodyPr>
              <a:spAutoFit/>
            </a:bodyPr>
            <a:lstStyle/>
            <a:p>
              <a:pPr algn="r">
                <a:spcBef>
                  <a:spcPct val="50000"/>
                </a:spcBef>
              </a:pPr>
              <a:r>
                <a:rPr lang="en-GB" sz="1400" b="1" dirty="0"/>
                <a:t>Value</a:t>
              </a:r>
            </a:p>
          </p:txBody>
        </p:sp>
        <p:sp>
          <p:nvSpPr>
            <p:cNvPr id="31" name="Text Box 15"/>
            <p:cNvSpPr txBox="1">
              <a:spLocks noChangeArrowheads="1"/>
            </p:cNvSpPr>
            <p:nvPr/>
          </p:nvSpPr>
          <p:spPr bwMode="auto">
            <a:xfrm>
              <a:off x="6151904" y="5560516"/>
              <a:ext cx="1081088" cy="307777"/>
            </a:xfrm>
            <a:prstGeom prst="rect">
              <a:avLst/>
            </a:prstGeom>
            <a:noFill/>
            <a:ln w="12700" algn="ctr">
              <a:noFill/>
              <a:miter lim="800000"/>
              <a:headEnd/>
              <a:tailEnd/>
            </a:ln>
          </p:spPr>
          <p:txBody>
            <a:bodyPr>
              <a:spAutoFit/>
            </a:bodyPr>
            <a:lstStyle/>
            <a:p>
              <a:pPr algn="r">
                <a:spcBef>
                  <a:spcPct val="50000"/>
                </a:spcBef>
              </a:pPr>
              <a:r>
                <a:rPr lang="en-GB" sz="1400" b="1"/>
                <a:t>Time</a:t>
              </a:r>
            </a:p>
          </p:txBody>
        </p:sp>
        <p:sp>
          <p:nvSpPr>
            <p:cNvPr id="32" name="Text Box 11"/>
            <p:cNvSpPr txBox="1">
              <a:spLocks noChangeArrowheads="1"/>
            </p:cNvSpPr>
            <p:nvPr/>
          </p:nvSpPr>
          <p:spPr bwMode="auto">
            <a:xfrm>
              <a:off x="7161553" y="2613993"/>
              <a:ext cx="1511300" cy="307777"/>
            </a:xfrm>
            <a:prstGeom prst="rect">
              <a:avLst/>
            </a:prstGeom>
            <a:noFill/>
            <a:ln w="12700" algn="ctr">
              <a:noFill/>
              <a:miter lim="800000"/>
              <a:headEnd/>
              <a:tailEnd/>
            </a:ln>
          </p:spPr>
          <p:txBody>
            <a:bodyPr>
              <a:spAutoFit/>
            </a:bodyPr>
            <a:lstStyle/>
            <a:p>
              <a:pPr>
                <a:spcBef>
                  <a:spcPct val="50000"/>
                </a:spcBef>
              </a:pPr>
              <a:r>
                <a:rPr lang="en-GB" sz="1400" b="1" dirty="0">
                  <a:solidFill>
                    <a:srgbClr val="808080"/>
                  </a:solidFill>
                </a:rPr>
                <a:t>Cash</a:t>
              </a:r>
            </a:p>
          </p:txBody>
        </p:sp>
      </p:grpSp>
    </p:spTree>
    <p:extLst>
      <p:ext uri="{BB962C8B-B14F-4D97-AF65-F5344CB8AC3E}">
        <p14:creationId xmlns:p14="http://schemas.microsoft.com/office/powerpoint/2010/main" val="54983749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6B5B45EF-3001-4982-A133-07BB21EABD20}"/>
              </a:ext>
            </a:extLst>
          </p:cNvPr>
          <p:cNvSpPr>
            <a:spLocks noGrp="1"/>
          </p:cNvSpPr>
          <p:nvPr>
            <p:ph type="title"/>
          </p:nvPr>
        </p:nvSpPr>
        <p:spPr>
          <a:xfrm>
            <a:off x="571500" y="2924175"/>
            <a:ext cx="8032750" cy="720725"/>
          </a:xfrm>
        </p:spPr>
        <p:txBody>
          <a:bodyPr/>
          <a:lstStyle/>
          <a:p>
            <a:pPr algn="ctr">
              <a:lnSpc>
                <a:spcPts val="2625"/>
              </a:lnSpc>
            </a:pPr>
            <a:br>
              <a:rPr lang="en-GB" altLang="en-US" dirty="0">
                <a:ea typeface="ＭＳ Ｐゴシック" panose="020B0600070205080204" pitchFamily="34" charset="-128"/>
              </a:rPr>
            </a:br>
            <a:r>
              <a:rPr lang="en-GB" altLang="en-US" dirty="0">
                <a:ea typeface="ＭＳ Ｐゴシック" panose="020B0600070205080204" pitchFamily="34" charset="-128"/>
              </a:rPr>
              <a:t>Market Economics</a:t>
            </a:r>
            <a:endParaRPr altLang="en-US" dirty="0">
              <a:ea typeface="ＭＳ Ｐゴシック" panose="020B0600070205080204" pitchFamily="34" charset="-128"/>
            </a:endParaRPr>
          </a:p>
        </p:txBody>
      </p:sp>
    </p:spTree>
    <p:extLst>
      <p:ext uri="{BB962C8B-B14F-4D97-AF65-F5344CB8AC3E}">
        <p14:creationId xmlns:p14="http://schemas.microsoft.com/office/powerpoint/2010/main" val="2511168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altLang="en-US" dirty="0">
                <a:ea typeface="ＭＳ Ｐゴシック" panose="020B0600070205080204" pitchFamily="34" charset="-128"/>
              </a:rPr>
              <a:t>Central Banks</a:t>
            </a:r>
          </a:p>
        </p:txBody>
      </p:sp>
      <p:sp>
        <p:nvSpPr>
          <p:cNvPr id="15363" name="Content Placeholder 2"/>
          <p:cNvSpPr>
            <a:spLocks noGrp="1"/>
          </p:cNvSpPr>
          <p:nvPr>
            <p:ph idx="4294967295"/>
          </p:nvPr>
        </p:nvSpPr>
        <p:spPr>
          <a:xfrm>
            <a:off x="265087" y="1240458"/>
            <a:ext cx="6107113" cy="3268662"/>
          </a:xfrm>
        </p:spPr>
        <p:txBody>
          <a:bodyPr/>
          <a:lstStyle/>
          <a:p>
            <a:pPr lvl="1">
              <a:buFont typeface="Wingdings" pitchFamily="2" charset="2"/>
              <a:buNone/>
            </a:pPr>
            <a:r>
              <a:rPr lang="en-GB" altLang="en-US" sz="1800" b="1" dirty="0">
                <a:ea typeface="ＭＳ Ｐゴシック" panose="020B0600070205080204" pitchFamily="34" charset="-128"/>
              </a:rPr>
              <a:t>The Role of Central Banks</a:t>
            </a:r>
          </a:p>
          <a:p>
            <a:pPr lvl="1"/>
            <a:r>
              <a:rPr lang="en-GB" altLang="en-US" sz="1800" dirty="0">
                <a:ea typeface="ＭＳ Ｐゴシック" panose="020B0600070205080204" pitchFamily="34" charset="-128"/>
              </a:rPr>
              <a:t>Main policies:</a:t>
            </a:r>
          </a:p>
          <a:p>
            <a:pPr lvl="2"/>
            <a:r>
              <a:rPr lang="en-GB" altLang="en-US" sz="1800" dirty="0">
                <a:ea typeface="ＭＳ Ｐゴシック" panose="020B0600070205080204" pitchFamily="34" charset="-128"/>
              </a:rPr>
              <a:t>Monetary policy – management of the supply and demand of money</a:t>
            </a:r>
          </a:p>
          <a:p>
            <a:pPr lvl="3"/>
            <a:r>
              <a:rPr lang="en-GB" altLang="en-US" sz="1400" dirty="0">
                <a:ea typeface="ＭＳ Ｐゴシック" panose="020B0600070205080204" pitchFamily="34" charset="-128"/>
              </a:rPr>
              <a:t>Inflation</a:t>
            </a:r>
          </a:p>
          <a:p>
            <a:pPr lvl="3"/>
            <a:r>
              <a:rPr lang="en-GB" altLang="en-US" sz="1400" dirty="0">
                <a:ea typeface="ＭＳ Ｐゴシック" panose="020B0600070205080204" pitchFamily="34" charset="-128"/>
              </a:rPr>
              <a:t>Labour market / economy</a:t>
            </a:r>
          </a:p>
          <a:p>
            <a:pPr lvl="3"/>
            <a:r>
              <a:rPr lang="en-GB" altLang="en-US" sz="1400" dirty="0">
                <a:ea typeface="ＭＳ Ｐゴシック" panose="020B0600070205080204" pitchFamily="34" charset="-128"/>
              </a:rPr>
              <a:t>Financial stability</a:t>
            </a:r>
          </a:p>
          <a:p>
            <a:pPr lvl="3"/>
            <a:r>
              <a:rPr lang="en-GB" altLang="en-US" sz="1400" dirty="0">
                <a:ea typeface="ＭＳ Ｐゴシック" panose="020B0600070205080204" pitchFamily="34" charset="-128"/>
              </a:rPr>
              <a:t>National debt</a:t>
            </a:r>
          </a:p>
          <a:p>
            <a:pPr lvl="1"/>
            <a:r>
              <a:rPr lang="en-GB" altLang="en-US" sz="1800" dirty="0">
                <a:ea typeface="ＭＳ Ｐゴシック" panose="020B0600070205080204" pitchFamily="34" charset="-128"/>
              </a:rPr>
              <a:t>Activities include:</a:t>
            </a:r>
          </a:p>
          <a:p>
            <a:pPr lvl="2"/>
            <a:r>
              <a:rPr lang="en-GB" altLang="en-US" sz="1800" dirty="0">
                <a:ea typeface="ＭＳ Ｐゴシック" panose="020B0600070205080204" pitchFamily="34" charset="-128"/>
              </a:rPr>
              <a:t>Banker to the banking system and government</a:t>
            </a:r>
          </a:p>
          <a:p>
            <a:pPr lvl="2"/>
            <a:r>
              <a:rPr lang="en-GB" altLang="en-US" sz="1800" dirty="0">
                <a:ea typeface="ＭＳ Ｐゴシック" panose="020B0600070205080204" pitchFamily="34" charset="-128"/>
              </a:rPr>
              <a:t>Managing national debt</a:t>
            </a:r>
          </a:p>
          <a:p>
            <a:pPr lvl="2"/>
            <a:r>
              <a:rPr lang="en-GB" altLang="en-US" sz="1800" dirty="0">
                <a:ea typeface="ＭＳ Ｐゴシック" panose="020B0600070205080204" pitchFamily="34" charset="-128"/>
              </a:rPr>
              <a:t>Regulating the domestic banking system</a:t>
            </a:r>
          </a:p>
          <a:p>
            <a:pPr lvl="2"/>
            <a:r>
              <a:rPr lang="en-GB" altLang="en-US" sz="1800" dirty="0">
                <a:ea typeface="ＭＳ Ｐゴシック" panose="020B0600070205080204" pitchFamily="34" charset="-128"/>
              </a:rPr>
              <a:t>Lender of last resort</a:t>
            </a:r>
          </a:p>
          <a:p>
            <a:pPr lvl="2"/>
            <a:r>
              <a:rPr lang="en-GB" altLang="en-US" sz="1800" dirty="0">
                <a:ea typeface="ＭＳ Ｐゴシック" panose="020B0600070205080204" pitchFamily="34" charset="-128"/>
              </a:rPr>
              <a:t>Setting official short-term interest rates</a:t>
            </a:r>
          </a:p>
          <a:p>
            <a:pPr lvl="2"/>
            <a:r>
              <a:rPr lang="en-GB" altLang="en-US" sz="1800" dirty="0">
                <a:ea typeface="ＭＳ Ｐゴシック" panose="020B0600070205080204" pitchFamily="34" charset="-128"/>
              </a:rPr>
              <a:t>Controlling the money supply</a:t>
            </a:r>
          </a:p>
          <a:p>
            <a:pPr lvl="2"/>
            <a:r>
              <a:rPr lang="en-GB" altLang="en-US" sz="1800" dirty="0">
                <a:ea typeface="ＭＳ Ｐゴシック" panose="020B0600070205080204" pitchFamily="34" charset="-128"/>
              </a:rPr>
              <a:t>Issuing notes and coins</a:t>
            </a:r>
          </a:p>
          <a:p>
            <a:pPr lvl="2"/>
            <a:r>
              <a:rPr lang="en-GB" altLang="en-US" sz="1800" dirty="0">
                <a:ea typeface="ＭＳ Ｐゴシック" panose="020B0600070205080204" pitchFamily="34" charset="-128"/>
              </a:rPr>
              <a:t>Holding gold/foreign currency reserves</a:t>
            </a:r>
          </a:p>
        </p:txBody>
      </p:sp>
    </p:spTree>
    <p:extLst>
      <p:ext uri="{BB962C8B-B14F-4D97-AF65-F5344CB8AC3E}">
        <p14:creationId xmlns:p14="http://schemas.microsoft.com/office/powerpoint/2010/main" val="270125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altLang="en-US" dirty="0">
                <a:ea typeface="ＭＳ Ｐゴシック" panose="020B0600070205080204" pitchFamily="34" charset="-128"/>
              </a:rPr>
              <a:t>Inflation</a:t>
            </a:r>
          </a:p>
        </p:txBody>
      </p:sp>
      <p:sp>
        <p:nvSpPr>
          <p:cNvPr id="17411" name="Content Placeholder 2"/>
          <p:cNvSpPr>
            <a:spLocks noGrp="1"/>
          </p:cNvSpPr>
          <p:nvPr>
            <p:ph idx="4294967295"/>
          </p:nvPr>
        </p:nvSpPr>
        <p:spPr>
          <a:xfrm>
            <a:off x="769143" y="1341438"/>
            <a:ext cx="6107113" cy="3268662"/>
          </a:xfrm>
        </p:spPr>
        <p:txBody>
          <a:bodyPr/>
          <a:lstStyle/>
          <a:p>
            <a:pPr marL="0" indent="0">
              <a:buNone/>
            </a:pPr>
            <a:r>
              <a:rPr lang="en-GB" altLang="en-US" sz="1800" b="1" dirty="0">
                <a:ea typeface="ＭＳ Ｐゴシック" panose="020B0600070205080204" pitchFamily="34" charset="-128"/>
              </a:rPr>
              <a:t>Credit Creation</a:t>
            </a:r>
          </a:p>
          <a:p>
            <a:pPr lvl="1"/>
            <a:r>
              <a:rPr lang="en-GB" altLang="en-US" sz="1800" dirty="0">
                <a:ea typeface="ＭＳ Ｐゴシック" panose="020B0600070205080204" pitchFamily="34" charset="-128"/>
              </a:rPr>
              <a:t>Cause? Banks lend more than they hold in reserves</a:t>
            </a:r>
          </a:p>
          <a:p>
            <a:pPr lvl="1"/>
            <a:endParaRPr lang="en-GB" altLang="en-US" sz="1800" dirty="0">
              <a:ea typeface="ＭＳ Ｐゴシック" panose="020B0600070205080204" pitchFamily="34" charset="-128"/>
            </a:endParaRPr>
          </a:p>
          <a:p>
            <a:pPr marL="0" indent="0">
              <a:buNone/>
            </a:pPr>
            <a:r>
              <a:rPr lang="en-GB" altLang="en-US" sz="1800" b="1" dirty="0">
                <a:ea typeface="ＭＳ Ｐゴシック" panose="020B0600070205080204" pitchFamily="34" charset="-128"/>
              </a:rPr>
              <a:t>Impact of Inflation</a:t>
            </a:r>
          </a:p>
          <a:p>
            <a:pPr lvl="1"/>
            <a:r>
              <a:rPr lang="en-GB" altLang="en-US" sz="1800" dirty="0">
                <a:ea typeface="ＭＳ Ｐゴシック" panose="020B0600070205080204" pitchFamily="34" charset="-128"/>
              </a:rPr>
              <a:t>Problems caused by inflation:</a:t>
            </a:r>
          </a:p>
          <a:p>
            <a:pPr lvl="2"/>
            <a:r>
              <a:rPr lang="en-GB" altLang="en-US" sz="1800" dirty="0">
                <a:ea typeface="ＭＳ Ｐゴシック" panose="020B0600070205080204" pitchFamily="34" charset="-128"/>
              </a:rPr>
              <a:t>Real value of salaries/pensions eroded</a:t>
            </a:r>
          </a:p>
          <a:p>
            <a:pPr lvl="2"/>
            <a:r>
              <a:rPr lang="en-GB" altLang="en-US" sz="1800" dirty="0">
                <a:ea typeface="ＭＳ Ｐゴシック" panose="020B0600070205080204" pitchFamily="34" charset="-128"/>
              </a:rPr>
              <a:t>Real value of investments eroded</a:t>
            </a:r>
          </a:p>
          <a:p>
            <a:pPr lvl="2"/>
            <a:r>
              <a:rPr lang="en-GB" altLang="en-US" sz="1800" dirty="0">
                <a:ea typeface="ＭＳ Ｐゴシック" panose="020B0600070205080204" pitchFamily="34" charset="-128"/>
              </a:rPr>
              <a:t>Exports may become less competitive</a:t>
            </a:r>
          </a:p>
          <a:p>
            <a:pPr lvl="1"/>
            <a:r>
              <a:rPr lang="en-GB" altLang="en-US" sz="1800" dirty="0">
                <a:ea typeface="ＭＳ Ｐゴシック" panose="020B0600070205080204" pitchFamily="34" charset="-128"/>
              </a:rPr>
              <a:t>Positive aspects:</a:t>
            </a:r>
          </a:p>
          <a:p>
            <a:pPr lvl="2"/>
            <a:r>
              <a:rPr lang="en-GB" altLang="en-US" sz="1800" dirty="0">
                <a:ea typeface="ＭＳ Ｐゴシック" panose="020B0600070205080204" pitchFamily="34" charset="-128"/>
              </a:rPr>
              <a:t>Rising house prices contribute to a ‘feel good factor’</a:t>
            </a:r>
          </a:p>
          <a:p>
            <a:pPr lvl="2"/>
            <a:r>
              <a:rPr lang="en-GB" altLang="en-US" sz="1800" dirty="0">
                <a:ea typeface="ＭＳ Ｐゴシック" panose="020B0600070205080204" pitchFamily="34" charset="-128"/>
              </a:rPr>
              <a:t>Borrowers benefit: the real value of debt falls</a:t>
            </a:r>
          </a:p>
          <a:p>
            <a:pPr lvl="2"/>
            <a:r>
              <a:rPr lang="en-GB" altLang="en-US" sz="1800" dirty="0">
                <a:ea typeface="ＭＳ Ｐゴシック" panose="020B0600070205080204" pitchFamily="34" charset="-128"/>
              </a:rPr>
              <a:t>Real value of a country’s national debt may fall</a:t>
            </a:r>
          </a:p>
          <a:p>
            <a:pPr lvl="2"/>
            <a:endParaRPr lang="en-GB" altLang="en-US" dirty="0">
              <a:ea typeface="ＭＳ Ｐゴシック" panose="020B0600070205080204" pitchFamily="34" charset="-128"/>
            </a:endParaRPr>
          </a:p>
        </p:txBody>
      </p:sp>
    </p:spTree>
    <p:extLst>
      <p:ext uri="{BB962C8B-B14F-4D97-AF65-F5344CB8AC3E}">
        <p14:creationId xmlns:p14="http://schemas.microsoft.com/office/powerpoint/2010/main" val="2467929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itle 1"/>
          <p:cNvSpPr>
            <a:spLocks noGrp="1"/>
          </p:cNvSpPr>
          <p:nvPr>
            <p:ph type="title"/>
          </p:nvPr>
        </p:nvSpPr>
        <p:spPr>
          <a:xfrm>
            <a:off x="601850" y="492111"/>
            <a:ext cx="8065268" cy="720725"/>
          </a:xfrm>
        </p:spPr>
        <p:txBody>
          <a:bodyPr/>
          <a:lstStyle/>
          <a:p>
            <a:pPr marL="604838" indent="-604838"/>
            <a:r>
              <a:rPr lang="en-GB" altLang="en-US" dirty="0">
                <a:ea typeface="ＭＳ Ｐゴシック" panose="020B0600070205080204" pitchFamily="34" charset="-128"/>
              </a:rPr>
              <a:t>Circular Flow of Income</a:t>
            </a:r>
            <a:br>
              <a:rPr lang="en-GB" altLang="en-US" dirty="0">
                <a:ea typeface="ＭＳ Ｐゴシック" panose="020B0600070205080204" pitchFamily="34" charset="-128"/>
              </a:rPr>
            </a:br>
            <a:r>
              <a:rPr lang="en-GB" altLang="en-US" dirty="0">
                <a:ea typeface="ＭＳ Ｐゴシック" panose="020B0600070205080204" pitchFamily="34" charset="-128"/>
              </a:rPr>
              <a:t>      </a:t>
            </a:r>
          </a:p>
        </p:txBody>
      </p:sp>
      <p:sp>
        <p:nvSpPr>
          <p:cNvPr id="19458" name="Content Placeholder 2"/>
          <p:cNvSpPr>
            <a:spLocks noGrp="1"/>
          </p:cNvSpPr>
          <p:nvPr>
            <p:ph idx="4294967295"/>
          </p:nvPr>
        </p:nvSpPr>
        <p:spPr>
          <a:xfrm>
            <a:off x="0" y="476250"/>
            <a:ext cx="6108700" cy="3270250"/>
          </a:xfrm>
        </p:spPr>
        <p:txBody>
          <a:bodyPr/>
          <a:lstStyle/>
          <a:p>
            <a:pPr marL="457200" lvl="1" indent="0">
              <a:buNone/>
            </a:pPr>
            <a:r>
              <a:rPr lang="en-GB" altLang="en-US" dirty="0">
                <a:ea typeface="ＭＳ Ｐゴシック" panose="020B0600070205080204" pitchFamily="34" charset="-128"/>
              </a:rPr>
              <a:t>   </a:t>
            </a:r>
          </a:p>
        </p:txBody>
      </p:sp>
      <p:sp>
        <p:nvSpPr>
          <p:cNvPr id="92" name="TextBox 91"/>
          <p:cNvSpPr txBox="1"/>
          <p:nvPr/>
        </p:nvSpPr>
        <p:spPr>
          <a:xfrm>
            <a:off x="4327724" y="2116164"/>
            <a:ext cx="820340" cy="323165"/>
          </a:xfrm>
          <a:prstGeom prst="rect">
            <a:avLst/>
          </a:prstGeom>
          <a:ln w="12700">
            <a:no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Taxes </a:t>
            </a:r>
          </a:p>
        </p:txBody>
      </p:sp>
      <p:sp>
        <p:nvSpPr>
          <p:cNvPr id="77" name="TextBox 76"/>
          <p:cNvSpPr txBox="1"/>
          <p:nvPr/>
        </p:nvSpPr>
        <p:spPr>
          <a:xfrm>
            <a:off x="3275856" y="2390007"/>
            <a:ext cx="913208" cy="323165"/>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00B050"/>
                </a:solidFill>
                <a:latin typeface="Arial"/>
              </a:rPr>
              <a:t>Savings </a:t>
            </a:r>
          </a:p>
        </p:txBody>
      </p:sp>
      <p:sp>
        <p:nvSpPr>
          <p:cNvPr id="6" name="TextBox 5"/>
          <p:cNvSpPr txBox="1"/>
          <p:nvPr/>
        </p:nvSpPr>
        <p:spPr>
          <a:xfrm>
            <a:off x="2496122" y="2831730"/>
            <a:ext cx="1197769" cy="323165"/>
          </a:xfrm>
          <a:prstGeom prst="rect">
            <a:avLst/>
          </a:prstGeom>
          <a:ln w="12700">
            <a:solidFill>
              <a:schemeClr val="accent1"/>
            </a:solid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2060"/>
                </a:solidFill>
                <a:latin typeface="Arial"/>
              </a:rPr>
              <a:t>Households</a:t>
            </a:r>
          </a:p>
        </p:txBody>
      </p:sp>
      <p:sp>
        <p:nvSpPr>
          <p:cNvPr id="7" name="TextBox 6"/>
          <p:cNvSpPr txBox="1"/>
          <p:nvPr/>
        </p:nvSpPr>
        <p:spPr>
          <a:xfrm>
            <a:off x="2758058" y="4754589"/>
            <a:ext cx="661813" cy="323165"/>
          </a:xfrm>
          <a:prstGeom prst="rect">
            <a:avLst/>
          </a:prstGeom>
          <a:ln w="12700">
            <a:solidFill>
              <a:schemeClr val="accent1"/>
            </a:solid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002060"/>
                </a:solidFill>
                <a:latin typeface="Arial"/>
              </a:rPr>
              <a:t>Firms</a:t>
            </a:r>
          </a:p>
        </p:txBody>
      </p:sp>
      <p:sp>
        <p:nvSpPr>
          <p:cNvPr id="8" name="TextBox 7"/>
          <p:cNvSpPr txBox="1"/>
          <p:nvPr/>
        </p:nvSpPr>
        <p:spPr>
          <a:xfrm>
            <a:off x="2540174" y="3660405"/>
            <a:ext cx="1106685" cy="553998"/>
          </a:xfrm>
          <a:prstGeom prst="rect">
            <a:avLst/>
          </a:prstGeom>
          <a:ln w="12700">
            <a:solidFill>
              <a:schemeClr val="accent1"/>
            </a:solid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002060"/>
                </a:solidFill>
                <a:latin typeface="Arial"/>
              </a:rPr>
              <a:t>Factors of Production</a:t>
            </a:r>
          </a:p>
        </p:txBody>
      </p:sp>
      <p:cxnSp>
        <p:nvCxnSpPr>
          <p:cNvPr id="19465" name="Straight Arrow Connector 9"/>
          <p:cNvCxnSpPr>
            <a:cxnSpLocks noChangeShapeType="1"/>
            <a:stCxn id="6" idx="2"/>
            <a:endCxn id="8" idx="0"/>
          </p:cNvCxnSpPr>
          <p:nvPr/>
        </p:nvCxnSpPr>
        <p:spPr bwMode="auto">
          <a:xfrm flipH="1">
            <a:off x="3093517" y="3154895"/>
            <a:ext cx="1490" cy="505510"/>
          </a:xfrm>
          <a:prstGeom prst="straightConnector1">
            <a:avLst/>
          </a:prstGeom>
          <a:noFill/>
          <a:ln w="28575" algn="ctr">
            <a:solidFill>
              <a:schemeClr val="accent1"/>
            </a:solidFill>
            <a:round/>
            <a:headEnd/>
            <a:tailEnd type="arrow" w="med" len="med"/>
          </a:ln>
          <a:extLst>
            <a:ext uri="{909E8E84-426E-40DD-AFC4-6F175D3DCCD1}">
              <a14:hiddenFill xmlns:a14="http://schemas.microsoft.com/office/drawing/2010/main">
                <a:noFill/>
              </a14:hiddenFill>
            </a:ext>
          </a:extLst>
        </p:spPr>
      </p:cxnSp>
      <p:cxnSp>
        <p:nvCxnSpPr>
          <p:cNvPr id="19466" name="Straight Arrow Connector 11"/>
          <p:cNvCxnSpPr>
            <a:cxnSpLocks noChangeShapeType="1"/>
            <a:stCxn id="8" idx="2"/>
            <a:endCxn id="7" idx="0"/>
          </p:cNvCxnSpPr>
          <p:nvPr/>
        </p:nvCxnSpPr>
        <p:spPr bwMode="auto">
          <a:xfrm flipH="1">
            <a:off x="3088965" y="4214403"/>
            <a:ext cx="4552" cy="540186"/>
          </a:xfrm>
          <a:prstGeom prst="straightConnector1">
            <a:avLst/>
          </a:prstGeom>
          <a:noFill/>
          <a:ln w="28575" algn="ctr">
            <a:solidFill>
              <a:schemeClr val="accent1"/>
            </a:solidFill>
            <a:round/>
            <a:headEnd/>
            <a:tailEnd type="arrow" w="med" len="med"/>
          </a:ln>
          <a:extLst>
            <a:ext uri="{909E8E84-426E-40DD-AFC4-6F175D3DCCD1}">
              <a14:hiddenFill xmlns:a14="http://schemas.microsoft.com/office/drawing/2010/main">
                <a:noFill/>
              </a14:hiddenFill>
            </a:ext>
          </a:extLst>
        </p:spPr>
      </p:cxnSp>
      <p:sp>
        <p:nvSpPr>
          <p:cNvPr id="13" name="TextBox 12"/>
          <p:cNvSpPr txBox="1"/>
          <p:nvPr/>
        </p:nvSpPr>
        <p:spPr>
          <a:xfrm>
            <a:off x="1479326" y="3796136"/>
            <a:ext cx="825701" cy="323165"/>
          </a:xfrm>
          <a:prstGeom prst="rect">
            <a:avLst/>
          </a:prstGeom>
          <a:ln w="12700">
            <a:solidFill>
              <a:srgbClr val="FF0000"/>
            </a:solid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FF0000"/>
                </a:solidFill>
                <a:latin typeface="Arial"/>
              </a:rPr>
              <a:t>Wages</a:t>
            </a:r>
          </a:p>
        </p:txBody>
      </p:sp>
      <p:cxnSp>
        <p:nvCxnSpPr>
          <p:cNvPr id="19468" name="Shape 18"/>
          <p:cNvCxnSpPr>
            <a:cxnSpLocks noChangeShapeType="1"/>
            <a:stCxn id="7" idx="1"/>
            <a:endCxn id="13" idx="2"/>
          </p:cNvCxnSpPr>
          <p:nvPr/>
        </p:nvCxnSpPr>
        <p:spPr bwMode="auto">
          <a:xfrm rot="10800000">
            <a:off x="1892178" y="4119302"/>
            <a:ext cx="865881" cy="796871"/>
          </a:xfrm>
          <a:prstGeom prst="bentConnector2">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9469" name="Shape 20"/>
          <p:cNvCxnSpPr>
            <a:cxnSpLocks noChangeShapeType="1"/>
            <a:stCxn id="13" idx="0"/>
            <a:endCxn id="6" idx="1"/>
          </p:cNvCxnSpPr>
          <p:nvPr/>
        </p:nvCxnSpPr>
        <p:spPr bwMode="auto">
          <a:xfrm rot="5400000" flipH="1" flipV="1">
            <a:off x="1792738" y="3092753"/>
            <a:ext cx="802823" cy="603945"/>
          </a:xfrm>
          <a:prstGeom prst="bentConnector2">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2" name="TextBox 21"/>
          <p:cNvSpPr txBox="1"/>
          <p:nvPr/>
        </p:nvSpPr>
        <p:spPr>
          <a:xfrm>
            <a:off x="3951066" y="3361558"/>
            <a:ext cx="1026319" cy="553998"/>
          </a:xfrm>
          <a:prstGeom prst="rect">
            <a:avLst/>
          </a:prstGeom>
          <a:ln w="12700">
            <a:solidFill>
              <a:srgbClr val="FF0000"/>
            </a:solid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FF0000"/>
                </a:solidFill>
                <a:latin typeface="Arial"/>
              </a:rPr>
              <a:t>Good and services</a:t>
            </a:r>
          </a:p>
        </p:txBody>
      </p:sp>
      <p:cxnSp>
        <p:nvCxnSpPr>
          <p:cNvPr id="19471" name="Shape 23"/>
          <p:cNvCxnSpPr>
            <a:cxnSpLocks noChangeShapeType="1"/>
            <a:stCxn id="6" idx="3"/>
            <a:endCxn id="22" idx="0"/>
          </p:cNvCxnSpPr>
          <p:nvPr/>
        </p:nvCxnSpPr>
        <p:spPr bwMode="auto">
          <a:xfrm>
            <a:off x="3693891" y="2993313"/>
            <a:ext cx="770335" cy="368245"/>
          </a:xfrm>
          <a:prstGeom prst="bentConnector2">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9472" name="Shape 25"/>
          <p:cNvCxnSpPr>
            <a:cxnSpLocks noChangeShapeType="1"/>
            <a:stCxn id="22" idx="2"/>
            <a:endCxn id="7" idx="3"/>
          </p:cNvCxnSpPr>
          <p:nvPr/>
        </p:nvCxnSpPr>
        <p:spPr bwMode="auto">
          <a:xfrm rot="5400000">
            <a:off x="3441741" y="3893687"/>
            <a:ext cx="1000616" cy="1044355"/>
          </a:xfrm>
          <a:prstGeom prst="bentConnector2">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74" name="TextBox 73"/>
          <p:cNvSpPr txBox="1"/>
          <p:nvPr/>
        </p:nvSpPr>
        <p:spPr>
          <a:xfrm>
            <a:off x="4736877" y="2599557"/>
            <a:ext cx="951310" cy="553998"/>
          </a:xfrm>
          <a:prstGeom prst="rect">
            <a:avLst/>
          </a:prstGeom>
          <a:ln w="12700">
            <a:solidFill>
              <a:srgbClr val="00B050"/>
            </a:solid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00B050"/>
                </a:solidFill>
                <a:latin typeface="Arial"/>
              </a:rPr>
              <a:t>Financial System</a:t>
            </a:r>
          </a:p>
        </p:txBody>
      </p:sp>
      <p:cxnSp>
        <p:nvCxnSpPr>
          <p:cNvPr id="19474" name="Shape 75"/>
          <p:cNvCxnSpPr>
            <a:cxnSpLocks noChangeShapeType="1"/>
            <a:stCxn id="6" idx="0"/>
          </p:cNvCxnSpPr>
          <p:nvPr/>
        </p:nvCxnSpPr>
        <p:spPr bwMode="auto">
          <a:xfrm rot="5400000" flipH="1" flipV="1">
            <a:off x="3815930" y="1938167"/>
            <a:ext cx="172640" cy="1614486"/>
          </a:xfrm>
          <a:prstGeom prst="bentConnector2">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19475" name="Straight Arrow Connector 86"/>
          <p:cNvCxnSpPr>
            <a:cxnSpLocks noChangeShapeType="1"/>
          </p:cNvCxnSpPr>
          <p:nvPr/>
        </p:nvCxnSpPr>
        <p:spPr bwMode="auto">
          <a:xfrm rot="10800000">
            <a:off x="4467796" y="4435501"/>
            <a:ext cx="809625" cy="1191"/>
          </a:xfrm>
          <a:prstGeom prst="straightConnector1">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88" name="TextBox 87"/>
          <p:cNvSpPr txBox="1"/>
          <p:nvPr/>
        </p:nvSpPr>
        <p:spPr>
          <a:xfrm>
            <a:off x="5394102" y="2228082"/>
            <a:ext cx="1285875" cy="323165"/>
          </a:xfrm>
          <a:prstGeom prst="rect">
            <a:avLst/>
          </a:prstGeom>
          <a:ln w="12700">
            <a:solidFill>
              <a:srgbClr val="00B050"/>
            </a:solid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Government</a:t>
            </a:r>
          </a:p>
        </p:txBody>
      </p:sp>
      <p:cxnSp>
        <p:nvCxnSpPr>
          <p:cNvPr id="19477" name="Elbow Connector 95"/>
          <p:cNvCxnSpPr>
            <a:cxnSpLocks noChangeShapeType="1"/>
            <a:endCxn id="88" idx="1"/>
          </p:cNvCxnSpPr>
          <p:nvPr/>
        </p:nvCxnSpPr>
        <p:spPr bwMode="auto">
          <a:xfrm flipV="1">
            <a:off x="3089052" y="2389665"/>
            <a:ext cx="2305050" cy="269424"/>
          </a:xfrm>
          <a:prstGeom prst="bentConnector3">
            <a:avLst>
              <a:gd name="adj1" fmla="val 50000"/>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98" name="TextBox 97"/>
          <p:cNvSpPr txBox="1"/>
          <p:nvPr/>
        </p:nvSpPr>
        <p:spPr>
          <a:xfrm>
            <a:off x="5407199" y="3356992"/>
            <a:ext cx="1252538" cy="553998"/>
          </a:xfrm>
          <a:prstGeom prst="rect">
            <a:avLst/>
          </a:prstGeom>
          <a:ln w="12700">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Government spending </a:t>
            </a:r>
          </a:p>
        </p:txBody>
      </p:sp>
      <p:cxnSp>
        <p:nvCxnSpPr>
          <p:cNvPr id="19479" name="Straight Arrow Connector 99"/>
          <p:cNvCxnSpPr>
            <a:cxnSpLocks noChangeShapeType="1"/>
            <a:stCxn id="88" idx="2"/>
          </p:cNvCxnSpPr>
          <p:nvPr/>
        </p:nvCxnSpPr>
        <p:spPr bwMode="auto">
          <a:xfrm>
            <a:off x="6037040" y="2551247"/>
            <a:ext cx="7143" cy="779501"/>
          </a:xfrm>
          <a:prstGeom prst="straightConnector1">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19480" name="Elbow Connector 101"/>
          <p:cNvCxnSpPr>
            <a:cxnSpLocks noChangeShapeType="1"/>
          </p:cNvCxnSpPr>
          <p:nvPr/>
        </p:nvCxnSpPr>
        <p:spPr bwMode="auto">
          <a:xfrm rot="10800000" flipV="1">
            <a:off x="5141691" y="3955681"/>
            <a:ext cx="917972" cy="486965"/>
          </a:xfrm>
          <a:prstGeom prst="bentConnector3">
            <a:avLst>
              <a:gd name="adj1" fmla="val -1630"/>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110" name="TextBox 109"/>
          <p:cNvSpPr txBox="1"/>
          <p:nvPr/>
        </p:nvSpPr>
        <p:spPr>
          <a:xfrm>
            <a:off x="6491860" y="1855417"/>
            <a:ext cx="864394" cy="323165"/>
          </a:xfrm>
          <a:prstGeom prst="rect">
            <a:avLst/>
          </a:prstGeom>
          <a:ln w="12700">
            <a:solidFill>
              <a:srgbClr val="00B050"/>
            </a:solid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Abroad</a:t>
            </a:r>
          </a:p>
        </p:txBody>
      </p:sp>
      <p:sp>
        <p:nvSpPr>
          <p:cNvPr id="111" name="TextBox 110"/>
          <p:cNvSpPr txBox="1"/>
          <p:nvPr/>
        </p:nvSpPr>
        <p:spPr>
          <a:xfrm>
            <a:off x="4570190" y="1728020"/>
            <a:ext cx="820341" cy="323165"/>
          </a:xfrm>
          <a:prstGeom prst="rect">
            <a:avLst/>
          </a:prstGeom>
          <a:ln w="12700">
            <a:noFill/>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Imports </a:t>
            </a:r>
          </a:p>
        </p:txBody>
      </p:sp>
      <p:cxnSp>
        <p:nvCxnSpPr>
          <p:cNvPr id="19483" name="Shape 112"/>
          <p:cNvCxnSpPr>
            <a:cxnSpLocks noChangeShapeType="1"/>
            <a:stCxn id="6" idx="0"/>
            <a:endCxn id="110" idx="1"/>
          </p:cNvCxnSpPr>
          <p:nvPr/>
        </p:nvCxnSpPr>
        <p:spPr bwMode="auto">
          <a:xfrm rot="5400000" flipH="1" flipV="1">
            <a:off x="4386068" y="725939"/>
            <a:ext cx="814730" cy="3396853"/>
          </a:xfrm>
          <a:prstGeom prst="bentConnector2">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122" name="TextBox 121"/>
          <p:cNvSpPr txBox="1"/>
          <p:nvPr/>
        </p:nvSpPr>
        <p:spPr>
          <a:xfrm>
            <a:off x="6525196" y="2996952"/>
            <a:ext cx="831058" cy="323165"/>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fontAlgn="base">
              <a:spcBef>
                <a:spcPct val="0"/>
              </a:spcBef>
              <a:spcAft>
                <a:spcPct val="0"/>
              </a:spcAft>
              <a:buClrTx/>
              <a:defRPr/>
            </a:pPr>
            <a:r>
              <a:rPr lang="en-GB" sz="1500" dirty="0">
                <a:solidFill>
                  <a:srgbClr val="00B050"/>
                </a:solidFill>
                <a:latin typeface="Arial"/>
              </a:rPr>
              <a:t>Exports </a:t>
            </a:r>
          </a:p>
        </p:txBody>
      </p:sp>
      <p:cxnSp>
        <p:nvCxnSpPr>
          <p:cNvPr id="19485" name="Straight Arrow Connector 123"/>
          <p:cNvCxnSpPr>
            <a:cxnSpLocks noChangeShapeType="1"/>
            <a:stCxn id="110" idx="2"/>
            <a:endCxn id="122" idx="0"/>
          </p:cNvCxnSpPr>
          <p:nvPr/>
        </p:nvCxnSpPr>
        <p:spPr bwMode="auto">
          <a:xfrm>
            <a:off x="6924057" y="2178582"/>
            <a:ext cx="16668" cy="818370"/>
          </a:xfrm>
          <a:prstGeom prst="straightConnector1">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19486" name="Straight Connector 127"/>
          <p:cNvCxnSpPr>
            <a:cxnSpLocks noChangeShapeType="1"/>
            <a:stCxn id="122" idx="2"/>
          </p:cNvCxnSpPr>
          <p:nvPr/>
        </p:nvCxnSpPr>
        <p:spPr bwMode="auto">
          <a:xfrm flipH="1">
            <a:off x="6924057" y="3320117"/>
            <a:ext cx="16668" cy="1115384"/>
          </a:xfrm>
          <a:prstGeom prst="line">
            <a:avLst/>
          </a:prstGeom>
          <a:noFill/>
          <a:ln w="28575" algn="ctr">
            <a:solidFill>
              <a:srgbClr val="00B050"/>
            </a:solidFill>
            <a:round/>
            <a:headEnd/>
            <a:tailEnd/>
          </a:ln>
          <a:extLst>
            <a:ext uri="{909E8E84-426E-40DD-AFC4-6F175D3DCCD1}">
              <a14:hiddenFill xmlns:a14="http://schemas.microsoft.com/office/drawing/2010/main">
                <a:noFill/>
              </a14:hiddenFill>
            </a:ext>
          </a:extLst>
        </p:spPr>
      </p:cxnSp>
      <p:cxnSp>
        <p:nvCxnSpPr>
          <p:cNvPr id="19487" name="Straight Arrow Connector 129"/>
          <p:cNvCxnSpPr>
            <a:cxnSpLocks noChangeShapeType="1"/>
          </p:cNvCxnSpPr>
          <p:nvPr/>
        </p:nvCxnSpPr>
        <p:spPr bwMode="auto">
          <a:xfrm rot="10800000">
            <a:off x="6059663" y="4441456"/>
            <a:ext cx="864394" cy="1190"/>
          </a:xfrm>
          <a:prstGeom prst="straightConnector1">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131" name="TextBox 130"/>
          <p:cNvSpPr txBox="1"/>
          <p:nvPr/>
        </p:nvSpPr>
        <p:spPr>
          <a:xfrm>
            <a:off x="4634484" y="3933056"/>
            <a:ext cx="1134666" cy="323165"/>
          </a:xfrm>
          <a:prstGeom prst="rect">
            <a:avLst/>
          </a:prstGeom>
          <a:ln w="12700">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a:spAutoFit/>
          </a:bodyPr>
          <a:lstStyle/>
          <a:p>
            <a:pPr algn="ctr" fontAlgn="base">
              <a:spcBef>
                <a:spcPct val="0"/>
              </a:spcBef>
              <a:spcAft>
                <a:spcPct val="0"/>
              </a:spcAft>
              <a:buClrTx/>
              <a:defRPr/>
            </a:pPr>
            <a:r>
              <a:rPr lang="en-GB" sz="1500" dirty="0">
                <a:solidFill>
                  <a:srgbClr val="00B050"/>
                </a:solidFill>
                <a:latin typeface="Arial"/>
              </a:rPr>
              <a:t>Investment </a:t>
            </a:r>
          </a:p>
        </p:txBody>
      </p:sp>
      <p:cxnSp>
        <p:nvCxnSpPr>
          <p:cNvPr id="19489" name="Straight Arrow Connector 134"/>
          <p:cNvCxnSpPr>
            <a:cxnSpLocks noChangeShapeType="1"/>
            <a:stCxn id="74" idx="2"/>
            <a:endCxn id="131" idx="0"/>
          </p:cNvCxnSpPr>
          <p:nvPr/>
        </p:nvCxnSpPr>
        <p:spPr bwMode="auto">
          <a:xfrm flipH="1">
            <a:off x="5201817" y="3153555"/>
            <a:ext cx="10715" cy="779501"/>
          </a:xfrm>
          <a:prstGeom prst="straightConnector1">
            <a:avLst/>
          </a:prstGeom>
          <a:noFill/>
          <a:ln w="28575" algn="ctr">
            <a:noFill/>
            <a:round/>
            <a:headEnd/>
            <a:tailEnd type="arrow" w="med" len="med"/>
          </a:ln>
          <a:extLst>
            <a:ext uri="{909E8E84-426E-40DD-AFC4-6F175D3DCCD1}">
              <a14:hiddenFill xmlns:a14="http://schemas.microsoft.com/office/drawing/2010/main">
                <a:noFill/>
              </a14:hiddenFill>
            </a:ext>
          </a:extLst>
        </p:spPr>
      </p:cxnSp>
      <p:cxnSp>
        <p:nvCxnSpPr>
          <p:cNvPr id="19490" name="Straight Arrow Connector 138"/>
          <p:cNvCxnSpPr>
            <a:cxnSpLocks noChangeShapeType="1"/>
            <a:stCxn id="131" idx="2"/>
          </p:cNvCxnSpPr>
          <p:nvPr/>
        </p:nvCxnSpPr>
        <p:spPr bwMode="auto">
          <a:xfrm flipH="1">
            <a:off x="5195271" y="4256221"/>
            <a:ext cx="6546" cy="159039"/>
          </a:xfrm>
          <a:prstGeom prst="straightConnector1">
            <a:avLst/>
          </a:prstGeom>
          <a:noFill/>
          <a:ln w="28575" algn="ctr">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a16="http://schemas.microsoft.com/office/drawing/2014/main" id="{F72AF84F-039D-4AC4-9E1A-479779A9435C}"/>
              </a:ext>
            </a:extLst>
          </p:cNvPr>
          <p:cNvCxnSpPr>
            <a:cxnSpLocks/>
            <a:stCxn id="74" idx="2"/>
            <a:endCxn id="131" idx="0"/>
          </p:cNvCxnSpPr>
          <p:nvPr/>
        </p:nvCxnSpPr>
        <p:spPr>
          <a:xfrm flipH="1">
            <a:off x="5201817" y="3153555"/>
            <a:ext cx="10715" cy="779501"/>
          </a:xfrm>
          <a:prstGeom prst="line">
            <a:avLst/>
          </a:prstGeom>
          <a:ln w="28575">
            <a:solidFill>
              <a:srgbClr val="4AAA4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045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11188" y="476027"/>
            <a:ext cx="8065268" cy="720725"/>
          </a:xfrm>
        </p:spPr>
        <p:txBody>
          <a:bodyPr/>
          <a:lstStyle/>
          <a:p>
            <a:r>
              <a:rPr lang="en-GB" altLang="en-US" dirty="0">
                <a:ea typeface="ＭＳ Ｐゴシック" panose="020B0600070205080204" pitchFamily="34" charset="-128"/>
              </a:rPr>
              <a:t>Gross Domestic Product (GDP)</a:t>
            </a:r>
            <a:br>
              <a:rPr lang="en-GB" altLang="en-US" dirty="0">
                <a:ea typeface="ＭＳ Ｐゴシック" panose="020B0600070205080204" pitchFamily="34" charset="-128"/>
              </a:rPr>
            </a:br>
            <a:endParaRPr lang="en-GB" altLang="en-US" dirty="0">
              <a:ea typeface="ＭＳ Ｐゴシック" panose="020B0600070205080204" pitchFamily="34" charset="-128"/>
            </a:endParaRPr>
          </a:p>
        </p:txBody>
      </p:sp>
      <p:sp>
        <p:nvSpPr>
          <p:cNvPr id="20483" name="Content Placeholder 2"/>
          <p:cNvSpPr>
            <a:spLocks noGrp="1"/>
          </p:cNvSpPr>
          <p:nvPr>
            <p:ph idx="4294967295"/>
          </p:nvPr>
        </p:nvSpPr>
        <p:spPr>
          <a:xfrm>
            <a:off x="0" y="1989138"/>
            <a:ext cx="6107113" cy="3268662"/>
          </a:xfrm>
        </p:spPr>
        <p:txBody>
          <a:bodyPr/>
          <a:lstStyle/>
          <a:p>
            <a:pPr lvl="2"/>
            <a:r>
              <a:rPr lang="en-GB" altLang="en-US" sz="1800" dirty="0">
                <a:ea typeface="ＭＳ Ｐゴシック" panose="020B0600070205080204" pitchFamily="34" charset="-128"/>
              </a:rPr>
              <a:t>The total value of output from WITHIN a country</a:t>
            </a:r>
          </a:p>
          <a:p>
            <a:pPr lvl="1"/>
            <a:endParaRPr lang="en-GB" altLang="en-US" sz="1800" dirty="0">
              <a:latin typeface="+mn-lt"/>
              <a:ea typeface="ＭＳ Ｐゴシック" panose="020B0600070205080204" pitchFamily="34" charset="-128"/>
            </a:endParaRPr>
          </a:p>
          <a:p>
            <a:pPr lvl="1">
              <a:buFont typeface="Wingdings" pitchFamily="2" charset="2"/>
              <a:buNone/>
            </a:pPr>
            <a:endParaRPr lang="en-GB" altLang="en-US" sz="1800" dirty="0">
              <a:latin typeface="+mn-lt"/>
              <a:ea typeface="ＭＳ Ｐゴシック" panose="020B0600070205080204" pitchFamily="34" charset="-128"/>
            </a:endParaRPr>
          </a:p>
          <a:p>
            <a:pPr lvl="2"/>
            <a:r>
              <a:rPr lang="en-GB" altLang="en-US" sz="1800" dirty="0">
                <a:ea typeface="ＭＳ Ｐゴシック" panose="020B0600070205080204" pitchFamily="34" charset="-128"/>
              </a:rPr>
              <a:t>Where:</a:t>
            </a:r>
          </a:p>
          <a:p>
            <a:pPr lvl="3">
              <a:buFont typeface="Arial" pitchFamily="34" charset="0"/>
              <a:buNone/>
            </a:pPr>
            <a:r>
              <a:rPr lang="en-GB" altLang="en-US" sz="1800" dirty="0">
                <a:ea typeface="ＭＳ Ｐゴシック" panose="020B0600070205080204" pitchFamily="34" charset="-128"/>
              </a:rPr>
              <a:t>C = Consumer expenditure</a:t>
            </a:r>
          </a:p>
          <a:p>
            <a:pPr lvl="3">
              <a:buFont typeface="Arial" pitchFamily="34" charset="0"/>
              <a:buNone/>
            </a:pPr>
            <a:r>
              <a:rPr lang="en-GB" altLang="en-US" sz="1800" dirty="0">
                <a:ea typeface="ＭＳ Ｐゴシック" panose="020B0600070205080204" pitchFamily="34" charset="-128"/>
              </a:rPr>
              <a:t> I = Private investment in firms</a:t>
            </a:r>
          </a:p>
          <a:p>
            <a:pPr lvl="3">
              <a:buFont typeface="Arial" pitchFamily="34" charset="0"/>
              <a:buNone/>
            </a:pPr>
            <a:r>
              <a:rPr lang="en-GB" altLang="en-US" sz="1800" dirty="0">
                <a:ea typeface="ＭＳ Ｐゴシック" panose="020B0600070205080204" pitchFamily="34" charset="-128"/>
              </a:rPr>
              <a:t>G = Government expenditure</a:t>
            </a:r>
          </a:p>
          <a:p>
            <a:pPr lvl="3">
              <a:buFont typeface="Arial" pitchFamily="34" charset="0"/>
              <a:buNone/>
            </a:pPr>
            <a:r>
              <a:rPr lang="en-GB" altLang="en-US" sz="1800" dirty="0">
                <a:ea typeface="ＭＳ Ｐゴシック" panose="020B0600070205080204" pitchFamily="34" charset="-128"/>
              </a:rPr>
              <a:t>X = Exports</a:t>
            </a:r>
          </a:p>
          <a:p>
            <a:pPr lvl="3">
              <a:buFont typeface="Arial" pitchFamily="34" charset="0"/>
              <a:buNone/>
            </a:pPr>
            <a:r>
              <a:rPr lang="en-GB" altLang="en-US" sz="1800" dirty="0">
                <a:ea typeface="ＭＳ Ｐゴシック" panose="020B0600070205080204" pitchFamily="34" charset="-128"/>
              </a:rPr>
              <a:t>M = Imports</a:t>
            </a:r>
          </a:p>
          <a:p>
            <a:pPr lvl="1"/>
            <a:endParaRPr lang="en-GB" altLang="en-US" sz="1800" dirty="0">
              <a:latin typeface="+mn-lt"/>
              <a:ea typeface="ＭＳ Ｐゴシック" panose="020B0600070205080204" pitchFamily="34" charset="-128"/>
            </a:endParaRPr>
          </a:p>
          <a:p>
            <a:pPr lvl="1">
              <a:buFont typeface="Wingdings" pitchFamily="2" charset="2"/>
              <a:buNone/>
            </a:pPr>
            <a:endParaRPr lang="en-GB" altLang="en-US" sz="1800" dirty="0">
              <a:latin typeface="+mn-lt"/>
              <a:ea typeface="ＭＳ Ｐゴシック" panose="020B0600070205080204" pitchFamily="34" charset="-128"/>
            </a:endParaRPr>
          </a:p>
        </p:txBody>
      </p:sp>
      <p:graphicFrame>
        <p:nvGraphicFramePr>
          <p:cNvPr id="20484" name="Object 2"/>
          <p:cNvGraphicFramePr>
            <a:graphicFrameLocks noChangeAspect="1"/>
          </p:cNvGraphicFramePr>
          <p:nvPr>
            <p:extLst>
              <p:ext uri="{D42A27DB-BD31-4B8C-83A1-F6EECF244321}">
                <p14:modId xmlns:p14="http://schemas.microsoft.com/office/powerpoint/2010/main" val="1875697005"/>
              </p:ext>
            </p:extLst>
          </p:nvPr>
        </p:nvGraphicFramePr>
        <p:xfrm>
          <a:off x="2486025" y="2564904"/>
          <a:ext cx="4171950" cy="228600"/>
        </p:xfrm>
        <a:graphic>
          <a:graphicData uri="http://schemas.openxmlformats.org/presentationml/2006/ole">
            <mc:AlternateContent xmlns:mc="http://schemas.openxmlformats.org/markup-compatibility/2006">
              <mc:Choice xmlns:v="urn:schemas-microsoft-com:vml" Requires="v">
                <p:oleObj name="Equation" r:id="rId3" imgW="5562600" imgH="304800" progId="Equation.DSMT4">
                  <p:embed/>
                </p:oleObj>
              </mc:Choice>
              <mc:Fallback>
                <p:oleObj name="Equation" r:id="rId3" imgW="5562600" imgH="304800" progId="Equation.DSMT4">
                  <p:embed/>
                  <p:pic>
                    <p:nvPicPr>
                      <p:cNvPr id="2048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6025" y="2564904"/>
                        <a:ext cx="4171950" cy="2286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9030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6B5B45EF-3001-4982-A133-07BB21EABD20}"/>
              </a:ext>
            </a:extLst>
          </p:cNvPr>
          <p:cNvSpPr>
            <a:spLocks noGrp="1"/>
          </p:cNvSpPr>
          <p:nvPr>
            <p:ph type="title"/>
          </p:nvPr>
        </p:nvSpPr>
        <p:spPr>
          <a:xfrm>
            <a:off x="571500" y="2924175"/>
            <a:ext cx="8032750" cy="720725"/>
          </a:xfrm>
        </p:spPr>
        <p:txBody>
          <a:bodyPr/>
          <a:lstStyle/>
          <a:p>
            <a:pPr algn="ctr">
              <a:lnSpc>
                <a:spcPts val="2625"/>
              </a:lnSpc>
            </a:pPr>
            <a:r>
              <a:rPr altLang="en-US" dirty="0">
                <a:ea typeface="ＭＳ Ｐゴシック" panose="020B0600070205080204" pitchFamily="34" charset="-128"/>
              </a:rPr>
              <a:t>Equity Markets</a:t>
            </a:r>
          </a:p>
        </p:txBody>
      </p:sp>
      <p:sp>
        <p:nvSpPr>
          <p:cNvPr id="36867" name="Text Placeholder 3">
            <a:extLst>
              <a:ext uri="{FF2B5EF4-FFF2-40B4-BE49-F238E27FC236}">
                <a16:creationId xmlns:a16="http://schemas.microsoft.com/office/drawing/2014/main" id="{596B2CC7-9498-4FC4-A3E0-3E12D7FF023A}"/>
              </a:ext>
            </a:extLst>
          </p:cNvPr>
          <p:cNvSpPr>
            <a:spLocks noGrp="1"/>
          </p:cNvSpPr>
          <p:nvPr>
            <p:ph type="body" sz="quarter" idx="11"/>
          </p:nvPr>
        </p:nvSpPr>
        <p:spPr>
          <a:xfrm>
            <a:off x="3635375" y="3716338"/>
            <a:ext cx="4968875" cy="431800"/>
          </a:xfrm>
        </p:spPr>
        <p:txBody>
          <a:bodyPr/>
          <a:lstStyle/>
          <a:p>
            <a:endParaRPr lang="en-GB" altLang="en-US">
              <a:ea typeface="ヒラギノ角ゴ Pro W3" pitchFamily="-112"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Equity Features</a:t>
            </a:r>
          </a:p>
        </p:txBody>
      </p:sp>
      <p:sp>
        <p:nvSpPr>
          <p:cNvPr id="4" name="Text Placeholder 3"/>
          <p:cNvSpPr>
            <a:spLocks noGrp="1"/>
          </p:cNvSpPr>
          <p:nvPr>
            <p:ph type="body" idx="4294967295"/>
          </p:nvPr>
        </p:nvSpPr>
        <p:spPr>
          <a:xfrm>
            <a:off x="619733" y="1196752"/>
            <a:ext cx="8034337" cy="4752975"/>
          </a:xfrm>
          <a:prstGeom prst="rect">
            <a:avLst/>
          </a:prstGeom>
        </p:spPr>
        <p:txBody>
          <a:bodyPr/>
          <a:lstStyle/>
          <a:p>
            <a:pPr>
              <a:buFont typeface="Wingdings" panose="05000000000000000000" pitchFamily="2" charset="2"/>
              <a:buChar char="§"/>
            </a:pPr>
            <a:r>
              <a:rPr lang="en-GB" sz="1800" b="1" dirty="0"/>
              <a:t>Ordinary Shares</a:t>
            </a:r>
          </a:p>
          <a:p>
            <a:pPr lvl="1"/>
            <a:r>
              <a:rPr lang="en-GB" sz="1800" dirty="0"/>
              <a:t>Features</a:t>
            </a:r>
          </a:p>
          <a:p>
            <a:pPr lvl="2"/>
            <a:r>
              <a:rPr lang="en-GB" sz="1800" dirty="0"/>
              <a:t>Part-owner of the company (voting rights)</a:t>
            </a:r>
          </a:p>
          <a:p>
            <a:pPr lvl="2"/>
            <a:r>
              <a:rPr lang="en-GB" sz="1800" dirty="0"/>
              <a:t>VARIABLE profit distributions (dividends)</a:t>
            </a:r>
          </a:p>
          <a:p>
            <a:pPr lvl="2"/>
            <a:r>
              <a:rPr lang="en-GB" sz="1800" dirty="0"/>
              <a:t>Rank after debt providers and preference shares</a:t>
            </a:r>
          </a:p>
          <a:p>
            <a:pPr lvl="2"/>
            <a:endParaRPr lang="en-GB" sz="1800" dirty="0"/>
          </a:p>
          <a:p>
            <a:pPr>
              <a:buFont typeface="Wingdings" panose="05000000000000000000" pitchFamily="2" charset="2"/>
              <a:buChar char="§"/>
            </a:pPr>
            <a:r>
              <a:rPr lang="en-GB" sz="1800" b="1" dirty="0"/>
              <a:t>Preference shares</a:t>
            </a:r>
          </a:p>
          <a:p>
            <a:pPr lvl="1"/>
            <a:r>
              <a:rPr lang="en-GB" sz="1800" dirty="0"/>
              <a:t>Features</a:t>
            </a:r>
          </a:p>
          <a:p>
            <a:pPr lvl="2"/>
            <a:r>
              <a:rPr lang="en-GB" sz="1800" dirty="0"/>
              <a:t>Normally NO voting rights</a:t>
            </a:r>
          </a:p>
          <a:p>
            <a:pPr lvl="2"/>
            <a:r>
              <a:rPr lang="en-GB" sz="1800" dirty="0"/>
              <a:t>FIXED dividend</a:t>
            </a:r>
          </a:p>
          <a:p>
            <a:pPr lvl="2"/>
            <a:r>
              <a:rPr lang="en-GB" sz="1800" dirty="0"/>
              <a:t>Rank after debt providers but before ordinary shares</a:t>
            </a:r>
          </a:p>
          <a:p>
            <a:pPr lvl="2"/>
            <a:endParaRPr lang="en-GB" sz="1800" dirty="0"/>
          </a:p>
          <a:p>
            <a:pPr lvl="2"/>
            <a:endParaRPr lang="en-GB" dirty="0"/>
          </a:p>
        </p:txBody>
      </p:sp>
    </p:spTree>
    <p:extLst>
      <p:ext uri="{BB962C8B-B14F-4D97-AF65-F5344CB8AC3E}">
        <p14:creationId xmlns:p14="http://schemas.microsoft.com/office/powerpoint/2010/main" val="2274085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8">
            <a:extLst>
              <a:ext uri="{FF2B5EF4-FFF2-40B4-BE49-F238E27FC236}">
                <a16:creationId xmlns:a16="http://schemas.microsoft.com/office/drawing/2014/main" id="{316A03CC-24A9-4537-8475-6B9A5DF2468D}"/>
              </a:ext>
            </a:extLst>
          </p:cNvPr>
          <p:cNvSpPr>
            <a:spLocks noGrp="1"/>
          </p:cNvSpPr>
          <p:nvPr>
            <p:ph type="title"/>
          </p:nvPr>
        </p:nvSpPr>
        <p:spPr>
          <a:xfrm>
            <a:off x="612775" y="260350"/>
            <a:ext cx="8062913" cy="720725"/>
          </a:xfrm>
        </p:spPr>
        <p:txBody>
          <a:bodyPr/>
          <a:lstStyle/>
          <a:p>
            <a:endParaRPr altLang="en-US" dirty="0">
              <a:ea typeface="ヒラギノ角ゴ Pro W3" pitchFamily="-112" charset="-128"/>
            </a:endParaRPr>
          </a:p>
        </p:txBody>
      </p:sp>
      <p:sp>
        <p:nvSpPr>
          <p:cNvPr id="38915" name="Rectangle 4">
            <a:extLst>
              <a:ext uri="{FF2B5EF4-FFF2-40B4-BE49-F238E27FC236}">
                <a16:creationId xmlns:a16="http://schemas.microsoft.com/office/drawing/2014/main" id="{9A39C3D5-0E2C-48B6-96D8-8E537147148D}"/>
              </a:ext>
            </a:extLst>
          </p:cNvPr>
          <p:cNvSpPr>
            <a:spLocks noGrp="1"/>
          </p:cNvSpPr>
          <p:nvPr>
            <p:ph idx="1"/>
          </p:nvPr>
        </p:nvSpPr>
        <p:spPr>
          <a:xfrm>
            <a:off x="611188" y="1268413"/>
            <a:ext cx="8032750" cy="4525962"/>
          </a:xfrm>
        </p:spPr>
        <p:txBody>
          <a:bodyPr/>
          <a:lstStyle/>
          <a:p>
            <a:pPr marL="0" indent="0">
              <a:buNone/>
            </a:pPr>
            <a:r>
              <a:rPr lang="en-GB" altLang="en-US" sz="1800" dirty="0">
                <a:ea typeface="ヒラギノ角ゴ Pro W3" pitchFamily="-112" charset="-128"/>
              </a:rPr>
              <a:t>Shareholder Entitlement</a:t>
            </a:r>
          </a:p>
          <a:p>
            <a:endParaRPr lang="en-GB" altLang="en-US" sz="1800" dirty="0">
              <a:ea typeface="ヒラギノ角ゴ Pro W3" pitchFamily="-112" charset="-128"/>
            </a:endParaRPr>
          </a:p>
          <a:p>
            <a:pPr lvl="1">
              <a:buFont typeface="Wingdings" panose="05000000000000000000" pitchFamily="2" charset="2"/>
              <a:buChar char="§"/>
            </a:pPr>
            <a:r>
              <a:rPr lang="en-GB" altLang="en-US" sz="1800" dirty="0">
                <a:ea typeface="ヒラギノ角ゴ Pro W3" pitchFamily="-112" charset="-128"/>
              </a:rPr>
              <a:t>Voting on resolutions at general meetings</a:t>
            </a:r>
          </a:p>
          <a:p>
            <a:pPr lvl="2">
              <a:buFont typeface="Arial" panose="020B0604020202020204" pitchFamily="34" charset="0"/>
              <a:buChar char="•"/>
            </a:pPr>
            <a:r>
              <a:rPr lang="en-GB" altLang="en-US" sz="1800" dirty="0">
                <a:ea typeface="ヒラギノ角ゴ Pro W3" pitchFamily="-112" charset="-128"/>
              </a:rPr>
              <a:t>Resolutions</a:t>
            </a:r>
          </a:p>
          <a:p>
            <a:pPr lvl="3">
              <a:buFont typeface="Arial" panose="020B0604020202020204" pitchFamily="34" charset="0"/>
              <a:buChar char="•"/>
            </a:pPr>
            <a:r>
              <a:rPr lang="en-GB" altLang="en-US" sz="1800" dirty="0">
                <a:ea typeface="ヒラギノ角ゴ Pro W3" pitchFamily="-112" charset="-128"/>
              </a:rPr>
              <a:t>Ordinary</a:t>
            </a:r>
          </a:p>
          <a:p>
            <a:pPr lvl="3">
              <a:buFont typeface="Arial" panose="020B0604020202020204" pitchFamily="34" charset="0"/>
              <a:buChar char="•"/>
            </a:pPr>
            <a:r>
              <a:rPr lang="en-GB" altLang="en-US" sz="1800" dirty="0">
                <a:ea typeface="ヒラギノ角ゴ Pro W3" pitchFamily="-112" charset="-128"/>
              </a:rPr>
              <a:t>Special</a:t>
            </a:r>
          </a:p>
          <a:p>
            <a:pPr lvl="3"/>
            <a:endParaRPr lang="en-GB" altLang="en-US" sz="1800" dirty="0">
              <a:ea typeface="ヒラギノ角ゴ Pro W3" pitchFamily="-112" charset="-128"/>
            </a:endParaRPr>
          </a:p>
          <a:p>
            <a:pPr lvl="1">
              <a:buFont typeface="Wingdings" panose="05000000000000000000" pitchFamily="2" charset="2"/>
              <a:buChar char="§"/>
            </a:pPr>
            <a:r>
              <a:rPr lang="en-GB" altLang="en-US" sz="1800" dirty="0">
                <a:ea typeface="ヒラギノ角ゴ Pro W3" pitchFamily="-112" charset="-128"/>
              </a:rPr>
              <a:t>Dividends </a:t>
            </a:r>
          </a:p>
          <a:p>
            <a:pPr lvl="2">
              <a:buFont typeface="Arial" panose="020B0604020202020204" pitchFamily="34" charset="0"/>
              <a:buChar char="•"/>
            </a:pPr>
            <a:r>
              <a:rPr lang="en-GB" altLang="en-US" sz="1800" dirty="0">
                <a:ea typeface="ヒラギノ角ゴ Pro W3" pitchFamily="-112" charset="-128"/>
              </a:rPr>
              <a:t>These may be paid in cash or shares. </a:t>
            </a:r>
          </a:p>
          <a:p>
            <a:pPr lvl="2">
              <a:buFont typeface="Arial" panose="020B0604020202020204" pitchFamily="34" charset="0"/>
              <a:buChar char="•"/>
            </a:pPr>
            <a:r>
              <a:rPr lang="en-GB" altLang="en-US" sz="1800" dirty="0">
                <a:ea typeface="ヒラギノ角ゴ Pro W3" pitchFamily="-112" charset="-128"/>
              </a:rPr>
              <a:t>With each dividend payment an ex-div, record and payment date will be declared</a:t>
            </a:r>
          </a:p>
          <a:p>
            <a:pPr lvl="2"/>
            <a:endParaRPr lang="en-GB" altLang="en-US" sz="1800" dirty="0">
              <a:ea typeface="ヒラギノ角ゴ Pro W3" pitchFamily="-112" charset="-128"/>
            </a:endParaRPr>
          </a:p>
          <a:p>
            <a:pPr lvl="1"/>
            <a:endParaRPr lang="en-GB" altLang="en-US" dirty="0">
              <a:ea typeface="ヒラギノ角ゴ Pro W3" pitchFamily="-112" charset="-128"/>
            </a:endParaRPr>
          </a:p>
          <a:p>
            <a:pPr lvl="1"/>
            <a:endParaRPr lang="en-GB" altLang="en-US" dirty="0">
              <a:ea typeface="ヒラギノ角ゴ Pro W3" pitchFamily="-112"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p:txBody>
          <a:bodyPr/>
          <a:lstStyle/>
          <a:p>
            <a:r>
              <a:rPr lang="en-GB" dirty="0">
                <a:sym typeface="Calibri"/>
              </a:rPr>
              <a:t>Equity Issuance Methods</a:t>
            </a:r>
          </a:p>
        </p:txBody>
      </p:sp>
      <p:sp>
        <p:nvSpPr>
          <p:cNvPr id="156675" name="Content Placeholder 2"/>
          <p:cNvSpPr>
            <a:spLocks noGrp="1"/>
          </p:cNvSpPr>
          <p:nvPr>
            <p:ph type="body" idx="4294967295"/>
          </p:nvPr>
        </p:nvSpPr>
        <p:spPr>
          <a:xfrm>
            <a:off x="642119" y="1268413"/>
            <a:ext cx="8034337" cy="4752975"/>
          </a:xfrm>
        </p:spPr>
        <p:txBody>
          <a:bodyPr/>
          <a:lstStyle/>
          <a:p>
            <a:pPr marL="90487" lvl="1" indent="0">
              <a:buNone/>
            </a:pPr>
            <a:r>
              <a:rPr lang="en-GB" sz="1800" b="1" dirty="0">
                <a:sym typeface="Calibri"/>
              </a:rPr>
              <a:t>Placing</a:t>
            </a:r>
          </a:p>
          <a:p>
            <a:pPr lvl="2"/>
            <a:r>
              <a:rPr lang="en-GB" sz="1800" dirty="0">
                <a:sym typeface="Calibri"/>
              </a:rPr>
              <a:t>New shares placed with institutional investors by an issuing house (investment bank)</a:t>
            </a:r>
          </a:p>
          <a:p>
            <a:pPr marL="90487" lvl="1" indent="0">
              <a:buNone/>
            </a:pPr>
            <a:r>
              <a:rPr lang="en-GB" sz="1800" b="1" dirty="0">
                <a:sym typeface="Calibri"/>
              </a:rPr>
              <a:t>Offer for sale</a:t>
            </a:r>
          </a:p>
          <a:p>
            <a:pPr lvl="2"/>
            <a:r>
              <a:rPr lang="en-GB" sz="1800" dirty="0">
                <a:sym typeface="Calibri"/>
              </a:rPr>
              <a:t>New shares offered by an issuing house (investment bank) to the general public</a:t>
            </a:r>
          </a:p>
          <a:p>
            <a:pPr lvl="2"/>
            <a:r>
              <a:rPr lang="en-GB" sz="1800" dirty="0">
                <a:sym typeface="Calibri"/>
              </a:rPr>
              <a:t>Types:</a:t>
            </a:r>
          </a:p>
          <a:p>
            <a:pPr lvl="3"/>
            <a:r>
              <a:rPr lang="en-GB" sz="1800" dirty="0">
                <a:sym typeface="Calibri"/>
              </a:rPr>
              <a:t>Offer for sale by tender</a:t>
            </a:r>
          </a:p>
          <a:p>
            <a:pPr lvl="4"/>
            <a:r>
              <a:rPr lang="en-GB" sz="1800" dirty="0">
                <a:sym typeface="Calibri"/>
              </a:rPr>
              <a:t>Issuing house invites offers from the public</a:t>
            </a:r>
          </a:p>
          <a:p>
            <a:pPr lvl="3"/>
            <a:r>
              <a:rPr lang="en-GB" sz="1800" dirty="0">
                <a:sym typeface="Calibri"/>
              </a:rPr>
              <a:t>Offer for sale by subscription</a:t>
            </a:r>
          </a:p>
          <a:p>
            <a:pPr lvl="4"/>
            <a:r>
              <a:rPr lang="en-GB" sz="1800" dirty="0">
                <a:sym typeface="Calibri"/>
              </a:rPr>
              <a:t>Underlying company offers the issue to the public</a:t>
            </a:r>
          </a:p>
          <a:p>
            <a:pPr marL="90487" lvl="1" indent="0">
              <a:buNone/>
            </a:pPr>
            <a:r>
              <a:rPr lang="en-GB" sz="1800" b="1" dirty="0">
                <a:sym typeface="Calibri"/>
              </a:rPr>
              <a:t>Intermediaries offer</a:t>
            </a:r>
          </a:p>
          <a:p>
            <a:pPr lvl="2"/>
            <a:r>
              <a:rPr lang="en-GB" sz="1800" dirty="0">
                <a:sym typeface="Calibri"/>
              </a:rPr>
              <a:t>A number of brokers place an issue with their clients</a:t>
            </a:r>
          </a:p>
          <a:p>
            <a:pPr lvl="1"/>
            <a:endParaRPr lang="en-GB" dirty="0">
              <a:sym typeface="Calibri"/>
            </a:endParaRPr>
          </a:p>
        </p:txBody>
      </p:sp>
    </p:spTree>
    <p:extLst>
      <p:ext uri="{BB962C8B-B14F-4D97-AF65-F5344CB8AC3E}">
        <p14:creationId xmlns:p14="http://schemas.microsoft.com/office/powerpoint/2010/main" val="4073050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Rectangle 7"/>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sp>
        <p:nvSpPr>
          <p:cNvPr id="299010" name="Rectangle 10"/>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1" name="Rectangle 13"/>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2" name="Rectangle 16"/>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3" name="Rectangle 19"/>
          <p:cNvSpPr>
            <a:spLocks noChangeArrowheads="1"/>
          </p:cNvSpPr>
          <p:nvPr/>
        </p:nvSpPr>
        <p:spPr bwMode="auto">
          <a:xfrm>
            <a:off x="0" y="8255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4" name="Rectangle 22"/>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5" name="Rectangle 25"/>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6" name="Rectangle 28"/>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299017" name="Rectangle 30"/>
          <p:cNvSpPr>
            <a:spLocks noChangeArrowheads="1"/>
          </p:cNvSpPr>
          <p:nvPr/>
        </p:nvSpPr>
        <p:spPr bwMode="auto">
          <a:xfrm>
            <a:off x="0" y="-1841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sp>
        <p:nvSpPr>
          <p:cNvPr id="299018" name="Rectangle 33"/>
          <p:cNvSpPr>
            <a:spLocks noChangeArrowheads="1"/>
          </p:cNvSpPr>
          <p:nvPr/>
        </p:nvSpPr>
        <p:spPr bwMode="auto">
          <a:xfrm>
            <a:off x="0" y="5778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sz="1800"/>
          </a:p>
        </p:txBody>
      </p:sp>
      <p:sp>
        <p:nvSpPr>
          <p:cNvPr id="4" name="Title 3"/>
          <p:cNvSpPr>
            <a:spLocks noGrp="1"/>
          </p:cNvSpPr>
          <p:nvPr>
            <p:ph type="title"/>
          </p:nvPr>
        </p:nvSpPr>
        <p:spPr/>
        <p:txBody>
          <a:bodyPr/>
          <a:lstStyle/>
          <a:p>
            <a:r>
              <a:rPr lang="en-GB" dirty="0"/>
              <a:t>Further Issuance (Follow – On Offerings)</a:t>
            </a:r>
          </a:p>
        </p:txBody>
      </p:sp>
      <p:sp>
        <p:nvSpPr>
          <p:cNvPr id="158733" name="Content Placeholder 2"/>
          <p:cNvSpPr>
            <a:spLocks noGrp="1"/>
          </p:cNvSpPr>
          <p:nvPr>
            <p:ph type="body" idx="4294967295"/>
          </p:nvPr>
        </p:nvSpPr>
        <p:spPr>
          <a:xfrm>
            <a:off x="611188" y="1268760"/>
            <a:ext cx="8034337" cy="4752975"/>
          </a:xfrm>
        </p:spPr>
        <p:txBody>
          <a:bodyPr/>
          <a:lstStyle/>
          <a:p>
            <a:pPr marL="0" indent="0">
              <a:buNone/>
            </a:pPr>
            <a:r>
              <a:rPr lang="en-GB" sz="1800" b="1" dirty="0">
                <a:sym typeface="Calibri"/>
              </a:rPr>
              <a:t>Rights Issues</a:t>
            </a:r>
          </a:p>
          <a:p>
            <a:pPr lvl="1"/>
            <a:r>
              <a:rPr lang="en-GB" sz="1800" dirty="0">
                <a:sym typeface="Calibri"/>
              </a:rPr>
              <a:t>Existing shareholders have the right to subscribe for new shares in proportion to their current holdings, at a discount to current market price</a:t>
            </a:r>
          </a:p>
          <a:p>
            <a:pPr lvl="1"/>
            <a:endParaRPr lang="en-GB" sz="1800" dirty="0">
              <a:sym typeface="Calibri"/>
            </a:endParaRPr>
          </a:p>
          <a:p>
            <a:pPr lvl="1"/>
            <a:endParaRPr lang="en-GB" sz="1800" dirty="0">
              <a:sym typeface="Calibri"/>
            </a:endParaRPr>
          </a:p>
          <a:p>
            <a:pPr marL="0" indent="0">
              <a:buNone/>
            </a:pPr>
            <a:r>
              <a:rPr lang="en-GB" sz="1800" b="1" dirty="0">
                <a:sym typeface="Calibri"/>
              </a:rPr>
              <a:t>Scrip (‘Bonus’ or ’Capitalisation’) Issues</a:t>
            </a:r>
          </a:p>
          <a:p>
            <a:pPr lvl="1"/>
            <a:r>
              <a:rPr lang="en-GB" sz="1800" dirty="0">
                <a:sym typeface="Calibri"/>
              </a:rPr>
              <a:t>Existing shareholders have the right to subscribe for new shares in proportion to their current holdings, for FREE</a:t>
            </a:r>
          </a:p>
          <a:p>
            <a:pPr lvl="1"/>
            <a:endParaRPr lang="en-GB" sz="1800" dirty="0">
              <a:sym typeface="Calibri"/>
            </a:endParaRPr>
          </a:p>
          <a:p>
            <a:pPr lvl="1"/>
            <a:endParaRPr lang="en-US" dirty="0">
              <a:sym typeface="Calibri"/>
            </a:endParaRPr>
          </a:p>
        </p:txBody>
      </p:sp>
    </p:spTree>
    <p:extLst>
      <p:ext uri="{BB962C8B-B14F-4D97-AF65-F5344CB8AC3E}">
        <p14:creationId xmlns:p14="http://schemas.microsoft.com/office/powerpoint/2010/main" val="3177953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1188" y="548035"/>
            <a:ext cx="8065268" cy="720725"/>
          </a:xfrm>
        </p:spPr>
        <p:txBody>
          <a:bodyPr/>
          <a:lstStyle/>
          <a:p>
            <a:r>
              <a:rPr lang="en-GB" dirty="0"/>
              <a:t>Alternative Trading Venues</a:t>
            </a:r>
            <a:br>
              <a:rPr lang="en-GB" dirty="0"/>
            </a:br>
            <a:endParaRPr lang="en-GB" dirty="0"/>
          </a:p>
        </p:txBody>
      </p:sp>
      <p:sp>
        <p:nvSpPr>
          <p:cNvPr id="5" name="Text Placeholder 4"/>
          <p:cNvSpPr>
            <a:spLocks noGrp="1"/>
          </p:cNvSpPr>
          <p:nvPr>
            <p:ph type="body" idx="4294967295"/>
          </p:nvPr>
        </p:nvSpPr>
        <p:spPr>
          <a:xfrm>
            <a:off x="611188" y="1268760"/>
            <a:ext cx="8034337" cy="4752975"/>
          </a:xfrm>
        </p:spPr>
        <p:txBody>
          <a:bodyPr/>
          <a:lstStyle/>
          <a:p>
            <a:pPr marL="90487" lvl="1" indent="0">
              <a:buNone/>
            </a:pPr>
            <a:r>
              <a:rPr lang="en-GB" sz="1800" dirty="0">
                <a:latin typeface="+mn-lt"/>
              </a:rPr>
              <a:t>Over-the-counter (OTC)</a:t>
            </a:r>
          </a:p>
          <a:p>
            <a:pPr lvl="2"/>
            <a:r>
              <a:rPr lang="en-GB" sz="1800" dirty="0"/>
              <a:t>Decentralised trading</a:t>
            </a:r>
          </a:p>
          <a:p>
            <a:pPr lvl="2"/>
            <a:r>
              <a:rPr lang="en-GB" sz="1800" dirty="0"/>
              <a:t>Securities not listed on exchange</a:t>
            </a:r>
          </a:p>
          <a:p>
            <a:pPr marL="90487" lvl="1" indent="0">
              <a:buNone/>
            </a:pPr>
            <a:r>
              <a:rPr lang="en-GB" sz="1800" dirty="0">
                <a:latin typeface="+mn-lt"/>
              </a:rPr>
              <a:t>Multilateral trading facilities (MTFs)</a:t>
            </a:r>
          </a:p>
          <a:p>
            <a:pPr lvl="2"/>
            <a:r>
              <a:rPr lang="en-GB" sz="1800" dirty="0"/>
              <a:t>Trading platforms organised by investment firms, e.g. BATS Chi-X Europe, Turquoise</a:t>
            </a:r>
          </a:p>
          <a:p>
            <a:pPr marL="88900" lvl="1" indent="0">
              <a:buNone/>
            </a:pPr>
            <a:r>
              <a:rPr lang="en-GB" sz="1800" dirty="0">
                <a:latin typeface="+mn-lt"/>
              </a:rPr>
              <a:t>Dark pools</a:t>
            </a:r>
          </a:p>
          <a:p>
            <a:pPr marL="1143000" lvl="2" indent="-228600"/>
            <a:r>
              <a:rPr lang="en-GB" sz="1800" dirty="0"/>
              <a:t>MTFs that have opted out of the requirements for pre-trade transparency</a:t>
            </a:r>
          </a:p>
          <a:p>
            <a:pPr marL="1143000" lvl="2" indent="-228600"/>
            <a:r>
              <a:rPr lang="en-GB" sz="1800" dirty="0"/>
              <a:t>Allow large trades to be traded without price impact, thus potentially getting a better price on sizeable orders</a:t>
            </a:r>
          </a:p>
          <a:p>
            <a:pPr marL="90487" lvl="1" indent="0">
              <a:buNone/>
            </a:pPr>
            <a:r>
              <a:rPr lang="en-GB" sz="1800" dirty="0">
                <a:latin typeface="+mn-lt"/>
              </a:rPr>
              <a:t>Systematic Internalisers</a:t>
            </a:r>
          </a:p>
          <a:p>
            <a:pPr lvl="2"/>
            <a:r>
              <a:rPr lang="en-GB" sz="1800" dirty="0"/>
              <a:t>Investment firms dealing own account in liquid shares outside a regulated market of MTF</a:t>
            </a:r>
          </a:p>
          <a:p>
            <a:pPr marL="0" indent="0">
              <a:buNone/>
            </a:pPr>
            <a:endParaRPr lang="en-GB" sz="1800" dirty="0">
              <a:latin typeface="+mn-lt"/>
            </a:endParaRPr>
          </a:p>
          <a:p>
            <a:pPr lvl="1"/>
            <a:endParaRPr lang="en-GB" sz="1800" dirty="0">
              <a:latin typeface="+mn-lt"/>
            </a:endParaRPr>
          </a:p>
        </p:txBody>
      </p:sp>
    </p:spTree>
    <p:extLst>
      <p:ext uri="{BB962C8B-B14F-4D97-AF65-F5344CB8AC3E}">
        <p14:creationId xmlns:p14="http://schemas.microsoft.com/office/powerpoint/2010/main" val="4171461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54B956-08C4-4928-8851-CD9B4B754CA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8A4ECC5-1F93-46FC-96DF-3F5E0EF0B248}"/>
              </a:ext>
            </a:extLst>
          </p:cNvPr>
          <p:cNvSpPr>
            <a:spLocks noGrp="1"/>
          </p:cNvSpPr>
          <p:nvPr>
            <p:ph sz="half" idx="4294967295"/>
          </p:nvPr>
        </p:nvSpPr>
        <p:spPr>
          <a:xfrm>
            <a:off x="611956" y="1268413"/>
            <a:ext cx="8064500" cy="4752975"/>
          </a:xfrm>
        </p:spPr>
        <p:txBody>
          <a:bodyPr/>
          <a:lstStyle/>
          <a:p>
            <a:pPr marL="88900" lvl="1" indent="0">
              <a:buNone/>
            </a:pPr>
            <a:r>
              <a:rPr lang="en-GB" sz="1800" dirty="0">
                <a:latin typeface="+mn-lt"/>
              </a:rPr>
              <a:t>Organised trading facilities (OTFs)</a:t>
            </a:r>
          </a:p>
          <a:p>
            <a:pPr marL="1143000" lvl="2" indent="-228600"/>
            <a:r>
              <a:rPr lang="en-GB" sz="1800" dirty="0"/>
              <a:t>Multilateral system which is not a regulated market or MTF</a:t>
            </a:r>
          </a:p>
          <a:p>
            <a:pPr marL="1143000" lvl="2" indent="-228600"/>
            <a:r>
              <a:rPr lang="en-GB" sz="1800" dirty="0"/>
              <a:t>New category of trading facility introduced in MiFID II to capture trading in bonds and certain kinds of derivatives that would not be traded on organised markets or MTFs</a:t>
            </a:r>
          </a:p>
          <a:p>
            <a:pPr marL="1143000" lvl="2" indent="-228600"/>
            <a:r>
              <a:rPr lang="en-GB" sz="1800" dirty="0"/>
              <a:t>Trading on regulated markets and MTFs is governed by rules whereas trading on OTFs is discretionary </a:t>
            </a:r>
          </a:p>
          <a:p>
            <a:pPr marL="914400" lvl="2" indent="0">
              <a:buNone/>
            </a:pPr>
            <a:endParaRPr lang="en-GB" sz="1800" dirty="0"/>
          </a:p>
        </p:txBody>
      </p:sp>
    </p:spTree>
    <p:extLst>
      <p:ext uri="{BB962C8B-B14F-4D97-AF65-F5344CB8AC3E}">
        <p14:creationId xmlns:p14="http://schemas.microsoft.com/office/powerpoint/2010/main" val="112014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DBC40383-EC54-471E-8E96-8B0A026C36E8}"/>
              </a:ext>
            </a:extLst>
          </p:cNvPr>
          <p:cNvSpPr>
            <a:spLocks noGrp="1"/>
          </p:cNvSpPr>
          <p:nvPr>
            <p:ph type="title"/>
          </p:nvPr>
        </p:nvSpPr>
        <p:spPr>
          <a:xfrm>
            <a:off x="571500" y="3068315"/>
            <a:ext cx="8032750" cy="720725"/>
          </a:xfrm>
        </p:spPr>
        <p:txBody>
          <a:bodyPr/>
          <a:lstStyle/>
          <a:p>
            <a:pPr algn="ctr">
              <a:lnSpc>
                <a:spcPts val="2625"/>
              </a:lnSpc>
            </a:pPr>
            <a:br>
              <a:rPr lang="en-GB" altLang="en-US" dirty="0">
                <a:ea typeface="ＭＳ Ｐゴシック" panose="020B0600070205080204" pitchFamily="34" charset="-128"/>
              </a:rPr>
            </a:br>
            <a:r>
              <a:rPr lang="en-GB" altLang="en-US" dirty="0">
                <a:ea typeface="ＭＳ Ｐゴシック" panose="020B0600070205080204" pitchFamily="34" charset="-128"/>
              </a:rPr>
              <a:t>Interest Rates, Money Markets and FX </a:t>
            </a:r>
            <a:br>
              <a:rPr lang="en-GB" altLang="en-US" dirty="0">
                <a:ea typeface="ＭＳ Ｐゴシック" panose="020B0600070205080204" pitchFamily="34" charset="-128"/>
              </a:rPr>
            </a:br>
            <a:endParaRPr altLang="en-US" dirty="0">
              <a:ea typeface="ＭＳ Ｐゴシック" panose="020B0600070205080204" pitchFamily="34" charset="-128"/>
            </a:endParaRPr>
          </a:p>
        </p:txBody>
      </p:sp>
    </p:spTree>
    <p:extLst>
      <p:ext uri="{BB962C8B-B14F-4D97-AF65-F5344CB8AC3E}">
        <p14:creationId xmlns:p14="http://schemas.microsoft.com/office/powerpoint/2010/main" val="3641184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9">
            <a:extLst>
              <a:ext uri="{FF2B5EF4-FFF2-40B4-BE49-F238E27FC236}">
                <a16:creationId xmlns:a16="http://schemas.microsoft.com/office/drawing/2014/main" id="{83174207-7C7D-4DE4-AAF0-1FD7E455295B}"/>
              </a:ext>
            </a:extLst>
          </p:cNvPr>
          <p:cNvSpPr>
            <a:spLocks noGrp="1" noChangeArrowheads="1"/>
          </p:cNvSpPr>
          <p:nvPr>
            <p:ph type="title"/>
          </p:nvPr>
        </p:nvSpPr>
        <p:spPr/>
        <p:txBody>
          <a:bodyPr/>
          <a:lstStyle/>
          <a:p>
            <a:pPr eaLnBrk="1" hangingPunct="1"/>
            <a:r>
              <a:rPr lang="en-US" altLang="en-US"/>
              <a:t>Reference Rates</a:t>
            </a:r>
            <a:endParaRPr lang="en-GB" altLang="en-US"/>
          </a:p>
        </p:txBody>
      </p:sp>
      <p:sp>
        <p:nvSpPr>
          <p:cNvPr id="94211" name="Rectangle 10">
            <a:extLst>
              <a:ext uri="{FF2B5EF4-FFF2-40B4-BE49-F238E27FC236}">
                <a16:creationId xmlns:a16="http://schemas.microsoft.com/office/drawing/2014/main" id="{BDB941C1-7B04-424F-908B-5FC366A66716}"/>
              </a:ext>
            </a:extLst>
          </p:cNvPr>
          <p:cNvSpPr>
            <a:spLocks noGrp="1" noChangeArrowheads="1"/>
          </p:cNvSpPr>
          <p:nvPr>
            <p:ph type="body" sz="half" idx="4294967295"/>
          </p:nvPr>
        </p:nvSpPr>
        <p:spPr>
          <a:xfrm>
            <a:off x="683568" y="1125538"/>
            <a:ext cx="8208962" cy="5040312"/>
          </a:xfrm>
        </p:spPr>
        <p:txBody>
          <a:bodyPr/>
          <a:lstStyle/>
          <a:p>
            <a:pPr eaLnBrk="1" hangingPunct="1">
              <a:buFontTx/>
              <a:buNone/>
            </a:pPr>
            <a:r>
              <a:rPr lang="en-GB" altLang="en-US" sz="1800" b="1" dirty="0"/>
              <a:t>LIBOR fixing - </a:t>
            </a:r>
            <a:r>
              <a:rPr lang="en-GB" altLang="en-US" sz="1800" b="1" u="sng" dirty="0"/>
              <a:t>Historically</a:t>
            </a:r>
          </a:p>
          <a:p>
            <a:pPr eaLnBrk="1" hangingPunct="1"/>
            <a:endParaRPr lang="en-GB" altLang="en-US" sz="1800" dirty="0"/>
          </a:p>
          <a:p>
            <a:pPr eaLnBrk="1" hangingPunct="1"/>
            <a:r>
              <a:rPr lang="en-GB" altLang="en-US" sz="1600" dirty="0"/>
              <a:t>A sample of the various inter-bank offered rates at 11.00am WAS taken each business day by the British Banking Association (BBA). This is referred to as the BBA 11.00am LIBOR Fixing.</a:t>
            </a:r>
          </a:p>
          <a:p>
            <a:pPr eaLnBrk="1" hangingPunct="1"/>
            <a:r>
              <a:rPr lang="en-GB" altLang="en-US" sz="1600" dirty="0"/>
              <a:t>Calculation of BBA 11.00am LIBOR:</a:t>
            </a:r>
          </a:p>
          <a:p>
            <a:pPr lvl="1" eaLnBrk="1" hangingPunct="1"/>
            <a:r>
              <a:rPr lang="en-GB" altLang="en-US" sz="1600" dirty="0">
                <a:solidFill>
                  <a:srgbClr val="1E0576"/>
                </a:solidFill>
              </a:rPr>
              <a:t>The British Bankers' Association (BBA), were advised by the LIBOR Panel Banks and Users Group (LPBAUG) </a:t>
            </a:r>
          </a:p>
          <a:p>
            <a:pPr lvl="1" eaLnBrk="1" hangingPunct="1"/>
            <a:r>
              <a:rPr lang="en-GB" altLang="en-US" sz="1600" dirty="0">
                <a:solidFill>
                  <a:srgbClr val="1E0576"/>
                </a:solidFill>
              </a:rPr>
              <a:t>Reference panel of between 6 and 18 contributor banks for each currency calculated </a:t>
            </a:r>
          </a:p>
          <a:p>
            <a:pPr lvl="1" eaLnBrk="1" hangingPunct="1"/>
            <a:r>
              <a:rPr lang="en-GB" altLang="en-US" sz="1600" dirty="0">
                <a:solidFill>
                  <a:srgbClr val="1E0576"/>
                </a:solidFill>
              </a:rPr>
              <a:t>11.00am each day banks submitted their inter-bank offer rates for various periods</a:t>
            </a:r>
          </a:p>
          <a:p>
            <a:pPr lvl="1" eaLnBrk="1" hangingPunct="1"/>
            <a:r>
              <a:rPr lang="en-GB" altLang="en-US" sz="1600" dirty="0">
                <a:solidFill>
                  <a:srgbClr val="1E0576"/>
                </a:solidFill>
              </a:rPr>
              <a:t>BBA removed top four and bottom four values for each rate and took an average of the middle eight</a:t>
            </a:r>
          </a:p>
          <a:p>
            <a:pPr lvl="1" eaLnBrk="1" hangingPunct="1"/>
            <a:r>
              <a:rPr lang="en-GB" altLang="en-US" sz="1600" dirty="0">
                <a:solidFill>
                  <a:srgbClr val="1E0576"/>
                </a:solidFill>
              </a:rPr>
              <a:t>Rates WERE quoted in 10 currencies and in 15 maturities</a:t>
            </a:r>
          </a:p>
          <a:p>
            <a:pPr lvl="1"/>
            <a:r>
              <a:rPr lang="en-GB" altLang="en-US" sz="1600" dirty="0">
                <a:solidFill>
                  <a:srgbClr val="1E0576"/>
                </a:solidFill>
              </a:rPr>
              <a:t>Individual banks were selected within this guiding principle, based upon 3 criteria:</a:t>
            </a:r>
          </a:p>
          <a:p>
            <a:pPr lvl="2"/>
            <a:r>
              <a:rPr lang="en-GB" altLang="en-US" sz="1400" dirty="0">
                <a:solidFill>
                  <a:srgbClr val="1E0576"/>
                </a:solidFill>
              </a:rPr>
              <a:t>scale of market activity </a:t>
            </a:r>
          </a:p>
          <a:p>
            <a:pPr lvl="2"/>
            <a:r>
              <a:rPr lang="en-GB" altLang="en-US" sz="1400" dirty="0">
                <a:solidFill>
                  <a:srgbClr val="1E0576"/>
                </a:solidFill>
              </a:rPr>
              <a:t>reputation and; </a:t>
            </a:r>
          </a:p>
          <a:p>
            <a:pPr lvl="2"/>
            <a:r>
              <a:rPr lang="en-GB" altLang="en-US" sz="1400" dirty="0">
                <a:solidFill>
                  <a:srgbClr val="1E0576"/>
                </a:solidFill>
              </a:rPr>
              <a:t>perceived expertise in the currency concerned. </a:t>
            </a:r>
          </a:p>
          <a:p>
            <a:pPr lvl="1" eaLnBrk="1" hangingPunct="1">
              <a:buFontTx/>
              <a:buNone/>
            </a:pPr>
            <a:endParaRPr lang="en-GB" altLang="en-US" sz="1600" dirty="0"/>
          </a:p>
          <a:p>
            <a:pPr lvl="1" eaLnBrk="1" hangingPunct="1">
              <a:buFontTx/>
              <a:buNone/>
            </a:pPr>
            <a:endParaRPr lang="en-GB" altLang="en-US" sz="1600" dirty="0"/>
          </a:p>
          <a:p>
            <a:pPr lvl="1" eaLnBrk="1" hangingPunct="1"/>
            <a:endParaRPr lang="en-GB" altLang="en-US" sz="1600" dirty="0"/>
          </a:p>
          <a:p>
            <a:pPr eaLnBrk="1" hangingPunct="1"/>
            <a:endParaRPr lang="en-GB" altLang="en-US" sz="1800" dirty="0"/>
          </a:p>
        </p:txBody>
      </p:sp>
    </p:spTree>
    <p:extLst>
      <p:ext uri="{BB962C8B-B14F-4D97-AF65-F5344CB8AC3E}">
        <p14:creationId xmlns:p14="http://schemas.microsoft.com/office/powerpoint/2010/main" val="402555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9">
            <a:extLst>
              <a:ext uri="{FF2B5EF4-FFF2-40B4-BE49-F238E27FC236}">
                <a16:creationId xmlns:a16="http://schemas.microsoft.com/office/drawing/2014/main" id="{DD0DE022-7E61-4E72-A541-149CFF7CF7CB}"/>
              </a:ext>
            </a:extLst>
          </p:cNvPr>
          <p:cNvSpPr>
            <a:spLocks noGrp="1" noChangeArrowheads="1"/>
          </p:cNvSpPr>
          <p:nvPr>
            <p:ph type="title"/>
          </p:nvPr>
        </p:nvSpPr>
        <p:spPr/>
        <p:txBody>
          <a:bodyPr/>
          <a:lstStyle/>
          <a:p>
            <a:pPr eaLnBrk="1" hangingPunct="1"/>
            <a:r>
              <a:rPr lang="en-US" altLang="en-US"/>
              <a:t>Reference Rates</a:t>
            </a:r>
            <a:endParaRPr lang="en-GB" altLang="en-US"/>
          </a:p>
        </p:txBody>
      </p:sp>
      <p:sp>
        <p:nvSpPr>
          <p:cNvPr id="102403" name="Rectangle 10">
            <a:extLst>
              <a:ext uri="{FF2B5EF4-FFF2-40B4-BE49-F238E27FC236}">
                <a16:creationId xmlns:a16="http://schemas.microsoft.com/office/drawing/2014/main" id="{A6D06B85-D298-4F02-9286-0CAF1CEB66E9}"/>
              </a:ext>
            </a:extLst>
          </p:cNvPr>
          <p:cNvSpPr>
            <a:spLocks noGrp="1" noChangeArrowheads="1"/>
          </p:cNvSpPr>
          <p:nvPr>
            <p:ph type="body" sz="half" idx="4294967295"/>
          </p:nvPr>
        </p:nvSpPr>
        <p:spPr>
          <a:xfrm>
            <a:off x="683518" y="1125538"/>
            <a:ext cx="8208962" cy="5040312"/>
          </a:xfrm>
        </p:spPr>
        <p:txBody>
          <a:bodyPr/>
          <a:lstStyle/>
          <a:p>
            <a:pPr eaLnBrk="1" hangingPunct="1">
              <a:lnSpc>
                <a:spcPct val="90000"/>
              </a:lnSpc>
              <a:buFontTx/>
              <a:buNone/>
            </a:pPr>
            <a:r>
              <a:rPr lang="en-GB" altLang="en-US" sz="1800" b="1" dirty="0"/>
              <a:t>LIBOR fixing – </a:t>
            </a:r>
            <a:r>
              <a:rPr lang="en-GB" altLang="en-US" sz="1800" b="1" u="sng" dirty="0"/>
              <a:t>And then….</a:t>
            </a:r>
          </a:p>
          <a:p>
            <a:pPr eaLnBrk="1" hangingPunct="1">
              <a:lnSpc>
                <a:spcPct val="90000"/>
              </a:lnSpc>
            </a:pPr>
            <a:r>
              <a:rPr lang="en-GB" altLang="en-US" sz="1800" dirty="0"/>
              <a:t>A sample of the various inter-bank offered rates at 11.00am taken each business day by the ICE Benchmark Administration (IBA). </a:t>
            </a:r>
          </a:p>
          <a:p>
            <a:pPr marL="0" indent="0" eaLnBrk="1" hangingPunct="1">
              <a:lnSpc>
                <a:spcPct val="90000"/>
              </a:lnSpc>
              <a:buNone/>
            </a:pPr>
            <a:endParaRPr lang="en-GB" altLang="en-US" sz="1800" u="sng" dirty="0"/>
          </a:p>
          <a:p>
            <a:pPr lvl="1" eaLnBrk="1" hangingPunct="1">
              <a:lnSpc>
                <a:spcPct val="90000"/>
              </a:lnSpc>
            </a:pPr>
            <a:r>
              <a:rPr lang="en-GB" altLang="en-US" sz="1600" dirty="0">
                <a:solidFill>
                  <a:srgbClr val="230576"/>
                </a:solidFill>
              </a:rPr>
              <a:t>instead of the previous ten currencies and 15 maturities there are now just </a:t>
            </a:r>
            <a:r>
              <a:rPr lang="en-GB" altLang="en-US" sz="1600" b="1" dirty="0">
                <a:solidFill>
                  <a:srgbClr val="230576"/>
                </a:solidFill>
              </a:rPr>
              <a:t>five currencies</a:t>
            </a:r>
            <a:r>
              <a:rPr lang="en-GB" altLang="en-US" sz="1600" dirty="0">
                <a:solidFill>
                  <a:srgbClr val="230576"/>
                </a:solidFill>
              </a:rPr>
              <a:t> and </a:t>
            </a:r>
            <a:r>
              <a:rPr lang="en-GB" altLang="en-US" sz="1600" b="1" dirty="0">
                <a:solidFill>
                  <a:srgbClr val="230576"/>
                </a:solidFill>
              </a:rPr>
              <a:t>seven maturities</a:t>
            </a:r>
            <a:r>
              <a:rPr lang="en-GB" altLang="en-US" sz="1600" dirty="0">
                <a:solidFill>
                  <a:srgbClr val="230576"/>
                </a:solidFill>
              </a:rPr>
              <a:t> quoted every day.</a:t>
            </a:r>
          </a:p>
          <a:p>
            <a:pPr lvl="1" eaLnBrk="1" hangingPunct="1">
              <a:lnSpc>
                <a:spcPct val="90000"/>
              </a:lnSpc>
            </a:pPr>
            <a:r>
              <a:rPr lang="en-GB" altLang="en-US" sz="1600" dirty="0">
                <a:solidFill>
                  <a:srgbClr val="230576"/>
                </a:solidFill>
              </a:rPr>
              <a:t>New Zealand Dollar, Swedish Krona, Danish Krone, Canadian and Australian Dollar no longer quoted</a:t>
            </a:r>
          </a:p>
          <a:p>
            <a:pPr lvl="1" eaLnBrk="1" hangingPunct="1">
              <a:lnSpc>
                <a:spcPct val="90000"/>
              </a:lnSpc>
            </a:pPr>
            <a:r>
              <a:rPr lang="en-GB" altLang="en-US" sz="1600" dirty="0">
                <a:solidFill>
                  <a:srgbClr val="230576"/>
                </a:solidFill>
              </a:rPr>
              <a:t>With effect from 1st July 2013, the publication of individual bank’s submissions to LIBOR was embargoed for 3 months.</a:t>
            </a:r>
          </a:p>
          <a:p>
            <a:pPr lvl="1" eaLnBrk="1" hangingPunct="1">
              <a:lnSpc>
                <a:spcPct val="90000"/>
              </a:lnSpc>
            </a:pPr>
            <a:r>
              <a:rPr lang="en-GB" altLang="en-US" sz="1600" dirty="0">
                <a:solidFill>
                  <a:srgbClr val="230576"/>
                </a:solidFill>
              </a:rPr>
              <a:t>Individual bank submissions remain available in real-time to the LIBOR benchmark administrators for the purposes of calculating the rate and for monitoring and surveillance.</a:t>
            </a:r>
          </a:p>
          <a:p>
            <a:pPr lvl="1" eaLnBrk="1" hangingPunct="1">
              <a:lnSpc>
                <a:spcPct val="90000"/>
              </a:lnSpc>
            </a:pPr>
            <a:r>
              <a:rPr lang="en-GB" altLang="en-US" sz="1600" dirty="0">
                <a:solidFill>
                  <a:srgbClr val="230576"/>
                </a:solidFill>
              </a:rPr>
              <a:t>Individual submissions published after the 3 months embargo period.</a:t>
            </a:r>
          </a:p>
          <a:p>
            <a:pPr lvl="1" eaLnBrk="1" hangingPunct="1">
              <a:lnSpc>
                <a:spcPct val="90000"/>
              </a:lnSpc>
            </a:pPr>
            <a:r>
              <a:rPr lang="en-GB" altLang="en-US" sz="1600" dirty="0">
                <a:solidFill>
                  <a:srgbClr val="230576"/>
                </a:solidFill>
              </a:rPr>
              <a:t>The daily publication of the final LIBOR rates not affected.</a:t>
            </a:r>
          </a:p>
          <a:p>
            <a:pPr lvl="1" eaLnBrk="1" hangingPunct="1">
              <a:lnSpc>
                <a:spcPct val="90000"/>
              </a:lnSpc>
            </a:pPr>
            <a:r>
              <a:rPr lang="en-GB" altLang="en-US" sz="1600" b="1" dirty="0">
                <a:solidFill>
                  <a:srgbClr val="230576"/>
                </a:solidFill>
              </a:rPr>
              <a:t>The setting of LIBOR becomes a Regulated/Specified Activity</a:t>
            </a:r>
          </a:p>
          <a:p>
            <a:pPr lvl="1" eaLnBrk="1" hangingPunct="1">
              <a:lnSpc>
                <a:spcPct val="90000"/>
              </a:lnSpc>
              <a:buFontTx/>
              <a:buNone/>
            </a:pPr>
            <a:endParaRPr lang="en-GB" altLang="en-US" sz="1600" b="1" dirty="0"/>
          </a:p>
          <a:p>
            <a:pPr lvl="1" algn="ctr" eaLnBrk="1" hangingPunct="1">
              <a:lnSpc>
                <a:spcPct val="90000"/>
              </a:lnSpc>
            </a:pPr>
            <a:r>
              <a:rPr lang="en-GB" altLang="en-US" sz="3600" b="1" dirty="0"/>
              <a:t>And now?...............</a:t>
            </a:r>
          </a:p>
          <a:p>
            <a:pPr lvl="1" eaLnBrk="1" hangingPunct="1">
              <a:lnSpc>
                <a:spcPct val="90000"/>
              </a:lnSpc>
            </a:pPr>
            <a:endParaRPr lang="en-GB" altLang="en-US" sz="1600" dirty="0"/>
          </a:p>
          <a:p>
            <a:pPr lvl="1" eaLnBrk="1" hangingPunct="1">
              <a:lnSpc>
                <a:spcPct val="90000"/>
              </a:lnSpc>
            </a:pPr>
            <a:endParaRPr lang="en-GB" altLang="en-US" sz="1600" dirty="0"/>
          </a:p>
          <a:p>
            <a:pPr lvl="1" eaLnBrk="1" hangingPunct="1">
              <a:lnSpc>
                <a:spcPct val="90000"/>
              </a:lnSpc>
              <a:buFontTx/>
              <a:buNone/>
            </a:pPr>
            <a:endParaRPr lang="en-GB" altLang="en-US" sz="1600" dirty="0"/>
          </a:p>
          <a:p>
            <a:pPr lvl="1" eaLnBrk="1" hangingPunct="1">
              <a:lnSpc>
                <a:spcPct val="90000"/>
              </a:lnSpc>
            </a:pPr>
            <a:endParaRPr lang="en-GB" altLang="en-US" sz="1600" dirty="0"/>
          </a:p>
          <a:p>
            <a:pPr eaLnBrk="1" hangingPunct="1">
              <a:lnSpc>
                <a:spcPct val="90000"/>
              </a:lnSpc>
            </a:pPr>
            <a:endParaRPr lang="en-GB" altLang="en-US" sz="1800" dirty="0"/>
          </a:p>
        </p:txBody>
      </p:sp>
    </p:spTree>
    <p:extLst>
      <p:ext uri="{BB962C8B-B14F-4D97-AF65-F5344CB8AC3E}">
        <p14:creationId xmlns:p14="http://schemas.microsoft.com/office/powerpoint/2010/main" val="728400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9">
            <a:extLst>
              <a:ext uri="{FF2B5EF4-FFF2-40B4-BE49-F238E27FC236}">
                <a16:creationId xmlns:a16="http://schemas.microsoft.com/office/drawing/2014/main" id="{DD0DE022-7E61-4E72-A541-149CFF7CF7CB}"/>
              </a:ext>
            </a:extLst>
          </p:cNvPr>
          <p:cNvSpPr>
            <a:spLocks noGrp="1" noChangeArrowheads="1"/>
          </p:cNvSpPr>
          <p:nvPr>
            <p:ph type="title"/>
          </p:nvPr>
        </p:nvSpPr>
        <p:spPr/>
        <p:txBody>
          <a:bodyPr/>
          <a:lstStyle/>
          <a:p>
            <a:pPr eaLnBrk="1" hangingPunct="1"/>
            <a:r>
              <a:rPr lang="en-US" altLang="en-US"/>
              <a:t>Reference Rates</a:t>
            </a:r>
            <a:endParaRPr lang="en-GB" altLang="en-US"/>
          </a:p>
        </p:txBody>
      </p:sp>
      <p:sp>
        <p:nvSpPr>
          <p:cNvPr id="102403" name="Rectangle 10">
            <a:extLst>
              <a:ext uri="{FF2B5EF4-FFF2-40B4-BE49-F238E27FC236}">
                <a16:creationId xmlns:a16="http://schemas.microsoft.com/office/drawing/2014/main" id="{A6D06B85-D298-4F02-9286-0CAF1CEB66E9}"/>
              </a:ext>
            </a:extLst>
          </p:cNvPr>
          <p:cNvSpPr>
            <a:spLocks noGrp="1" noChangeArrowheads="1"/>
          </p:cNvSpPr>
          <p:nvPr>
            <p:ph type="body" sz="half" idx="4294967295"/>
          </p:nvPr>
        </p:nvSpPr>
        <p:spPr>
          <a:xfrm>
            <a:off x="683518" y="1125538"/>
            <a:ext cx="8208962" cy="5040312"/>
          </a:xfrm>
        </p:spPr>
        <p:txBody>
          <a:bodyPr/>
          <a:lstStyle/>
          <a:p>
            <a:pPr eaLnBrk="1" hangingPunct="1">
              <a:lnSpc>
                <a:spcPct val="90000"/>
              </a:lnSpc>
              <a:buFontTx/>
              <a:buNone/>
            </a:pPr>
            <a:r>
              <a:rPr lang="en-GB" altLang="en-US" sz="1800" b="1" dirty="0"/>
              <a:t>LIBOR</a:t>
            </a:r>
            <a:endParaRPr lang="en-GB" altLang="en-US" sz="1800" b="1" u="sng" dirty="0"/>
          </a:p>
          <a:p>
            <a:pPr marL="0" indent="0" eaLnBrk="1" hangingPunct="1">
              <a:lnSpc>
                <a:spcPct val="90000"/>
              </a:lnSpc>
              <a:buNone/>
            </a:pPr>
            <a:endParaRPr lang="en-GB" altLang="en-US" sz="1800" u="sng" dirty="0"/>
          </a:p>
          <a:p>
            <a:pPr lvl="1" eaLnBrk="1" hangingPunct="1">
              <a:lnSpc>
                <a:spcPct val="90000"/>
              </a:lnSpc>
            </a:pPr>
            <a:r>
              <a:rPr lang="en-GB" altLang="en-US" sz="1800" dirty="0">
                <a:solidFill>
                  <a:srgbClr val="230576"/>
                </a:solidFill>
              </a:rPr>
              <a:t>The underlying market LIBOR measures is no longer liquid</a:t>
            </a:r>
          </a:p>
          <a:p>
            <a:pPr lvl="1" eaLnBrk="1" hangingPunct="1">
              <a:lnSpc>
                <a:spcPct val="90000"/>
              </a:lnSpc>
            </a:pPr>
            <a:r>
              <a:rPr lang="en-GB" altLang="en-US" sz="1800" dirty="0">
                <a:solidFill>
                  <a:srgbClr val="230576"/>
                </a:solidFill>
              </a:rPr>
              <a:t>LIBOR is often used to hedge the general level of interest rates, although seen as inefficient given it includes a term bank credit component</a:t>
            </a:r>
          </a:p>
          <a:p>
            <a:pPr lvl="1" eaLnBrk="1" hangingPunct="1">
              <a:lnSpc>
                <a:spcPct val="90000"/>
              </a:lnSpc>
            </a:pPr>
            <a:r>
              <a:rPr lang="en-GB" altLang="en-US" sz="1800" dirty="0">
                <a:solidFill>
                  <a:srgbClr val="230576"/>
                </a:solidFill>
              </a:rPr>
              <a:t>Transition from LIBOR to risk-free rates (RFRs) by the end of 2021</a:t>
            </a:r>
          </a:p>
          <a:p>
            <a:pPr lvl="1" eaLnBrk="1" hangingPunct="1">
              <a:lnSpc>
                <a:spcPct val="90000"/>
              </a:lnSpc>
            </a:pPr>
            <a:r>
              <a:rPr lang="en-GB" altLang="en-US" sz="1800" dirty="0">
                <a:solidFill>
                  <a:srgbClr val="230576"/>
                </a:solidFill>
              </a:rPr>
              <a:t>RFRs seen as robust alternatives to LIBOR and are already available., such as the Sterling Overnight Index Average (SONIA) benchmark, produced by BoE</a:t>
            </a:r>
          </a:p>
          <a:p>
            <a:pPr lvl="1" eaLnBrk="1" hangingPunct="1">
              <a:lnSpc>
                <a:spcPct val="90000"/>
              </a:lnSpc>
            </a:pPr>
            <a:r>
              <a:rPr lang="en-GB" altLang="en-US" sz="1800" dirty="0">
                <a:solidFill>
                  <a:srgbClr val="230576"/>
                </a:solidFill>
              </a:rPr>
              <a:t>RFRs do not require credit spread due to their overnight and near risk free nature. </a:t>
            </a:r>
          </a:p>
          <a:p>
            <a:pPr lvl="1" eaLnBrk="1" hangingPunct="1">
              <a:lnSpc>
                <a:spcPct val="90000"/>
              </a:lnSpc>
            </a:pPr>
            <a:r>
              <a:rPr lang="en-GB" altLang="en-US" sz="1800" dirty="0">
                <a:solidFill>
                  <a:srgbClr val="230576"/>
                </a:solidFill>
              </a:rPr>
              <a:t>RFRs are, therefore, in most cases expected to be lower than their IBOR equivalents. </a:t>
            </a:r>
          </a:p>
          <a:p>
            <a:pPr lvl="1" eaLnBrk="1" hangingPunct="1">
              <a:lnSpc>
                <a:spcPct val="90000"/>
              </a:lnSpc>
            </a:pPr>
            <a:r>
              <a:rPr lang="en-GB" altLang="en-US" sz="1800" dirty="0">
                <a:solidFill>
                  <a:srgbClr val="230576"/>
                </a:solidFill>
              </a:rPr>
              <a:t>BoE issued a joint statement with the FCA supporting and encouraging liquidity providers in the sterling non-linear derivatives market to adopt new quoting conventions for inter-dealer trading based on SONIA instead of LIBOR</a:t>
            </a:r>
          </a:p>
          <a:p>
            <a:pPr marL="457200" lvl="1" indent="0" eaLnBrk="1" hangingPunct="1">
              <a:lnSpc>
                <a:spcPct val="90000"/>
              </a:lnSpc>
              <a:buNone/>
            </a:pPr>
            <a:endParaRPr lang="en-GB" altLang="en-US" sz="1600" dirty="0"/>
          </a:p>
          <a:p>
            <a:pPr lvl="1" eaLnBrk="1" hangingPunct="1">
              <a:lnSpc>
                <a:spcPct val="90000"/>
              </a:lnSpc>
            </a:pPr>
            <a:endParaRPr lang="en-GB" altLang="en-US" sz="1600" dirty="0"/>
          </a:p>
          <a:p>
            <a:pPr lvl="1" eaLnBrk="1" hangingPunct="1">
              <a:lnSpc>
                <a:spcPct val="90000"/>
              </a:lnSpc>
              <a:buFontTx/>
              <a:buNone/>
            </a:pPr>
            <a:endParaRPr lang="en-GB" altLang="en-US" sz="1600" dirty="0"/>
          </a:p>
          <a:p>
            <a:pPr lvl="1" eaLnBrk="1" hangingPunct="1">
              <a:lnSpc>
                <a:spcPct val="90000"/>
              </a:lnSpc>
            </a:pPr>
            <a:endParaRPr lang="en-GB" altLang="en-US" sz="1600" dirty="0"/>
          </a:p>
          <a:p>
            <a:pPr eaLnBrk="1" hangingPunct="1">
              <a:lnSpc>
                <a:spcPct val="90000"/>
              </a:lnSpc>
            </a:pPr>
            <a:endParaRPr lang="en-GB" altLang="en-US" sz="1800" dirty="0"/>
          </a:p>
        </p:txBody>
      </p:sp>
    </p:spTree>
    <p:extLst>
      <p:ext uri="{BB962C8B-B14F-4D97-AF65-F5344CB8AC3E}">
        <p14:creationId xmlns:p14="http://schemas.microsoft.com/office/powerpoint/2010/main" val="1938601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6C017B63-683A-4881-A00A-716D49DE4D76}"/>
              </a:ext>
            </a:extLst>
          </p:cNvPr>
          <p:cNvSpPr>
            <a:spLocks noGrp="1" noChangeArrowheads="1"/>
          </p:cNvSpPr>
          <p:nvPr>
            <p:ph type="title"/>
          </p:nvPr>
        </p:nvSpPr>
        <p:spPr/>
        <p:txBody>
          <a:bodyPr/>
          <a:lstStyle/>
          <a:p>
            <a:pPr eaLnBrk="1" hangingPunct="1"/>
            <a:r>
              <a:rPr lang="en-GB" altLang="en-US" dirty="0"/>
              <a:t>Reference Rates</a:t>
            </a:r>
          </a:p>
        </p:txBody>
      </p:sp>
      <p:sp>
        <p:nvSpPr>
          <p:cNvPr id="12291" name="Rectangle 7">
            <a:extLst>
              <a:ext uri="{FF2B5EF4-FFF2-40B4-BE49-F238E27FC236}">
                <a16:creationId xmlns:a16="http://schemas.microsoft.com/office/drawing/2014/main" id="{D7B5FFF4-D308-43BD-898C-15713E8978F7}"/>
              </a:ext>
            </a:extLst>
          </p:cNvPr>
          <p:cNvSpPr>
            <a:spLocks noGrp="1" noChangeArrowheads="1"/>
          </p:cNvSpPr>
          <p:nvPr>
            <p:ph type="body" idx="4294967295"/>
          </p:nvPr>
        </p:nvSpPr>
        <p:spPr>
          <a:xfrm>
            <a:off x="642119" y="1268413"/>
            <a:ext cx="8034337" cy="4752975"/>
          </a:xfrm>
        </p:spPr>
        <p:txBody>
          <a:bodyPr/>
          <a:lstStyle/>
          <a:p>
            <a:pPr marL="0" indent="0" eaLnBrk="1" hangingPunct="1">
              <a:buNone/>
            </a:pPr>
            <a:r>
              <a:rPr lang="en-GB" altLang="en-US" sz="1800" b="1" dirty="0"/>
              <a:t>SONIA</a:t>
            </a:r>
          </a:p>
          <a:p>
            <a:pPr eaLnBrk="1" hangingPunct="1"/>
            <a:r>
              <a:rPr lang="en-GB" altLang="en-US" sz="1800" dirty="0">
                <a:solidFill>
                  <a:srgbClr val="230576"/>
                </a:solidFill>
              </a:rPr>
              <a:t>The Sterling Overnight Indexed Average (SONIA) measures the rate paid by banks on overnight funds. It is calculated as a trimmed mean of rates paid on overnight unsecured wholesale funds</a:t>
            </a:r>
          </a:p>
          <a:p>
            <a:pPr lvl="1" eaLnBrk="1" hangingPunct="1"/>
            <a:r>
              <a:rPr lang="en-GB" altLang="en-US" sz="1800" dirty="0">
                <a:solidFill>
                  <a:srgbClr val="230576"/>
                </a:solidFill>
              </a:rPr>
              <a:t>SONIA is robust because it is anchored in active, liquid underlying markets </a:t>
            </a:r>
          </a:p>
          <a:p>
            <a:pPr lvl="1" eaLnBrk="1" hangingPunct="1"/>
            <a:r>
              <a:rPr lang="en-GB" altLang="en-US" sz="1800" dirty="0">
                <a:solidFill>
                  <a:srgbClr val="230576"/>
                </a:solidFill>
              </a:rPr>
              <a:t>SONIA does not include a term bank credit risk component so is a better measure of the general level of interest rates than LIBOR</a:t>
            </a:r>
          </a:p>
          <a:p>
            <a:pPr lvl="1" eaLnBrk="1" hangingPunct="1"/>
            <a:r>
              <a:rPr lang="en-GB" altLang="en-US" sz="1800" dirty="0"/>
              <a:t>SONIA can be compounded to be used in term contracts</a:t>
            </a:r>
          </a:p>
          <a:p>
            <a:pPr lvl="1" eaLnBrk="1" hangingPunct="1"/>
            <a:r>
              <a:rPr lang="en-GB" altLang="en-US" sz="1800" dirty="0"/>
              <a:t>SONIA rate appears on the business day after the day the rate relates at 9 </a:t>
            </a:r>
            <a:r>
              <a:rPr lang="en-GB" altLang="en-US" sz="1800" dirty="0" err="1"/>
              <a:t>a.m</a:t>
            </a:r>
            <a:endParaRPr lang="en-GB" altLang="en-US" sz="1800" dirty="0"/>
          </a:p>
          <a:p>
            <a:pPr lvl="1" eaLnBrk="1" hangingPunct="1"/>
            <a:r>
              <a:rPr lang="en-GB" altLang="en-US" sz="1800" dirty="0"/>
              <a:t>Delayed publication allows the bank to account for a higher volume of activity </a:t>
            </a:r>
          </a:p>
          <a:p>
            <a:pPr lvl="1" eaLnBrk="1" hangingPunct="1"/>
            <a:endParaRPr lang="en-US" altLang="en-US" sz="1800" dirty="0"/>
          </a:p>
          <a:p>
            <a:pPr eaLnBrk="1" hangingPunct="1"/>
            <a:endParaRPr lang="en-GB" altLang="en-US" dirty="0"/>
          </a:p>
        </p:txBody>
      </p:sp>
    </p:spTree>
    <p:extLst>
      <p:ext uri="{BB962C8B-B14F-4D97-AF65-F5344CB8AC3E}">
        <p14:creationId xmlns:p14="http://schemas.microsoft.com/office/powerpoint/2010/main" val="1814209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6C017B63-683A-4881-A00A-716D49DE4D76}"/>
              </a:ext>
            </a:extLst>
          </p:cNvPr>
          <p:cNvSpPr>
            <a:spLocks noGrp="1" noChangeArrowheads="1"/>
          </p:cNvSpPr>
          <p:nvPr>
            <p:ph type="title"/>
          </p:nvPr>
        </p:nvSpPr>
        <p:spPr/>
        <p:txBody>
          <a:bodyPr/>
          <a:lstStyle/>
          <a:p>
            <a:pPr eaLnBrk="1" hangingPunct="1"/>
            <a:r>
              <a:rPr lang="en-GB" altLang="en-US" dirty="0"/>
              <a:t>Reference Rates</a:t>
            </a:r>
          </a:p>
        </p:txBody>
      </p:sp>
      <p:sp>
        <p:nvSpPr>
          <p:cNvPr id="12291" name="Rectangle 7">
            <a:extLst>
              <a:ext uri="{FF2B5EF4-FFF2-40B4-BE49-F238E27FC236}">
                <a16:creationId xmlns:a16="http://schemas.microsoft.com/office/drawing/2014/main" id="{D7B5FFF4-D308-43BD-898C-15713E8978F7}"/>
              </a:ext>
            </a:extLst>
          </p:cNvPr>
          <p:cNvSpPr>
            <a:spLocks noGrp="1" noChangeArrowheads="1"/>
          </p:cNvSpPr>
          <p:nvPr>
            <p:ph type="body" idx="4294967295"/>
          </p:nvPr>
        </p:nvSpPr>
        <p:spPr>
          <a:xfrm>
            <a:off x="642119" y="1268413"/>
            <a:ext cx="8034337" cy="5329237"/>
          </a:xfrm>
        </p:spPr>
        <p:txBody>
          <a:bodyPr/>
          <a:lstStyle/>
          <a:p>
            <a:pPr marL="0" indent="0" eaLnBrk="1" hangingPunct="1">
              <a:buNone/>
            </a:pPr>
            <a:r>
              <a:rPr lang="en-GB" altLang="en-US" sz="1800" b="1" dirty="0"/>
              <a:t>SONIA</a:t>
            </a:r>
          </a:p>
          <a:p>
            <a:pPr eaLnBrk="1" hangingPunct="1"/>
            <a:r>
              <a:rPr lang="en-GB" altLang="en-US" sz="1800" dirty="0"/>
              <a:t>The most established way to use SONIA to calculate interest in contracts is called ‘compounded in arrears’</a:t>
            </a:r>
          </a:p>
          <a:p>
            <a:pPr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r>
              <a:rPr lang="en-GB" altLang="en-US" sz="1800" dirty="0"/>
              <a:t>This involves taking the SONIA rate for each business day over the interest period to calculate the applicable rate</a:t>
            </a:r>
          </a:p>
          <a:p>
            <a:pPr marL="457200" lvl="1" indent="0" eaLnBrk="1" hangingPunct="1">
              <a:buNone/>
            </a:pPr>
            <a:r>
              <a:rPr lang="en-GB" altLang="en-US" sz="1200" dirty="0"/>
              <a:t>*On weekends and bank holidays, the SONIA rate is held constant from the last working day</a:t>
            </a:r>
            <a:endParaRPr lang="en-US" altLang="en-US" sz="1200" dirty="0"/>
          </a:p>
          <a:p>
            <a:pPr marL="0" indent="0" eaLnBrk="1" hangingPunct="1">
              <a:buNone/>
            </a:pPr>
            <a:r>
              <a:rPr lang="en-GB" altLang="en-US" sz="1200" i="1" dirty="0">
                <a:solidFill>
                  <a:srgbClr val="000000"/>
                </a:solidFill>
              </a:rPr>
              <a:t>Source: Bank of England</a:t>
            </a:r>
          </a:p>
          <a:p>
            <a:pPr marL="0" indent="0" eaLnBrk="1" hangingPunct="1">
              <a:buNone/>
            </a:pPr>
            <a:endParaRPr lang="en-GB" altLang="en-US" dirty="0"/>
          </a:p>
        </p:txBody>
      </p:sp>
      <p:pic>
        <p:nvPicPr>
          <p:cNvPr id="3" name="Picture 2" descr="A picture containing table&#10;&#10;Description automatically generated">
            <a:extLst>
              <a:ext uri="{FF2B5EF4-FFF2-40B4-BE49-F238E27FC236}">
                <a16:creationId xmlns:a16="http://schemas.microsoft.com/office/drawing/2014/main" id="{9A5692D0-4427-40BD-AD64-0F5DEE659C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059" y="2780928"/>
            <a:ext cx="8501881" cy="2696666"/>
          </a:xfrm>
          <a:prstGeom prst="rect">
            <a:avLst/>
          </a:prstGeom>
        </p:spPr>
      </p:pic>
    </p:spTree>
    <p:extLst>
      <p:ext uri="{BB962C8B-B14F-4D97-AF65-F5344CB8AC3E}">
        <p14:creationId xmlns:p14="http://schemas.microsoft.com/office/powerpoint/2010/main" val="4082492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6C017B63-683A-4881-A00A-716D49DE4D76}"/>
              </a:ext>
            </a:extLst>
          </p:cNvPr>
          <p:cNvSpPr>
            <a:spLocks noGrp="1" noChangeArrowheads="1"/>
          </p:cNvSpPr>
          <p:nvPr>
            <p:ph type="title"/>
          </p:nvPr>
        </p:nvSpPr>
        <p:spPr/>
        <p:txBody>
          <a:bodyPr/>
          <a:lstStyle/>
          <a:p>
            <a:pPr eaLnBrk="1" hangingPunct="1"/>
            <a:r>
              <a:rPr lang="en-GB" altLang="en-US" dirty="0"/>
              <a:t>Reference Rates</a:t>
            </a:r>
          </a:p>
        </p:txBody>
      </p:sp>
      <p:sp>
        <p:nvSpPr>
          <p:cNvPr id="12291" name="Rectangle 7">
            <a:extLst>
              <a:ext uri="{FF2B5EF4-FFF2-40B4-BE49-F238E27FC236}">
                <a16:creationId xmlns:a16="http://schemas.microsoft.com/office/drawing/2014/main" id="{D7B5FFF4-D308-43BD-898C-15713E8978F7}"/>
              </a:ext>
            </a:extLst>
          </p:cNvPr>
          <p:cNvSpPr>
            <a:spLocks noGrp="1" noChangeArrowheads="1"/>
          </p:cNvSpPr>
          <p:nvPr>
            <p:ph type="body" idx="4294967295"/>
          </p:nvPr>
        </p:nvSpPr>
        <p:spPr>
          <a:xfrm>
            <a:off x="642119" y="1268413"/>
            <a:ext cx="8034337" cy="5329237"/>
          </a:xfrm>
        </p:spPr>
        <p:txBody>
          <a:bodyPr/>
          <a:lstStyle/>
          <a:p>
            <a:pPr marL="0" indent="0" eaLnBrk="1" hangingPunct="1">
              <a:buNone/>
            </a:pPr>
            <a:r>
              <a:rPr lang="en-GB" altLang="en-US" sz="1800" b="1" dirty="0"/>
              <a:t>Term SONIA (TSRR)</a:t>
            </a:r>
          </a:p>
          <a:p>
            <a:pPr eaLnBrk="1" hangingPunct="1"/>
            <a:r>
              <a:rPr lang="en-GB" altLang="en-US" sz="1800" dirty="0"/>
              <a:t>SONIA can also be compounded to be used in term contracts (forward looking)</a:t>
            </a:r>
          </a:p>
          <a:p>
            <a:pPr lvl="1" eaLnBrk="1" hangingPunct="1"/>
            <a:r>
              <a:rPr lang="en-GB" altLang="en-US" sz="1600" dirty="0"/>
              <a:t>Unlike LIBOR, a term SONIA rate would not reflect term bank credit risk.</a:t>
            </a:r>
          </a:p>
          <a:p>
            <a:pPr lvl="1" eaLnBrk="1" hangingPunct="1"/>
            <a:r>
              <a:rPr lang="en-GB" altLang="en-US" sz="1600" dirty="0"/>
              <a:t>The UK authorities and the Working Group on Sterling Risk-Free Reference Rates have made clear they expect the use of such forward-looking benchmarks to be relatively limited</a:t>
            </a:r>
          </a:p>
          <a:p>
            <a:pPr lvl="1" eaLnBrk="1" hangingPunct="1"/>
            <a:r>
              <a:rPr lang="en-GB" altLang="en-US" sz="1600" dirty="0"/>
              <a:t>Calculated using OIS / SONIA Futures</a:t>
            </a:r>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lvl="1" eaLnBrk="1" hangingPunct="1"/>
            <a:endParaRPr lang="en-GB" altLang="en-US" sz="1600" dirty="0"/>
          </a:p>
          <a:p>
            <a:pPr marL="457200" lvl="1" indent="0" eaLnBrk="1" hangingPunct="1">
              <a:buNone/>
            </a:pPr>
            <a:endParaRPr lang="en-GB" altLang="en-US" sz="1600" dirty="0"/>
          </a:p>
          <a:p>
            <a:pPr marL="457200" lvl="1" indent="0" eaLnBrk="1" hangingPunct="1">
              <a:buNone/>
            </a:pPr>
            <a:endParaRPr lang="en-GB" altLang="en-US" sz="1600" dirty="0"/>
          </a:p>
          <a:p>
            <a:pPr marL="457200" lvl="1" indent="0" eaLnBrk="1" hangingPunct="1">
              <a:buNone/>
            </a:pPr>
            <a:endParaRPr lang="en-GB" altLang="en-US" sz="1600" dirty="0"/>
          </a:p>
          <a:p>
            <a:pPr marL="457200" lvl="1" indent="0" eaLnBrk="1" hangingPunct="1">
              <a:buNone/>
            </a:pPr>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lvl="1" eaLnBrk="1" hangingPunct="1"/>
            <a:endParaRPr lang="en-GB" altLang="en-US" sz="1800" dirty="0"/>
          </a:p>
          <a:p>
            <a:pPr marL="0" indent="0" eaLnBrk="1" hangingPunct="1">
              <a:buNone/>
            </a:pPr>
            <a:endParaRPr lang="en-GB" altLang="en-US" dirty="0"/>
          </a:p>
        </p:txBody>
      </p:sp>
    </p:spTree>
    <p:extLst>
      <p:ext uri="{BB962C8B-B14F-4D97-AF65-F5344CB8AC3E}">
        <p14:creationId xmlns:p14="http://schemas.microsoft.com/office/powerpoint/2010/main" val="4019586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9">
            <a:extLst>
              <a:ext uri="{FF2B5EF4-FFF2-40B4-BE49-F238E27FC236}">
                <a16:creationId xmlns:a16="http://schemas.microsoft.com/office/drawing/2014/main" id="{7145D02A-9C2B-4C13-BF81-08FC58DD01F4}"/>
              </a:ext>
            </a:extLst>
          </p:cNvPr>
          <p:cNvSpPr>
            <a:spLocks noGrp="1" noChangeArrowheads="1"/>
          </p:cNvSpPr>
          <p:nvPr>
            <p:ph type="title"/>
          </p:nvPr>
        </p:nvSpPr>
        <p:spPr/>
        <p:txBody>
          <a:bodyPr/>
          <a:lstStyle/>
          <a:p>
            <a:pPr eaLnBrk="1" hangingPunct="1"/>
            <a:r>
              <a:rPr lang="en-US" altLang="en-US" dirty="0"/>
              <a:t>Reference Rates</a:t>
            </a:r>
            <a:endParaRPr lang="en-GB" altLang="en-US" dirty="0"/>
          </a:p>
        </p:txBody>
      </p:sp>
      <p:sp>
        <p:nvSpPr>
          <p:cNvPr id="9220" name="Rectangle 11">
            <a:extLst>
              <a:ext uri="{FF2B5EF4-FFF2-40B4-BE49-F238E27FC236}">
                <a16:creationId xmlns:a16="http://schemas.microsoft.com/office/drawing/2014/main" id="{00E27478-F3DB-46C3-981D-1591F41C287A}"/>
              </a:ext>
            </a:extLst>
          </p:cNvPr>
          <p:cNvSpPr>
            <a:spLocks noGrp="1" noChangeArrowheads="1"/>
          </p:cNvSpPr>
          <p:nvPr>
            <p:ph type="body" sz="half" idx="4294967295"/>
          </p:nvPr>
        </p:nvSpPr>
        <p:spPr>
          <a:xfrm>
            <a:off x="611560" y="1125538"/>
            <a:ext cx="8424862" cy="5040312"/>
          </a:xfrm>
        </p:spPr>
        <p:txBody>
          <a:bodyPr/>
          <a:lstStyle/>
          <a:p>
            <a:pPr eaLnBrk="1" hangingPunct="1">
              <a:buFontTx/>
              <a:buNone/>
            </a:pPr>
            <a:r>
              <a:rPr lang="en-GB" altLang="en-US" sz="1800" b="1" dirty="0"/>
              <a:t>EURIBOR</a:t>
            </a:r>
          </a:p>
          <a:p>
            <a:pPr eaLnBrk="1" hangingPunct="1"/>
            <a:r>
              <a:rPr lang="en-GB" altLang="en-US" sz="1800" dirty="0"/>
              <a:t>Euribor, or the Euro Interbank Offer Rate, is a reference rate that is constructed from the average interest rate at which eurozone banks offer unsecured short-term lending on the inter-bank market</a:t>
            </a:r>
          </a:p>
          <a:p>
            <a:pPr eaLnBrk="1" hangingPunct="1"/>
            <a:r>
              <a:rPr lang="en-GB" altLang="en-US" sz="1800" dirty="0"/>
              <a:t>The maturities range from one week to one year</a:t>
            </a:r>
          </a:p>
          <a:p>
            <a:pPr eaLnBrk="1" hangingPunct="1"/>
            <a:r>
              <a:rPr lang="en-GB" altLang="en-US" sz="1800" dirty="0"/>
              <a:t>Loans are often structured as repurchase agreements (repos) intended to maintain bank liquidity</a:t>
            </a:r>
          </a:p>
          <a:p>
            <a:pPr eaLnBrk="1" hangingPunct="1"/>
            <a:r>
              <a:rPr lang="en-GB" altLang="en-US" sz="1800" dirty="0">
                <a:solidFill>
                  <a:srgbClr val="230576"/>
                </a:solidFill>
              </a:rPr>
              <a:t>Euribor is calculated by a benchmark administrator called Global Rate Set Systems Ltd. and offered by the European Money Markets Institute (EMMI)</a:t>
            </a:r>
          </a:p>
          <a:p>
            <a:pPr eaLnBrk="1" hangingPunct="1">
              <a:buFontTx/>
              <a:buNone/>
            </a:pPr>
            <a:r>
              <a:rPr lang="en-GB" altLang="en-US" sz="1800" b="1" dirty="0"/>
              <a:t>€STR</a:t>
            </a:r>
          </a:p>
          <a:p>
            <a:pPr eaLnBrk="1" hangingPunct="1"/>
            <a:r>
              <a:rPr lang="en-GB" altLang="en-US" sz="1800" dirty="0">
                <a:solidFill>
                  <a:srgbClr val="230576"/>
                </a:solidFill>
              </a:rPr>
              <a:t>Reflects the wholesale euro unsecured </a:t>
            </a:r>
            <a:r>
              <a:rPr lang="en-GB" altLang="en-US" sz="1800" b="1" dirty="0">
                <a:solidFill>
                  <a:srgbClr val="230576"/>
                </a:solidFill>
              </a:rPr>
              <a:t>overnight</a:t>
            </a:r>
            <a:r>
              <a:rPr lang="en-GB" altLang="en-US" sz="1800" dirty="0">
                <a:solidFill>
                  <a:srgbClr val="230576"/>
                </a:solidFill>
              </a:rPr>
              <a:t> borrowing costs of banks located in the euro area</a:t>
            </a:r>
          </a:p>
          <a:p>
            <a:pPr eaLnBrk="1" hangingPunct="1"/>
            <a:r>
              <a:rPr lang="en-GB" altLang="en-US" sz="1800" dirty="0">
                <a:solidFill>
                  <a:srgbClr val="230576"/>
                </a:solidFill>
              </a:rPr>
              <a:t>Published on each TARGET2 business day based on transactions conducted and settled on the previous business day (T+1)</a:t>
            </a:r>
          </a:p>
          <a:p>
            <a:pPr eaLnBrk="1" hangingPunct="1"/>
            <a:r>
              <a:rPr lang="en-GB" altLang="en-US" sz="1800" dirty="0">
                <a:solidFill>
                  <a:srgbClr val="230576"/>
                </a:solidFill>
              </a:rPr>
              <a:t>Deemed to have been executed at arm’s length and thus reflect market rates in an unbiased way</a:t>
            </a:r>
          </a:p>
          <a:p>
            <a:pPr eaLnBrk="1" hangingPunct="1"/>
            <a:endParaRPr lang="en-GB" altLang="en-US" sz="1800" dirty="0">
              <a:solidFill>
                <a:srgbClr val="230576"/>
              </a:solidFill>
            </a:endParaRPr>
          </a:p>
          <a:p>
            <a:pPr marL="457200" lvl="1" indent="0" eaLnBrk="1" hangingPunct="1">
              <a:buNone/>
            </a:pPr>
            <a:endParaRPr lang="en-GB" altLang="en-US" sz="1600" dirty="0"/>
          </a:p>
          <a:p>
            <a:pPr eaLnBrk="1" hangingPunct="1"/>
            <a:endParaRPr lang="en-GB" altLang="en-US" sz="1800" dirty="0"/>
          </a:p>
        </p:txBody>
      </p:sp>
    </p:spTree>
    <p:extLst>
      <p:ext uri="{BB962C8B-B14F-4D97-AF65-F5344CB8AC3E}">
        <p14:creationId xmlns:p14="http://schemas.microsoft.com/office/powerpoint/2010/main" val="1522977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DBC40383-EC54-471E-8E96-8B0A026C36E8}"/>
              </a:ext>
            </a:extLst>
          </p:cNvPr>
          <p:cNvSpPr>
            <a:spLocks noGrp="1"/>
          </p:cNvSpPr>
          <p:nvPr>
            <p:ph type="title"/>
          </p:nvPr>
        </p:nvSpPr>
        <p:spPr>
          <a:xfrm>
            <a:off x="555625" y="2852936"/>
            <a:ext cx="8032750" cy="720725"/>
          </a:xfrm>
        </p:spPr>
        <p:txBody>
          <a:bodyPr/>
          <a:lstStyle/>
          <a:p>
            <a:pPr algn="ctr">
              <a:lnSpc>
                <a:spcPts val="2625"/>
              </a:lnSpc>
            </a:pPr>
            <a:br>
              <a:rPr lang="en-GB" altLang="en-US" dirty="0">
                <a:ea typeface="ＭＳ Ｐゴシック" panose="020B0600070205080204" pitchFamily="34" charset="-128"/>
              </a:rPr>
            </a:br>
            <a:br>
              <a:rPr lang="en-GB" altLang="en-US" dirty="0">
                <a:ea typeface="ＭＳ Ｐゴシック" panose="020B0600070205080204" pitchFamily="34" charset="-128"/>
              </a:rPr>
            </a:br>
            <a:r>
              <a:rPr lang="en-GB" altLang="en-US" dirty="0">
                <a:ea typeface="ＭＳ Ｐゴシック" panose="020B0600070205080204" pitchFamily="34" charset="-128"/>
              </a:rPr>
              <a:t>Money Markets Instruments</a:t>
            </a:r>
            <a:br>
              <a:rPr lang="en-GB" altLang="en-US" dirty="0">
                <a:ea typeface="ＭＳ Ｐゴシック" panose="020B0600070205080204" pitchFamily="34" charset="-128"/>
              </a:rPr>
            </a:br>
            <a:endParaRPr altLang="en-US" dirty="0">
              <a:ea typeface="ＭＳ Ｐゴシック" panose="020B0600070205080204" pitchFamily="34" charset="-128"/>
            </a:endParaRPr>
          </a:p>
        </p:txBody>
      </p:sp>
    </p:spTree>
    <p:extLst>
      <p:ext uri="{BB962C8B-B14F-4D97-AF65-F5344CB8AC3E}">
        <p14:creationId xmlns:p14="http://schemas.microsoft.com/office/powerpoint/2010/main" val="1198548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1B7C0317-5738-400B-9952-1C0D4125A769}"/>
              </a:ext>
            </a:extLst>
          </p:cNvPr>
          <p:cNvSpPr>
            <a:spLocks noGrp="1"/>
          </p:cNvSpPr>
          <p:nvPr>
            <p:ph type="title"/>
          </p:nvPr>
        </p:nvSpPr>
        <p:spPr/>
        <p:txBody>
          <a:bodyPr/>
          <a:lstStyle/>
          <a:p>
            <a:r>
              <a:rPr lang="en-US" altLang="en-US" dirty="0"/>
              <a:t>T-Bills and Commercial Paper</a:t>
            </a:r>
          </a:p>
        </p:txBody>
      </p:sp>
      <p:sp>
        <p:nvSpPr>
          <p:cNvPr id="25603" name="Rectangle 6">
            <a:extLst>
              <a:ext uri="{FF2B5EF4-FFF2-40B4-BE49-F238E27FC236}">
                <a16:creationId xmlns:a16="http://schemas.microsoft.com/office/drawing/2014/main" id="{947D611C-B97F-43F4-AB42-8D7DFC0CF9A6}"/>
              </a:ext>
            </a:extLst>
          </p:cNvPr>
          <p:cNvSpPr>
            <a:spLocks noGrp="1"/>
          </p:cNvSpPr>
          <p:nvPr>
            <p:ph idx="4294967295"/>
          </p:nvPr>
        </p:nvSpPr>
        <p:spPr>
          <a:xfrm>
            <a:off x="-252536" y="1125538"/>
            <a:ext cx="8640763" cy="5183187"/>
          </a:xfrm>
        </p:spPr>
        <p:txBody>
          <a:bodyPr/>
          <a:lstStyle/>
          <a:p>
            <a:pPr marL="0" indent="0">
              <a:buNone/>
            </a:pPr>
            <a:r>
              <a:rPr lang="en-US" altLang="en-US" sz="1800" b="1" dirty="0"/>
              <a:t>	</a:t>
            </a:r>
            <a:r>
              <a:rPr lang="en-US" altLang="en-US" sz="1800" b="1" dirty="0">
                <a:solidFill>
                  <a:srgbClr val="230576"/>
                </a:solidFill>
                <a:latin typeface="+mn-lt"/>
              </a:rPr>
              <a:t>Short-dated fixed income securities</a:t>
            </a:r>
          </a:p>
          <a:p>
            <a:pPr marL="0" indent="0">
              <a:buNone/>
            </a:pPr>
            <a:r>
              <a:rPr lang="en-US" altLang="en-US" sz="1800" dirty="0">
                <a:solidFill>
                  <a:srgbClr val="230576"/>
                </a:solidFill>
                <a:latin typeface="+mn-lt"/>
              </a:rPr>
              <a:t>	Companies and governments can use fixed income instruments to raise money for 	short-term periods:</a:t>
            </a:r>
          </a:p>
          <a:p>
            <a:pPr marL="0" indent="0">
              <a:buNone/>
            </a:pPr>
            <a:endParaRPr lang="en-US" altLang="en-US" sz="1800" dirty="0">
              <a:solidFill>
                <a:srgbClr val="230576"/>
              </a:solidFill>
              <a:latin typeface="+mn-lt"/>
            </a:endParaRPr>
          </a:p>
          <a:p>
            <a:pPr marL="0" indent="0">
              <a:buNone/>
            </a:pPr>
            <a:r>
              <a:rPr lang="en-US" altLang="en-US" sz="1800" b="1" dirty="0">
                <a:solidFill>
                  <a:srgbClr val="230576"/>
                </a:solidFill>
                <a:latin typeface="+mn-lt"/>
              </a:rPr>
              <a:t>	Governments</a:t>
            </a:r>
          </a:p>
          <a:p>
            <a:pPr lvl="2"/>
            <a:r>
              <a:rPr lang="en-US" altLang="en-US" sz="1800" dirty="0">
                <a:solidFill>
                  <a:srgbClr val="230576"/>
                </a:solidFill>
              </a:rPr>
              <a:t>These are zero coupon discount instruments called bills:</a:t>
            </a:r>
          </a:p>
          <a:p>
            <a:pPr lvl="3"/>
            <a:r>
              <a:rPr lang="en-US" altLang="en-US" sz="1800" dirty="0">
                <a:solidFill>
                  <a:srgbClr val="230576"/>
                </a:solidFill>
              </a:rPr>
              <a:t>UK and US T-bills</a:t>
            </a:r>
          </a:p>
          <a:p>
            <a:pPr lvl="3"/>
            <a:r>
              <a:rPr lang="en-US" altLang="en-US" sz="1800" dirty="0">
                <a:solidFill>
                  <a:srgbClr val="230576"/>
                </a:solidFill>
              </a:rPr>
              <a:t>German </a:t>
            </a:r>
            <a:r>
              <a:rPr lang="en-US" altLang="en-US" sz="1800" dirty="0" err="1">
                <a:solidFill>
                  <a:srgbClr val="230576"/>
                </a:solidFill>
              </a:rPr>
              <a:t>Bubill</a:t>
            </a:r>
            <a:endParaRPr lang="en-US" altLang="en-US" sz="1800" dirty="0">
              <a:solidFill>
                <a:srgbClr val="230576"/>
              </a:solidFill>
            </a:endParaRPr>
          </a:p>
          <a:p>
            <a:pPr lvl="3"/>
            <a:r>
              <a:rPr lang="en-US" altLang="en-US" sz="1800" dirty="0">
                <a:solidFill>
                  <a:srgbClr val="230576"/>
                </a:solidFill>
              </a:rPr>
              <a:t>France BTF</a:t>
            </a:r>
          </a:p>
          <a:p>
            <a:pPr lvl="3"/>
            <a:r>
              <a:rPr lang="en-US" altLang="en-US" sz="1800" dirty="0">
                <a:solidFill>
                  <a:srgbClr val="230576"/>
                </a:solidFill>
              </a:rPr>
              <a:t>Japan – Financing Bills</a:t>
            </a:r>
          </a:p>
          <a:p>
            <a:pPr lvl="2"/>
            <a:endParaRPr lang="en-US" altLang="en-US" sz="1800" dirty="0">
              <a:solidFill>
                <a:srgbClr val="230576"/>
              </a:solidFill>
            </a:endParaRPr>
          </a:p>
          <a:p>
            <a:pPr marL="400050" lvl="1" indent="0">
              <a:buNone/>
            </a:pPr>
            <a:r>
              <a:rPr lang="en-US" altLang="en-US" sz="1800" b="1" dirty="0">
                <a:solidFill>
                  <a:srgbClr val="230576"/>
                </a:solidFill>
                <a:latin typeface="+mn-lt"/>
              </a:rPr>
              <a:t>	Corporates</a:t>
            </a:r>
          </a:p>
          <a:p>
            <a:pPr lvl="2"/>
            <a:r>
              <a:rPr lang="en-US" altLang="en-US" sz="1800" dirty="0">
                <a:solidFill>
                  <a:srgbClr val="230576"/>
                </a:solidFill>
              </a:rPr>
              <a:t>Corporations issue instruments similar to government bills called </a:t>
            </a:r>
            <a:r>
              <a:rPr lang="en-US" altLang="en-US" sz="1800" b="1" dirty="0">
                <a:solidFill>
                  <a:srgbClr val="230576"/>
                </a:solidFill>
              </a:rPr>
              <a:t>commercial paper</a:t>
            </a:r>
            <a:r>
              <a:rPr lang="en-US" altLang="en-US" sz="1800" dirty="0">
                <a:solidFill>
                  <a:srgbClr val="230576"/>
                </a:solidFill>
              </a:rPr>
              <a:t> or </a:t>
            </a:r>
            <a:r>
              <a:rPr lang="en-US" altLang="en-US" sz="1800" b="1" dirty="0">
                <a:solidFill>
                  <a:srgbClr val="230576"/>
                </a:solidFill>
              </a:rPr>
              <a:t>CP</a:t>
            </a:r>
          </a:p>
        </p:txBody>
      </p:sp>
    </p:spTree>
    <p:extLst>
      <p:ext uri="{BB962C8B-B14F-4D97-AF65-F5344CB8AC3E}">
        <p14:creationId xmlns:p14="http://schemas.microsoft.com/office/powerpoint/2010/main" val="1947569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26627" name="Rectangle 18">
            <a:extLst>
              <a:ext uri="{FF2B5EF4-FFF2-40B4-BE49-F238E27FC236}">
                <a16:creationId xmlns:a16="http://schemas.microsoft.com/office/drawing/2014/main" id="{0C92F01D-10AA-477F-B1BB-CC7A6DA32797}"/>
              </a:ext>
            </a:extLst>
          </p:cNvPr>
          <p:cNvSpPr>
            <a:spLocks noGrp="1"/>
          </p:cNvSpPr>
          <p:nvPr>
            <p:ph idx="4294967295"/>
          </p:nvPr>
        </p:nvSpPr>
        <p:spPr>
          <a:xfrm>
            <a:off x="-252536" y="1125538"/>
            <a:ext cx="8640763" cy="5183187"/>
          </a:xfrm>
        </p:spPr>
        <p:txBody>
          <a:bodyPr/>
          <a:lstStyle/>
          <a:p>
            <a:pPr marL="0" indent="0" eaLnBrk="1" hangingPunct="1">
              <a:buNone/>
            </a:pPr>
            <a:r>
              <a:rPr lang="en-US" altLang="en-US" sz="1800" b="1" dirty="0"/>
              <a:t>	UK Treasury bills (T-bills)</a:t>
            </a:r>
          </a:p>
          <a:p>
            <a:pPr marL="0" indent="0" eaLnBrk="1" hangingPunct="1">
              <a:buNone/>
            </a:pPr>
            <a:r>
              <a:rPr lang="en-US" altLang="en-US" sz="1800" dirty="0"/>
              <a:t>	T-bills are negotiable, zero-coupon obligations of Her Majesty’s Government issued 	and administered by the Debt Management Office (DMO) mainly used to fund the 	Government’s cash flow situation:</a:t>
            </a:r>
          </a:p>
          <a:p>
            <a:pPr lvl="2" eaLnBrk="1" hangingPunct="1"/>
            <a:r>
              <a:rPr lang="en-US" altLang="en-US" sz="1800" dirty="0">
                <a:solidFill>
                  <a:srgbClr val="230576"/>
                </a:solidFill>
              </a:rPr>
              <a:t>Issued with maturities of one, three, six, and twelve months</a:t>
            </a:r>
          </a:p>
          <a:p>
            <a:pPr lvl="2" eaLnBrk="1" hangingPunct="1"/>
            <a:r>
              <a:rPr lang="en-US" altLang="en-US" sz="1800" dirty="0">
                <a:solidFill>
                  <a:srgbClr val="230576"/>
                </a:solidFill>
              </a:rPr>
              <a:t>Very low (practically zero) risk</a:t>
            </a:r>
          </a:p>
          <a:p>
            <a:pPr lvl="2" eaLnBrk="1" hangingPunct="1"/>
            <a:r>
              <a:rPr lang="en-US" altLang="en-US" sz="1800" dirty="0">
                <a:solidFill>
                  <a:srgbClr val="230576"/>
                </a:solidFill>
              </a:rPr>
              <a:t>Issued at a discount and redeemed at par</a:t>
            </a:r>
          </a:p>
        </p:txBody>
      </p:sp>
      <p:sp>
        <p:nvSpPr>
          <p:cNvPr id="26628" name="Line 4">
            <a:extLst>
              <a:ext uri="{FF2B5EF4-FFF2-40B4-BE49-F238E27FC236}">
                <a16:creationId xmlns:a16="http://schemas.microsoft.com/office/drawing/2014/main" id="{02D0E8BB-2947-4B64-B98F-46CD5ADEB22D}"/>
              </a:ext>
            </a:extLst>
          </p:cNvPr>
          <p:cNvSpPr>
            <a:spLocks noChangeShapeType="1"/>
          </p:cNvSpPr>
          <p:nvPr/>
        </p:nvSpPr>
        <p:spPr bwMode="auto">
          <a:xfrm>
            <a:off x="3348038" y="4057650"/>
            <a:ext cx="0" cy="1800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6629" name="Text Box 5">
            <a:extLst>
              <a:ext uri="{FF2B5EF4-FFF2-40B4-BE49-F238E27FC236}">
                <a16:creationId xmlns:a16="http://schemas.microsoft.com/office/drawing/2014/main" id="{4AC77697-3E71-4C02-AAB5-9FA0AC925040}"/>
              </a:ext>
            </a:extLst>
          </p:cNvPr>
          <p:cNvSpPr txBox="1">
            <a:spLocks noChangeArrowheads="1"/>
          </p:cNvSpPr>
          <p:nvPr/>
        </p:nvSpPr>
        <p:spPr bwMode="auto">
          <a:xfrm>
            <a:off x="2555875" y="4337050"/>
            <a:ext cx="1584325" cy="952500"/>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T-bill</a:t>
            </a:r>
          </a:p>
          <a:p>
            <a:pPr eaLnBrk="1" hangingPunct="1"/>
            <a:r>
              <a:rPr lang="en-US" altLang="en-US" sz="1400"/>
              <a:t>GBP 1,000,000 Nominal value</a:t>
            </a:r>
          </a:p>
          <a:p>
            <a:pPr eaLnBrk="1" hangingPunct="1"/>
            <a:r>
              <a:rPr lang="en-US" altLang="en-US" sz="1400"/>
              <a:t>182 day</a:t>
            </a:r>
            <a:endParaRPr lang="en-US" altLang="en-US" sz="2400"/>
          </a:p>
        </p:txBody>
      </p:sp>
      <p:sp>
        <p:nvSpPr>
          <p:cNvPr id="26630" name="Text Box 6">
            <a:extLst>
              <a:ext uri="{FF2B5EF4-FFF2-40B4-BE49-F238E27FC236}">
                <a16:creationId xmlns:a16="http://schemas.microsoft.com/office/drawing/2014/main" id="{07C054B7-88B1-4D80-9BD4-72181A082AC3}"/>
              </a:ext>
            </a:extLst>
          </p:cNvPr>
          <p:cNvSpPr txBox="1">
            <a:spLocks noChangeArrowheads="1"/>
          </p:cNvSpPr>
          <p:nvPr/>
        </p:nvSpPr>
        <p:spPr bwMode="auto">
          <a:xfrm>
            <a:off x="1260475" y="3644900"/>
            <a:ext cx="2808288" cy="366713"/>
          </a:xfrm>
          <a:prstGeom prst="rect">
            <a:avLst/>
          </a:prstGeom>
          <a:solidFill>
            <a:srgbClr val="00348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DMO</a:t>
            </a:r>
            <a:endParaRPr lang="en-US" altLang="en-US" sz="2400">
              <a:solidFill>
                <a:schemeClr val="bg1"/>
              </a:solidFill>
            </a:endParaRPr>
          </a:p>
        </p:txBody>
      </p:sp>
      <p:sp>
        <p:nvSpPr>
          <p:cNvPr id="26631" name="Line 7">
            <a:extLst>
              <a:ext uri="{FF2B5EF4-FFF2-40B4-BE49-F238E27FC236}">
                <a16:creationId xmlns:a16="http://schemas.microsoft.com/office/drawing/2014/main" id="{BEC21963-5057-42F3-8C4C-DB100C470BFD}"/>
              </a:ext>
            </a:extLst>
          </p:cNvPr>
          <p:cNvSpPr>
            <a:spLocks noChangeShapeType="1"/>
          </p:cNvSpPr>
          <p:nvPr/>
        </p:nvSpPr>
        <p:spPr bwMode="auto">
          <a:xfrm flipV="1">
            <a:off x="1763713" y="4057650"/>
            <a:ext cx="0" cy="1800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6632" name="Text Box 8">
            <a:extLst>
              <a:ext uri="{FF2B5EF4-FFF2-40B4-BE49-F238E27FC236}">
                <a16:creationId xmlns:a16="http://schemas.microsoft.com/office/drawing/2014/main" id="{F035BAE6-2A57-4D02-8B95-48F2863FC143}"/>
              </a:ext>
            </a:extLst>
          </p:cNvPr>
          <p:cNvSpPr txBox="1">
            <a:spLocks noChangeArrowheads="1"/>
          </p:cNvSpPr>
          <p:nvPr/>
        </p:nvSpPr>
        <p:spPr bwMode="auto">
          <a:xfrm>
            <a:off x="1187450" y="4705350"/>
            <a:ext cx="1079500" cy="517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dirty="0"/>
              <a:t>GBP 995,000</a:t>
            </a:r>
            <a:endParaRPr lang="en-US" altLang="en-US" sz="2400" dirty="0"/>
          </a:p>
        </p:txBody>
      </p:sp>
      <p:sp>
        <p:nvSpPr>
          <p:cNvPr id="26633" name="Text Box 9">
            <a:extLst>
              <a:ext uri="{FF2B5EF4-FFF2-40B4-BE49-F238E27FC236}">
                <a16:creationId xmlns:a16="http://schemas.microsoft.com/office/drawing/2014/main" id="{2D556439-7159-480E-B2E3-F8126BF214D9}"/>
              </a:ext>
            </a:extLst>
          </p:cNvPr>
          <p:cNvSpPr txBox="1">
            <a:spLocks noChangeArrowheads="1"/>
          </p:cNvSpPr>
          <p:nvPr/>
        </p:nvSpPr>
        <p:spPr bwMode="auto">
          <a:xfrm>
            <a:off x="5076825" y="3644900"/>
            <a:ext cx="2808288" cy="366713"/>
          </a:xfrm>
          <a:prstGeom prst="rect">
            <a:avLst/>
          </a:prstGeom>
          <a:solidFill>
            <a:srgbClr val="00348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DMO</a:t>
            </a:r>
            <a:endParaRPr lang="en-US" altLang="en-US" sz="2400">
              <a:solidFill>
                <a:schemeClr val="bg1"/>
              </a:solidFill>
            </a:endParaRPr>
          </a:p>
        </p:txBody>
      </p:sp>
      <p:sp>
        <p:nvSpPr>
          <p:cNvPr id="26634" name="Text Box 10">
            <a:extLst>
              <a:ext uri="{FF2B5EF4-FFF2-40B4-BE49-F238E27FC236}">
                <a16:creationId xmlns:a16="http://schemas.microsoft.com/office/drawing/2014/main" id="{B227C4D1-DB16-4595-91C6-1975AE5FA30B}"/>
              </a:ext>
            </a:extLst>
          </p:cNvPr>
          <p:cNvSpPr txBox="1">
            <a:spLocks noChangeArrowheads="1"/>
          </p:cNvSpPr>
          <p:nvPr/>
        </p:nvSpPr>
        <p:spPr bwMode="auto">
          <a:xfrm>
            <a:off x="1260475" y="5962650"/>
            <a:ext cx="2808288" cy="366713"/>
          </a:xfrm>
          <a:prstGeom prst="rect">
            <a:avLst/>
          </a:prstGeom>
          <a:solidFill>
            <a:srgbClr val="00348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Primary dealer</a:t>
            </a:r>
            <a:endParaRPr lang="en-US" altLang="en-US" sz="2400">
              <a:solidFill>
                <a:schemeClr val="bg1"/>
              </a:solidFill>
            </a:endParaRPr>
          </a:p>
        </p:txBody>
      </p:sp>
      <p:sp>
        <p:nvSpPr>
          <p:cNvPr id="26635" name="Line 11">
            <a:extLst>
              <a:ext uri="{FF2B5EF4-FFF2-40B4-BE49-F238E27FC236}">
                <a16:creationId xmlns:a16="http://schemas.microsoft.com/office/drawing/2014/main" id="{227B85CA-33CE-4329-A7CB-C7CB03328C91}"/>
              </a:ext>
            </a:extLst>
          </p:cNvPr>
          <p:cNvSpPr>
            <a:spLocks noChangeShapeType="1"/>
          </p:cNvSpPr>
          <p:nvPr/>
        </p:nvSpPr>
        <p:spPr bwMode="auto">
          <a:xfrm flipV="1">
            <a:off x="7092950" y="4130675"/>
            <a:ext cx="0" cy="1800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6636" name="Text Box 12">
            <a:extLst>
              <a:ext uri="{FF2B5EF4-FFF2-40B4-BE49-F238E27FC236}">
                <a16:creationId xmlns:a16="http://schemas.microsoft.com/office/drawing/2014/main" id="{E18364B3-6E1B-46F6-B0A9-A78B0EB42E55}"/>
              </a:ext>
            </a:extLst>
          </p:cNvPr>
          <p:cNvSpPr txBox="1">
            <a:spLocks noChangeArrowheads="1"/>
          </p:cNvSpPr>
          <p:nvPr/>
        </p:nvSpPr>
        <p:spPr bwMode="auto">
          <a:xfrm>
            <a:off x="6300788" y="4410075"/>
            <a:ext cx="1584325" cy="738188"/>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T-bill</a:t>
            </a:r>
          </a:p>
          <a:p>
            <a:pPr eaLnBrk="1" hangingPunct="1"/>
            <a:r>
              <a:rPr lang="en-US" altLang="en-US" sz="1400"/>
              <a:t>GBP 1,000,000 Nominal value</a:t>
            </a:r>
          </a:p>
        </p:txBody>
      </p:sp>
      <p:sp>
        <p:nvSpPr>
          <p:cNvPr id="26637" name="Line 13">
            <a:extLst>
              <a:ext uri="{FF2B5EF4-FFF2-40B4-BE49-F238E27FC236}">
                <a16:creationId xmlns:a16="http://schemas.microsoft.com/office/drawing/2014/main" id="{88BCE452-C27B-4E89-A98B-DDA800F0814E}"/>
              </a:ext>
            </a:extLst>
          </p:cNvPr>
          <p:cNvSpPr>
            <a:spLocks noChangeShapeType="1"/>
          </p:cNvSpPr>
          <p:nvPr/>
        </p:nvSpPr>
        <p:spPr bwMode="auto">
          <a:xfrm>
            <a:off x="5508625" y="4130675"/>
            <a:ext cx="0" cy="18002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6638" name="Text Box 14">
            <a:extLst>
              <a:ext uri="{FF2B5EF4-FFF2-40B4-BE49-F238E27FC236}">
                <a16:creationId xmlns:a16="http://schemas.microsoft.com/office/drawing/2014/main" id="{30F78304-FD8E-4C4A-9D99-624547507DFC}"/>
              </a:ext>
            </a:extLst>
          </p:cNvPr>
          <p:cNvSpPr txBox="1">
            <a:spLocks noChangeArrowheads="1"/>
          </p:cNvSpPr>
          <p:nvPr/>
        </p:nvSpPr>
        <p:spPr bwMode="auto">
          <a:xfrm>
            <a:off x="4932363" y="4778375"/>
            <a:ext cx="1079500" cy="517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t>GBP 1,000,000</a:t>
            </a:r>
            <a:endParaRPr lang="en-US" altLang="en-US" sz="2400"/>
          </a:p>
        </p:txBody>
      </p:sp>
      <p:sp>
        <p:nvSpPr>
          <p:cNvPr id="26639" name="Text Box 15">
            <a:extLst>
              <a:ext uri="{FF2B5EF4-FFF2-40B4-BE49-F238E27FC236}">
                <a16:creationId xmlns:a16="http://schemas.microsoft.com/office/drawing/2014/main" id="{50A950DC-A99A-43FA-961D-6B85E39BF754}"/>
              </a:ext>
            </a:extLst>
          </p:cNvPr>
          <p:cNvSpPr txBox="1">
            <a:spLocks noChangeArrowheads="1"/>
          </p:cNvSpPr>
          <p:nvPr/>
        </p:nvSpPr>
        <p:spPr bwMode="auto">
          <a:xfrm>
            <a:off x="5005388" y="5988050"/>
            <a:ext cx="2733675" cy="366713"/>
          </a:xfrm>
          <a:prstGeom prst="rect">
            <a:avLst/>
          </a:prstGeom>
          <a:solidFill>
            <a:srgbClr val="00348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Primary dealer</a:t>
            </a:r>
          </a:p>
        </p:txBody>
      </p:sp>
    </p:spTree>
    <p:extLst>
      <p:ext uri="{BB962C8B-B14F-4D97-AF65-F5344CB8AC3E}">
        <p14:creationId xmlns:p14="http://schemas.microsoft.com/office/powerpoint/2010/main" val="3402501087"/>
      </p:ext>
    </p:extLst>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GB"/>
          </a:p>
        </p:txBody>
      </p:sp>
      <p:sp>
        <p:nvSpPr>
          <p:cNvPr id="28675" name="Rectangle 6">
            <a:extLst>
              <a:ext uri="{FF2B5EF4-FFF2-40B4-BE49-F238E27FC236}">
                <a16:creationId xmlns:a16="http://schemas.microsoft.com/office/drawing/2014/main" id="{40C0D705-05C0-484F-97E7-6FAA2A13A0C1}"/>
              </a:ext>
            </a:extLst>
          </p:cNvPr>
          <p:cNvSpPr>
            <a:spLocks noGrp="1"/>
          </p:cNvSpPr>
          <p:nvPr>
            <p:ph idx="4294967295"/>
          </p:nvPr>
        </p:nvSpPr>
        <p:spPr>
          <a:xfrm>
            <a:off x="-252536" y="1125538"/>
            <a:ext cx="8640763" cy="5183187"/>
          </a:xfrm>
        </p:spPr>
        <p:txBody>
          <a:bodyPr/>
          <a:lstStyle/>
          <a:p>
            <a:pPr marL="0" indent="0">
              <a:buNone/>
            </a:pPr>
            <a:r>
              <a:rPr lang="en-US" altLang="en-US" sz="1800" b="1" dirty="0"/>
              <a:t>	</a:t>
            </a:r>
            <a:r>
              <a:rPr lang="en-US" altLang="en-US" sz="1800" b="1" dirty="0">
                <a:solidFill>
                  <a:srgbClr val="230576"/>
                </a:solidFill>
              </a:rPr>
              <a:t>Commercial paper</a:t>
            </a:r>
          </a:p>
          <a:p>
            <a:pPr marL="0" indent="0">
              <a:buNone/>
            </a:pPr>
            <a:r>
              <a:rPr lang="en-US" altLang="en-US" sz="1800" dirty="0">
                <a:solidFill>
                  <a:srgbClr val="230576"/>
                </a:solidFill>
              </a:rPr>
              <a:t>	US commercial paper (USCP) is an unsecured form of borrowing issued by major 	financial and non-financial corporations. Maturities average about 30 days, max 	270.</a:t>
            </a:r>
          </a:p>
          <a:p>
            <a:pPr marL="0" indent="0">
              <a:buNone/>
            </a:pPr>
            <a:endParaRPr lang="en-US" altLang="en-US" sz="1800" dirty="0">
              <a:solidFill>
                <a:srgbClr val="230576"/>
              </a:solidFill>
            </a:endParaRPr>
          </a:p>
          <a:p>
            <a:pPr marL="0" indent="0">
              <a:buNone/>
            </a:pPr>
            <a:r>
              <a:rPr lang="en-US" altLang="en-US" sz="1800" dirty="0">
                <a:solidFill>
                  <a:srgbClr val="230576"/>
                </a:solidFill>
              </a:rPr>
              <a:t>	Euro commercial paper (ECP) may have maturities up to 365 days (‘Euro’ refers to 	non-domestic currency issue):</a:t>
            </a:r>
          </a:p>
          <a:p>
            <a:pPr marL="0" indent="0">
              <a:buNone/>
            </a:pPr>
            <a:endParaRPr lang="en-US" altLang="en-US" sz="1800" dirty="0">
              <a:solidFill>
                <a:srgbClr val="230576"/>
              </a:solidFill>
            </a:endParaRPr>
          </a:p>
          <a:p>
            <a:pPr marL="0" indent="0">
              <a:buNone/>
            </a:pPr>
            <a:r>
              <a:rPr lang="en-US" altLang="en-US" sz="1800" dirty="0">
                <a:solidFill>
                  <a:srgbClr val="230576"/>
                </a:solidFill>
              </a:rPr>
              <a:t>	Two main uses:</a:t>
            </a:r>
          </a:p>
          <a:p>
            <a:pPr lvl="3"/>
            <a:r>
              <a:rPr lang="en-US" altLang="en-US" sz="1800" dirty="0">
                <a:solidFill>
                  <a:srgbClr val="230576"/>
                </a:solidFill>
              </a:rPr>
              <a:t>Long-term financing (rolling over maturing CP)</a:t>
            </a:r>
          </a:p>
          <a:p>
            <a:pPr lvl="3"/>
            <a:r>
              <a:rPr lang="en-US" altLang="en-US" sz="1800" dirty="0">
                <a:solidFill>
                  <a:srgbClr val="230576"/>
                </a:solidFill>
              </a:rPr>
              <a:t>Matching fluctuating demands for cash</a:t>
            </a:r>
          </a:p>
          <a:p>
            <a:pPr marL="0" indent="0">
              <a:buNone/>
            </a:pPr>
            <a:r>
              <a:rPr lang="en-US" altLang="en-US" sz="1800" dirty="0">
                <a:solidFill>
                  <a:srgbClr val="230576"/>
                </a:solidFill>
              </a:rPr>
              <a:t>	Purchasers:</a:t>
            </a:r>
          </a:p>
          <a:p>
            <a:pPr lvl="3"/>
            <a:r>
              <a:rPr lang="en-US" altLang="en-US" sz="1800" dirty="0">
                <a:solidFill>
                  <a:srgbClr val="230576"/>
                </a:solidFill>
              </a:rPr>
              <a:t>MM mutual funds, insurance companies, pension funds</a:t>
            </a:r>
          </a:p>
          <a:p>
            <a:pPr marL="0" indent="0">
              <a:buNone/>
            </a:pPr>
            <a:endParaRPr lang="en-US" altLang="en-US" sz="1800" dirty="0">
              <a:solidFill>
                <a:srgbClr val="230576"/>
              </a:solidFill>
            </a:endParaRPr>
          </a:p>
          <a:p>
            <a:pPr marL="0" indent="0">
              <a:buNone/>
            </a:pPr>
            <a:r>
              <a:rPr lang="en-US" altLang="en-US" sz="1800" dirty="0">
                <a:solidFill>
                  <a:srgbClr val="230576"/>
                </a:solidFill>
              </a:rPr>
              <a:t>	Each issuer will have their CP rated by rating agencies</a:t>
            </a:r>
          </a:p>
        </p:txBody>
      </p:sp>
    </p:spTree>
    <p:extLst>
      <p:ext uri="{BB962C8B-B14F-4D97-AF65-F5344CB8AC3E}">
        <p14:creationId xmlns:p14="http://schemas.microsoft.com/office/powerpoint/2010/main" val="3473564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28674" name="Rectangle 12">
            <a:extLst>
              <a:ext uri="{FF2B5EF4-FFF2-40B4-BE49-F238E27FC236}">
                <a16:creationId xmlns:a16="http://schemas.microsoft.com/office/drawing/2014/main" id="{71CE72F0-0B70-48F8-9261-8C91345897D4}"/>
              </a:ext>
            </a:extLst>
          </p:cNvPr>
          <p:cNvSpPr>
            <a:spLocks noGrp="1"/>
          </p:cNvSpPr>
          <p:nvPr>
            <p:ph idx="4294967295"/>
          </p:nvPr>
        </p:nvSpPr>
        <p:spPr>
          <a:xfrm>
            <a:off x="-252536" y="1125538"/>
            <a:ext cx="8640763" cy="5181600"/>
          </a:xfrm>
        </p:spPr>
        <p:txBody>
          <a:bodyPr/>
          <a:lstStyle/>
          <a:p>
            <a:pPr marL="0" indent="0" eaLnBrk="1" hangingPunct="1">
              <a:buNone/>
              <a:defRPr/>
            </a:pPr>
            <a:r>
              <a:rPr lang="en-US" sz="1800" b="1" dirty="0"/>
              <a:t>	</a:t>
            </a:r>
            <a:r>
              <a:rPr lang="en-US" sz="1800" b="1" dirty="0">
                <a:solidFill>
                  <a:srgbClr val="230576"/>
                </a:solidFill>
              </a:rPr>
              <a:t>Certificates of deposit (CD)</a:t>
            </a:r>
          </a:p>
          <a:p>
            <a:pPr marL="0" indent="0" eaLnBrk="1" hangingPunct="1">
              <a:buNone/>
              <a:defRPr/>
            </a:pPr>
            <a:r>
              <a:rPr lang="en-US" sz="1800" dirty="0">
                <a:solidFill>
                  <a:srgbClr val="230576"/>
                </a:solidFill>
              </a:rPr>
              <a:t>	A CD is a certificate representing funds deposited at a bank for a named period at a 	</a:t>
            </a:r>
            <a:r>
              <a:rPr lang="en-US" sz="1800" b="1" dirty="0">
                <a:solidFill>
                  <a:srgbClr val="230576"/>
                </a:solidFill>
              </a:rPr>
              <a:t>fixed interest rate</a:t>
            </a:r>
            <a:r>
              <a:rPr lang="en-US" sz="1800" dirty="0">
                <a:solidFill>
                  <a:srgbClr val="230576"/>
                </a:solidFill>
              </a:rPr>
              <a:t>.</a:t>
            </a:r>
          </a:p>
          <a:p>
            <a:pPr marL="0" indent="0" eaLnBrk="1" hangingPunct="1">
              <a:buNone/>
              <a:defRPr/>
            </a:pPr>
            <a:r>
              <a:rPr lang="en-US" sz="1800" b="1" dirty="0">
                <a:solidFill>
                  <a:srgbClr val="230576"/>
                </a:solidFill>
              </a:rPr>
              <a:t>	</a:t>
            </a:r>
          </a:p>
          <a:p>
            <a:pPr marL="0" indent="0" eaLnBrk="1" hangingPunct="1">
              <a:buNone/>
              <a:defRPr/>
            </a:pPr>
            <a:r>
              <a:rPr lang="en-US" sz="1800" b="1" dirty="0">
                <a:solidFill>
                  <a:srgbClr val="230576"/>
                </a:solidFill>
              </a:rPr>
              <a:t>	Note:</a:t>
            </a:r>
            <a:r>
              <a:rPr lang="en-US" sz="1800" dirty="0">
                <a:solidFill>
                  <a:srgbClr val="230576"/>
                </a:solidFill>
              </a:rPr>
              <a:t> CDs pay interest.</a:t>
            </a:r>
          </a:p>
          <a:p>
            <a:pPr marL="0" indent="0" eaLnBrk="1" hangingPunct="1">
              <a:buNone/>
              <a:defRPr/>
            </a:pPr>
            <a:endParaRPr lang="en-US" sz="1800" dirty="0">
              <a:solidFill>
                <a:srgbClr val="230576"/>
              </a:solidFill>
            </a:endParaRPr>
          </a:p>
          <a:p>
            <a:pPr marL="0" indent="0" eaLnBrk="1" hangingPunct="1">
              <a:buNone/>
              <a:defRPr/>
            </a:pPr>
            <a:r>
              <a:rPr lang="en-US" sz="1800" dirty="0">
                <a:solidFill>
                  <a:srgbClr val="230576"/>
                </a:solidFill>
              </a:rPr>
              <a:t>	CDs are valued by present valuing the maturity amount of principal plus interest.</a:t>
            </a:r>
          </a:p>
        </p:txBody>
      </p:sp>
      <p:sp>
        <p:nvSpPr>
          <p:cNvPr id="29700" name="Text Box 4">
            <a:extLst>
              <a:ext uri="{FF2B5EF4-FFF2-40B4-BE49-F238E27FC236}">
                <a16:creationId xmlns:a16="http://schemas.microsoft.com/office/drawing/2014/main" id="{2F2ACFAE-F6AB-43FC-B60B-073C95FB7BC5}"/>
              </a:ext>
            </a:extLst>
          </p:cNvPr>
          <p:cNvSpPr txBox="1">
            <a:spLocks noChangeArrowheads="1"/>
          </p:cNvSpPr>
          <p:nvPr/>
        </p:nvSpPr>
        <p:spPr bwMode="auto">
          <a:xfrm>
            <a:off x="2987824" y="3639016"/>
            <a:ext cx="3889226" cy="646331"/>
          </a:xfrm>
          <a:prstGeom prst="rect">
            <a:avLst/>
          </a:prstGeom>
          <a:solidFill>
            <a:schemeClr val="bg1"/>
          </a:solidFill>
          <a:ln w="3175" algn="ctr">
            <a:solidFill>
              <a:schemeClr val="tx1"/>
            </a:solidFill>
            <a:miter lim="800000"/>
            <a:headEnd/>
            <a:tailEnd/>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dirty="0"/>
              <a:t>Certificate of deposit</a:t>
            </a:r>
          </a:p>
          <a:p>
            <a:pPr eaLnBrk="1" hangingPunct="1"/>
            <a:r>
              <a:rPr lang="en-GB" altLang="en-US" dirty="0"/>
              <a:t>GBP 10,000,000 six month 1% </a:t>
            </a:r>
            <a:r>
              <a:rPr lang="en-GB" altLang="en-US" dirty="0" err="1"/>
              <a:t>p.a</a:t>
            </a:r>
            <a:endParaRPr lang="en-US" altLang="en-US" dirty="0"/>
          </a:p>
        </p:txBody>
      </p:sp>
      <p:sp>
        <p:nvSpPr>
          <p:cNvPr id="29701" name="Text Box 5">
            <a:extLst>
              <a:ext uri="{FF2B5EF4-FFF2-40B4-BE49-F238E27FC236}">
                <a16:creationId xmlns:a16="http://schemas.microsoft.com/office/drawing/2014/main" id="{D988383F-1976-4CFD-83FC-BA1C4DFF07C9}"/>
              </a:ext>
            </a:extLst>
          </p:cNvPr>
          <p:cNvSpPr txBox="1">
            <a:spLocks noChangeArrowheads="1"/>
          </p:cNvSpPr>
          <p:nvPr/>
        </p:nvSpPr>
        <p:spPr bwMode="auto">
          <a:xfrm>
            <a:off x="684213" y="4711700"/>
            <a:ext cx="201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Investor</a:t>
            </a:r>
            <a:endParaRPr lang="en-US" altLang="en-US"/>
          </a:p>
        </p:txBody>
      </p:sp>
      <p:sp>
        <p:nvSpPr>
          <p:cNvPr id="29702" name="Text Box 6">
            <a:extLst>
              <a:ext uri="{FF2B5EF4-FFF2-40B4-BE49-F238E27FC236}">
                <a16:creationId xmlns:a16="http://schemas.microsoft.com/office/drawing/2014/main" id="{B2B60B5F-8871-4891-9A0A-42B6386A7663}"/>
              </a:ext>
            </a:extLst>
          </p:cNvPr>
          <p:cNvSpPr txBox="1">
            <a:spLocks noChangeArrowheads="1"/>
          </p:cNvSpPr>
          <p:nvPr/>
        </p:nvSpPr>
        <p:spPr bwMode="auto">
          <a:xfrm>
            <a:off x="7092950" y="4719638"/>
            <a:ext cx="2016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a:t>Bank</a:t>
            </a:r>
            <a:endParaRPr lang="en-US" altLang="en-US"/>
          </a:p>
        </p:txBody>
      </p:sp>
      <p:sp>
        <p:nvSpPr>
          <p:cNvPr id="29703" name="Line 7">
            <a:extLst>
              <a:ext uri="{FF2B5EF4-FFF2-40B4-BE49-F238E27FC236}">
                <a16:creationId xmlns:a16="http://schemas.microsoft.com/office/drawing/2014/main" id="{CA0E4C72-0E46-4A6C-864A-83B96179F5B5}"/>
              </a:ext>
            </a:extLst>
          </p:cNvPr>
          <p:cNvSpPr>
            <a:spLocks noChangeShapeType="1"/>
          </p:cNvSpPr>
          <p:nvPr/>
        </p:nvSpPr>
        <p:spPr bwMode="auto">
          <a:xfrm>
            <a:off x="2411413" y="5006975"/>
            <a:ext cx="4537075" cy="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29704" name="Line 8">
            <a:extLst>
              <a:ext uri="{FF2B5EF4-FFF2-40B4-BE49-F238E27FC236}">
                <a16:creationId xmlns:a16="http://schemas.microsoft.com/office/drawing/2014/main" id="{4E79DBA1-100A-4FC5-990F-0EB79B3F7A54}"/>
              </a:ext>
            </a:extLst>
          </p:cNvPr>
          <p:cNvSpPr>
            <a:spLocks noChangeShapeType="1"/>
          </p:cNvSpPr>
          <p:nvPr/>
        </p:nvSpPr>
        <p:spPr bwMode="auto">
          <a:xfrm flipH="1">
            <a:off x="2411413" y="4791075"/>
            <a:ext cx="4465637" cy="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29705" name="Text Box 9">
            <a:extLst>
              <a:ext uri="{FF2B5EF4-FFF2-40B4-BE49-F238E27FC236}">
                <a16:creationId xmlns:a16="http://schemas.microsoft.com/office/drawing/2014/main" id="{7EB207AD-64C8-4619-85FE-E0F11D553908}"/>
              </a:ext>
            </a:extLst>
          </p:cNvPr>
          <p:cNvSpPr txBox="1">
            <a:spLocks noChangeArrowheads="1"/>
          </p:cNvSpPr>
          <p:nvPr/>
        </p:nvSpPr>
        <p:spPr bwMode="auto">
          <a:xfrm>
            <a:off x="2700163" y="5084763"/>
            <a:ext cx="5256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dirty="0"/>
              <a:t>GBP 10m for six months at 1% p.a.</a:t>
            </a:r>
            <a:endParaRPr lang="en-US" altLang="en-US" dirty="0"/>
          </a:p>
        </p:txBody>
      </p:sp>
    </p:spTree>
    <p:extLst>
      <p:ext uri="{BB962C8B-B14F-4D97-AF65-F5344CB8AC3E}">
        <p14:creationId xmlns:p14="http://schemas.microsoft.com/office/powerpoint/2010/main" val="1352660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4099" name="Rectangle 3"/>
          <p:cNvSpPr>
            <a:spLocks noGrp="1" noChangeArrowheads="1"/>
          </p:cNvSpPr>
          <p:nvPr>
            <p:ph idx="4294967295"/>
          </p:nvPr>
        </p:nvSpPr>
        <p:spPr>
          <a:xfrm>
            <a:off x="-252536" y="908050"/>
            <a:ext cx="8229600" cy="4262438"/>
          </a:xfrm>
        </p:spPr>
        <p:txBody>
          <a:bodyPr/>
          <a:lstStyle/>
          <a:p>
            <a:pPr marL="0" indent="0">
              <a:buNone/>
            </a:pPr>
            <a:endParaRPr lang="en-US" sz="1800" b="1" noProof="0" dirty="0">
              <a:solidFill>
                <a:srgbClr val="230576"/>
              </a:solidFill>
            </a:endParaRPr>
          </a:p>
          <a:p>
            <a:pPr marL="0" indent="0">
              <a:buNone/>
            </a:pPr>
            <a:r>
              <a:rPr lang="en-US" sz="1800" b="1" dirty="0">
                <a:solidFill>
                  <a:srgbClr val="230576"/>
                </a:solidFill>
              </a:rPr>
              <a:t>	</a:t>
            </a:r>
            <a:r>
              <a:rPr lang="en-US" sz="1800" b="1" noProof="0" dirty="0">
                <a:solidFill>
                  <a:srgbClr val="230576"/>
                </a:solidFill>
              </a:rPr>
              <a:t>Repurchase Agreements (Repos)</a:t>
            </a:r>
          </a:p>
          <a:p>
            <a:pPr marL="0" indent="0">
              <a:buNone/>
            </a:pPr>
            <a:r>
              <a:rPr lang="en-US" sz="1800" noProof="0" dirty="0">
                <a:solidFill>
                  <a:srgbClr val="230576"/>
                </a:solidFill>
              </a:rPr>
              <a:t>	A repo transaction in which one party sells another a security. At the same 	time, as part of the same agreement, the selling party agrees to repurchase 	identical securities on a specified later date at a specified price.</a:t>
            </a:r>
          </a:p>
          <a:p>
            <a:pPr marL="0" indent="0">
              <a:buNone/>
            </a:pPr>
            <a:endParaRPr lang="en-US" sz="1800" noProof="0" dirty="0">
              <a:solidFill>
                <a:srgbClr val="230576"/>
              </a:solidFill>
            </a:endParaRPr>
          </a:p>
          <a:p>
            <a:pPr marL="0" indent="0">
              <a:buNone/>
            </a:pPr>
            <a:r>
              <a:rPr lang="en-US" sz="1800" noProof="0" dirty="0">
                <a:solidFill>
                  <a:srgbClr val="230576"/>
                </a:solidFill>
              </a:rPr>
              <a:t>	There are two </a:t>
            </a:r>
            <a:r>
              <a:rPr lang="en-US" sz="1800" b="1" noProof="0" dirty="0">
                <a:solidFill>
                  <a:srgbClr val="230576"/>
                </a:solidFill>
              </a:rPr>
              <a:t>legs</a:t>
            </a:r>
            <a:r>
              <a:rPr lang="en-US" sz="1800" noProof="0" dirty="0">
                <a:solidFill>
                  <a:srgbClr val="230576"/>
                </a:solidFill>
              </a:rPr>
              <a:t> to a classic repo:</a:t>
            </a:r>
          </a:p>
          <a:p>
            <a:pPr marL="457200" lvl="1" indent="0">
              <a:buNone/>
            </a:pPr>
            <a:r>
              <a:rPr lang="en-US" sz="1800" noProof="0" dirty="0">
                <a:solidFill>
                  <a:srgbClr val="230576"/>
                </a:solidFill>
              </a:rPr>
              <a:t>	The </a:t>
            </a:r>
            <a:r>
              <a:rPr lang="en-US" sz="1800" b="1" noProof="0" dirty="0">
                <a:solidFill>
                  <a:srgbClr val="230576"/>
                </a:solidFill>
              </a:rPr>
              <a:t>seller</a:t>
            </a:r>
            <a:r>
              <a:rPr lang="en-US" sz="1800" noProof="0" dirty="0">
                <a:solidFill>
                  <a:srgbClr val="230576"/>
                </a:solidFill>
              </a:rPr>
              <a:t> delivers securities and receives cash from the </a:t>
            </a:r>
            <a:r>
              <a:rPr lang="en-US" sz="1800" b="1" noProof="0" dirty="0">
                <a:solidFill>
                  <a:srgbClr val="230576"/>
                </a:solidFill>
              </a:rPr>
              <a:t>buyer</a:t>
            </a:r>
          </a:p>
          <a:p>
            <a:pPr marL="457200" lvl="1" indent="0">
              <a:buNone/>
            </a:pPr>
            <a:r>
              <a:rPr lang="en-US" sz="1800" noProof="0" dirty="0">
                <a:solidFill>
                  <a:srgbClr val="230576"/>
                </a:solidFill>
              </a:rPr>
              <a:t>	The difference between the cash received by the seller in leg one and 	returned in leg two is known as the </a:t>
            </a:r>
            <a:r>
              <a:rPr lang="en-US" sz="1800" b="1" noProof="0" dirty="0">
                <a:solidFill>
                  <a:srgbClr val="230576"/>
                </a:solidFill>
              </a:rPr>
              <a:t>repo rate </a:t>
            </a:r>
            <a:r>
              <a:rPr lang="en-US" sz="1800" noProof="0" dirty="0">
                <a:solidFill>
                  <a:srgbClr val="230576"/>
                </a:solidFill>
              </a:rPr>
              <a:t>and is the cost of the borrowed 	money</a:t>
            </a:r>
          </a:p>
          <a:p>
            <a:pPr marL="457200" lvl="1" indent="0">
              <a:buNone/>
            </a:pPr>
            <a:endParaRPr lang="en-US" sz="1800" noProof="0" dirty="0">
              <a:solidFill>
                <a:srgbClr val="230576"/>
              </a:solidFill>
            </a:endParaRPr>
          </a:p>
          <a:p>
            <a:pPr marL="0" indent="0">
              <a:buNone/>
            </a:pPr>
            <a:r>
              <a:rPr lang="en-US" sz="1800" noProof="0" dirty="0">
                <a:solidFill>
                  <a:srgbClr val="230576"/>
                </a:solidFill>
              </a:rPr>
              <a:t>	A ‘repo’ is therefore a ‘sale and repurchase agreement’:</a:t>
            </a:r>
          </a:p>
          <a:p>
            <a:pPr marL="457200" lvl="1" indent="0">
              <a:buNone/>
            </a:pPr>
            <a:r>
              <a:rPr lang="en-US" sz="1800" noProof="0" dirty="0">
                <a:solidFill>
                  <a:srgbClr val="230576"/>
                </a:solidFill>
              </a:rPr>
              <a:t>	Legally: A sale and repurchase of bonds</a:t>
            </a:r>
          </a:p>
          <a:p>
            <a:pPr marL="457200" lvl="1" indent="0">
              <a:buNone/>
            </a:pPr>
            <a:r>
              <a:rPr lang="en-US" sz="1800" noProof="0" dirty="0">
                <a:solidFill>
                  <a:srgbClr val="230576"/>
                </a:solidFill>
              </a:rPr>
              <a:t>	Economically: A cash loan secured by bonds</a:t>
            </a:r>
          </a:p>
          <a:p>
            <a:pPr marL="457200" lvl="1" indent="0">
              <a:buNone/>
            </a:pPr>
            <a:endParaRPr lang="en-US" sz="1800" noProof="0" dirty="0">
              <a:solidFill>
                <a:srgbClr val="230576"/>
              </a:solidFill>
            </a:endParaRPr>
          </a:p>
          <a:p>
            <a:pPr marL="0" indent="0">
              <a:buNone/>
            </a:pPr>
            <a:r>
              <a:rPr lang="en-US" sz="1800" noProof="0" dirty="0">
                <a:solidFill>
                  <a:srgbClr val="230576"/>
                </a:solidFill>
              </a:rPr>
              <a:t>	A sale and repurchase is a ‘repo’, whereas a purchase and sell back is a 	</a:t>
            </a:r>
            <a:r>
              <a:rPr lang="en-US" sz="1800" b="1" noProof="0" dirty="0">
                <a:solidFill>
                  <a:srgbClr val="230576"/>
                </a:solidFill>
              </a:rPr>
              <a:t>‘reverse repo’</a:t>
            </a:r>
            <a:r>
              <a:rPr lang="en-US" sz="1800" noProof="0" dirty="0">
                <a:solidFill>
                  <a:srgbClr val="230576"/>
                </a:solidFill>
              </a:rPr>
              <a:t>, or a </a:t>
            </a:r>
            <a:r>
              <a:rPr lang="en-US" sz="1800" b="1" noProof="0" dirty="0">
                <a:solidFill>
                  <a:srgbClr val="230576"/>
                </a:solidFill>
              </a:rPr>
              <a:t>‘reverse</a:t>
            </a:r>
            <a:endParaRPr lang="en-US" sz="1800" noProof="0" dirty="0">
              <a:solidFill>
                <a:srgbClr val="230576"/>
              </a:solidFill>
            </a:endParaRPr>
          </a:p>
        </p:txBody>
      </p:sp>
    </p:spTree>
    <p:extLst>
      <p:ext uri="{BB962C8B-B14F-4D97-AF65-F5344CB8AC3E}">
        <p14:creationId xmlns:p14="http://schemas.microsoft.com/office/powerpoint/2010/main" val="989864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Content Placeholder 2">
            <a:extLst>
              <a:ext uri="{FF2B5EF4-FFF2-40B4-BE49-F238E27FC236}">
                <a16:creationId xmlns:a16="http://schemas.microsoft.com/office/drawing/2014/main" id="{6C9EB66E-6D1E-4DDF-B020-2A5242A2CDC8}"/>
              </a:ext>
            </a:extLst>
          </p:cNvPr>
          <p:cNvSpPr>
            <a:spLocks noGrp="1" noChangeArrowheads="1"/>
          </p:cNvSpPr>
          <p:nvPr>
            <p:ph idx="4294967295"/>
          </p:nvPr>
        </p:nvSpPr>
        <p:spPr>
          <a:xfrm>
            <a:off x="179512" y="1484784"/>
            <a:ext cx="8143875" cy="4359275"/>
          </a:xfrm>
        </p:spPr>
        <p:txBody>
          <a:bodyPr/>
          <a:lstStyle/>
          <a:p>
            <a:pPr marL="0" indent="0">
              <a:buNone/>
            </a:pPr>
            <a:r>
              <a:rPr lang="en-GB" altLang="en-US" sz="1800" dirty="0">
                <a:ea typeface="ＭＳ Ｐゴシック" panose="020B0600070205080204" pitchFamily="34" charset="-128"/>
              </a:rPr>
              <a:t>        </a:t>
            </a:r>
            <a:r>
              <a:rPr lang="en-GB" altLang="en-US" sz="1800" dirty="0">
                <a:solidFill>
                  <a:srgbClr val="230576"/>
                </a:solidFill>
                <a:ea typeface="ＭＳ Ｐゴシック" panose="020B0600070205080204" pitchFamily="34" charset="-128"/>
              </a:rPr>
              <a:t>Repo Market (example)</a:t>
            </a: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r>
              <a:rPr lang="en-GB" altLang="en-US" sz="1800" dirty="0">
                <a:solidFill>
                  <a:srgbClr val="230576"/>
                </a:solidFill>
                <a:ea typeface="ＭＳ Ｐゴシック" panose="020B0600070205080204" pitchFamily="34" charset="-128"/>
              </a:rPr>
              <a:t>DMO’s ‘Standing Repo Facility’</a:t>
            </a:r>
          </a:p>
          <a:p>
            <a:pPr lvl="1"/>
            <a:r>
              <a:rPr lang="en-GB" altLang="en-US" sz="1800" dirty="0">
                <a:solidFill>
                  <a:srgbClr val="230576"/>
                </a:solidFill>
                <a:ea typeface="ＭＳ Ｐゴシック" panose="020B0600070205080204" pitchFamily="34" charset="-128"/>
              </a:rPr>
              <a:t>Reverse repos to GEMMs (for any amount above £5m nominal)</a:t>
            </a:r>
          </a:p>
          <a:p>
            <a:pPr marL="457200" lvl="1" indent="0">
              <a:buNone/>
            </a:pPr>
            <a:endParaRPr lang="en-GB" altLang="en-US" sz="1800" dirty="0">
              <a:solidFill>
                <a:srgbClr val="230576"/>
              </a:solidFill>
              <a:ea typeface="ＭＳ Ｐゴシック" panose="020B0600070205080204" pitchFamily="34" charset="-128"/>
            </a:endParaRPr>
          </a:p>
          <a:p>
            <a:pPr marL="457200" lvl="1" indent="0">
              <a:buNone/>
            </a:pPr>
            <a:r>
              <a:rPr lang="en-GB" altLang="en-US" sz="1800" dirty="0">
                <a:solidFill>
                  <a:srgbClr val="230576"/>
                </a:solidFill>
                <a:ea typeface="ＭＳ Ｐゴシック" panose="020B0600070205080204" pitchFamily="34" charset="-128"/>
              </a:rPr>
              <a:t>Main purpose of repo market: liquidity</a:t>
            </a:r>
          </a:p>
        </p:txBody>
      </p:sp>
      <p:pic>
        <p:nvPicPr>
          <p:cNvPr id="80898" name="Picture 5">
            <a:extLst>
              <a:ext uri="{FF2B5EF4-FFF2-40B4-BE49-F238E27FC236}">
                <a16:creationId xmlns:a16="http://schemas.microsoft.com/office/drawing/2014/main" id="{DBD1B026-31DE-4DBF-92A2-4B4D7FBD50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276872"/>
            <a:ext cx="5811838"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endParaRPr lang="en-GB"/>
          </a:p>
        </p:txBody>
      </p:sp>
    </p:spTree>
    <p:extLst>
      <p:ext uri="{BB962C8B-B14F-4D97-AF65-F5344CB8AC3E}">
        <p14:creationId xmlns:p14="http://schemas.microsoft.com/office/powerpoint/2010/main" val="1992102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a:extLst>
              <a:ext uri="{FF2B5EF4-FFF2-40B4-BE49-F238E27FC236}">
                <a16:creationId xmlns:a16="http://schemas.microsoft.com/office/drawing/2014/main" id="{DBC40383-EC54-471E-8E96-8B0A026C36E8}"/>
              </a:ext>
            </a:extLst>
          </p:cNvPr>
          <p:cNvSpPr>
            <a:spLocks noGrp="1"/>
          </p:cNvSpPr>
          <p:nvPr>
            <p:ph type="title"/>
          </p:nvPr>
        </p:nvSpPr>
        <p:spPr>
          <a:xfrm>
            <a:off x="571500" y="3068315"/>
            <a:ext cx="8032750" cy="720725"/>
          </a:xfrm>
        </p:spPr>
        <p:txBody>
          <a:bodyPr/>
          <a:lstStyle/>
          <a:p>
            <a:pPr algn="ctr">
              <a:lnSpc>
                <a:spcPts val="2625"/>
              </a:lnSpc>
            </a:pPr>
            <a:br>
              <a:rPr lang="en-GB" altLang="en-US" dirty="0">
                <a:ea typeface="ＭＳ Ｐゴシック" panose="020B0600070205080204" pitchFamily="34" charset="-128"/>
              </a:rPr>
            </a:br>
            <a:r>
              <a:rPr lang="en-GB" altLang="en-US" dirty="0">
                <a:ea typeface="ＭＳ Ｐゴシック" panose="020B0600070205080204" pitchFamily="34" charset="-128"/>
              </a:rPr>
              <a:t>Foreign Exchange </a:t>
            </a:r>
            <a:br>
              <a:rPr lang="en-GB" altLang="en-US" dirty="0">
                <a:ea typeface="ＭＳ Ｐゴシック" panose="020B0600070205080204" pitchFamily="34" charset="-128"/>
              </a:rPr>
            </a:br>
            <a:endParaRPr altLang="en-US" dirty="0">
              <a:ea typeface="ＭＳ Ｐゴシック" panose="020B0600070205080204" pitchFamily="34" charset="-128"/>
            </a:endParaRPr>
          </a:p>
        </p:txBody>
      </p:sp>
    </p:spTree>
    <p:extLst>
      <p:ext uri="{BB962C8B-B14F-4D97-AF65-F5344CB8AC3E}">
        <p14:creationId xmlns:p14="http://schemas.microsoft.com/office/powerpoint/2010/main" val="743690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6F7DC2B-48E6-41D6-9AC9-B8FA20AF3D80}"/>
              </a:ext>
            </a:extLst>
          </p:cNvPr>
          <p:cNvSpPr>
            <a:spLocks noGrp="1" noChangeArrowheads="1"/>
          </p:cNvSpPr>
          <p:nvPr>
            <p:ph type="title"/>
          </p:nvPr>
        </p:nvSpPr>
        <p:spPr/>
        <p:txBody>
          <a:bodyPr/>
          <a:lstStyle/>
          <a:p>
            <a:r>
              <a:rPr lang="en-GB" altLang="en-US" dirty="0">
                <a:ea typeface="ＭＳ Ｐゴシック" panose="020B0600070205080204" pitchFamily="34" charset="-128"/>
              </a:rPr>
              <a:t>Foreign Exchange (FX)</a:t>
            </a:r>
          </a:p>
        </p:txBody>
      </p:sp>
      <p:sp>
        <p:nvSpPr>
          <p:cNvPr id="99331" name="Content Placeholder 2">
            <a:extLst>
              <a:ext uri="{FF2B5EF4-FFF2-40B4-BE49-F238E27FC236}">
                <a16:creationId xmlns:a16="http://schemas.microsoft.com/office/drawing/2014/main" id="{36E1362A-DA1B-4840-8DA5-1F46243048E2}"/>
              </a:ext>
            </a:extLst>
          </p:cNvPr>
          <p:cNvSpPr>
            <a:spLocks noGrp="1" noChangeArrowheads="1"/>
          </p:cNvSpPr>
          <p:nvPr>
            <p:ph type="body" idx="4294967295"/>
          </p:nvPr>
        </p:nvSpPr>
        <p:spPr>
          <a:xfrm>
            <a:off x="642119" y="1268413"/>
            <a:ext cx="8034337" cy="4752975"/>
          </a:xfrm>
        </p:spPr>
        <p:txBody>
          <a:bodyPr/>
          <a:lstStyle/>
          <a:p>
            <a:r>
              <a:rPr lang="en-GB" altLang="en-US" sz="1800" dirty="0">
                <a:ea typeface="ＭＳ Ｐゴシック" panose="020B0600070205080204" pitchFamily="34" charset="-128"/>
              </a:rPr>
              <a:t>Introduction</a:t>
            </a:r>
          </a:p>
          <a:p>
            <a:pPr lvl="1"/>
            <a:r>
              <a:rPr lang="en-GB" altLang="en-US" sz="1800" dirty="0">
                <a:ea typeface="ＭＳ Ｐゴシック" panose="020B0600070205080204" pitchFamily="34" charset="-128"/>
              </a:rPr>
              <a:t>OTC institutional market dominated by banks</a:t>
            </a:r>
          </a:p>
          <a:p>
            <a:pPr lvl="1"/>
            <a:r>
              <a:rPr lang="en-GB" altLang="en-US" sz="1800" dirty="0">
                <a:ea typeface="ＭＳ Ｐゴシック" panose="020B0600070205080204" pitchFamily="34" charset="-128"/>
              </a:rPr>
              <a:t>No physical market place</a:t>
            </a:r>
          </a:p>
          <a:p>
            <a:pPr lvl="1"/>
            <a:r>
              <a:rPr lang="en-GB" altLang="en-US" sz="1800" dirty="0">
                <a:ea typeface="ＭＳ Ｐゴシック" panose="020B0600070205080204" pitchFamily="34" charset="-128"/>
              </a:rPr>
              <a:t>Types of transaction:</a:t>
            </a:r>
          </a:p>
          <a:p>
            <a:pPr lvl="2"/>
            <a:r>
              <a:rPr lang="en-GB" altLang="en-US" sz="1800" dirty="0">
                <a:ea typeface="ＭＳ Ｐゴシック" panose="020B0600070205080204" pitchFamily="34" charset="-128"/>
              </a:rPr>
              <a:t>Spot </a:t>
            </a:r>
          </a:p>
          <a:p>
            <a:pPr lvl="2"/>
            <a:r>
              <a:rPr lang="en-GB" altLang="en-US" sz="1800" dirty="0">
                <a:ea typeface="ＭＳ Ｐゴシック" panose="020B0600070205080204" pitchFamily="34" charset="-128"/>
              </a:rPr>
              <a:t>Forward</a:t>
            </a:r>
          </a:p>
          <a:p>
            <a:pPr lvl="1"/>
            <a:r>
              <a:rPr lang="en-GB" altLang="en-US" sz="1800" dirty="0">
                <a:ea typeface="ＭＳ Ｐゴシック" panose="020B0600070205080204" pitchFamily="34" charset="-128"/>
              </a:rPr>
              <a:t>Most commonly quoted currency pairs:</a:t>
            </a:r>
          </a:p>
          <a:p>
            <a:pPr lvl="2"/>
            <a:r>
              <a:rPr lang="en-GB" altLang="en-US" sz="1800" dirty="0">
                <a:ea typeface="ＭＳ Ｐゴシック" panose="020B0600070205080204" pitchFamily="34" charset="-128"/>
              </a:rPr>
              <a:t>USD/JPY</a:t>
            </a:r>
          </a:p>
          <a:p>
            <a:pPr lvl="2"/>
            <a:r>
              <a:rPr lang="en-GB" altLang="en-US" sz="1800" dirty="0">
                <a:ea typeface="ＭＳ Ｐゴシック" panose="020B0600070205080204" pitchFamily="34" charset="-128"/>
              </a:rPr>
              <a:t>USD/CHF</a:t>
            </a:r>
          </a:p>
          <a:p>
            <a:pPr lvl="2"/>
            <a:r>
              <a:rPr lang="en-GB" altLang="en-US" sz="1800" dirty="0">
                <a:ea typeface="ＭＳ Ｐゴシック" panose="020B0600070205080204" pitchFamily="34" charset="-128"/>
              </a:rPr>
              <a:t>GBP/USD</a:t>
            </a:r>
          </a:p>
          <a:p>
            <a:pPr lvl="2"/>
            <a:r>
              <a:rPr lang="en-GB" altLang="en-US" sz="1800" dirty="0">
                <a:ea typeface="ＭＳ Ｐゴシック" panose="020B0600070205080204" pitchFamily="34" charset="-128"/>
              </a:rPr>
              <a:t>EUR/USD</a:t>
            </a:r>
          </a:p>
          <a:p>
            <a:pPr lvl="1"/>
            <a:r>
              <a:rPr lang="en-GB" altLang="en-US" sz="1800" dirty="0">
                <a:ea typeface="ＭＳ Ｐゴシック" panose="020B0600070205080204" pitchFamily="34" charset="-128"/>
              </a:rPr>
              <a:t>Cross rates</a:t>
            </a:r>
          </a:p>
          <a:p>
            <a:pPr lvl="1"/>
            <a:endParaRPr lang="en-GB" altLang="en-US" dirty="0">
              <a:ea typeface="ＭＳ Ｐゴシック" panose="020B0600070205080204" pitchFamily="34" charset="-128"/>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85579BCD-CC71-41B8-AA08-4B6112F3E4FF}"/>
              </a:ext>
            </a:extLst>
          </p:cNvPr>
          <p:cNvSpPr>
            <a:spLocks noGrp="1" noChangeArrowheads="1"/>
          </p:cNvSpPr>
          <p:nvPr>
            <p:ph type="title"/>
          </p:nvPr>
        </p:nvSpPr>
        <p:spPr/>
        <p:txBody>
          <a:bodyPr/>
          <a:lstStyle/>
          <a:p>
            <a:r>
              <a:rPr lang="en-GB" altLang="en-US" dirty="0">
                <a:ea typeface="ＭＳ Ｐゴシック" panose="020B0600070205080204" pitchFamily="34" charset="-128"/>
              </a:rPr>
              <a:t>Factors Affecting Foreign Exchange Rates</a:t>
            </a:r>
          </a:p>
        </p:txBody>
      </p:sp>
      <p:sp>
        <p:nvSpPr>
          <p:cNvPr id="107523" name="Content Placeholder 2">
            <a:extLst>
              <a:ext uri="{FF2B5EF4-FFF2-40B4-BE49-F238E27FC236}">
                <a16:creationId xmlns:a16="http://schemas.microsoft.com/office/drawing/2014/main" id="{08EAE61C-335E-483C-A74F-D93A3C1D7171}"/>
              </a:ext>
            </a:extLst>
          </p:cNvPr>
          <p:cNvSpPr>
            <a:spLocks noGrp="1" noChangeArrowheads="1"/>
          </p:cNvSpPr>
          <p:nvPr>
            <p:ph idx="4294967295"/>
          </p:nvPr>
        </p:nvSpPr>
        <p:spPr>
          <a:xfrm>
            <a:off x="611560" y="1284288"/>
            <a:ext cx="8143875" cy="4359275"/>
          </a:xfrm>
        </p:spPr>
        <p:txBody>
          <a:bodyPr/>
          <a:lstStyle/>
          <a:p>
            <a:r>
              <a:rPr lang="en-GB" altLang="en-US" sz="1800" b="1" dirty="0">
                <a:ea typeface="ＭＳ Ｐゴシック" panose="020B0600070205080204" pitchFamily="34" charset="-128"/>
              </a:rPr>
              <a:t>Interest rate parity </a:t>
            </a:r>
          </a:p>
          <a:p>
            <a:pPr lvl="1"/>
            <a:r>
              <a:rPr lang="en-GB" altLang="en-US" sz="1800" dirty="0">
                <a:ea typeface="ＭＳ Ｐゴシック" panose="020B0600070205080204" pitchFamily="34" charset="-128"/>
              </a:rPr>
              <a:t>Explains the relationship between spot rates and forward rates</a:t>
            </a:r>
          </a:p>
          <a:p>
            <a:pPr lvl="1"/>
            <a:r>
              <a:rPr lang="en-GB" altLang="en-US" sz="1800" dirty="0">
                <a:ea typeface="ＭＳ Ｐゴシック" panose="020B0600070205080204" pitchFamily="34" charset="-128"/>
              </a:rPr>
              <a:t>Relies on the principle of zero arbitrage</a:t>
            </a:r>
          </a:p>
          <a:p>
            <a:pPr lvl="1"/>
            <a:r>
              <a:rPr lang="en-GB" altLang="en-US" sz="1800" dirty="0">
                <a:ea typeface="ＭＳ Ｐゴシック" panose="020B0600070205080204" pitchFamily="34" charset="-128"/>
              </a:rPr>
              <a:t>Rationale:</a:t>
            </a:r>
          </a:p>
          <a:p>
            <a:pPr marL="457200" lvl="1" indent="0">
              <a:buNone/>
            </a:pPr>
            <a:endParaRPr lang="en-GB" altLang="en-US" sz="1800" dirty="0">
              <a:ea typeface="ＭＳ Ｐゴシック" panose="020B0600070205080204" pitchFamily="34" charset="-128"/>
            </a:endParaRPr>
          </a:p>
          <a:p>
            <a:pPr lvl="2">
              <a:buFont typeface="Arial" pitchFamily="34" charset="0"/>
              <a:buNone/>
            </a:pPr>
            <a:r>
              <a:rPr lang="en-GB" altLang="en-US" sz="1800" dirty="0">
                <a:ea typeface="ＭＳ Ｐゴシック" panose="020B0600070205080204" pitchFamily="34" charset="-128"/>
              </a:rPr>
              <a:t>1. Converting a £ sum to $s today (at the spot rate), depositing in the US (at the US interest rate) and re-converting at the forward rate should generate the same sterling value as;</a:t>
            </a:r>
          </a:p>
          <a:p>
            <a:pPr lvl="2">
              <a:buFont typeface="Arial" pitchFamily="34" charset="0"/>
              <a:buNone/>
            </a:pPr>
            <a:r>
              <a:rPr lang="en-GB" altLang="en-US" sz="1800" dirty="0">
                <a:ea typeface="ＭＳ Ｐゴシック" panose="020B0600070205080204" pitchFamily="34" charset="-128"/>
              </a:rPr>
              <a:t>2. Depositing the same £ sum in the UK for the same period</a:t>
            </a:r>
          </a:p>
        </p:txBody>
      </p:sp>
      <p:cxnSp>
        <p:nvCxnSpPr>
          <p:cNvPr id="107524" name="Straight Connector 4">
            <a:extLst>
              <a:ext uri="{FF2B5EF4-FFF2-40B4-BE49-F238E27FC236}">
                <a16:creationId xmlns:a16="http://schemas.microsoft.com/office/drawing/2014/main" id="{9606584E-A2DB-41F1-8B0E-3BD93CD91AB6}"/>
              </a:ext>
            </a:extLst>
          </p:cNvPr>
          <p:cNvCxnSpPr>
            <a:cxnSpLocks noChangeShapeType="1"/>
          </p:cNvCxnSpPr>
          <p:nvPr/>
        </p:nvCxnSpPr>
        <p:spPr bwMode="auto">
          <a:xfrm rot="5400000">
            <a:off x="2312193" y="4904309"/>
            <a:ext cx="214313" cy="0"/>
          </a:xfrm>
          <a:prstGeom prst="line">
            <a:avLst/>
          </a:prstGeom>
          <a:noFill/>
          <a:ln w="28575" algn="ctr">
            <a:solidFill>
              <a:srgbClr val="003366"/>
            </a:solidFill>
            <a:round/>
            <a:headEnd/>
            <a:tailEnd/>
          </a:ln>
          <a:extLst>
            <a:ext uri="{909E8E84-426E-40DD-AFC4-6F175D3DCCD1}">
              <a14:hiddenFill xmlns:a14="http://schemas.microsoft.com/office/drawing/2010/main">
                <a:noFill/>
              </a14:hiddenFill>
            </a:ext>
          </a:extLst>
        </p:spPr>
      </p:cxnSp>
      <p:cxnSp>
        <p:nvCxnSpPr>
          <p:cNvPr id="107525" name="Straight Connector 7">
            <a:extLst>
              <a:ext uri="{FF2B5EF4-FFF2-40B4-BE49-F238E27FC236}">
                <a16:creationId xmlns:a16="http://schemas.microsoft.com/office/drawing/2014/main" id="{E404A1C2-CC3E-44D8-8877-96CAC95FA1DA}"/>
              </a:ext>
            </a:extLst>
          </p:cNvPr>
          <p:cNvCxnSpPr>
            <a:cxnSpLocks noChangeShapeType="1"/>
          </p:cNvCxnSpPr>
          <p:nvPr/>
        </p:nvCxnSpPr>
        <p:spPr bwMode="auto">
          <a:xfrm rot="5400000">
            <a:off x="6639719" y="4904308"/>
            <a:ext cx="214312" cy="0"/>
          </a:xfrm>
          <a:prstGeom prst="line">
            <a:avLst/>
          </a:prstGeom>
          <a:noFill/>
          <a:ln w="28575" algn="ctr">
            <a:solidFill>
              <a:srgbClr val="003366"/>
            </a:solidFill>
            <a:round/>
            <a:headEnd/>
            <a:tailEnd/>
          </a:ln>
          <a:extLst>
            <a:ext uri="{909E8E84-426E-40DD-AFC4-6F175D3DCCD1}">
              <a14:hiddenFill xmlns:a14="http://schemas.microsoft.com/office/drawing/2010/main">
                <a:noFill/>
              </a14:hiddenFill>
            </a:ext>
          </a:extLst>
        </p:spPr>
      </p:cxnSp>
      <p:cxnSp>
        <p:nvCxnSpPr>
          <p:cNvPr id="107526" name="Straight Arrow Connector 11">
            <a:extLst>
              <a:ext uri="{FF2B5EF4-FFF2-40B4-BE49-F238E27FC236}">
                <a16:creationId xmlns:a16="http://schemas.microsoft.com/office/drawing/2014/main" id="{5BC00EAA-9020-4572-9F6D-10675D46EB22}"/>
              </a:ext>
            </a:extLst>
          </p:cNvPr>
          <p:cNvCxnSpPr>
            <a:cxnSpLocks noChangeShapeType="1"/>
          </p:cNvCxnSpPr>
          <p:nvPr/>
        </p:nvCxnSpPr>
        <p:spPr bwMode="auto">
          <a:xfrm>
            <a:off x="2246313" y="4941168"/>
            <a:ext cx="4786312" cy="1588"/>
          </a:xfrm>
          <a:prstGeom prst="straightConnector1">
            <a:avLst/>
          </a:prstGeom>
          <a:noFill/>
          <a:ln w="28575" algn="ctr">
            <a:solidFill>
              <a:srgbClr val="003366"/>
            </a:solidFill>
            <a:round/>
            <a:headEnd/>
            <a:tailEnd type="arrow" w="med" len="med"/>
          </a:ln>
          <a:extLst>
            <a:ext uri="{909E8E84-426E-40DD-AFC4-6F175D3DCCD1}">
              <a14:hiddenFill xmlns:a14="http://schemas.microsoft.com/office/drawing/2010/main">
                <a:noFill/>
              </a14:hiddenFill>
            </a:ext>
          </a:extLst>
        </p:spPr>
      </p:cxnSp>
      <p:sp>
        <p:nvSpPr>
          <p:cNvPr id="107527" name="TextBox 12">
            <a:extLst>
              <a:ext uri="{FF2B5EF4-FFF2-40B4-BE49-F238E27FC236}">
                <a16:creationId xmlns:a16="http://schemas.microsoft.com/office/drawing/2014/main" id="{6C0F7CDD-8951-4C69-9DFA-BC5D2DFBCFFD}"/>
              </a:ext>
            </a:extLst>
          </p:cNvPr>
          <p:cNvSpPr txBox="1">
            <a:spLocks noChangeArrowheads="1"/>
          </p:cNvSpPr>
          <p:nvPr/>
        </p:nvSpPr>
        <p:spPr bwMode="auto">
          <a:xfrm>
            <a:off x="3889375" y="4365104"/>
            <a:ext cx="1357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2000" dirty="0">
                <a:solidFill>
                  <a:schemeClr val="accent1"/>
                </a:solidFill>
                <a:latin typeface="+mn-lt"/>
              </a:rPr>
              <a:t>12 months</a:t>
            </a:r>
          </a:p>
        </p:txBody>
      </p:sp>
      <p:sp>
        <p:nvSpPr>
          <p:cNvPr id="107528" name="TextBox 14">
            <a:extLst>
              <a:ext uri="{FF2B5EF4-FFF2-40B4-BE49-F238E27FC236}">
                <a16:creationId xmlns:a16="http://schemas.microsoft.com/office/drawing/2014/main" id="{A4156F97-917C-4396-AC50-344323FBD4D3}"/>
              </a:ext>
            </a:extLst>
          </p:cNvPr>
          <p:cNvSpPr txBox="1">
            <a:spLocks noChangeArrowheads="1"/>
          </p:cNvSpPr>
          <p:nvPr/>
        </p:nvSpPr>
        <p:spPr bwMode="auto">
          <a:xfrm>
            <a:off x="1776413" y="5157192"/>
            <a:ext cx="1357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2000" dirty="0">
                <a:solidFill>
                  <a:srgbClr val="FF0000"/>
                </a:solidFill>
                <a:latin typeface="+mn-lt"/>
              </a:rPr>
              <a:t>Spot rate</a:t>
            </a:r>
          </a:p>
        </p:txBody>
      </p:sp>
      <p:sp>
        <p:nvSpPr>
          <p:cNvPr id="107529" name="TextBox 15">
            <a:extLst>
              <a:ext uri="{FF2B5EF4-FFF2-40B4-BE49-F238E27FC236}">
                <a16:creationId xmlns:a16="http://schemas.microsoft.com/office/drawing/2014/main" id="{3541F30E-2533-49EF-A114-E97870004DF5}"/>
              </a:ext>
            </a:extLst>
          </p:cNvPr>
          <p:cNvSpPr txBox="1">
            <a:spLocks noChangeArrowheads="1"/>
          </p:cNvSpPr>
          <p:nvPr/>
        </p:nvSpPr>
        <p:spPr bwMode="auto">
          <a:xfrm>
            <a:off x="5487988" y="5157192"/>
            <a:ext cx="25003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2000" dirty="0">
                <a:solidFill>
                  <a:srgbClr val="FF0000"/>
                </a:solidFill>
                <a:latin typeface="+mn-lt"/>
              </a:rPr>
              <a:t>12 month forward rate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4465435D-78D9-472E-BA65-093F8651069C}"/>
              </a:ext>
            </a:extLst>
          </p:cNvPr>
          <p:cNvSpPr>
            <a:spLocks noGrp="1" noChangeArrowheads="1"/>
          </p:cNvSpPr>
          <p:nvPr>
            <p:ph type="title"/>
          </p:nvPr>
        </p:nvSpPr>
        <p:spPr/>
        <p:txBody>
          <a:bodyPr/>
          <a:lstStyle/>
          <a:p>
            <a:r>
              <a:rPr lang="en-GB" altLang="en-US" dirty="0">
                <a:ea typeface="ＭＳ Ｐゴシック" panose="020B0600070205080204" pitchFamily="34" charset="-128"/>
              </a:rPr>
              <a:t>Cryptocurrencies</a:t>
            </a:r>
          </a:p>
        </p:txBody>
      </p:sp>
      <p:sp>
        <p:nvSpPr>
          <p:cNvPr id="111619" name="Content Placeholder 2">
            <a:extLst>
              <a:ext uri="{FF2B5EF4-FFF2-40B4-BE49-F238E27FC236}">
                <a16:creationId xmlns:a16="http://schemas.microsoft.com/office/drawing/2014/main" id="{BD99FC97-7B44-48CA-830B-82CDA4FFD7FD}"/>
              </a:ext>
            </a:extLst>
          </p:cNvPr>
          <p:cNvSpPr>
            <a:spLocks noGrp="1" noChangeArrowheads="1"/>
          </p:cNvSpPr>
          <p:nvPr>
            <p:ph idx="4294967295"/>
          </p:nvPr>
        </p:nvSpPr>
        <p:spPr>
          <a:xfrm>
            <a:off x="676597" y="1284288"/>
            <a:ext cx="8143875" cy="4359275"/>
          </a:xfrm>
        </p:spPr>
        <p:txBody>
          <a:bodyPr/>
          <a:lstStyle/>
          <a:p>
            <a:r>
              <a:rPr lang="en-GB" altLang="en-US" sz="1800" b="1" dirty="0">
                <a:latin typeface="+mn-lt"/>
                <a:ea typeface="ＭＳ Ｐゴシック" panose="020B0600070205080204" pitchFamily="34" charset="-128"/>
              </a:rPr>
              <a:t>Virtual or electronic currencies</a:t>
            </a:r>
          </a:p>
          <a:p>
            <a:pPr lvl="1"/>
            <a:r>
              <a:rPr lang="en-GB" altLang="en-US" sz="1800" dirty="0">
                <a:latin typeface="+mn-lt"/>
                <a:ea typeface="ＭＳ Ｐゴシック" panose="020B0600070205080204" pitchFamily="34" charset="-128"/>
              </a:rPr>
              <a:t>Encryption technology controls issuance/ records ownership and payments</a:t>
            </a:r>
          </a:p>
          <a:p>
            <a:pPr lvl="1"/>
            <a:r>
              <a:rPr lang="en-GB" altLang="en-US" sz="1800" dirty="0">
                <a:latin typeface="+mn-lt"/>
                <a:ea typeface="ＭＳ Ｐゴシック" panose="020B0600070205080204" pitchFamily="34" charset="-128"/>
              </a:rPr>
              <a:t>Digital wallets</a:t>
            </a:r>
          </a:p>
          <a:p>
            <a:pPr lvl="1"/>
            <a:r>
              <a:rPr lang="en-GB" altLang="en-US" sz="1800" dirty="0">
                <a:latin typeface="+mn-lt"/>
                <a:ea typeface="ＭＳ Ｐゴシック" panose="020B0600070205080204" pitchFamily="34" charset="-128"/>
              </a:rPr>
              <a:t>Considered potentially high risk or speculative</a:t>
            </a:r>
          </a:p>
          <a:p>
            <a:pPr lvl="1"/>
            <a:r>
              <a:rPr lang="en-GB" altLang="en-US" sz="1800" dirty="0">
                <a:latin typeface="+mn-lt"/>
                <a:ea typeface="ＭＳ Ｐゴシック" panose="020B0600070205080204" pitchFamily="34" charset="-128"/>
              </a:rPr>
              <a:t>Risks to consider:</a:t>
            </a:r>
          </a:p>
          <a:p>
            <a:pPr lvl="2"/>
            <a:r>
              <a:rPr lang="en-GB" altLang="en-US" sz="1800" dirty="0">
                <a:ea typeface="ＭＳ Ｐゴシック" panose="020B0600070205080204" pitchFamily="34" charset="-128"/>
              </a:rPr>
              <a:t>Volatility</a:t>
            </a:r>
          </a:p>
          <a:p>
            <a:pPr lvl="2"/>
            <a:r>
              <a:rPr lang="en-GB" altLang="en-US" sz="1800" dirty="0">
                <a:ea typeface="ＭＳ Ｐゴシック" panose="020B0600070205080204" pitchFamily="34" charset="-128"/>
              </a:rPr>
              <a:t>Decentralised</a:t>
            </a:r>
          </a:p>
          <a:p>
            <a:pPr lvl="2"/>
            <a:r>
              <a:rPr lang="en-GB" altLang="en-US" sz="1800" dirty="0">
                <a:ea typeface="ＭＳ Ｐゴシック" panose="020B0600070205080204" pitchFamily="34" charset="-128"/>
              </a:rPr>
              <a:t>Unregulated</a:t>
            </a:r>
          </a:p>
          <a:p>
            <a:pPr lvl="2"/>
            <a:r>
              <a:rPr lang="en-GB" altLang="en-US" sz="1800" dirty="0">
                <a:ea typeface="ＭＳ Ｐゴシック" panose="020B0600070205080204" pitchFamily="34" charset="-128"/>
              </a:rPr>
              <a:t>Not reserve-backed</a:t>
            </a:r>
          </a:p>
          <a:p>
            <a:pPr lvl="2"/>
            <a:r>
              <a:rPr lang="en-GB" altLang="en-US" sz="1800" dirty="0">
                <a:ea typeface="ＭＳ Ｐゴシック" panose="020B0600070205080204" pitchFamily="34" charset="-128"/>
              </a:rPr>
              <a:t>Scalability</a:t>
            </a:r>
          </a:p>
          <a:p>
            <a:pPr lvl="2"/>
            <a:r>
              <a:rPr lang="en-GB" altLang="en-US" sz="1800" dirty="0">
                <a:ea typeface="ＭＳ Ｐゴシック" panose="020B0600070205080204" pitchFamily="34" charset="-128"/>
              </a:rPr>
              <a:t>Susceptible to human error, technical glitches and hacking</a:t>
            </a:r>
          </a:p>
          <a:p>
            <a:pPr lvl="1"/>
            <a:endParaRPr lang="en-GB" altLang="en-US" dirty="0">
              <a:ea typeface="ＭＳ Ｐゴシック" panose="020B0600070205080204" pitchFamily="34"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itle 1">
            <a:extLst>
              <a:ext uri="{FF2B5EF4-FFF2-40B4-BE49-F238E27FC236}">
                <a16:creationId xmlns:a16="http://schemas.microsoft.com/office/drawing/2014/main" id="{A7725E57-1939-4D10-B611-E2E8ADBA3C1C}"/>
              </a:ext>
            </a:extLst>
          </p:cNvPr>
          <p:cNvSpPr>
            <a:spLocks noGrp="1" noChangeArrowheads="1"/>
          </p:cNvSpPr>
          <p:nvPr>
            <p:ph type="title"/>
          </p:nvPr>
        </p:nvSpPr>
        <p:spPr/>
        <p:txBody>
          <a:bodyPr/>
          <a:lstStyle/>
          <a:p>
            <a:r>
              <a:rPr lang="en-GB" altLang="en-US" dirty="0">
                <a:ea typeface="ＭＳ Ｐゴシック" panose="020B0600070205080204" pitchFamily="34" charset="-128"/>
              </a:rPr>
              <a:t>Distributed Ledger Technology (DLT)</a:t>
            </a:r>
          </a:p>
        </p:txBody>
      </p:sp>
      <p:sp>
        <p:nvSpPr>
          <p:cNvPr id="230403" name="Content Placeholder 2">
            <a:extLst>
              <a:ext uri="{FF2B5EF4-FFF2-40B4-BE49-F238E27FC236}">
                <a16:creationId xmlns:a16="http://schemas.microsoft.com/office/drawing/2014/main" id="{AD0FC480-C512-491F-B6C9-9888B36198BB}"/>
              </a:ext>
            </a:extLst>
          </p:cNvPr>
          <p:cNvSpPr>
            <a:spLocks noGrp="1" noChangeArrowheads="1"/>
          </p:cNvSpPr>
          <p:nvPr>
            <p:ph idx="4294967295"/>
          </p:nvPr>
        </p:nvSpPr>
        <p:spPr>
          <a:xfrm>
            <a:off x="676597" y="1284288"/>
            <a:ext cx="8143875" cy="4359275"/>
          </a:xfrm>
        </p:spPr>
        <p:txBody>
          <a:bodyPr/>
          <a:lstStyle/>
          <a:p>
            <a:r>
              <a:rPr lang="en-GB" altLang="en-US" sz="1800" b="1" dirty="0">
                <a:latin typeface="+mn-lt"/>
                <a:ea typeface="ＭＳ Ｐゴシック" panose="020B0600070205080204" pitchFamily="34" charset="-128"/>
              </a:rPr>
              <a:t>DLT</a:t>
            </a:r>
          </a:p>
          <a:p>
            <a:pPr lvl="1"/>
            <a:r>
              <a:rPr lang="en-GB" altLang="en-US" sz="1800" dirty="0">
                <a:latin typeface="+mn-lt"/>
                <a:ea typeface="ＭＳ Ｐゴシック" panose="020B0600070205080204" pitchFamily="34" charset="-128"/>
              </a:rPr>
              <a:t>Replacement of a centralised ledger with a decentralised network of computers (‘nodes’) holding the same ledger</a:t>
            </a:r>
          </a:p>
          <a:p>
            <a:pPr lvl="1"/>
            <a:r>
              <a:rPr lang="en-GB" altLang="en-US" sz="1800" dirty="0">
                <a:latin typeface="+mn-lt"/>
                <a:ea typeface="ＭＳ Ｐゴシック" panose="020B0600070205080204" pitchFamily="34" charset="-128"/>
              </a:rPr>
              <a:t>Consensus algorithm</a:t>
            </a:r>
          </a:p>
          <a:p>
            <a:pPr lvl="1"/>
            <a:r>
              <a:rPr lang="en-GB" altLang="en-US" sz="1800" dirty="0">
                <a:latin typeface="+mn-lt"/>
                <a:ea typeface="ＭＳ Ｐゴシック" panose="020B0600070205080204" pitchFamily="34" charset="-128"/>
              </a:rPr>
              <a:t>‘Public’ or ‘Private’</a:t>
            </a:r>
          </a:p>
          <a:p>
            <a:pPr lvl="1"/>
            <a:r>
              <a:rPr lang="en-GB" altLang="en-US" sz="1800" dirty="0">
                <a:latin typeface="+mn-lt"/>
                <a:ea typeface="ＭＳ Ｐゴシック" panose="020B0600070205080204" pitchFamily="34" charset="-128"/>
              </a:rPr>
              <a:t>E.g. Blockchain</a:t>
            </a:r>
          </a:p>
          <a:p>
            <a:pPr lvl="1"/>
            <a:endParaRPr lang="en-GB" altLang="en-US" sz="1800" dirty="0">
              <a:latin typeface="+mn-lt"/>
              <a:ea typeface="ＭＳ Ｐゴシック" panose="020B0600070205080204" pitchFamily="34" charset="-128"/>
            </a:endParaRPr>
          </a:p>
          <a:p>
            <a:pPr lvl="1"/>
            <a:r>
              <a:rPr lang="en-GB" altLang="en-US" sz="1800" dirty="0">
                <a:latin typeface="+mn-lt"/>
                <a:ea typeface="ＭＳ Ｐゴシック" panose="020B0600070205080204" pitchFamily="34" charset="-128"/>
              </a:rPr>
              <a:t>Advantages:</a:t>
            </a:r>
          </a:p>
          <a:p>
            <a:pPr lvl="2"/>
            <a:r>
              <a:rPr lang="en-GB" altLang="en-US" sz="1800" dirty="0">
                <a:ea typeface="ＭＳ Ｐゴシック" panose="020B0600070205080204" pitchFamily="34" charset="-128"/>
              </a:rPr>
              <a:t>Trustworthy and reliable record due to consensus</a:t>
            </a:r>
          </a:p>
          <a:p>
            <a:pPr lvl="2"/>
            <a:r>
              <a:rPr lang="en-GB" altLang="en-US" sz="1800" dirty="0">
                <a:ea typeface="ＭＳ Ｐゴシック" panose="020B0600070205080204" pitchFamily="34" charset="-128"/>
              </a:rPr>
              <a:t>Prevents a single point of failure</a:t>
            </a:r>
          </a:p>
          <a:p>
            <a:pPr lvl="2"/>
            <a:r>
              <a:rPr lang="en-GB" altLang="en-US" sz="1800" dirty="0">
                <a:ea typeface="ＭＳ Ｐゴシック" panose="020B0600070205080204" pitchFamily="34" charset="-128"/>
              </a:rPr>
              <a:t>Difficult to hack as many ‘nodes’ involved</a:t>
            </a:r>
          </a:p>
          <a:p>
            <a:pPr lvl="2"/>
            <a:r>
              <a:rPr lang="en-GB" altLang="en-US" sz="1800" dirty="0">
                <a:ea typeface="ＭＳ Ｐゴシック" panose="020B0600070205080204" pitchFamily="34" charset="-128"/>
              </a:rPr>
              <a:t>Removes potential costs and delays</a:t>
            </a:r>
          </a:p>
          <a:p>
            <a:pPr lvl="2"/>
            <a:endParaRPr lang="en-GB" altLang="en-US" dirty="0">
              <a:ea typeface="ＭＳ Ｐゴシック" panose="020B0600070205080204" pitchFamily="34" charset="-128"/>
            </a:endParaRPr>
          </a:p>
          <a:p>
            <a:pPr lvl="1"/>
            <a:endParaRPr lang="en-GB" altLang="en-US" dirty="0">
              <a:ea typeface="ＭＳ Ｐゴシック" panose="020B0600070205080204" pitchFamily="34"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3">
            <a:extLst>
              <a:ext uri="{FF2B5EF4-FFF2-40B4-BE49-F238E27FC236}">
                <a16:creationId xmlns:a16="http://schemas.microsoft.com/office/drawing/2014/main" id="{653576A8-62BB-48B8-8503-69FA8693A3BB}"/>
              </a:ext>
            </a:extLst>
          </p:cNvPr>
          <p:cNvSpPr>
            <a:spLocks noGrp="1"/>
          </p:cNvSpPr>
          <p:nvPr>
            <p:ph type="title"/>
          </p:nvPr>
        </p:nvSpPr>
        <p:spPr>
          <a:xfrm>
            <a:off x="571500" y="2924175"/>
            <a:ext cx="8032750" cy="720725"/>
          </a:xfrm>
        </p:spPr>
        <p:txBody>
          <a:bodyPr/>
          <a:lstStyle/>
          <a:p>
            <a:pPr algn="ctr">
              <a:lnSpc>
                <a:spcPts val="2625"/>
              </a:lnSpc>
            </a:pPr>
            <a:r>
              <a:rPr altLang="en-US" dirty="0">
                <a:ea typeface="ＭＳ Ｐゴシック" panose="020B0600070205080204" pitchFamily="34" charset="-128"/>
              </a:rPr>
              <a:t>Bonds</a:t>
            </a:r>
          </a:p>
        </p:txBody>
      </p:sp>
    </p:spTree>
    <p:extLst>
      <p:ext uri="{BB962C8B-B14F-4D97-AF65-F5344CB8AC3E}">
        <p14:creationId xmlns:p14="http://schemas.microsoft.com/office/powerpoint/2010/main" val="4076229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291D385-1D67-403F-863F-842DE19B45BB}"/>
              </a:ext>
            </a:extLst>
          </p:cNvPr>
          <p:cNvSpPr>
            <a:spLocks noGrp="1" noChangeArrowheads="1"/>
          </p:cNvSpPr>
          <p:nvPr>
            <p:ph type="title"/>
          </p:nvPr>
        </p:nvSpPr>
        <p:spPr/>
        <p:txBody>
          <a:bodyPr/>
          <a:lstStyle/>
          <a:p>
            <a:r>
              <a:rPr lang="en-GB" altLang="en-US" dirty="0">
                <a:latin typeface="+mn-lt"/>
                <a:ea typeface="ＭＳ Ｐゴシック" panose="020B0600070205080204" pitchFamily="34" charset="-128"/>
              </a:rPr>
              <a:t>Fixed Income</a:t>
            </a:r>
          </a:p>
        </p:txBody>
      </p:sp>
      <p:sp>
        <p:nvSpPr>
          <p:cNvPr id="35843" name="Content Placeholder 2">
            <a:extLst>
              <a:ext uri="{FF2B5EF4-FFF2-40B4-BE49-F238E27FC236}">
                <a16:creationId xmlns:a16="http://schemas.microsoft.com/office/drawing/2014/main" id="{69CD6A39-48ED-40A2-BE79-D76796B26867}"/>
              </a:ext>
            </a:extLst>
          </p:cNvPr>
          <p:cNvSpPr>
            <a:spLocks noGrp="1" noChangeArrowheads="1"/>
          </p:cNvSpPr>
          <p:nvPr>
            <p:ph idx="4294967295"/>
          </p:nvPr>
        </p:nvSpPr>
        <p:spPr>
          <a:xfrm>
            <a:off x="611560" y="1284288"/>
            <a:ext cx="8143875" cy="4359275"/>
          </a:xfrm>
        </p:spPr>
        <p:txBody>
          <a:bodyPr/>
          <a:lstStyle/>
          <a:p>
            <a:r>
              <a:rPr lang="en-GB" altLang="en-US" sz="1800" b="1" dirty="0">
                <a:latin typeface="+mn-lt"/>
                <a:ea typeface="ＭＳ Ｐゴシック" panose="020B0600070205080204" pitchFamily="34" charset="-128"/>
              </a:rPr>
              <a:t>Features and Characteristics</a:t>
            </a:r>
          </a:p>
          <a:p>
            <a:pPr lvl="1"/>
            <a:r>
              <a:rPr lang="en-GB" altLang="en-US" sz="1800" dirty="0">
                <a:latin typeface="+mn-lt"/>
                <a:ea typeface="ＭＳ Ｐゴシック" panose="020B0600070205080204" pitchFamily="34" charset="-128"/>
              </a:rPr>
              <a:t>Issuer</a:t>
            </a:r>
          </a:p>
          <a:p>
            <a:pPr lvl="1"/>
            <a:r>
              <a:rPr lang="en-GB" altLang="en-US" sz="1800" dirty="0">
                <a:latin typeface="+mn-lt"/>
                <a:ea typeface="ＭＳ Ｐゴシック" panose="020B0600070205080204" pitchFamily="34" charset="-128"/>
              </a:rPr>
              <a:t>Nominal value (or par value)</a:t>
            </a:r>
          </a:p>
          <a:p>
            <a:pPr lvl="1"/>
            <a:r>
              <a:rPr lang="en-GB" altLang="en-US" sz="1800" dirty="0">
                <a:latin typeface="+mn-lt"/>
                <a:ea typeface="ＭＳ Ｐゴシック" panose="020B0600070205080204" pitchFamily="34" charset="-128"/>
              </a:rPr>
              <a:t>Coupon</a:t>
            </a:r>
          </a:p>
          <a:p>
            <a:pPr lvl="1"/>
            <a:r>
              <a:rPr lang="en-GB" altLang="en-US" sz="1800" dirty="0">
                <a:latin typeface="+mn-lt"/>
                <a:ea typeface="ＭＳ Ｐゴシック" panose="020B0600070205080204" pitchFamily="34" charset="-128"/>
              </a:rPr>
              <a:t>Redemption/maturity date</a:t>
            </a: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p:txBody>
      </p:sp>
      <p:pic>
        <p:nvPicPr>
          <p:cNvPr id="35845" name="Picture 6">
            <a:extLst>
              <a:ext uri="{FF2B5EF4-FFF2-40B4-BE49-F238E27FC236}">
                <a16:creationId xmlns:a16="http://schemas.microsoft.com/office/drawing/2014/main" id="{0467FAD5-78FE-4A2D-9B1B-F7BBD80F74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638" y="2984400"/>
            <a:ext cx="6985000" cy="3036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2DD7487E-B7CE-4036-8FD3-400F05CD7364}"/>
              </a:ext>
            </a:extLst>
          </p:cNvPr>
          <p:cNvSpPr>
            <a:spLocks noGrp="1" noChangeArrowheads="1"/>
          </p:cNvSpPr>
          <p:nvPr>
            <p:ph type="title"/>
          </p:nvPr>
        </p:nvSpPr>
        <p:spPr/>
        <p:txBody>
          <a:bodyPr/>
          <a:lstStyle/>
          <a:p>
            <a:r>
              <a:rPr lang="en-GB" altLang="en-US" dirty="0">
                <a:ea typeface="ＭＳ Ｐゴシック" panose="020B0600070205080204" pitchFamily="34" charset="-128"/>
              </a:rPr>
              <a:t>The Present Value of a Bond</a:t>
            </a:r>
          </a:p>
        </p:txBody>
      </p:sp>
      <p:sp>
        <p:nvSpPr>
          <p:cNvPr id="37891" name="Content Placeholder 2">
            <a:extLst>
              <a:ext uri="{FF2B5EF4-FFF2-40B4-BE49-F238E27FC236}">
                <a16:creationId xmlns:a16="http://schemas.microsoft.com/office/drawing/2014/main" id="{2D185EF2-1D34-4FF9-97EE-5A27A88EA88A}"/>
              </a:ext>
            </a:extLst>
          </p:cNvPr>
          <p:cNvSpPr>
            <a:spLocks noGrp="1" noChangeArrowheads="1"/>
          </p:cNvSpPr>
          <p:nvPr>
            <p:ph idx="4294967295"/>
          </p:nvPr>
        </p:nvSpPr>
        <p:spPr>
          <a:xfrm>
            <a:off x="676597" y="1284288"/>
            <a:ext cx="8143875" cy="4359275"/>
          </a:xfrm>
        </p:spPr>
        <p:txBody>
          <a:bodyPr/>
          <a:lstStyle/>
          <a:p>
            <a:r>
              <a:rPr lang="en-GB" altLang="en-US" sz="1800" b="1" dirty="0">
                <a:ea typeface="ＭＳ Ｐゴシック" panose="020B0600070205080204" pitchFamily="34" charset="-128"/>
              </a:rPr>
              <a:t>Discounting</a:t>
            </a:r>
          </a:p>
          <a:p>
            <a:pPr lvl="1"/>
            <a:endParaRPr lang="en-GB" altLang="en-US" sz="1800" dirty="0">
              <a:ea typeface="ＭＳ Ｐゴシック" panose="020B0600070205080204" pitchFamily="34" charset="-128"/>
            </a:endParaRPr>
          </a:p>
          <a:p>
            <a:pPr lvl="1"/>
            <a:endParaRPr lang="en-GB" altLang="en-US" sz="1800" dirty="0">
              <a:ea typeface="ＭＳ Ｐゴシック" panose="020B0600070205080204" pitchFamily="34" charset="-128"/>
            </a:endParaRPr>
          </a:p>
          <a:p>
            <a:pPr marL="457200" lvl="1" indent="0">
              <a:buNone/>
            </a:pPr>
            <a:endParaRPr lang="en-GB" altLang="en-US" sz="1800" dirty="0">
              <a:ea typeface="ＭＳ Ｐゴシック" panose="020B0600070205080204" pitchFamily="34" charset="-128"/>
            </a:endParaRPr>
          </a:p>
          <a:p>
            <a:pPr lvl="1"/>
            <a:endParaRPr lang="en-GB" altLang="en-US" sz="1800" dirty="0">
              <a:ea typeface="ＭＳ Ｐゴシック" panose="020B0600070205080204" pitchFamily="34" charset="-128"/>
            </a:endParaRPr>
          </a:p>
          <a:p>
            <a:pPr lvl="1"/>
            <a:endParaRPr lang="en-GB" altLang="en-US" sz="1800" dirty="0">
              <a:ea typeface="ＭＳ Ｐゴシック" panose="020B0600070205080204" pitchFamily="34" charset="-128"/>
            </a:endParaRPr>
          </a:p>
          <a:p>
            <a:pPr lvl="1"/>
            <a:r>
              <a:rPr lang="en-GB" altLang="en-US" sz="1800" dirty="0">
                <a:ea typeface="ＭＳ Ｐゴシック" panose="020B0600070205080204" pitchFamily="34" charset="-128"/>
              </a:rPr>
              <a:t>Interest rates and bond prices</a:t>
            </a:r>
          </a:p>
          <a:p>
            <a:pPr lvl="2"/>
            <a:r>
              <a:rPr lang="en-GB" altLang="en-US" sz="1800" dirty="0">
                <a:ea typeface="ＭＳ Ｐゴシック" panose="020B0600070205080204" pitchFamily="34" charset="-128"/>
              </a:rPr>
              <a:t>Inverse relationship</a:t>
            </a:r>
          </a:p>
          <a:p>
            <a:pPr lvl="1">
              <a:buFont typeface="Wingdings" pitchFamily="2" charset="2"/>
              <a:buNone/>
            </a:pPr>
            <a:r>
              <a:rPr lang="en-GB" altLang="en-US" sz="1800" dirty="0">
                <a:ea typeface="ＭＳ Ｐゴシック" panose="020B0600070205080204" pitchFamily="34" charset="-128"/>
              </a:rPr>
              <a:t>					</a:t>
            </a:r>
          </a:p>
        </p:txBody>
      </p:sp>
      <p:graphicFrame>
        <p:nvGraphicFramePr>
          <p:cNvPr id="37892" name="Object 2">
            <a:extLst>
              <a:ext uri="{FF2B5EF4-FFF2-40B4-BE49-F238E27FC236}">
                <a16:creationId xmlns:a16="http://schemas.microsoft.com/office/drawing/2014/main" id="{FA5AB29F-0AE5-469A-9C00-1BDAFBF68A28}"/>
              </a:ext>
            </a:extLst>
          </p:cNvPr>
          <p:cNvGraphicFramePr>
            <a:graphicFrameLocks noChangeAspect="1"/>
          </p:cNvGraphicFramePr>
          <p:nvPr/>
        </p:nvGraphicFramePr>
        <p:xfrm>
          <a:off x="1244600" y="2286000"/>
          <a:ext cx="6654800" cy="660400"/>
        </p:xfrm>
        <a:graphic>
          <a:graphicData uri="http://schemas.openxmlformats.org/presentationml/2006/ole">
            <mc:AlternateContent xmlns:mc="http://schemas.openxmlformats.org/markup-compatibility/2006">
              <mc:Choice xmlns:v="urn:schemas-microsoft-com:vml" Requires="v">
                <p:oleObj name="Equation" r:id="rId3" imgW="6654800" imgH="660400" progId="Equation.3">
                  <p:embed/>
                </p:oleObj>
              </mc:Choice>
              <mc:Fallback>
                <p:oleObj name="Equation" r:id="rId3" imgW="6654800" imgH="660400" progId="Equation.3">
                  <p:embed/>
                  <p:pic>
                    <p:nvPicPr>
                      <p:cNvPr id="37892" name="Object 2">
                        <a:extLst>
                          <a:ext uri="{FF2B5EF4-FFF2-40B4-BE49-F238E27FC236}">
                            <a16:creationId xmlns:a16="http://schemas.microsoft.com/office/drawing/2014/main" id="{FA5AB29F-0AE5-469A-9C00-1BDAFBF68A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4600" y="2286000"/>
                        <a:ext cx="66548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F2D59182-F067-4091-B227-1C544B594397}"/>
              </a:ext>
            </a:extLst>
          </p:cNvPr>
          <p:cNvSpPr>
            <a:spLocks noGrp="1" noChangeArrowheads="1"/>
          </p:cNvSpPr>
          <p:nvPr>
            <p:ph type="title"/>
          </p:nvPr>
        </p:nvSpPr>
        <p:spPr/>
        <p:txBody>
          <a:bodyPr/>
          <a:lstStyle/>
          <a:p>
            <a:r>
              <a:rPr lang="en-GB" altLang="en-US" dirty="0">
                <a:ea typeface="ＭＳ Ｐゴシック" panose="020B0600070205080204" pitchFamily="34" charset="-128"/>
              </a:rPr>
              <a:t>The Present Value of a Bond</a:t>
            </a:r>
          </a:p>
        </p:txBody>
      </p:sp>
      <p:sp>
        <p:nvSpPr>
          <p:cNvPr id="39939" name="Content Placeholder 2">
            <a:extLst>
              <a:ext uri="{FF2B5EF4-FFF2-40B4-BE49-F238E27FC236}">
                <a16:creationId xmlns:a16="http://schemas.microsoft.com/office/drawing/2014/main" id="{158AC2FD-65B1-4BAA-9351-2A8B10409FAC}"/>
              </a:ext>
            </a:extLst>
          </p:cNvPr>
          <p:cNvSpPr>
            <a:spLocks noGrp="1" noChangeArrowheads="1"/>
          </p:cNvSpPr>
          <p:nvPr>
            <p:ph idx="4294967295"/>
          </p:nvPr>
        </p:nvSpPr>
        <p:spPr>
          <a:xfrm>
            <a:off x="676597" y="1446213"/>
            <a:ext cx="8143875" cy="4359275"/>
          </a:xfrm>
        </p:spPr>
        <p:txBody>
          <a:bodyPr/>
          <a:lstStyle/>
          <a:p>
            <a:r>
              <a:rPr lang="en-GB" altLang="en-US" sz="1800" b="1" dirty="0">
                <a:ea typeface="ＭＳ Ｐゴシック" panose="020B0600070205080204" pitchFamily="34" charset="-128"/>
              </a:rPr>
              <a:t>Example</a:t>
            </a:r>
          </a:p>
          <a:p>
            <a:pPr lvl="1"/>
            <a:r>
              <a:rPr lang="en-GB" altLang="en-US" sz="1800" dirty="0">
                <a:ea typeface="ＭＳ Ｐゴシック" panose="020B0600070205080204" pitchFamily="34" charset="-128"/>
              </a:rPr>
              <a:t>A bond paying 6.5% (annual) coupons is redeemable (at par) in two years time. The interest rate is currently 5%.</a:t>
            </a:r>
          </a:p>
          <a:p>
            <a:pPr lvl="1"/>
            <a:endParaRPr lang="en-GB" altLang="en-US" sz="1800" dirty="0">
              <a:ea typeface="ＭＳ Ｐゴシック" panose="020B0600070205080204" pitchFamily="34" charset="-128"/>
            </a:endParaRPr>
          </a:p>
          <a:p>
            <a:pPr lvl="1">
              <a:buFont typeface="Wingdings" pitchFamily="2" charset="2"/>
              <a:buNone/>
            </a:pPr>
            <a:r>
              <a:rPr lang="en-GB" altLang="en-US" sz="1800" dirty="0">
                <a:ea typeface="ＭＳ Ｐゴシック" panose="020B0600070205080204" pitchFamily="34" charset="-128"/>
              </a:rPr>
              <a:t>What is the present value of the year 2 cash flow?</a:t>
            </a:r>
          </a:p>
          <a:p>
            <a:pPr lvl="1">
              <a:buFont typeface="Wingdings" pitchFamily="2" charset="2"/>
              <a:buNone/>
            </a:pPr>
            <a:r>
              <a:rPr lang="en-GB" altLang="en-US" sz="1800" dirty="0">
                <a:ea typeface="ＭＳ Ｐゴシック" panose="020B0600070205080204" pitchFamily="34" charset="-128"/>
              </a:rPr>
              <a:t>What is the price of the bond?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itle 1">
            <a:extLst>
              <a:ext uri="{FF2B5EF4-FFF2-40B4-BE49-F238E27FC236}">
                <a16:creationId xmlns:a16="http://schemas.microsoft.com/office/drawing/2014/main" id="{47A89F1F-419D-4B4C-8791-F3C96D4AFFFB}"/>
              </a:ext>
            </a:extLst>
          </p:cNvPr>
          <p:cNvSpPr>
            <a:spLocks noGrp="1" noChangeArrowheads="1"/>
          </p:cNvSpPr>
          <p:nvPr>
            <p:ph type="title"/>
          </p:nvPr>
        </p:nvSpPr>
        <p:spPr/>
        <p:txBody>
          <a:bodyPr/>
          <a:lstStyle/>
          <a:p>
            <a:br>
              <a:rPr lang="en-GB" altLang="en-US" sz="3600" b="1" dirty="0">
                <a:ea typeface="ＭＳ Ｐゴシック" panose="020B0600070205080204" pitchFamily="34" charset="-128"/>
              </a:rPr>
            </a:br>
            <a:r>
              <a:rPr lang="en-GB" altLang="en-US" sz="3600" b="1" dirty="0">
                <a:ea typeface="ＭＳ Ｐゴシック" panose="020B0600070205080204" pitchFamily="34" charset="-128"/>
              </a:rPr>
              <a:t>Accrued Interest</a:t>
            </a:r>
            <a:br>
              <a:rPr lang="en-GB" altLang="en-US" sz="3600" b="1" dirty="0">
                <a:ea typeface="ＭＳ Ｐゴシック" panose="020B0600070205080204" pitchFamily="34" charset="-128"/>
              </a:rPr>
            </a:br>
            <a:endParaRPr lang="en-GB" altLang="en-US" dirty="0">
              <a:ea typeface="ＭＳ Ｐゴシック" panose="020B0600070205080204" pitchFamily="34" charset="-128"/>
            </a:endParaRPr>
          </a:p>
        </p:txBody>
      </p:sp>
      <p:cxnSp>
        <p:nvCxnSpPr>
          <p:cNvPr id="41987" name="Straight Connector 20">
            <a:extLst>
              <a:ext uri="{FF2B5EF4-FFF2-40B4-BE49-F238E27FC236}">
                <a16:creationId xmlns:a16="http://schemas.microsoft.com/office/drawing/2014/main" id="{009334EF-98D5-4A27-B9BD-5EAD7DB24645}"/>
              </a:ext>
            </a:extLst>
          </p:cNvPr>
          <p:cNvCxnSpPr>
            <a:cxnSpLocks noChangeShapeType="1"/>
          </p:cNvCxnSpPr>
          <p:nvPr/>
        </p:nvCxnSpPr>
        <p:spPr bwMode="auto">
          <a:xfrm rot="5400000">
            <a:off x="2678906" y="3679032"/>
            <a:ext cx="3786187" cy="0"/>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41989" name="Straight Arrow Connector 8">
            <a:extLst>
              <a:ext uri="{FF2B5EF4-FFF2-40B4-BE49-F238E27FC236}">
                <a16:creationId xmlns:a16="http://schemas.microsoft.com/office/drawing/2014/main" id="{211F5796-1D15-4F57-9207-327D4CE09A2E}"/>
              </a:ext>
            </a:extLst>
          </p:cNvPr>
          <p:cNvCxnSpPr>
            <a:cxnSpLocks noChangeShapeType="1"/>
          </p:cNvCxnSpPr>
          <p:nvPr/>
        </p:nvCxnSpPr>
        <p:spPr bwMode="auto">
          <a:xfrm rot="5400000" flipH="1" flipV="1">
            <a:off x="34132" y="3679031"/>
            <a:ext cx="3359150" cy="1587"/>
          </a:xfrm>
          <a:prstGeom prst="straightConnector1">
            <a:avLst/>
          </a:prstGeom>
          <a:noFill/>
          <a:ln w="28575" algn="ctr">
            <a:solidFill>
              <a:srgbClr val="003366"/>
            </a:solidFill>
            <a:round/>
            <a:headEnd/>
            <a:tailEnd type="arrow" w="med" len="med"/>
          </a:ln>
          <a:extLst>
            <a:ext uri="{909E8E84-426E-40DD-AFC4-6F175D3DCCD1}">
              <a14:hiddenFill xmlns:a14="http://schemas.microsoft.com/office/drawing/2010/main">
                <a:noFill/>
              </a14:hiddenFill>
            </a:ext>
          </a:extLst>
        </p:spPr>
      </p:cxnSp>
      <p:cxnSp>
        <p:nvCxnSpPr>
          <p:cNvPr id="41990" name="Straight Arrow Connector 10">
            <a:extLst>
              <a:ext uri="{FF2B5EF4-FFF2-40B4-BE49-F238E27FC236}">
                <a16:creationId xmlns:a16="http://schemas.microsoft.com/office/drawing/2014/main" id="{B7C1A904-4ADA-4907-9785-E66E200ADB06}"/>
              </a:ext>
            </a:extLst>
          </p:cNvPr>
          <p:cNvCxnSpPr>
            <a:cxnSpLocks noChangeShapeType="1"/>
          </p:cNvCxnSpPr>
          <p:nvPr/>
        </p:nvCxnSpPr>
        <p:spPr bwMode="auto">
          <a:xfrm>
            <a:off x="1357313" y="4857750"/>
            <a:ext cx="6072187" cy="1588"/>
          </a:xfrm>
          <a:prstGeom prst="straightConnector1">
            <a:avLst/>
          </a:prstGeom>
          <a:noFill/>
          <a:ln w="28575" algn="ctr">
            <a:solidFill>
              <a:srgbClr val="003366"/>
            </a:solidFill>
            <a:round/>
            <a:headEnd/>
            <a:tailEnd type="arrow" w="med" len="med"/>
          </a:ln>
          <a:extLst>
            <a:ext uri="{909E8E84-426E-40DD-AFC4-6F175D3DCCD1}">
              <a14:hiddenFill xmlns:a14="http://schemas.microsoft.com/office/drawing/2010/main">
                <a:noFill/>
              </a14:hiddenFill>
            </a:ext>
          </a:extLst>
        </p:spPr>
      </p:cxnSp>
      <p:cxnSp>
        <p:nvCxnSpPr>
          <p:cNvPr id="41991" name="Straight Connector 12">
            <a:extLst>
              <a:ext uri="{FF2B5EF4-FFF2-40B4-BE49-F238E27FC236}">
                <a16:creationId xmlns:a16="http://schemas.microsoft.com/office/drawing/2014/main" id="{8866BB90-0774-446E-B4CD-3B507B6A5575}"/>
              </a:ext>
            </a:extLst>
          </p:cNvPr>
          <p:cNvCxnSpPr>
            <a:cxnSpLocks noChangeShapeType="1"/>
          </p:cNvCxnSpPr>
          <p:nvPr/>
        </p:nvCxnSpPr>
        <p:spPr bwMode="auto">
          <a:xfrm>
            <a:off x="1357313" y="3429000"/>
            <a:ext cx="6072187" cy="0"/>
          </a:xfrm>
          <a:prstGeom prst="line">
            <a:avLst/>
          </a:prstGeom>
          <a:noFill/>
          <a:ln w="9525" algn="ctr">
            <a:solidFill>
              <a:srgbClr val="003366"/>
            </a:solidFill>
            <a:round/>
            <a:headEnd/>
            <a:tailEnd/>
          </a:ln>
          <a:extLst>
            <a:ext uri="{909E8E84-426E-40DD-AFC4-6F175D3DCCD1}">
              <a14:hiddenFill xmlns:a14="http://schemas.microsoft.com/office/drawing/2010/main">
                <a:noFill/>
              </a14:hiddenFill>
            </a:ext>
          </a:extLst>
        </p:spPr>
      </p:cxnSp>
      <p:cxnSp>
        <p:nvCxnSpPr>
          <p:cNvPr id="41992" name="Straight Connector 14">
            <a:extLst>
              <a:ext uri="{FF2B5EF4-FFF2-40B4-BE49-F238E27FC236}">
                <a16:creationId xmlns:a16="http://schemas.microsoft.com/office/drawing/2014/main" id="{4A9A4762-0880-4696-8E97-7F24A457C9A9}"/>
              </a:ext>
            </a:extLst>
          </p:cNvPr>
          <p:cNvCxnSpPr>
            <a:cxnSpLocks noChangeShapeType="1"/>
          </p:cNvCxnSpPr>
          <p:nvPr/>
        </p:nvCxnSpPr>
        <p:spPr bwMode="auto">
          <a:xfrm flipV="1">
            <a:off x="1714500" y="2000250"/>
            <a:ext cx="2857500" cy="1428750"/>
          </a:xfrm>
          <a:prstGeom prst="line">
            <a:avLst/>
          </a:prstGeom>
          <a:noFill/>
          <a:ln w="28575" algn="ctr">
            <a:solidFill>
              <a:srgbClr val="003366"/>
            </a:solidFill>
            <a:round/>
            <a:headEnd/>
            <a:tailEnd/>
          </a:ln>
          <a:extLst>
            <a:ext uri="{909E8E84-426E-40DD-AFC4-6F175D3DCCD1}">
              <a14:hiddenFill xmlns:a14="http://schemas.microsoft.com/office/drawing/2010/main">
                <a:noFill/>
              </a14:hiddenFill>
            </a:ext>
          </a:extLst>
        </p:spPr>
      </p:cxnSp>
      <p:cxnSp>
        <p:nvCxnSpPr>
          <p:cNvPr id="41993" name="Straight Connector 16">
            <a:extLst>
              <a:ext uri="{FF2B5EF4-FFF2-40B4-BE49-F238E27FC236}">
                <a16:creationId xmlns:a16="http://schemas.microsoft.com/office/drawing/2014/main" id="{67A2736B-4768-46B2-943F-31F539A4BC24}"/>
              </a:ext>
            </a:extLst>
          </p:cNvPr>
          <p:cNvCxnSpPr>
            <a:cxnSpLocks noChangeShapeType="1"/>
          </p:cNvCxnSpPr>
          <p:nvPr/>
        </p:nvCxnSpPr>
        <p:spPr bwMode="auto">
          <a:xfrm rot="5400000">
            <a:off x="3464718" y="3107532"/>
            <a:ext cx="2214563" cy="0"/>
          </a:xfrm>
          <a:prstGeom prst="line">
            <a:avLst/>
          </a:prstGeom>
          <a:noFill/>
          <a:ln w="28575" algn="ctr">
            <a:solidFill>
              <a:srgbClr val="003366"/>
            </a:solidFill>
            <a:round/>
            <a:headEnd/>
            <a:tailEnd/>
          </a:ln>
          <a:extLst>
            <a:ext uri="{909E8E84-426E-40DD-AFC4-6F175D3DCCD1}">
              <a14:hiddenFill xmlns:a14="http://schemas.microsoft.com/office/drawing/2010/main">
                <a:noFill/>
              </a14:hiddenFill>
            </a:ext>
          </a:extLst>
        </p:spPr>
      </p:cxnSp>
      <p:cxnSp>
        <p:nvCxnSpPr>
          <p:cNvPr id="41994" name="Straight Connector 21">
            <a:extLst>
              <a:ext uri="{FF2B5EF4-FFF2-40B4-BE49-F238E27FC236}">
                <a16:creationId xmlns:a16="http://schemas.microsoft.com/office/drawing/2014/main" id="{7AFC4A44-F3F2-4C44-90C6-60EE6FC0E02F}"/>
              </a:ext>
            </a:extLst>
          </p:cNvPr>
          <p:cNvCxnSpPr>
            <a:cxnSpLocks noChangeShapeType="1"/>
          </p:cNvCxnSpPr>
          <p:nvPr/>
        </p:nvCxnSpPr>
        <p:spPr bwMode="auto">
          <a:xfrm rot="5400000">
            <a:off x="4201319" y="3737769"/>
            <a:ext cx="3786188" cy="0"/>
          </a:xfrm>
          <a:prstGeom prst="line">
            <a:avLst/>
          </a:prstGeom>
          <a:noFill/>
          <a:ln w="9525" algn="ctr">
            <a:solidFill>
              <a:srgbClr val="FF0000"/>
            </a:solidFill>
            <a:round/>
            <a:headEnd/>
            <a:tailEnd/>
          </a:ln>
          <a:extLst>
            <a:ext uri="{909E8E84-426E-40DD-AFC4-6F175D3DCCD1}">
              <a14:hiddenFill xmlns:a14="http://schemas.microsoft.com/office/drawing/2010/main">
                <a:noFill/>
              </a14:hiddenFill>
            </a:ext>
          </a:extLst>
        </p:spPr>
      </p:cxnSp>
      <p:cxnSp>
        <p:nvCxnSpPr>
          <p:cNvPr id="41995" name="Straight Arrow Connector 25">
            <a:extLst>
              <a:ext uri="{FF2B5EF4-FFF2-40B4-BE49-F238E27FC236}">
                <a16:creationId xmlns:a16="http://schemas.microsoft.com/office/drawing/2014/main" id="{1AD637D8-CC0C-4B65-A500-AB6FB96C4835}"/>
              </a:ext>
            </a:extLst>
          </p:cNvPr>
          <p:cNvCxnSpPr>
            <a:cxnSpLocks noChangeShapeType="1"/>
          </p:cNvCxnSpPr>
          <p:nvPr/>
        </p:nvCxnSpPr>
        <p:spPr bwMode="auto">
          <a:xfrm flipV="1">
            <a:off x="4572000" y="2411413"/>
            <a:ext cx="3571875" cy="1785937"/>
          </a:xfrm>
          <a:prstGeom prst="straightConnector1">
            <a:avLst/>
          </a:prstGeom>
          <a:noFill/>
          <a:ln w="28575" algn="ctr">
            <a:solidFill>
              <a:srgbClr val="003366"/>
            </a:solidFill>
            <a:round/>
            <a:headEnd/>
            <a:tailEnd type="arrow" w="med" len="med"/>
          </a:ln>
          <a:extLst>
            <a:ext uri="{909E8E84-426E-40DD-AFC4-6F175D3DCCD1}">
              <a14:hiddenFill xmlns:a14="http://schemas.microsoft.com/office/drawing/2010/main">
                <a:noFill/>
              </a14:hiddenFill>
            </a:ext>
          </a:extLst>
        </p:spPr>
      </p:cxnSp>
      <p:sp>
        <p:nvSpPr>
          <p:cNvPr id="41996" name="TextBox 26">
            <a:extLst>
              <a:ext uri="{FF2B5EF4-FFF2-40B4-BE49-F238E27FC236}">
                <a16:creationId xmlns:a16="http://schemas.microsoft.com/office/drawing/2014/main" id="{DAC3F61B-FB73-4DC4-BB64-E2812199A660}"/>
              </a:ext>
            </a:extLst>
          </p:cNvPr>
          <p:cNvSpPr txBox="1">
            <a:spLocks noChangeArrowheads="1"/>
          </p:cNvSpPr>
          <p:nvPr/>
        </p:nvSpPr>
        <p:spPr bwMode="auto">
          <a:xfrm>
            <a:off x="2428875" y="5429250"/>
            <a:ext cx="1428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Cum Period</a:t>
            </a:r>
          </a:p>
        </p:txBody>
      </p:sp>
      <p:sp>
        <p:nvSpPr>
          <p:cNvPr id="41997" name="TextBox 27">
            <a:extLst>
              <a:ext uri="{FF2B5EF4-FFF2-40B4-BE49-F238E27FC236}">
                <a16:creationId xmlns:a16="http://schemas.microsoft.com/office/drawing/2014/main" id="{A6A1BB08-E27F-4BE9-9454-791370777D38}"/>
              </a:ext>
            </a:extLst>
          </p:cNvPr>
          <p:cNvSpPr txBox="1">
            <a:spLocks noChangeArrowheads="1"/>
          </p:cNvSpPr>
          <p:nvPr/>
        </p:nvSpPr>
        <p:spPr bwMode="auto">
          <a:xfrm>
            <a:off x="4589463" y="5429250"/>
            <a:ext cx="1428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Ex Period</a:t>
            </a:r>
          </a:p>
          <a:p>
            <a:pPr algn="ctr" eaLnBrk="1" hangingPunct="1">
              <a:spcBef>
                <a:spcPct val="0"/>
              </a:spcBef>
              <a:buClrTx/>
              <a:buFontTx/>
              <a:buNone/>
            </a:pPr>
            <a:r>
              <a:rPr lang="en-GB" altLang="en-US" sz="1800">
                <a:solidFill>
                  <a:schemeClr val="accent1"/>
                </a:solidFill>
              </a:rPr>
              <a:t>(7 days)</a:t>
            </a:r>
          </a:p>
        </p:txBody>
      </p:sp>
      <p:sp>
        <p:nvSpPr>
          <p:cNvPr id="41998" name="TextBox 28">
            <a:extLst>
              <a:ext uri="{FF2B5EF4-FFF2-40B4-BE49-F238E27FC236}">
                <a16:creationId xmlns:a16="http://schemas.microsoft.com/office/drawing/2014/main" id="{26025169-D225-4149-8878-A46BF1D3CCB5}"/>
              </a:ext>
            </a:extLst>
          </p:cNvPr>
          <p:cNvSpPr txBox="1">
            <a:spLocks noChangeArrowheads="1"/>
          </p:cNvSpPr>
          <p:nvPr/>
        </p:nvSpPr>
        <p:spPr bwMode="auto">
          <a:xfrm>
            <a:off x="6786563" y="2000250"/>
            <a:ext cx="1428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Dirty Price</a:t>
            </a:r>
          </a:p>
        </p:txBody>
      </p:sp>
      <p:sp>
        <p:nvSpPr>
          <p:cNvPr id="41999" name="TextBox 29">
            <a:extLst>
              <a:ext uri="{FF2B5EF4-FFF2-40B4-BE49-F238E27FC236}">
                <a16:creationId xmlns:a16="http://schemas.microsoft.com/office/drawing/2014/main" id="{879C1B3D-45D4-4001-A350-5F5228EE2984}"/>
              </a:ext>
            </a:extLst>
          </p:cNvPr>
          <p:cNvSpPr txBox="1">
            <a:spLocks noChangeArrowheads="1"/>
          </p:cNvSpPr>
          <p:nvPr/>
        </p:nvSpPr>
        <p:spPr bwMode="auto">
          <a:xfrm>
            <a:off x="642938" y="2000250"/>
            <a:ext cx="1428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a:t>
            </a:r>
          </a:p>
        </p:txBody>
      </p:sp>
      <p:sp>
        <p:nvSpPr>
          <p:cNvPr id="42000" name="TextBox 30">
            <a:extLst>
              <a:ext uri="{FF2B5EF4-FFF2-40B4-BE49-F238E27FC236}">
                <a16:creationId xmlns:a16="http://schemas.microsoft.com/office/drawing/2014/main" id="{A764F11E-20D6-4800-8660-5F2F0273F7DF}"/>
              </a:ext>
            </a:extLst>
          </p:cNvPr>
          <p:cNvSpPr txBox="1">
            <a:spLocks noChangeArrowheads="1"/>
          </p:cNvSpPr>
          <p:nvPr/>
        </p:nvSpPr>
        <p:spPr bwMode="auto">
          <a:xfrm>
            <a:off x="6858000" y="4929188"/>
            <a:ext cx="142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Time</a:t>
            </a:r>
          </a:p>
        </p:txBody>
      </p:sp>
      <p:sp>
        <p:nvSpPr>
          <p:cNvPr id="42001" name="TextBox 31">
            <a:extLst>
              <a:ext uri="{FF2B5EF4-FFF2-40B4-BE49-F238E27FC236}">
                <a16:creationId xmlns:a16="http://schemas.microsoft.com/office/drawing/2014/main" id="{298473CE-2580-40FC-843C-A95434D1D6CB}"/>
              </a:ext>
            </a:extLst>
          </p:cNvPr>
          <p:cNvSpPr txBox="1">
            <a:spLocks noChangeArrowheads="1"/>
          </p:cNvSpPr>
          <p:nvPr/>
        </p:nvSpPr>
        <p:spPr bwMode="auto">
          <a:xfrm>
            <a:off x="285750" y="3214688"/>
            <a:ext cx="142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£100</a:t>
            </a:r>
          </a:p>
        </p:txBody>
      </p:sp>
      <p:sp>
        <p:nvSpPr>
          <p:cNvPr id="42002" name="TextBox 32">
            <a:extLst>
              <a:ext uri="{FF2B5EF4-FFF2-40B4-BE49-F238E27FC236}">
                <a16:creationId xmlns:a16="http://schemas.microsoft.com/office/drawing/2014/main" id="{51FBD774-659A-4F5C-951B-F55388ADA1C8}"/>
              </a:ext>
            </a:extLst>
          </p:cNvPr>
          <p:cNvSpPr txBox="1">
            <a:spLocks noChangeArrowheads="1"/>
          </p:cNvSpPr>
          <p:nvPr/>
        </p:nvSpPr>
        <p:spPr bwMode="auto">
          <a:xfrm>
            <a:off x="2857500" y="6000750"/>
            <a:ext cx="1071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rgbClr val="FF0000"/>
                </a:solidFill>
              </a:rPr>
              <a:t>Ex-date</a:t>
            </a:r>
          </a:p>
        </p:txBody>
      </p:sp>
      <p:sp>
        <p:nvSpPr>
          <p:cNvPr id="42003" name="TextBox 33">
            <a:extLst>
              <a:ext uri="{FF2B5EF4-FFF2-40B4-BE49-F238E27FC236}">
                <a16:creationId xmlns:a16="http://schemas.microsoft.com/office/drawing/2014/main" id="{F11ECEFA-9C72-4573-B203-31EDB1C857CD}"/>
              </a:ext>
            </a:extLst>
          </p:cNvPr>
          <p:cNvSpPr txBox="1">
            <a:spLocks noChangeArrowheads="1"/>
          </p:cNvSpPr>
          <p:nvPr/>
        </p:nvSpPr>
        <p:spPr bwMode="auto">
          <a:xfrm>
            <a:off x="5929313" y="5929313"/>
            <a:ext cx="2000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rgbClr val="FF0000"/>
                </a:solidFill>
              </a:rPr>
              <a:t>Coupon Paid Date</a:t>
            </a:r>
          </a:p>
        </p:txBody>
      </p:sp>
      <p:cxnSp>
        <p:nvCxnSpPr>
          <p:cNvPr id="42004" name="Straight Arrow Connector 35">
            <a:extLst>
              <a:ext uri="{FF2B5EF4-FFF2-40B4-BE49-F238E27FC236}">
                <a16:creationId xmlns:a16="http://schemas.microsoft.com/office/drawing/2014/main" id="{536D9095-70DE-41E0-A705-505E108A97DE}"/>
              </a:ext>
            </a:extLst>
          </p:cNvPr>
          <p:cNvCxnSpPr>
            <a:cxnSpLocks noChangeShapeType="1"/>
          </p:cNvCxnSpPr>
          <p:nvPr/>
        </p:nvCxnSpPr>
        <p:spPr bwMode="auto">
          <a:xfrm flipV="1">
            <a:off x="3786188" y="5643563"/>
            <a:ext cx="714375" cy="357187"/>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2005" name="Straight Arrow Connector 39">
            <a:extLst>
              <a:ext uri="{FF2B5EF4-FFF2-40B4-BE49-F238E27FC236}">
                <a16:creationId xmlns:a16="http://schemas.microsoft.com/office/drawing/2014/main" id="{AC5EEAA5-23D2-42F3-A03B-4F9CC561FE49}"/>
              </a:ext>
            </a:extLst>
          </p:cNvPr>
          <p:cNvCxnSpPr>
            <a:cxnSpLocks noChangeShapeType="1"/>
          </p:cNvCxnSpPr>
          <p:nvPr/>
        </p:nvCxnSpPr>
        <p:spPr bwMode="auto">
          <a:xfrm rot="10800000">
            <a:off x="6215063" y="5643563"/>
            <a:ext cx="500062" cy="285750"/>
          </a:xfrm>
          <a:prstGeom prst="straightConnector1">
            <a:avLst/>
          </a:prstGeom>
          <a:noFill/>
          <a:ln w="952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2006" name="Straight Arrow Connector 41">
            <a:extLst>
              <a:ext uri="{FF2B5EF4-FFF2-40B4-BE49-F238E27FC236}">
                <a16:creationId xmlns:a16="http://schemas.microsoft.com/office/drawing/2014/main" id="{330ED375-FC1E-4FB5-8252-9F5348DF3893}"/>
              </a:ext>
            </a:extLst>
          </p:cNvPr>
          <p:cNvCxnSpPr>
            <a:cxnSpLocks noChangeShapeType="1"/>
          </p:cNvCxnSpPr>
          <p:nvPr/>
        </p:nvCxnSpPr>
        <p:spPr bwMode="auto">
          <a:xfrm>
            <a:off x="1889125" y="4643438"/>
            <a:ext cx="4071938" cy="1587"/>
          </a:xfrm>
          <a:prstGeom prst="straightConnector1">
            <a:avLst/>
          </a:prstGeom>
          <a:noFill/>
          <a:ln w="9525" algn="ctr">
            <a:solidFill>
              <a:srgbClr val="003366"/>
            </a:solidFill>
            <a:round/>
            <a:headEnd type="arrow" w="med" len="med"/>
            <a:tailEnd type="arrow" w="med" len="med"/>
          </a:ln>
          <a:extLst>
            <a:ext uri="{909E8E84-426E-40DD-AFC4-6F175D3DCCD1}">
              <a14:hiddenFill xmlns:a14="http://schemas.microsoft.com/office/drawing/2010/main">
                <a:noFill/>
              </a14:hiddenFill>
            </a:ext>
          </a:extLst>
        </p:spPr>
      </p:cxnSp>
      <p:sp>
        <p:nvSpPr>
          <p:cNvPr id="42007" name="TextBox 42">
            <a:extLst>
              <a:ext uri="{FF2B5EF4-FFF2-40B4-BE49-F238E27FC236}">
                <a16:creationId xmlns:a16="http://schemas.microsoft.com/office/drawing/2014/main" id="{2E0A9F9A-9181-485B-B526-F8D12141E516}"/>
              </a:ext>
            </a:extLst>
          </p:cNvPr>
          <p:cNvSpPr txBox="1">
            <a:spLocks noChangeArrowheads="1"/>
          </p:cNvSpPr>
          <p:nvPr/>
        </p:nvSpPr>
        <p:spPr bwMode="auto">
          <a:xfrm>
            <a:off x="3143250" y="4305300"/>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Coupon Period</a:t>
            </a:r>
          </a:p>
        </p:txBody>
      </p:sp>
      <p:sp>
        <p:nvSpPr>
          <p:cNvPr id="42008" name="TextBox 28">
            <a:extLst>
              <a:ext uri="{FF2B5EF4-FFF2-40B4-BE49-F238E27FC236}">
                <a16:creationId xmlns:a16="http://schemas.microsoft.com/office/drawing/2014/main" id="{F51B5EA4-35E4-4632-8C00-C596DC2BA602}"/>
              </a:ext>
            </a:extLst>
          </p:cNvPr>
          <p:cNvSpPr txBox="1">
            <a:spLocks noChangeArrowheads="1"/>
          </p:cNvSpPr>
          <p:nvPr/>
        </p:nvSpPr>
        <p:spPr bwMode="auto">
          <a:xfrm>
            <a:off x="7426325" y="3240088"/>
            <a:ext cx="142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1pPr>
            <a:lvl2pPr marL="742950" indent="-28575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2pPr>
            <a:lvl3pPr marL="11430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3pPr>
            <a:lvl4pPr marL="16002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4pPr>
            <a:lvl5pPr marL="2057400" indent="-228600">
              <a:spcBef>
                <a:spcPct val="20000"/>
              </a:spcBef>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2A3076"/>
              </a:buClr>
              <a:buFont typeface="Wingdings" panose="05000000000000000000" pitchFamily="2" charset="2"/>
              <a:buChar char="§"/>
              <a:defRPr sz="2800">
                <a:solidFill>
                  <a:srgbClr val="2A3076"/>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GB" altLang="en-US" sz="1800">
                <a:solidFill>
                  <a:schemeClr val="accent1"/>
                </a:solidFill>
              </a:rPr>
              <a:t>Clean Price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BB8A0286-3B16-454C-8ABA-5DA9E83C6F22}"/>
              </a:ext>
            </a:extLst>
          </p:cNvPr>
          <p:cNvSpPr>
            <a:spLocks noGrp="1" noChangeArrowheads="1"/>
          </p:cNvSpPr>
          <p:nvPr>
            <p:ph type="title"/>
          </p:nvPr>
        </p:nvSpPr>
        <p:spPr/>
        <p:txBody>
          <a:bodyPr/>
          <a:lstStyle/>
          <a:p>
            <a:r>
              <a:rPr lang="en-GB" altLang="en-US" sz="3600" b="1" dirty="0">
                <a:ea typeface="ＭＳ Ｐゴシック" panose="020B0600070205080204" pitchFamily="34" charset="-128"/>
              </a:rPr>
              <a:t>Accrued Interest</a:t>
            </a:r>
            <a:endParaRPr lang="en-GB" altLang="en-US" dirty="0">
              <a:ea typeface="ＭＳ Ｐゴシック" panose="020B0600070205080204" pitchFamily="34" charset="-128"/>
            </a:endParaRPr>
          </a:p>
        </p:txBody>
      </p:sp>
      <p:sp>
        <p:nvSpPr>
          <p:cNvPr id="44035" name="Content Placeholder 2">
            <a:extLst>
              <a:ext uri="{FF2B5EF4-FFF2-40B4-BE49-F238E27FC236}">
                <a16:creationId xmlns:a16="http://schemas.microsoft.com/office/drawing/2014/main" id="{D147CED8-3A55-4646-963A-C7C9C6DECED1}"/>
              </a:ext>
            </a:extLst>
          </p:cNvPr>
          <p:cNvSpPr>
            <a:spLocks noGrp="1" noChangeArrowheads="1"/>
          </p:cNvSpPr>
          <p:nvPr>
            <p:ph idx="4294967295"/>
          </p:nvPr>
        </p:nvSpPr>
        <p:spPr>
          <a:xfrm>
            <a:off x="388565" y="1446213"/>
            <a:ext cx="8143875" cy="4359275"/>
          </a:xfrm>
        </p:spPr>
        <p:txBody>
          <a:bodyPr/>
          <a:lstStyle/>
          <a:p>
            <a:pPr lvl="1"/>
            <a:r>
              <a:rPr lang="en-GB" altLang="en-US" sz="1800" dirty="0">
                <a:ea typeface="ＭＳ Ｐゴシック" panose="020B0600070205080204" pitchFamily="34" charset="-128"/>
              </a:rPr>
              <a:t>Quoted price of a bond = ‘Clean price’</a:t>
            </a:r>
          </a:p>
          <a:p>
            <a:pPr lvl="1"/>
            <a:r>
              <a:rPr lang="en-GB" altLang="en-US" sz="1800" dirty="0">
                <a:ea typeface="ＭＳ Ｐゴシック" panose="020B0600070205080204" pitchFamily="34" charset="-128"/>
              </a:rPr>
              <a:t>Actual price paid = ‘Dirty price’</a:t>
            </a:r>
          </a:p>
          <a:p>
            <a:pPr lvl="1"/>
            <a:r>
              <a:rPr lang="en-GB" altLang="en-US" sz="1800" dirty="0">
                <a:ea typeface="ＭＳ Ｐゴシック" panose="020B0600070205080204" pitchFamily="34" charset="-128"/>
              </a:rPr>
              <a:t>Difference between clean and dirty prices? Accrued interest</a:t>
            </a:r>
          </a:p>
          <a:p>
            <a:pPr lvl="1"/>
            <a:endParaRPr lang="en-GB" altLang="en-US" sz="1800" dirty="0">
              <a:ea typeface="ＭＳ Ｐゴシック" panose="020B0600070205080204" pitchFamily="34" charset="-128"/>
            </a:endParaRPr>
          </a:p>
          <a:p>
            <a:pPr lvl="1"/>
            <a:r>
              <a:rPr lang="en-GB" altLang="en-US" sz="1800" dirty="0">
                <a:ea typeface="ＭＳ Ｐゴシック" panose="020B0600070205080204" pitchFamily="34" charset="-128"/>
              </a:rPr>
              <a:t>Accrued interest on gilts calculated on an ‘actual/actual’ day count convention</a:t>
            </a:r>
          </a:p>
          <a:p>
            <a:pPr lvl="1"/>
            <a:r>
              <a:rPr lang="en-GB" altLang="en-US" sz="1800" dirty="0">
                <a:ea typeface="ＭＳ Ｐゴシック" panose="020B0600070205080204" pitchFamily="34" charset="-128"/>
              </a:rPr>
              <a:t>Accrual period: Day following the last coupon payment to the settlement date (T+1)</a:t>
            </a:r>
          </a:p>
          <a:p>
            <a:pPr lvl="1"/>
            <a:r>
              <a:rPr lang="en-GB" altLang="en-US" sz="1800" dirty="0">
                <a:ea typeface="ＭＳ Ｐゴシック" panose="020B0600070205080204" pitchFamily="34" charset="-128"/>
              </a:rPr>
              <a:t>Ex-dividend period for gilts: seven working days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9EF8-B7F4-4931-AA84-ED3BEF960170}"/>
              </a:ext>
            </a:extLst>
          </p:cNvPr>
          <p:cNvSpPr>
            <a:spLocks noGrp="1"/>
          </p:cNvSpPr>
          <p:nvPr>
            <p:ph type="title"/>
          </p:nvPr>
        </p:nvSpPr>
        <p:spPr/>
        <p:txBody>
          <a:bodyPr/>
          <a:lstStyle/>
          <a:p>
            <a:br>
              <a:rPr lang="en-GB" altLang="en-US" sz="3600" dirty="0">
                <a:latin typeface="+mn-lt"/>
                <a:ea typeface="ＭＳ Ｐゴシック" panose="020B0600070205080204" pitchFamily="34" charset="-128"/>
              </a:rPr>
            </a:br>
            <a:r>
              <a:rPr lang="en-GB" altLang="en-US" sz="3600" dirty="0">
                <a:latin typeface="+mn-lt"/>
                <a:ea typeface="ＭＳ Ｐゴシック" panose="020B0600070205080204" pitchFamily="34" charset="-128"/>
              </a:rPr>
              <a:t>Bond risk</a:t>
            </a:r>
            <a:br>
              <a:rPr lang="en-GB" altLang="en-US" sz="3600" dirty="0">
                <a:latin typeface="+mn-lt"/>
                <a:ea typeface="ＭＳ Ｐゴシック" panose="020B0600070205080204" pitchFamily="34" charset="-128"/>
              </a:rPr>
            </a:br>
            <a:endParaRPr lang="en-GB" dirty="0"/>
          </a:p>
        </p:txBody>
      </p:sp>
      <mc:AlternateContent xmlns:mc="http://schemas.openxmlformats.org/markup-compatibility/2006" xmlns:a14="http://schemas.microsoft.com/office/drawing/2010/main">
        <mc:Choice Requires="a14">
          <p:sp>
            <p:nvSpPr>
              <p:cNvPr id="48131" name="Content Placeholder 2">
                <a:extLst>
                  <a:ext uri="{FF2B5EF4-FFF2-40B4-BE49-F238E27FC236}">
                    <a16:creationId xmlns:a16="http://schemas.microsoft.com/office/drawing/2014/main" id="{95235D35-1922-49F2-A842-79FDD58C4520}"/>
                  </a:ext>
                </a:extLst>
              </p:cNvPr>
              <p:cNvSpPr>
                <a:spLocks noGrp="1" noChangeArrowheads="1"/>
              </p:cNvSpPr>
              <p:nvPr>
                <p:ph idx="4294967295"/>
              </p:nvPr>
            </p:nvSpPr>
            <p:spPr>
              <a:xfrm>
                <a:off x="244549" y="1284288"/>
                <a:ext cx="8143875" cy="4359275"/>
              </a:xfrm>
            </p:spPr>
            <p:txBody>
              <a:bodyPr/>
              <a:lstStyle/>
              <a:p>
                <a:pPr lvl="2">
                  <a:buFont typeface="Calibri" panose="020F0502020204030204" pitchFamily="34" charset="0"/>
                  <a:buChar char="―"/>
                </a:pPr>
                <a:r>
                  <a:rPr lang="en-GB" altLang="en-US" sz="1800" dirty="0">
                    <a:ea typeface="ＭＳ Ｐゴシック" panose="020B0600070205080204" pitchFamily="34" charset="-128"/>
                  </a:rPr>
                  <a:t>Coupons: Low coupon vs. High coupon</a:t>
                </a:r>
              </a:p>
              <a:p>
                <a:pPr lvl="2">
                  <a:buFont typeface="Calibri" panose="020F0502020204030204" pitchFamily="34" charset="0"/>
                  <a:buChar char="―"/>
                </a:pPr>
                <a:r>
                  <a:rPr lang="en-GB" altLang="en-US" sz="1800" dirty="0">
                    <a:ea typeface="ＭＳ Ｐゴシック" panose="020B0600070205080204" pitchFamily="34" charset="-128"/>
                  </a:rPr>
                  <a:t>Redemption: Short-dated vs. Long-dated</a:t>
                </a:r>
              </a:p>
              <a:p>
                <a:pPr lvl="1">
                  <a:buFont typeface="Arial" panose="020B0604020202020204" pitchFamily="34" charset="0"/>
                  <a:buChar char="•"/>
                </a:pPr>
                <a:r>
                  <a:rPr lang="en-GB" sz="1800" dirty="0">
                    <a:latin typeface="+mn-lt"/>
                  </a:rPr>
                  <a:t>Macaulay duration</a:t>
                </a:r>
              </a:p>
              <a:p>
                <a:pPr lvl="2"/>
                <a:r>
                  <a:rPr lang="en-GB" sz="1800" dirty="0"/>
                  <a:t>Weighted average maturity of a bond: how long it takes (in years) to recover the present value of the cash flows</a:t>
                </a:r>
              </a:p>
              <a:p>
                <a:pPr lvl="2"/>
                <a:r>
                  <a:rPr lang="en-GB" sz="1800" dirty="0"/>
                  <a:t>Calculation</a:t>
                </a:r>
              </a:p>
              <a:p>
                <a:pPr lvl="2"/>
                <a:endParaRPr lang="en-GB" sz="1800" dirty="0"/>
              </a:p>
              <a:p>
                <a:pPr marL="914400" lvl="2" indent="0">
                  <a:buNone/>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𝑀𝑎𝑐𝑎𝑢𝑙𝑎𝑦</m:t>
                      </m:r>
                      <m:r>
                        <a:rPr lang="en-GB" sz="1800" b="0" i="1" smtClean="0">
                          <a:latin typeface="Cambria Math" panose="02040503050406030204" pitchFamily="18" charset="0"/>
                        </a:rPr>
                        <m:t> </m:t>
                      </m:r>
                      <m:r>
                        <a:rPr lang="en-GB" sz="1800" b="0" i="1" smtClean="0">
                          <a:latin typeface="Cambria Math" panose="02040503050406030204" pitchFamily="18" charset="0"/>
                        </a:rPr>
                        <m:t>𝑑𝑢𝑟𝑎𝑡𝑖𝑜𝑛</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nary>
                            <m:naryPr>
                              <m:chr m:val="∑"/>
                              <m:subHide m:val="on"/>
                              <m:supHide m:val="on"/>
                              <m:ctrlPr>
                                <a:rPr lang="en-GB" sz="1800" b="0" i="1" smtClean="0">
                                  <a:latin typeface="Cambria Math" panose="02040503050406030204" pitchFamily="18" charset="0"/>
                                </a:rPr>
                              </m:ctrlPr>
                            </m:naryPr>
                            <m:sub/>
                            <m:sup/>
                            <m:e>
                              <m:d>
                                <m:dPr>
                                  <m:ctrlPr>
                                    <a:rPr lang="en-GB" sz="1800" b="0" i="1" smtClean="0">
                                      <a:latin typeface="Cambria Math" panose="02040503050406030204" pitchFamily="18" charset="0"/>
                                    </a:rPr>
                                  </m:ctrlPr>
                                </m:dPr>
                                <m:e>
                                  <m:r>
                                    <a:rPr lang="en-GB" sz="1800" b="0" i="1" smtClean="0">
                                      <a:latin typeface="Cambria Math" panose="02040503050406030204" pitchFamily="18" charset="0"/>
                                    </a:rPr>
                                    <m:t>𝑃𝑉</m:t>
                                  </m:r>
                                  <m:r>
                                    <a:rPr lang="en-GB" sz="1800" b="0" i="1" smtClean="0">
                                      <a:latin typeface="Cambria Math" panose="02040503050406030204" pitchFamily="18" charset="0"/>
                                    </a:rPr>
                                    <m:t> </m:t>
                                  </m:r>
                                  <m:r>
                                    <a:rPr lang="en-GB" sz="1800" b="0" i="1" smtClean="0">
                                      <a:latin typeface="Cambria Math" panose="02040503050406030204" pitchFamily="18" charset="0"/>
                                    </a:rPr>
                                    <m:t>𝑜𝑓</m:t>
                                  </m:r>
                                  <m:r>
                                    <a:rPr lang="en-GB" sz="1800" b="0" i="1" smtClean="0">
                                      <a:latin typeface="Cambria Math" panose="02040503050406030204" pitchFamily="18" charset="0"/>
                                    </a:rPr>
                                    <m:t> </m:t>
                                  </m:r>
                                  <m:r>
                                    <a:rPr lang="en-GB" sz="1800" b="0" i="1" smtClean="0">
                                      <a:latin typeface="Cambria Math" panose="02040503050406030204" pitchFamily="18" charset="0"/>
                                    </a:rPr>
                                    <m:t>𝑐𝑎𝑠h</m:t>
                                  </m:r>
                                  <m:r>
                                    <a:rPr lang="en-GB" sz="1800" b="0" i="1" smtClean="0">
                                      <a:latin typeface="Cambria Math" panose="02040503050406030204" pitchFamily="18" charset="0"/>
                                    </a:rPr>
                                    <m:t> </m:t>
                                  </m:r>
                                  <m:r>
                                    <a:rPr lang="en-GB" sz="1800" b="0" i="1" smtClean="0">
                                      <a:latin typeface="Cambria Math" panose="02040503050406030204" pitchFamily="18" charset="0"/>
                                    </a:rPr>
                                    <m:t>𝑓𝑙𝑜𝑤</m:t>
                                  </m:r>
                                  <m:r>
                                    <a:rPr lang="en-GB" sz="1800" b="0" i="1" smtClean="0">
                                      <a:latin typeface="Cambria Math" panose="02040503050406030204" pitchFamily="18" charset="0"/>
                                    </a:rPr>
                                    <m:t> </m:t>
                                  </m:r>
                                  <m:r>
                                    <a:rPr lang="en-GB" sz="1800" b="0" i="1" smtClean="0">
                                      <a:latin typeface="Cambria Math" panose="02040503050406030204" pitchFamily="18" charset="0"/>
                                    </a:rPr>
                                    <m:t>𝑥</m:t>
                                  </m:r>
                                  <m:r>
                                    <a:rPr lang="en-GB" sz="1800" b="0" i="1" smtClean="0">
                                      <a:latin typeface="Cambria Math" panose="02040503050406030204" pitchFamily="18" charset="0"/>
                                    </a:rPr>
                                    <m:t> </m:t>
                                  </m:r>
                                  <m:r>
                                    <a:rPr lang="en-GB" sz="1800" b="0" i="1" smtClean="0">
                                      <a:latin typeface="Cambria Math" panose="02040503050406030204" pitchFamily="18" charset="0"/>
                                    </a:rPr>
                                    <m:t>𝑇𝑖𝑚𝑒</m:t>
                                  </m:r>
                                  <m:r>
                                    <a:rPr lang="en-GB" sz="1800" b="0" i="1" smtClean="0">
                                      <a:latin typeface="Cambria Math" panose="02040503050406030204" pitchFamily="18" charset="0"/>
                                    </a:rPr>
                                    <m:t> </m:t>
                                  </m:r>
                                  <m:r>
                                    <a:rPr lang="en-GB" sz="1800" b="0" i="1" smtClean="0">
                                      <a:latin typeface="Cambria Math" panose="02040503050406030204" pitchFamily="18" charset="0"/>
                                    </a:rPr>
                                    <m:t>𝑡𝑜</m:t>
                                  </m:r>
                                  <m:r>
                                    <a:rPr lang="en-GB" sz="1800" b="0" i="1" smtClean="0">
                                      <a:latin typeface="Cambria Math" panose="02040503050406030204" pitchFamily="18" charset="0"/>
                                    </a:rPr>
                                    <m:t> </m:t>
                                  </m:r>
                                  <m:r>
                                    <a:rPr lang="en-GB" sz="1800" b="0" i="1" smtClean="0">
                                      <a:latin typeface="Cambria Math" panose="02040503050406030204" pitchFamily="18" charset="0"/>
                                    </a:rPr>
                                    <m:t>𝑐𝑎𝑠h</m:t>
                                  </m:r>
                                  <m:r>
                                    <a:rPr lang="en-GB" sz="1800" b="0" i="1" smtClean="0">
                                      <a:latin typeface="Cambria Math" panose="02040503050406030204" pitchFamily="18" charset="0"/>
                                    </a:rPr>
                                    <m:t> </m:t>
                                  </m:r>
                                  <m:r>
                                    <a:rPr lang="en-GB" sz="1800" b="0" i="1" smtClean="0">
                                      <a:latin typeface="Cambria Math" panose="02040503050406030204" pitchFamily="18" charset="0"/>
                                    </a:rPr>
                                    <m:t>𝑓𝑙𝑜𝑤</m:t>
                                  </m:r>
                                </m:e>
                              </m:d>
                            </m:e>
                          </m:nary>
                        </m:num>
                        <m:den>
                          <m:nary>
                            <m:naryPr>
                              <m:chr m:val="∑"/>
                              <m:subHide m:val="on"/>
                              <m:supHide m:val="on"/>
                              <m:ctrlPr>
                                <a:rPr lang="en-GB" sz="1800" b="0" i="1" smtClean="0">
                                  <a:latin typeface="Cambria Math" panose="02040503050406030204" pitchFamily="18" charset="0"/>
                                </a:rPr>
                              </m:ctrlPr>
                            </m:naryPr>
                            <m:sub/>
                            <m:sup/>
                            <m:e>
                              <m:r>
                                <a:rPr lang="en-GB" sz="1800" b="0" i="1" smtClean="0">
                                  <a:latin typeface="Cambria Math" panose="02040503050406030204" pitchFamily="18" charset="0"/>
                                </a:rPr>
                                <m:t>𝑃𝑉</m:t>
                              </m:r>
                              <m:r>
                                <a:rPr lang="en-GB" sz="1800" b="0" i="1" smtClean="0">
                                  <a:latin typeface="Cambria Math" panose="02040503050406030204" pitchFamily="18" charset="0"/>
                                </a:rPr>
                                <m:t> </m:t>
                              </m:r>
                              <m:r>
                                <a:rPr lang="en-GB" sz="1800" b="0" i="1" smtClean="0">
                                  <a:latin typeface="Cambria Math" panose="02040503050406030204" pitchFamily="18" charset="0"/>
                                </a:rPr>
                                <m:t>𝑜𝑓</m:t>
                              </m:r>
                              <m:r>
                                <a:rPr lang="en-GB" sz="1800" b="0" i="1" smtClean="0">
                                  <a:latin typeface="Cambria Math" panose="02040503050406030204" pitchFamily="18" charset="0"/>
                                </a:rPr>
                                <m:t> </m:t>
                              </m:r>
                              <m:r>
                                <a:rPr lang="en-GB" sz="1800" b="0" i="1" smtClean="0">
                                  <a:latin typeface="Cambria Math" panose="02040503050406030204" pitchFamily="18" charset="0"/>
                                </a:rPr>
                                <m:t>𝑐𝑎𝑠h</m:t>
                              </m:r>
                              <m:r>
                                <a:rPr lang="en-GB" sz="1800" b="0" i="1" smtClean="0">
                                  <a:latin typeface="Cambria Math" panose="02040503050406030204" pitchFamily="18" charset="0"/>
                                </a:rPr>
                                <m:t> </m:t>
                              </m:r>
                              <m:r>
                                <a:rPr lang="en-GB" sz="1800" b="0" i="1" smtClean="0">
                                  <a:latin typeface="Cambria Math" panose="02040503050406030204" pitchFamily="18" charset="0"/>
                                </a:rPr>
                                <m:t>𝑓𝑙𝑜𝑤</m:t>
                              </m:r>
                            </m:e>
                          </m:nary>
                        </m:den>
                      </m:f>
                    </m:oMath>
                  </m:oMathPara>
                </a14:m>
                <a:endParaRPr lang="en-GB" sz="1800" dirty="0"/>
              </a:p>
              <a:p>
                <a:pPr lvl="1">
                  <a:buFont typeface="Arial" panose="020B0604020202020204" pitchFamily="34" charset="0"/>
                  <a:buChar char="•"/>
                </a:pPr>
                <a:r>
                  <a:rPr lang="en-GB" altLang="en-US" sz="1800" dirty="0">
                    <a:latin typeface="+mn-lt"/>
                    <a:ea typeface="ＭＳ Ｐゴシック" panose="020B0600070205080204" pitchFamily="34" charset="-128"/>
                  </a:rPr>
                  <a:t>Modified Duration</a:t>
                </a:r>
              </a:p>
              <a:p>
                <a:pPr lvl="2">
                  <a:buFont typeface="Calibri" panose="020F0502020204030204" pitchFamily="34" charset="0"/>
                  <a:buChar char="―"/>
                </a:pPr>
                <a:r>
                  <a:rPr lang="en-GB" altLang="en-US" sz="1800" dirty="0">
                    <a:ea typeface="ＭＳ Ｐゴシック" panose="020B0600070205080204" pitchFamily="34" charset="-128"/>
                  </a:rPr>
                  <a:t>Measures the volatility (or RISK) of a bond</a:t>
                </a:r>
              </a:p>
              <a:p>
                <a:pPr lvl="2">
                  <a:buFont typeface="Calibri" panose="020F0502020204030204" pitchFamily="34" charset="0"/>
                  <a:buChar char="―"/>
                </a:pPr>
                <a:r>
                  <a:rPr lang="en-GB" altLang="en-US" sz="1800" dirty="0">
                    <a:ea typeface="ＭＳ Ｐゴシック" panose="020B0600070205080204" pitchFamily="34" charset="-128"/>
                  </a:rPr>
                  <a:t>Quantifies the </a:t>
                </a:r>
                <a:r>
                  <a:rPr lang="en-GB" altLang="en-US" sz="1800" i="1" dirty="0">
                    <a:ea typeface="ＭＳ Ｐゴシック" panose="020B0600070205080204" pitchFamily="34" charset="-128"/>
                  </a:rPr>
                  <a:t>approximate</a:t>
                </a:r>
                <a:r>
                  <a:rPr lang="en-GB" altLang="en-US" sz="1800" dirty="0">
                    <a:ea typeface="ＭＳ Ｐゴシック" panose="020B0600070205080204" pitchFamily="34" charset="-128"/>
                  </a:rPr>
                  <a:t> expected change in price given a specified change in interest rates (or yields)</a:t>
                </a:r>
              </a:p>
              <a:p>
                <a:pPr lvl="2">
                  <a:buFont typeface="Calibri" panose="020F0502020204030204" pitchFamily="34" charset="0"/>
                  <a:buChar char="―"/>
                </a:pPr>
                <a:endParaRPr lang="en-GB" altLang="en-US" sz="1800" dirty="0">
                  <a:ea typeface="ＭＳ Ｐゴシック" panose="020B0600070205080204" pitchFamily="34" charset="-128"/>
                </a:endParaRPr>
              </a:p>
              <a:p>
                <a:pPr marL="914400" lvl="2" indent="0">
                  <a:buNone/>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𝑀𝑜𝑑𝑖𝑓𝑖𝑒𝑑</m:t>
                      </m:r>
                      <m:r>
                        <a:rPr lang="en-GB" sz="1800" b="0" i="1" smtClean="0">
                          <a:latin typeface="Cambria Math" panose="02040503050406030204" pitchFamily="18" charset="0"/>
                        </a:rPr>
                        <m:t> </m:t>
                      </m:r>
                      <m:r>
                        <a:rPr lang="en-GB" sz="1800" b="0" i="1" smtClean="0">
                          <a:latin typeface="Cambria Math" panose="02040503050406030204" pitchFamily="18" charset="0"/>
                        </a:rPr>
                        <m:t>𝑑𝑢𝑟𝑎𝑡𝑖𝑜𝑛</m:t>
                      </m:r>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𝐷𝑢𝑟𝑎𝑡𝑖𝑜𝑛</m:t>
                          </m:r>
                        </m:num>
                        <m:den>
                          <m:d>
                            <m:dPr>
                              <m:ctrlPr>
                                <a:rPr lang="en-GB" sz="1800" b="0" i="1" smtClean="0">
                                  <a:latin typeface="Cambria Math" panose="02040503050406030204" pitchFamily="18" charset="0"/>
                                </a:rPr>
                              </m:ctrlPr>
                            </m:dPr>
                            <m:e>
                              <m:r>
                                <a:rPr lang="en-GB" sz="1800" b="0" i="1" smtClean="0">
                                  <a:latin typeface="Cambria Math" panose="02040503050406030204" pitchFamily="18" charset="0"/>
                                </a:rPr>
                                <m:t>1+</m:t>
                              </m:r>
                              <m:r>
                                <a:rPr lang="en-GB" sz="1800" b="0" i="1" smtClean="0">
                                  <a:latin typeface="Cambria Math" panose="02040503050406030204" pitchFamily="18" charset="0"/>
                                </a:rPr>
                                <m:t>𝑌𝑖𝑒𝑙𝑑</m:t>
                              </m:r>
                            </m:e>
                          </m:d>
                        </m:den>
                      </m:f>
                    </m:oMath>
                  </m:oMathPara>
                </a14:m>
                <a:endParaRPr lang="en-GB" altLang="en-US" sz="1800" dirty="0">
                  <a:ea typeface="ＭＳ Ｐゴシック" panose="020B0600070205080204" pitchFamily="34" charset="-128"/>
                </a:endParaRPr>
              </a:p>
            </p:txBody>
          </p:sp>
        </mc:Choice>
        <mc:Fallback xmlns="">
          <p:sp>
            <p:nvSpPr>
              <p:cNvPr id="48131" name="Content Placeholder 2">
                <a:extLst>
                  <a:ext uri="{FF2B5EF4-FFF2-40B4-BE49-F238E27FC236}">
                    <a16:creationId xmlns:a16="http://schemas.microsoft.com/office/drawing/2014/main" id="{95235D35-1922-49F2-A842-79FDD58C4520}"/>
                  </a:ext>
                </a:extLst>
              </p:cNvPr>
              <p:cNvSpPr>
                <a:spLocks noGrp="1" noRot="1" noChangeAspect="1" noMove="1" noResize="1" noEditPoints="1" noAdjustHandles="1" noChangeArrowheads="1" noChangeShapeType="1" noTextEdit="1"/>
              </p:cNvSpPr>
              <p:nvPr>
                <p:ph idx="4294967295"/>
              </p:nvPr>
            </p:nvSpPr>
            <p:spPr>
              <a:xfrm>
                <a:off x="244549" y="1284288"/>
                <a:ext cx="8143875" cy="4359275"/>
              </a:xfrm>
              <a:blipFill>
                <a:blip r:embed="rId3"/>
                <a:stretch>
                  <a:fillRect t="-1818" b="-13007"/>
                </a:stretch>
              </a:blipFill>
            </p:spPr>
            <p:txBody>
              <a:bodyPr/>
              <a:lstStyle/>
              <a:p>
                <a:r>
                  <a:rPr lang="en-GB">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FB5944E9-865E-46F6-8088-FED4BA54A1E2}"/>
              </a:ext>
            </a:extLst>
          </p:cNvPr>
          <p:cNvSpPr>
            <a:spLocks noGrp="1" noChangeArrowheads="1"/>
          </p:cNvSpPr>
          <p:nvPr>
            <p:ph type="title"/>
          </p:nvPr>
        </p:nvSpPr>
        <p:spPr/>
        <p:txBody>
          <a:bodyPr/>
          <a:lstStyle/>
          <a:p>
            <a:br>
              <a:rPr lang="en-GB" altLang="en-US" sz="3600" dirty="0">
                <a:latin typeface="+mn-lt"/>
                <a:ea typeface="ＭＳ Ｐゴシック" panose="020B0600070205080204" pitchFamily="34" charset="-128"/>
              </a:rPr>
            </a:br>
            <a:r>
              <a:rPr lang="en-GB" altLang="en-US" sz="3600" dirty="0">
                <a:latin typeface="+mn-lt"/>
                <a:ea typeface="ＭＳ Ｐゴシック" panose="020B0600070205080204" pitchFamily="34" charset="-128"/>
              </a:rPr>
              <a:t>Yields</a:t>
            </a:r>
            <a:br>
              <a:rPr lang="en-GB" altLang="en-US" sz="3600" dirty="0">
                <a:latin typeface="+mn-lt"/>
                <a:ea typeface="ＭＳ Ｐゴシック" panose="020B0600070205080204" pitchFamily="34" charset="-128"/>
              </a:rPr>
            </a:br>
            <a:endParaRPr lang="en-GB" altLang="en-US" dirty="0">
              <a:ea typeface="ＭＳ Ｐゴシック" panose="020B0600070205080204" pitchFamily="34" charset="-128"/>
            </a:endParaRPr>
          </a:p>
        </p:txBody>
      </p:sp>
      <p:sp>
        <p:nvSpPr>
          <p:cNvPr id="50179" name="Content Placeholder 2">
            <a:extLst>
              <a:ext uri="{FF2B5EF4-FFF2-40B4-BE49-F238E27FC236}">
                <a16:creationId xmlns:a16="http://schemas.microsoft.com/office/drawing/2014/main" id="{B88506CA-6A77-479C-A96D-2805B6BE280B}"/>
              </a:ext>
            </a:extLst>
          </p:cNvPr>
          <p:cNvSpPr>
            <a:spLocks noGrp="1" noChangeArrowheads="1"/>
          </p:cNvSpPr>
          <p:nvPr>
            <p:ph idx="4294967295"/>
          </p:nvPr>
        </p:nvSpPr>
        <p:spPr>
          <a:xfrm>
            <a:off x="244549" y="1284288"/>
            <a:ext cx="8143875" cy="4359275"/>
          </a:xfrm>
        </p:spPr>
        <p:txBody>
          <a:bodyPr/>
          <a:lstStyle/>
          <a:p>
            <a:pPr lvl="1">
              <a:buFont typeface="Arial" panose="020B0604020202020204" pitchFamily="34" charset="0"/>
              <a:buChar char="•"/>
            </a:pPr>
            <a:r>
              <a:rPr lang="en-GB" altLang="en-US" sz="1800" b="1" dirty="0">
                <a:latin typeface="+mn-lt"/>
                <a:ea typeface="ＭＳ Ｐゴシック" panose="020B0600070205080204" pitchFamily="34" charset="-128"/>
              </a:rPr>
              <a:t>Flat yield</a:t>
            </a:r>
          </a:p>
          <a:p>
            <a:pPr lvl="2">
              <a:buFont typeface="Calibri" panose="020F0502020204030204" pitchFamily="34" charset="0"/>
              <a:buChar char="―"/>
            </a:pPr>
            <a:r>
              <a:rPr lang="en-GB" altLang="en-US" sz="1800" dirty="0">
                <a:ea typeface="ＭＳ Ｐゴシック" panose="020B0600070205080204" pitchFamily="34" charset="-128"/>
              </a:rPr>
              <a:t>Calculation	</a:t>
            </a:r>
          </a:p>
          <a:p>
            <a:pPr lvl="4">
              <a:buFont typeface="Arial" panose="020B0604020202020204" pitchFamily="34" charset="0"/>
              <a:buChar char="•"/>
            </a:pPr>
            <a:r>
              <a:rPr lang="en-GB" altLang="en-US" sz="1800" dirty="0">
                <a:ea typeface="ＭＳ Ｐゴシック" panose="020B0600070205080204" pitchFamily="34" charset="-128"/>
              </a:rPr>
              <a:t>Flat yield = (Annual coupon/Price) x 100</a:t>
            </a:r>
          </a:p>
          <a:p>
            <a:pPr lvl="2">
              <a:buFont typeface="Calibri" panose="020F0502020204030204" pitchFamily="34" charset="0"/>
              <a:buChar char="―"/>
            </a:pPr>
            <a:r>
              <a:rPr lang="en-GB" altLang="en-US" sz="1800" dirty="0">
                <a:ea typeface="ＭＳ Ｐゴシック" panose="020B0600070205080204" pitchFamily="34" charset="-128"/>
              </a:rPr>
              <a:t>Use: non-taxpaying, income focused investors</a:t>
            </a:r>
          </a:p>
          <a:p>
            <a:pPr lvl="3"/>
            <a:endParaRPr lang="en-GB" altLang="en-US" sz="1800" dirty="0">
              <a:ea typeface="ＭＳ Ｐゴシック" panose="020B0600070205080204" pitchFamily="34" charset="-128"/>
            </a:endParaRPr>
          </a:p>
          <a:p>
            <a:pPr lvl="1">
              <a:buFont typeface="Arial" panose="020B0604020202020204" pitchFamily="34" charset="0"/>
              <a:buChar char="•"/>
            </a:pPr>
            <a:r>
              <a:rPr lang="en-GB" altLang="en-US" sz="1800" b="1" dirty="0">
                <a:latin typeface="+mn-lt"/>
                <a:ea typeface="ＭＳ Ｐゴシック" panose="020B0600070205080204" pitchFamily="34" charset="-128"/>
              </a:rPr>
              <a:t>Gross redemption yield (GRY), or yield to maturity (YTM)</a:t>
            </a:r>
          </a:p>
          <a:p>
            <a:pPr lvl="2">
              <a:buFont typeface="Calibri" panose="020F0502020204030204" pitchFamily="34" charset="0"/>
              <a:buChar char="―"/>
            </a:pPr>
            <a:r>
              <a:rPr lang="en-GB" altLang="en-US" sz="1800" dirty="0">
                <a:ea typeface="ＭＳ Ｐゴシック" panose="020B0600070205080204" pitchFamily="34" charset="-128"/>
              </a:rPr>
              <a:t>Use: non-taxpaying, long-term investors</a:t>
            </a:r>
          </a:p>
          <a:p>
            <a:pPr lvl="2"/>
            <a:endParaRPr lang="en-GB" altLang="en-US" sz="1800" dirty="0">
              <a:ea typeface="ＭＳ Ｐゴシック" panose="020B0600070205080204" pitchFamily="34" charset="-128"/>
            </a:endParaRPr>
          </a:p>
          <a:p>
            <a:pPr lvl="1">
              <a:buFont typeface="Arial" panose="020B0604020202020204" pitchFamily="34" charset="0"/>
              <a:buChar char="•"/>
            </a:pPr>
            <a:r>
              <a:rPr lang="en-GB" altLang="en-US" sz="1800" b="1" dirty="0">
                <a:latin typeface="+mn-lt"/>
                <a:ea typeface="ＭＳ Ｐゴシック" panose="020B0600070205080204" pitchFamily="34" charset="-128"/>
              </a:rPr>
              <a:t>Net redemption yield</a:t>
            </a:r>
          </a:p>
          <a:p>
            <a:pPr lvl="2">
              <a:buFont typeface="Calibri" panose="020F0502020204030204" pitchFamily="34" charset="0"/>
              <a:buChar char="―"/>
            </a:pPr>
            <a:r>
              <a:rPr lang="en-GB" altLang="en-US" sz="1800" dirty="0">
                <a:ea typeface="ＭＳ Ｐゴシック" panose="020B0600070205080204" pitchFamily="34" charset="-128"/>
              </a:rPr>
              <a:t>Use: taxpaying, long-term investor</a:t>
            </a:r>
          </a:p>
          <a:p>
            <a:pPr lvl="2"/>
            <a:endParaRPr lang="en-GB" altLang="en-US" dirty="0">
              <a:ea typeface="ＭＳ Ｐゴシック" panose="020B0600070205080204" pitchFamily="34" charset="-128"/>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5D9FD59C-66FE-4B4C-9E37-B9CF60E5E166}"/>
              </a:ext>
            </a:extLst>
          </p:cNvPr>
          <p:cNvSpPr>
            <a:spLocks noGrp="1" noChangeArrowheads="1"/>
          </p:cNvSpPr>
          <p:nvPr>
            <p:ph type="title"/>
          </p:nvPr>
        </p:nvSpPr>
        <p:spPr/>
        <p:txBody>
          <a:bodyPr/>
          <a:lstStyle/>
          <a:p>
            <a:br>
              <a:rPr lang="en-GB" altLang="en-US" dirty="0">
                <a:ea typeface="ＭＳ Ｐゴシック" panose="020B0600070205080204" pitchFamily="34" charset="-128"/>
              </a:rPr>
            </a:br>
            <a:r>
              <a:rPr lang="en-GB" altLang="en-US" dirty="0">
                <a:ea typeface="ＭＳ Ｐゴシック" panose="020B0600070205080204" pitchFamily="34" charset="-128"/>
              </a:rPr>
              <a:t>Yield Curves</a:t>
            </a:r>
            <a:br>
              <a:rPr lang="en-GB" altLang="en-US" dirty="0">
                <a:ea typeface="ＭＳ Ｐゴシック" panose="020B0600070205080204" pitchFamily="34" charset="-128"/>
              </a:rPr>
            </a:br>
            <a:endParaRPr lang="en-GB" altLang="en-US" dirty="0">
              <a:ea typeface="ＭＳ Ｐゴシック" panose="020B0600070205080204" pitchFamily="34" charset="-128"/>
            </a:endParaRPr>
          </a:p>
        </p:txBody>
      </p:sp>
      <p:sp>
        <p:nvSpPr>
          <p:cNvPr id="58371" name="Content Placeholder 2">
            <a:extLst>
              <a:ext uri="{FF2B5EF4-FFF2-40B4-BE49-F238E27FC236}">
                <a16:creationId xmlns:a16="http://schemas.microsoft.com/office/drawing/2014/main" id="{95DFA105-2FE1-45BC-BDEB-B3DAFAB7182D}"/>
              </a:ext>
            </a:extLst>
          </p:cNvPr>
          <p:cNvSpPr>
            <a:spLocks noGrp="1" noChangeArrowheads="1"/>
          </p:cNvSpPr>
          <p:nvPr>
            <p:ph idx="4294967295"/>
          </p:nvPr>
        </p:nvSpPr>
        <p:spPr>
          <a:xfrm>
            <a:off x="0" y="1284288"/>
            <a:ext cx="8143875" cy="4359275"/>
          </a:xfrm>
        </p:spPr>
        <p:txBody>
          <a:bodyPr/>
          <a:lstStyle/>
          <a:p>
            <a:pPr lvl="1">
              <a:buFont typeface="Arial" panose="020B0604020202020204" pitchFamily="34" charset="0"/>
              <a:buChar char="•"/>
            </a:pPr>
            <a:r>
              <a:rPr lang="en-GB" altLang="en-US" sz="1800" dirty="0">
                <a:latin typeface="+mn-lt"/>
                <a:ea typeface="ＭＳ Ｐゴシック" panose="020B0600070205080204" pitchFamily="34" charset="-128"/>
              </a:rPr>
              <a:t>Normal yield curve/Inverted (‘abnormal’) yield curve</a:t>
            </a: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1"/>
            <a:endParaRPr lang="en-GB" altLang="en-US" sz="1800" dirty="0">
              <a:latin typeface="+mn-lt"/>
              <a:ea typeface="ＭＳ Ｐゴシック" panose="020B0600070205080204" pitchFamily="34" charset="-128"/>
            </a:endParaRPr>
          </a:p>
          <a:p>
            <a:pPr lvl="2">
              <a:buFont typeface="Calibri" panose="020F0502020204030204" pitchFamily="34" charset="0"/>
              <a:buChar char="―"/>
            </a:pPr>
            <a:r>
              <a:rPr lang="en-GB" altLang="en-US" sz="1800" dirty="0">
                <a:ea typeface="ＭＳ Ｐゴシック" panose="020B0600070205080204" pitchFamily="34" charset="-128"/>
              </a:rPr>
              <a:t>Liquidity preference theory</a:t>
            </a:r>
          </a:p>
          <a:p>
            <a:pPr lvl="2">
              <a:buFont typeface="Calibri" panose="020F0502020204030204" pitchFamily="34" charset="0"/>
              <a:buChar char="―"/>
            </a:pPr>
            <a:r>
              <a:rPr lang="en-GB" altLang="en-US" sz="1800" dirty="0">
                <a:ea typeface="ＭＳ Ｐゴシック" panose="020B0600070205080204" pitchFamily="34" charset="-128"/>
              </a:rPr>
              <a:t>Expectation theory</a:t>
            </a:r>
          </a:p>
        </p:txBody>
      </p:sp>
      <p:pic>
        <p:nvPicPr>
          <p:cNvPr id="58373" name="Picture 6">
            <a:extLst>
              <a:ext uri="{FF2B5EF4-FFF2-40B4-BE49-F238E27FC236}">
                <a16:creationId xmlns:a16="http://schemas.microsoft.com/office/drawing/2014/main" id="{B1DF0B1C-F3CA-46A3-90F3-FE75F8C48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679700"/>
            <a:ext cx="41783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7">
            <a:extLst>
              <a:ext uri="{FF2B5EF4-FFF2-40B4-BE49-F238E27FC236}">
                <a16:creationId xmlns:a16="http://schemas.microsoft.com/office/drawing/2014/main" id="{847E2C85-5511-441B-99BA-9A27E13F4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2622550"/>
            <a:ext cx="4367213"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376AEA2F-539B-4577-B962-4B9D60A0A67D}"/>
              </a:ext>
            </a:extLst>
          </p:cNvPr>
          <p:cNvSpPr>
            <a:spLocks noGrp="1" noChangeArrowheads="1"/>
          </p:cNvSpPr>
          <p:nvPr>
            <p:ph type="title"/>
          </p:nvPr>
        </p:nvSpPr>
        <p:spPr/>
        <p:txBody>
          <a:bodyPr/>
          <a:lstStyle/>
          <a:p>
            <a:r>
              <a:rPr lang="en-GB" altLang="en-US" dirty="0">
                <a:ea typeface="ＭＳ Ｐゴシック" panose="020B0600070205080204" pitchFamily="34" charset="-128"/>
              </a:rPr>
              <a:t>Corporate Debt</a:t>
            </a:r>
          </a:p>
        </p:txBody>
      </p:sp>
      <p:sp>
        <p:nvSpPr>
          <p:cNvPr id="68611" name="Content Placeholder 2">
            <a:extLst>
              <a:ext uri="{FF2B5EF4-FFF2-40B4-BE49-F238E27FC236}">
                <a16:creationId xmlns:a16="http://schemas.microsoft.com/office/drawing/2014/main" id="{26B6A680-2A98-46FE-98FB-F27CED130CD0}"/>
              </a:ext>
            </a:extLst>
          </p:cNvPr>
          <p:cNvSpPr>
            <a:spLocks noGrp="1" noChangeArrowheads="1"/>
          </p:cNvSpPr>
          <p:nvPr>
            <p:ph idx="4294967295"/>
          </p:nvPr>
        </p:nvSpPr>
        <p:spPr>
          <a:xfrm>
            <a:off x="683568" y="1284288"/>
            <a:ext cx="8143875" cy="4359275"/>
          </a:xfrm>
        </p:spPr>
        <p:txBody>
          <a:bodyPr/>
          <a:lstStyle/>
          <a:p>
            <a:r>
              <a:rPr lang="en-GB" altLang="en-US" sz="1800" dirty="0">
                <a:latin typeface="+mn-lt"/>
                <a:ea typeface="ＭＳ Ｐゴシック" panose="020B0600070205080204" pitchFamily="34" charset="-128"/>
              </a:rPr>
              <a:t>Secured Debt</a:t>
            </a:r>
          </a:p>
          <a:p>
            <a:pPr lvl="1"/>
            <a:r>
              <a:rPr lang="en-GB" altLang="en-US" sz="1800" dirty="0">
                <a:latin typeface="+mn-lt"/>
                <a:ea typeface="ＭＳ Ｐゴシック" panose="020B0600070205080204" pitchFamily="34" charset="-128"/>
              </a:rPr>
              <a:t>Security reduces the impact of possible default</a:t>
            </a:r>
          </a:p>
          <a:p>
            <a:pPr lvl="1"/>
            <a:r>
              <a:rPr lang="en-GB" altLang="en-US" sz="1800" dirty="0">
                <a:latin typeface="+mn-lt"/>
                <a:ea typeface="ＭＳ Ｐゴシック" panose="020B0600070205080204" pitchFamily="34" charset="-128"/>
              </a:rPr>
              <a:t>Types of security:</a:t>
            </a:r>
          </a:p>
          <a:p>
            <a:pPr lvl="2"/>
            <a:r>
              <a:rPr lang="en-GB" altLang="en-US" sz="1800" dirty="0">
                <a:ea typeface="ＭＳ Ｐゴシック" panose="020B0600070205080204" pitchFamily="34" charset="-128"/>
              </a:rPr>
              <a:t>Fixed charge</a:t>
            </a:r>
          </a:p>
          <a:p>
            <a:pPr lvl="2"/>
            <a:r>
              <a:rPr lang="en-GB" altLang="en-US" sz="1800" dirty="0">
                <a:ea typeface="ＭＳ Ｐゴシック" panose="020B0600070205080204" pitchFamily="34" charset="-128"/>
              </a:rPr>
              <a:t>Floating charge</a:t>
            </a:r>
          </a:p>
          <a:p>
            <a:pPr marL="914400" lvl="2" indent="0">
              <a:buNone/>
            </a:pPr>
            <a:endParaRPr lang="en-GB" altLang="en-US" dirty="0">
              <a:ea typeface="ＭＳ Ｐゴシック" panose="020B0600070205080204" pitchFamily="34" charset="-128"/>
            </a:endParaRPr>
          </a:p>
          <a:p>
            <a:pPr lvl="2">
              <a:buFont typeface="Arial" pitchFamily="34" charset="0"/>
              <a:buNone/>
            </a:pPr>
            <a:endParaRPr lang="en-GB" altLang="en-US" dirty="0">
              <a:ea typeface="ＭＳ Ｐゴシック" panose="020B0600070205080204" pitchFamily="34" charset="-128"/>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D9A3885D-3EF9-42B0-A9AF-4077D5D05F4A}"/>
              </a:ext>
            </a:extLst>
          </p:cNvPr>
          <p:cNvSpPr>
            <a:spLocks noGrp="1" noChangeArrowheads="1"/>
          </p:cNvSpPr>
          <p:nvPr>
            <p:ph type="title"/>
          </p:nvPr>
        </p:nvSpPr>
        <p:spPr/>
        <p:txBody>
          <a:bodyPr/>
          <a:lstStyle/>
          <a:p>
            <a:br>
              <a:rPr lang="en-GB" altLang="en-US" dirty="0">
                <a:ea typeface="ＭＳ Ｐゴシック" panose="020B0600070205080204" pitchFamily="34" charset="-128"/>
              </a:rPr>
            </a:br>
            <a:r>
              <a:rPr lang="en-GB" altLang="en-US" dirty="0">
                <a:ea typeface="ＭＳ Ｐゴシック" panose="020B0600070205080204" pitchFamily="34" charset="-128"/>
              </a:rPr>
              <a:t>Asset-backed securities (ABSs)</a:t>
            </a:r>
            <a:br>
              <a:rPr lang="en-GB" altLang="en-US" dirty="0">
                <a:ea typeface="ＭＳ Ｐゴシック" panose="020B0600070205080204" pitchFamily="34" charset="-128"/>
              </a:rPr>
            </a:br>
            <a:endParaRPr lang="en-GB" altLang="en-US" dirty="0">
              <a:ea typeface="ＭＳ Ｐゴシック" panose="020B0600070205080204" pitchFamily="34" charset="-128"/>
            </a:endParaRPr>
          </a:p>
        </p:txBody>
      </p:sp>
      <p:sp>
        <p:nvSpPr>
          <p:cNvPr id="70659" name="Content Placeholder 2">
            <a:extLst>
              <a:ext uri="{FF2B5EF4-FFF2-40B4-BE49-F238E27FC236}">
                <a16:creationId xmlns:a16="http://schemas.microsoft.com/office/drawing/2014/main" id="{A3040315-2792-4EB6-A5AA-10A3DB3753F8}"/>
              </a:ext>
            </a:extLst>
          </p:cNvPr>
          <p:cNvSpPr>
            <a:spLocks noGrp="1" noChangeArrowheads="1"/>
          </p:cNvSpPr>
          <p:nvPr>
            <p:ph idx="4294967295"/>
          </p:nvPr>
        </p:nvSpPr>
        <p:spPr>
          <a:xfrm>
            <a:off x="0" y="1284288"/>
            <a:ext cx="8143875" cy="4359275"/>
          </a:xfrm>
        </p:spPr>
        <p:txBody>
          <a:bodyPr/>
          <a:lstStyle/>
          <a:p>
            <a:pPr lvl="2">
              <a:tabLst>
                <a:tab pos="2689225" algn="l"/>
              </a:tabLst>
            </a:pPr>
            <a:endParaRPr lang="en-GB" altLang="en-US" sz="1800" dirty="0">
              <a:ea typeface="ＭＳ Ｐゴシック" panose="020B0600070205080204" pitchFamily="34" charset="-128"/>
            </a:endParaRPr>
          </a:p>
          <a:p>
            <a:pPr lvl="2">
              <a:tabLst>
                <a:tab pos="2689225" algn="l"/>
              </a:tabLst>
            </a:pPr>
            <a:r>
              <a:rPr lang="en-GB" altLang="en-US" sz="1800" dirty="0">
                <a:ea typeface="ＭＳ Ｐゴシック" panose="020B0600070205080204" pitchFamily="34" charset="-128"/>
              </a:rPr>
              <a:t>Securitisation</a:t>
            </a:r>
          </a:p>
          <a:p>
            <a:pPr lvl="2">
              <a:tabLst>
                <a:tab pos="2689225" algn="l"/>
              </a:tabLst>
            </a:pPr>
            <a:r>
              <a:rPr lang="en-GB" altLang="en-US" sz="1800" dirty="0">
                <a:ea typeface="ＭＳ Ｐゴシック" panose="020B0600070205080204" pitchFamily="34" charset="-128"/>
              </a:rPr>
              <a:t>Examples of ABS:</a:t>
            </a:r>
          </a:p>
          <a:p>
            <a:pPr lvl="3">
              <a:tabLst>
                <a:tab pos="2689225" algn="l"/>
              </a:tabLst>
            </a:pPr>
            <a:r>
              <a:rPr lang="en-GB" altLang="en-US" sz="1800" dirty="0">
                <a:ea typeface="ＭＳ Ｐゴシック" panose="020B0600070205080204" pitchFamily="34" charset="-128"/>
              </a:rPr>
              <a:t>Mortgage-backed securities (MBSs)</a:t>
            </a:r>
          </a:p>
          <a:p>
            <a:pPr lvl="3">
              <a:tabLst>
                <a:tab pos="2689225" algn="l"/>
              </a:tabLst>
            </a:pPr>
            <a:r>
              <a:rPr lang="en-GB" altLang="en-US" sz="1800" dirty="0">
                <a:ea typeface="ＭＳ Ｐゴシック" panose="020B0600070205080204" pitchFamily="34" charset="-128"/>
              </a:rPr>
              <a:t>Collateralised debt obligations (CDOs)</a:t>
            </a:r>
          </a:p>
          <a:p>
            <a:pPr lvl="3">
              <a:tabLst>
                <a:tab pos="2689225" algn="l"/>
              </a:tabLst>
            </a:pPr>
            <a:r>
              <a:rPr lang="en-GB" altLang="en-US" sz="1800" dirty="0">
                <a:ea typeface="ＭＳ Ｐゴシック" panose="020B0600070205080204" pitchFamily="34" charset="-128"/>
              </a:rPr>
              <a:t>Collateralised bond obligations (CBOs)</a:t>
            </a:r>
          </a:p>
          <a:p>
            <a:pPr>
              <a:tabLst>
                <a:tab pos="2689225" algn="l"/>
              </a:tabLst>
            </a:pPr>
            <a:endParaRPr lang="en-GB" altLang="en-US" dirty="0">
              <a:ea typeface="ＭＳ Ｐゴシック" panose="020B0600070205080204" pitchFamily="34" charset="-128"/>
            </a:endParaRPr>
          </a:p>
        </p:txBody>
      </p:sp>
      <p:pic>
        <p:nvPicPr>
          <p:cNvPr id="70661" name="Picture 6">
            <a:extLst>
              <a:ext uri="{FF2B5EF4-FFF2-40B4-BE49-F238E27FC236}">
                <a16:creationId xmlns:a16="http://schemas.microsoft.com/office/drawing/2014/main" id="{55C9277C-0F63-48D4-8E82-91E99E17F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430588"/>
            <a:ext cx="7343775"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628B5B19-D354-4BF8-98C9-608324129189}"/>
              </a:ext>
            </a:extLst>
          </p:cNvPr>
          <p:cNvSpPr>
            <a:spLocks noGrp="1" noChangeArrowheads="1"/>
          </p:cNvSpPr>
          <p:nvPr>
            <p:ph type="title"/>
          </p:nvPr>
        </p:nvSpPr>
        <p:spPr/>
        <p:txBody>
          <a:bodyPr/>
          <a:lstStyle/>
          <a:p>
            <a:r>
              <a:rPr lang="en-GB" altLang="en-US" dirty="0">
                <a:ea typeface="ＭＳ Ｐゴシック" panose="020B0600070205080204" pitchFamily="34" charset="-128"/>
              </a:rPr>
              <a:t>Credit Ratings (Investment Grade)</a:t>
            </a:r>
          </a:p>
        </p:txBody>
      </p:sp>
      <p:pic>
        <p:nvPicPr>
          <p:cNvPr id="78852" name="Picture 71">
            <a:extLst>
              <a:ext uri="{FF2B5EF4-FFF2-40B4-BE49-F238E27FC236}">
                <a16:creationId xmlns:a16="http://schemas.microsoft.com/office/drawing/2014/main" id="{AEDAE1AE-3D5D-41C0-8B7D-243604FB02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675" y="1484784"/>
            <a:ext cx="7207250" cy="4002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3">
            <a:extLst>
              <a:ext uri="{FF2B5EF4-FFF2-40B4-BE49-F238E27FC236}">
                <a16:creationId xmlns:a16="http://schemas.microsoft.com/office/drawing/2014/main" id="{653576A8-62BB-48B8-8503-69FA8693A3BB}"/>
              </a:ext>
            </a:extLst>
          </p:cNvPr>
          <p:cNvSpPr>
            <a:spLocks noGrp="1"/>
          </p:cNvSpPr>
          <p:nvPr>
            <p:ph type="title"/>
          </p:nvPr>
        </p:nvSpPr>
        <p:spPr>
          <a:xfrm>
            <a:off x="571500" y="2924175"/>
            <a:ext cx="8032750" cy="720725"/>
          </a:xfrm>
        </p:spPr>
        <p:txBody>
          <a:bodyPr/>
          <a:lstStyle/>
          <a:p>
            <a:pPr algn="ctr">
              <a:lnSpc>
                <a:spcPts val="2625"/>
              </a:lnSpc>
            </a:pPr>
            <a:r>
              <a:rPr altLang="en-US" dirty="0">
                <a:ea typeface="ＭＳ Ｐゴシック" panose="020B0600070205080204" pitchFamily="34" charset="-128"/>
              </a:rPr>
              <a:t>Derivatives</a:t>
            </a:r>
          </a:p>
        </p:txBody>
      </p:sp>
    </p:spTree>
    <p:extLst>
      <p:ext uri="{BB962C8B-B14F-4D97-AF65-F5344CB8AC3E}">
        <p14:creationId xmlns:p14="http://schemas.microsoft.com/office/powerpoint/2010/main" val="1960387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Types of Derivatives</a:t>
            </a:r>
          </a:p>
        </p:txBody>
      </p:sp>
      <p:sp>
        <p:nvSpPr>
          <p:cNvPr id="5" name="Text Placeholder 4"/>
          <p:cNvSpPr>
            <a:spLocks noGrp="1"/>
          </p:cNvSpPr>
          <p:nvPr>
            <p:ph type="body" idx="4294967295"/>
          </p:nvPr>
        </p:nvSpPr>
        <p:spPr>
          <a:xfrm>
            <a:off x="642119" y="1268413"/>
            <a:ext cx="8034337" cy="4752975"/>
          </a:xfrm>
        </p:spPr>
        <p:txBody>
          <a:bodyPr/>
          <a:lstStyle/>
          <a:p>
            <a:pPr marL="90487" lvl="1" indent="0">
              <a:buNone/>
            </a:pPr>
            <a:r>
              <a:rPr lang="en-GB" sz="1800" dirty="0"/>
              <a:t>Forward contract</a:t>
            </a:r>
          </a:p>
          <a:p>
            <a:pPr lvl="2"/>
            <a:r>
              <a:rPr lang="en-GB" sz="1800" dirty="0"/>
              <a:t>A contract between a buyer and a seller to exchange an underlying asset on a future date, at a price agreed today</a:t>
            </a:r>
          </a:p>
          <a:p>
            <a:pPr lvl="2"/>
            <a:r>
              <a:rPr lang="en-GB" sz="1800" dirty="0"/>
              <a:t>Traded OTC</a:t>
            </a:r>
          </a:p>
          <a:p>
            <a:pPr marL="914400" lvl="2" indent="0">
              <a:buNone/>
            </a:pPr>
            <a:endParaRPr lang="en-GB" sz="1800" dirty="0"/>
          </a:p>
          <a:p>
            <a:pPr marL="90487" lvl="1" indent="0">
              <a:buNone/>
            </a:pPr>
            <a:r>
              <a:rPr lang="en-GB" sz="1800" dirty="0"/>
              <a:t>Futures contract</a:t>
            </a:r>
          </a:p>
          <a:p>
            <a:pPr lvl="2"/>
            <a:r>
              <a:rPr lang="en-GB" sz="1800" dirty="0"/>
              <a:t>Exchange-traded forward, with standardised contract specifications</a:t>
            </a:r>
          </a:p>
        </p:txBody>
      </p:sp>
      <p:pic>
        <p:nvPicPr>
          <p:cNvPr id="534530"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643920" y="3735984"/>
            <a:ext cx="5856160" cy="18722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73330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78EA-4DAF-4981-BB14-CD889F606ED2}"/>
              </a:ext>
            </a:extLst>
          </p:cNvPr>
          <p:cNvSpPr>
            <a:spLocks noGrp="1"/>
          </p:cNvSpPr>
          <p:nvPr>
            <p:ph type="title"/>
          </p:nvPr>
        </p:nvSpPr>
        <p:spPr/>
        <p:txBody>
          <a:bodyPr/>
          <a:lstStyle/>
          <a:p>
            <a:endParaRPr lang="en-GB"/>
          </a:p>
        </p:txBody>
      </p:sp>
      <p:sp>
        <p:nvSpPr>
          <p:cNvPr id="5" name="Text Placeholder 4"/>
          <p:cNvSpPr>
            <a:spLocks noGrp="1"/>
          </p:cNvSpPr>
          <p:nvPr>
            <p:ph type="body" idx="4294967295"/>
          </p:nvPr>
        </p:nvSpPr>
        <p:spPr>
          <a:xfrm>
            <a:off x="611188" y="1268760"/>
            <a:ext cx="8034337" cy="4752975"/>
          </a:xfrm>
        </p:spPr>
        <p:txBody>
          <a:bodyPr/>
          <a:lstStyle/>
          <a:p>
            <a:pPr marL="90487" lvl="1" indent="0">
              <a:buNone/>
            </a:pPr>
            <a:r>
              <a:rPr lang="en-GB" sz="1800" dirty="0"/>
              <a:t>Swap (contract for difference)</a:t>
            </a:r>
          </a:p>
          <a:p>
            <a:pPr lvl="2"/>
            <a:r>
              <a:rPr lang="en-GB" sz="1800" dirty="0"/>
              <a:t>Agreement to exchange a series of cash flows</a:t>
            </a:r>
          </a:p>
          <a:p>
            <a:pPr lvl="2"/>
            <a:r>
              <a:rPr lang="en-GB" sz="1800" dirty="0"/>
              <a:t>Traded OTC</a:t>
            </a:r>
          </a:p>
          <a:p>
            <a:pPr marL="90487" lvl="1" indent="0">
              <a:buNone/>
            </a:pPr>
            <a:r>
              <a:rPr lang="en-GB" sz="1800" dirty="0"/>
              <a:t>Option</a:t>
            </a:r>
          </a:p>
          <a:p>
            <a:pPr lvl="2"/>
            <a:r>
              <a:rPr lang="en-GB" sz="1800" dirty="0"/>
              <a:t>A contract between a buyer and a seller giving the RIGHT to exchange an underlying asset for a pre-agreed price</a:t>
            </a:r>
          </a:p>
          <a:p>
            <a:pPr lvl="2"/>
            <a:r>
              <a:rPr lang="en-GB" sz="1800" dirty="0"/>
              <a:t>Exchange-traded or OTC</a:t>
            </a:r>
          </a:p>
        </p:txBody>
      </p:sp>
    </p:spTree>
    <p:extLst>
      <p:ext uri="{BB962C8B-B14F-4D97-AF65-F5344CB8AC3E}">
        <p14:creationId xmlns:p14="http://schemas.microsoft.com/office/powerpoint/2010/main" val="31252353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p:cNvSpPr>
          <p:nvPr>
            <p:ph type="title"/>
          </p:nvPr>
        </p:nvSpPr>
        <p:spPr/>
        <p:txBody>
          <a:bodyPr/>
          <a:lstStyle/>
          <a:p>
            <a:r>
              <a:rPr lang="en-GB" altLang="en-US" dirty="0"/>
              <a:t>Pricing Futures and Forwards</a:t>
            </a:r>
          </a:p>
        </p:txBody>
      </p:sp>
      <p:sp>
        <p:nvSpPr>
          <p:cNvPr id="33795" name="Rectangle 6"/>
          <p:cNvSpPr>
            <a:spLocks noGrp="1"/>
          </p:cNvSpPr>
          <p:nvPr>
            <p:ph sz="quarter" idx="4294967295"/>
          </p:nvPr>
        </p:nvSpPr>
        <p:spPr>
          <a:xfrm>
            <a:off x="611560" y="1166813"/>
            <a:ext cx="8229600" cy="4068762"/>
          </a:xfrm>
        </p:spPr>
        <p:txBody>
          <a:bodyPr/>
          <a:lstStyle/>
          <a:p>
            <a:pPr marL="0" indent="0">
              <a:lnSpc>
                <a:spcPct val="100000"/>
              </a:lnSpc>
              <a:buNone/>
            </a:pPr>
            <a:r>
              <a:rPr lang="en-GB" altLang="en-US" sz="1800" b="1" dirty="0"/>
              <a:t>Fair value and costs of carry</a:t>
            </a:r>
          </a:p>
          <a:p>
            <a:pPr marL="0" indent="0">
              <a:lnSpc>
                <a:spcPct val="100000"/>
              </a:lnSpc>
              <a:buNone/>
            </a:pPr>
            <a:endParaRPr lang="en-GB" altLang="en-US" sz="1800" dirty="0"/>
          </a:p>
          <a:p>
            <a:pPr lvl="1">
              <a:lnSpc>
                <a:spcPct val="100000"/>
              </a:lnSpc>
            </a:pPr>
            <a:r>
              <a:rPr lang="en-GB" altLang="en-US" sz="1800" dirty="0"/>
              <a:t>Imagine you are asked to quote someone a price for delivering a tonne of Cocoa in 3mth’s time. How would you determine the 3-month delivery price? You could:</a:t>
            </a:r>
          </a:p>
          <a:p>
            <a:pPr lvl="2">
              <a:lnSpc>
                <a:spcPct val="100000"/>
              </a:lnSpc>
            </a:pPr>
            <a:r>
              <a:rPr lang="en-GB" altLang="en-US" sz="1800" dirty="0"/>
              <a:t>Make an educated guess</a:t>
            </a:r>
          </a:p>
          <a:p>
            <a:pPr lvl="2">
              <a:lnSpc>
                <a:spcPct val="100000"/>
              </a:lnSpc>
            </a:pPr>
            <a:r>
              <a:rPr lang="en-GB" altLang="en-US" sz="1800" dirty="0"/>
              <a:t>Buy the asset now and hold it until the delivery date (the less risky choice)</a:t>
            </a:r>
          </a:p>
          <a:p>
            <a:pPr>
              <a:lnSpc>
                <a:spcPct val="100000"/>
              </a:lnSpc>
            </a:pPr>
            <a:endParaRPr lang="en-GB" altLang="en-US" sz="1800" dirty="0"/>
          </a:p>
          <a:p>
            <a:pPr marL="0" indent="0">
              <a:lnSpc>
                <a:spcPct val="100000"/>
              </a:lnSpc>
              <a:buNone/>
            </a:pPr>
            <a:r>
              <a:rPr lang="en-GB" altLang="en-US" sz="1800" dirty="0"/>
              <a:t>In the second instance you would need to know:</a:t>
            </a:r>
          </a:p>
          <a:p>
            <a:pPr marL="0" indent="0">
              <a:lnSpc>
                <a:spcPct val="100000"/>
              </a:lnSpc>
              <a:buNone/>
            </a:pPr>
            <a:endParaRPr lang="en-GB" altLang="en-US" sz="1800" dirty="0"/>
          </a:p>
          <a:p>
            <a:pPr lvl="1">
              <a:lnSpc>
                <a:spcPct val="100000"/>
              </a:lnSpc>
            </a:pPr>
            <a:r>
              <a:rPr lang="en-GB" altLang="en-US" sz="1800" dirty="0"/>
              <a:t>The price of the asset now (cash price)</a:t>
            </a:r>
          </a:p>
          <a:p>
            <a:pPr lvl="1">
              <a:lnSpc>
                <a:spcPct val="100000"/>
              </a:lnSpc>
            </a:pPr>
            <a:r>
              <a:rPr lang="en-GB" altLang="en-US" sz="1800" dirty="0"/>
              <a:t>Your costs of holding the asset until delivery</a:t>
            </a:r>
          </a:p>
          <a:p>
            <a:pPr lvl="1">
              <a:lnSpc>
                <a:spcPct val="100000"/>
              </a:lnSpc>
            </a:pPr>
            <a:r>
              <a:rPr lang="en-GB" altLang="en-US" sz="1800" dirty="0"/>
              <a:t>Any benefits obtained from holding the asset until delivery</a:t>
            </a:r>
          </a:p>
          <a:p>
            <a:pPr lvl="1">
              <a:lnSpc>
                <a:spcPct val="100000"/>
              </a:lnSpc>
            </a:pPr>
            <a:endParaRPr lang="en-GB" altLang="en-US" sz="1800" dirty="0"/>
          </a:p>
          <a:p>
            <a:pPr marL="0" indent="0">
              <a:lnSpc>
                <a:spcPct val="100000"/>
              </a:lnSpc>
              <a:buNone/>
            </a:pPr>
            <a:r>
              <a:rPr lang="en-GB" altLang="en-US" sz="1800" dirty="0"/>
              <a:t>		Fair value = Cash cost + Cost of carry - Benefits of carry</a:t>
            </a:r>
          </a:p>
          <a:p>
            <a:pPr>
              <a:lnSpc>
                <a:spcPct val="100000"/>
              </a:lnSpc>
            </a:pPr>
            <a:endParaRPr lang="en-GB" altLang="en-US" sz="1800" dirty="0"/>
          </a:p>
          <a:p>
            <a:pPr>
              <a:lnSpc>
                <a:spcPct val="100000"/>
              </a:lnSpc>
            </a:pPr>
            <a:endParaRPr lang="en-GB" altLang="en-US" sz="1800" dirty="0"/>
          </a:p>
        </p:txBody>
      </p:sp>
    </p:spTree>
    <p:extLst>
      <p:ext uri="{BB962C8B-B14F-4D97-AF65-F5344CB8AC3E}">
        <p14:creationId xmlns:p14="http://schemas.microsoft.com/office/powerpoint/2010/main" val="1364435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p:cNvSpPr>
            <a:spLocks noGrp="1"/>
          </p:cNvSpPr>
          <p:nvPr>
            <p:ph type="title"/>
          </p:nvPr>
        </p:nvSpPr>
        <p:spPr/>
        <p:txBody>
          <a:bodyPr/>
          <a:lstStyle/>
          <a:p>
            <a:r>
              <a:rPr lang="en-GB" altLang="en-US" dirty="0"/>
              <a:t>Further Uses of Futures: Portfolio Hedging</a:t>
            </a:r>
          </a:p>
        </p:txBody>
      </p:sp>
      <p:sp>
        <p:nvSpPr>
          <p:cNvPr id="74755" name="Rectangle 6"/>
          <p:cNvSpPr>
            <a:spLocks noGrp="1"/>
          </p:cNvSpPr>
          <p:nvPr>
            <p:ph sz="quarter" idx="4294967295"/>
          </p:nvPr>
        </p:nvSpPr>
        <p:spPr>
          <a:xfrm>
            <a:off x="599345" y="1124744"/>
            <a:ext cx="8229600" cy="4068762"/>
          </a:xfrm>
        </p:spPr>
        <p:txBody>
          <a:bodyPr/>
          <a:lstStyle/>
          <a:p>
            <a:pPr marL="0" indent="0">
              <a:lnSpc>
                <a:spcPct val="100000"/>
              </a:lnSpc>
              <a:buNone/>
            </a:pPr>
            <a:r>
              <a:rPr lang="en-GB" altLang="en-US" sz="1800" b="1" dirty="0"/>
              <a:t>Hedging with futures</a:t>
            </a:r>
          </a:p>
          <a:p>
            <a:pPr lvl="1">
              <a:lnSpc>
                <a:spcPct val="100000"/>
              </a:lnSpc>
            </a:pPr>
            <a:r>
              <a:rPr lang="en-GB" altLang="en-US" sz="1800" dirty="0"/>
              <a:t>Futures may be used to reduce the exposure to the risk of an underlying asset</a:t>
            </a:r>
          </a:p>
          <a:p>
            <a:pPr lvl="1">
              <a:lnSpc>
                <a:spcPct val="100000"/>
              </a:lnSpc>
            </a:pPr>
            <a:r>
              <a:rPr lang="en-GB" altLang="en-US" sz="1800" dirty="0"/>
              <a:t>There are two types of hedge:</a:t>
            </a:r>
          </a:p>
          <a:p>
            <a:pPr lvl="2">
              <a:lnSpc>
                <a:spcPct val="100000"/>
              </a:lnSpc>
            </a:pPr>
            <a:r>
              <a:rPr lang="en-GB" altLang="en-US" sz="1800" dirty="0"/>
              <a:t>1. </a:t>
            </a:r>
            <a:r>
              <a:rPr lang="en-GB" altLang="en-US" sz="1800" b="1" dirty="0"/>
              <a:t>Short hedge </a:t>
            </a:r>
            <a:r>
              <a:rPr lang="en-GB" altLang="en-US" sz="1800" dirty="0"/>
              <a:t>(aka producer’s/farmer’s hedge) where the owner of the asset sells a futures contract to reduce exposure.</a:t>
            </a:r>
          </a:p>
          <a:p>
            <a:pPr lvl="2">
              <a:lnSpc>
                <a:spcPct val="100000"/>
              </a:lnSpc>
            </a:pPr>
            <a:r>
              <a:rPr lang="en-GB" altLang="en-US" sz="1800" dirty="0"/>
              <a:t>2. </a:t>
            </a:r>
            <a:r>
              <a:rPr lang="en-GB" altLang="en-US" sz="1800" b="1" dirty="0"/>
              <a:t>Long hedge </a:t>
            </a:r>
            <a:r>
              <a:rPr lang="en-GB" altLang="en-US" sz="1800" dirty="0"/>
              <a:t>(aka consumer’s hedge) where the asset must be bought in the future. Here a futures contract is bought securing the price of the underlying.</a:t>
            </a:r>
          </a:p>
        </p:txBody>
      </p:sp>
    </p:spTree>
    <p:extLst>
      <p:ext uri="{BB962C8B-B14F-4D97-AF65-F5344CB8AC3E}">
        <p14:creationId xmlns:p14="http://schemas.microsoft.com/office/powerpoint/2010/main" val="25214509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1400175" y="1952625"/>
            <a:ext cx="65341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6803" name="Line 3"/>
          <p:cNvSpPr>
            <a:spLocks noChangeShapeType="1"/>
          </p:cNvSpPr>
          <p:nvPr/>
        </p:nvSpPr>
        <p:spPr bwMode="auto">
          <a:xfrm>
            <a:off x="1793875" y="2065338"/>
            <a:ext cx="0" cy="3294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6804" name="Line 4"/>
          <p:cNvSpPr>
            <a:spLocks noChangeShapeType="1"/>
          </p:cNvSpPr>
          <p:nvPr/>
        </p:nvSpPr>
        <p:spPr bwMode="auto">
          <a:xfrm>
            <a:off x="1793875" y="3641725"/>
            <a:ext cx="54816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6805" name="Text Box 5"/>
          <p:cNvSpPr txBox="1">
            <a:spLocks noChangeArrowheads="1"/>
          </p:cNvSpPr>
          <p:nvPr/>
        </p:nvSpPr>
        <p:spPr bwMode="auto">
          <a:xfrm rot="-5400000">
            <a:off x="379413" y="3421063"/>
            <a:ext cx="25066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b="1"/>
              <a:t>Loss	Profit</a:t>
            </a:r>
          </a:p>
        </p:txBody>
      </p:sp>
      <p:sp>
        <p:nvSpPr>
          <p:cNvPr id="76806" name="Text Box 6"/>
          <p:cNvSpPr txBox="1">
            <a:spLocks noChangeArrowheads="1"/>
          </p:cNvSpPr>
          <p:nvPr/>
        </p:nvSpPr>
        <p:spPr bwMode="auto">
          <a:xfrm>
            <a:off x="5354638" y="3641725"/>
            <a:ext cx="2019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ct val="50000"/>
              </a:spcBef>
            </a:pPr>
            <a:r>
              <a:rPr lang="en-GB" altLang="en-US"/>
              <a:t>Underlying price</a:t>
            </a:r>
          </a:p>
        </p:txBody>
      </p:sp>
      <p:sp>
        <p:nvSpPr>
          <p:cNvPr id="76807" name="Line 7"/>
          <p:cNvSpPr>
            <a:spLocks noChangeShapeType="1"/>
          </p:cNvSpPr>
          <p:nvPr/>
        </p:nvSpPr>
        <p:spPr bwMode="auto">
          <a:xfrm rot="2700000" flipH="1" flipV="1">
            <a:off x="2151857" y="3644106"/>
            <a:ext cx="4567238" cy="9525"/>
          </a:xfrm>
          <a:prstGeom prst="line">
            <a:avLst/>
          </a:prstGeom>
          <a:noFill/>
          <a:ln w="28575">
            <a:solidFill>
              <a:schemeClr val="accent1"/>
            </a:solidFill>
            <a:prstDash val="lgDash"/>
            <a:round/>
            <a:headEnd/>
            <a:tailEnd/>
          </a:ln>
          <a:extLst>
            <a:ext uri="{909E8E84-426E-40DD-AFC4-6F175D3DCCD1}">
              <a14:hiddenFill xmlns:a14="http://schemas.microsoft.com/office/drawing/2010/main">
                <a:noFill/>
              </a14:hiddenFill>
            </a:ext>
          </a:extLst>
        </p:spPr>
        <p:txBody>
          <a:bodyPr/>
          <a:lstStyle/>
          <a:p>
            <a:endParaRPr lang="en-GB"/>
          </a:p>
        </p:txBody>
      </p:sp>
      <p:sp>
        <p:nvSpPr>
          <p:cNvPr id="76808" name="Text Box 8"/>
          <p:cNvSpPr txBox="1">
            <a:spLocks noChangeArrowheads="1"/>
          </p:cNvSpPr>
          <p:nvPr/>
        </p:nvSpPr>
        <p:spPr bwMode="auto">
          <a:xfrm>
            <a:off x="2740025" y="1611313"/>
            <a:ext cx="2130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t>Short underlying</a:t>
            </a:r>
          </a:p>
        </p:txBody>
      </p:sp>
      <p:sp>
        <p:nvSpPr>
          <p:cNvPr id="76809" name="Rectangle 14"/>
          <p:cNvSpPr>
            <a:spLocks noGrp="1"/>
          </p:cNvSpPr>
          <p:nvPr>
            <p:ph type="title"/>
          </p:nvPr>
        </p:nvSpPr>
        <p:spPr/>
        <p:txBody>
          <a:bodyPr/>
          <a:lstStyle/>
          <a:p>
            <a:r>
              <a:rPr lang="en-GB" altLang="en-US"/>
              <a:t>Long Hedge</a:t>
            </a:r>
          </a:p>
        </p:txBody>
      </p:sp>
      <p:sp>
        <p:nvSpPr>
          <p:cNvPr id="76810" name="Line 11"/>
          <p:cNvSpPr>
            <a:spLocks noChangeShapeType="1"/>
          </p:cNvSpPr>
          <p:nvPr/>
        </p:nvSpPr>
        <p:spPr bwMode="auto">
          <a:xfrm flipV="1">
            <a:off x="2916238" y="2060575"/>
            <a:ext cx="3240087" cy="3168650"/>
          </a:xfrm>
          <a:prstGeom prst="line">
            <a:avLst/>
          </a:prstGeom>
          <a:noFill/>
          <a:ln w="25400">
            <a:solidFill>
              <a:srgbClr val="CC00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6811" name="Text Box 12"/>
          <p:cNvSpPr txBox="1">
            <a:spLocks noChangeArrowheads="1"/>
          </p:cNvSpPr>
          <p:nvPr/>
        </p:nvSpPr>
        <p:spPr bwMode="auto">
          <a:xfrm>
            <a:off x="6164263" y="1703388"/>
            <a:ext cx="18208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t>Long future</a:t>
            </a:r>
          </a:p>
        </p:txBody>
      </p:sp>
    </p:spTree>
    <p:extLst>
      <p:ext uri="{BB962C8B-B14F-4D97-AF65-F5344CB8AC3E}">
        <p14:creationId xmlns:p14="http://schemas.microsoft.com/office/powerpoint/2010/main" val="26999278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1400175" y="1952625"/>
            <a:ext cx="65341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8851" name="Line 3"/>
          <p:cNvSpPr>
            <a:spLocks noChangeShapeType="1"/>
          </p:cNvSpPr>
          <p:nvPr/>
        </p:nvSpPr>
        <p:spPr bwMode="auto">
          <a:xfrm>
            <a:off x="1800225" y="2065338"/>
            <a:ext cx="0" cy="3294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8852" name="Line 4"/>
          <p:cNvSpPr>
            <a:spLocks noChangeShapeType="1"/>
          </p:cNvSpPr>
          <p:nvPr/>
        </p:nvSpPr>
        <p:spPr bwMode="auto">
          <a:xfrm>
            <a:off x="1793875" y="3641725"/>
            <a:ext cx="54816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8853" name="Text Box 5"/>
          <p:cNvSpPr txBox="1">
            <a:spLocks noChangeArrowheads="1"/>
          </p:cNvSpPr>
          <p:nvPr/>
        </p:nvSpPr>
        <p:spPr bwMode="auto">
          <a:xfrm rot="-5400000">
            <a:off x="379413" y="3421063"/>
            <a:ext cx="25066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b="1"/>
              <a:t>Loss	Profit</a:t>
            </a:r>
          </a:p>
        </p:txBody>
      </p:sp>
      <p:sp>
        <p:nvSpPr>
          <p:cNvPr id="78854" name="Text Box 6"/>
          <p:cNvSpPr txBox="1">
            <a:spLocks noChangeArrowheads="1"/>
          </p:cNvSpPr>
          <p:nvPr/>
        </p:nvSpPr>
        <p:spPr bwMode="auto">
          <a:xfrm>
            <a:off x="5335588" y="3641725"/>
            <a:ext cx="2019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ct val="50000"/>
              </a:spcBef>
            </a:pPr>
            <a:r>
              <a:rPr lang="en-GB" altLang="en-US"/>
              <a:t>Underlying price</a:t>
            </a:r>
          </a:p>
        </p:txBody>
      </p:sp>
      <p:sp>
        <p:nvSpPr>
          <p:cNvPr id="78855" name="Line 7"/>
          <p:cNvSpPr>
            <a:spLocks noChangeShapeType="1"/>
          </p:cNvSpPr>
          <p:nvPr/>
        </p:nvSpPr>
        <p:spPr bwMode="auto">
          <a:xfrm rot="18900000" flipV="1">
            <a:off x="2151857" y="3644106"/>
            <a:ext cx="4567238" cy="9525"/>
          </a:xfrm>
          <a:prstGeom prst="line">
            <a:avLst/>
          </a:prstGeom>
          <a:noFill/>
          <a:ln w="28575">
            <a:solidFill>
              <a:schemeClr val="accent1"/>
            </a:solidFill>
            <a:prstDash val="lgDash"/>
            <a:round/>
            <a:headEnd/>
            <a:tailEnd/>
          </a:ln>
          <a:extLst>
            <a:ext uri="{909E8E84-426E-40DD-AFC4-6F175D3DCCD1}">
              <a14:hiddenFill xmlns:a14="http://schemas.microsoft.com/office/drawing/2010/main">
                <a:noFill/>
              </a14:hiddenFill>
            </a:ext>
          </a:extLst>
        </p:spPr>
        <p:txBody>
          <a:bodyPr/>
          <a:lstStyle/>
          <a:p>
            <a:endParaRPr lang="en-GB"/>
          </a:p>
        </p:txBody>
      </p:sp>
      <p:sp>
        <p:nvSpPr>
          <p:cNvPr id="78856" name="Text Box 8"/>
          <p:cNvSpPr txBox="1">
            <a:spLocks noChangeArrowheads="1"/>
          </p:cNvSpPr>
          <p:nvPr/>
        </p:nvSpPr>
        <p:spPr bwMode="auto">
          <a:xfrm>
            <a:off x="6053138" y="1716088"/>
            <a:ext cx="23955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t>Long underlying</a:t>
            </a:r>
          </a:p>
        </p:txBody>
      </p:sp>
      <p:sp>
        <p:nvSpPr>
          <p:cNvPr id="78857" name="Rectangle 14"/>
          <p:cNvSpPr>
            <a:spLocks noGrp="1"/>
          </p:cNvSpPr>
          <p:nvPr>
            <p:ph type="title"/>
          </p:nvPr>
        </p:nvSpPr>
        <p:spPr/>
        <p:txBody>
          <a:bodyPr/>
          <a:lstStyle/>
          <a:p>
            <a:r>
              <a:rPr lang="en-GB" altLang="en-US"/>
              <a:t>Short Hedge</a:t>
            </a:r>
          </a:p>
        </p:txBody>
      </p:sp>
      <p:sp>
        <p:nvSpPr>
          <p:cNvPr id="78858" name="Line 11"/>
          <p:cNvSpPr>
            <a:spLocks noChangeShapeType="1"/>
          </p:cNvSpPr>
          <p:nvPr/>
        </p:nvSpPr>
        <p:spPr bwMode="auto">
          <a:xfrm>
            <a:off x="2700338" y="1989138"/>
            <a:ext cx="3384550" cy="3240087"/>
          </a:xfrm>
          <a:prstGeom prst="line">
            <a:avLst/>
          </a:prstGeom>
          <a:noFill/>
          <a:ln w="25400">
            <a:solidFill>
              <a:srgbClr val="CC0033"/>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8859" name="Text Box 12"/>
          <p:cNvSpPr txBox="1">
            <a:spLocks noChangeArrowheads="1"/>
          </p:cNvSpPr>
          <p:nvPr/>
        </p:nvSpPr>
        <p:spPr bwMode="auto">
          <a:xfrm>
            <a:off x="2601913" y="1592263"/>
            <a:ext cx="2065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GB" altLang="en-US"/>
              <a:t>Short future</a:t>
            </a:r>
          </a:p>
        </p:txBody>
      </p:sp>
    </p:spTree>
    <p:extLst>
      <p:ext uri="{BB962C8B-B14F-4D97-AF65-F5344CB8AC3E}">
        <p14:creationId xmlns:p14="http://schemas.microsoft.com/office/powerpoint/2010/main" val="3364258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1AC2EC80-429C-47B5-8AC4-5FBFF94848C1}"/>
              </a:ext>
            </a:extLst>
          </p:cNvPr>
          <p:cNvSpPr>
            <a:spLocks noGrp="1"/>
          </p:cNvSpPr>
          <p:nvPr>
            <p:ph type="title"/>
          </p:nvPr>
        </p:nvSpPr>
        <p:spPr>
          <a:xfrm>
            <a:off x="612775" y="260350"/>
            <a:ext cx="8062913" cy="720725"/>
          </a:xfrm>
        </p:spPr>
        <p:txBody>
          <a:bodyPr/>
          <a:lstStyle/>
          <a:p>
            <a:r>
              <a:rPr altLang="en-US">
                <a:ea typeface="ヒラギノ角ゴ Pro W3" pitchFamily="-112" charset="-128"/>
              </a:rPr>
              <a:t>Options</a:t>
            </a:r>
          </a:p>
        </p:txBody>
      </p:sp>
      <p:sp>
        <p:nvSpPr>
          <p:cNvPr id="69635" name="Content Placeholder 2">
            <a:extLst>
              <a:ext uri="{FF2B5EF4-FFF2-40B4-BE49-F238E27FC236}">
                <a16:creationId xmlns:a16="http://schemas.microsoft.com/office/drawing/2014/main" id="{F75E8CC2-65BC-413F-BC6E-8C044EBA705A}"/>
              </a:ext>
            </a:extLst>
          </p:cNvPr>
          <p:cNvSpPr>
            <a:spLocks noGrp="1"/>
          </p:cNvSpPr>
          <p:nvPr>
            <p:ph idx="1"/>
          </p:nvPr>
        </p:nvSpPr>
        <p:spPr>
          <a:xfrm>
            <a:off x="611188" y="1268413"/>
            <a:ext cx="8032750" cy="4525962"/>
          </a:xfrm>
        </p:spPr>
        <p:txBody>
          <a:bodyPr/>
          <a:lstStyle/>
          <a:p>
            <a:pPr marL="0" indent="0">
              <a:buNone/>
            </a:pPr>
            <a:r>
              <a:rPr lang="en-GB" altLang="en-US" sz="1800" dirty="0">
                <a:ea typeface="ヒラギノ角ゴ Pro W3" pitchFamily="-112" charset="-128"/>
              </a:rPr>
              <a:t>What is an option?</a:t>
            </a:r>
          </a:p>
          <a:p>
            <a:pPr lvl="1"/>
            <a:r>
              <a:rPr lang="en-GB" altLang="en-US" sz="1800" dirty="0">
                <a:ea typeface="ヒラギノ角ゴ Pro W3" pitchFamily="-112" charset="-128"/>
              </a:rPr>
              <a:t>A contract for the right to buy or sell:</a:t>
            </a:r>
          </a:p>
          <a:p>
            <a:pPr lvl="2">
              <a:buFont typeface="Wingdings" panose="05000000000000000000" pitchFamily="2" charset="2"/>
              <a:buChar char="§"/>
            </a:pPr>
            <a:r>
              <a:rPr lang="en-GB" altLang="en-US" sz="1800" dirty="0">
                <a:ea typeface="ヒラギノ角ゴ Pro W3" pitchFamily="-112" charset="-128"/>
              </a:rPr>
              <a:t>a particular asset;</a:t>
            </a:r>
          </a:p>
          <a:p>
            <a:pPr lvl="2">
              <a:buFont typeface="Wingdings" panose="05000000000000000000" pitchFamily="2" charset="2"/>
              <a:buChar char="§"/>
            </a:pPr>
            <a:r>
              <a:rPr lang="en-GB" altLang="en-US" sz="1800" dirty="0">
                <a:ea typeface="ヒラギノ角ゴ Pro W3" pitchFamily="-112" charset="-128"/>
              </a:rPr>
              <a:t>at a particular price;</a:t>
            </a:r>
          </a:p>
          <a:p>
            <a:pPr lvl="2">
              <a:buFont typeface="Wingdings" panose="05000000000000000000" pitchFamily="2" charset="2"/>
              <a:buChar char="§"/>
            </a:pPr>
            <a:r>
              <a:rPr lang="en-GB" altLang="en-US" sz="1800" dirty="0">
                <a:ea typeface="ヒラギノ角ゴ Pro W3" pitchFamily="-112" charset="-128"/>
              </a:rPr>
              <a:t>on or before a specified date</a:t>
            </a:r>
          </a:p>
          <a:p>
            <a:pPr marL="0" indent="0">
              <a:lnSpc>
                <a:spcPct val="100000"/>
              </a:lnSpc>
              <a:buNone/>
            </a:pPr>
            <a:r>
              <a:rPr lang="en-GB" altLang="en-US" sz="1800" dirty="0"/>
              <a:t>Options may be</a:t>
            </a:r>
          </a:p>
          <a:p>
            <a:pPr lvl="1">
              <a:lnSpc>
                <a:spcPct val="100000"/>
              </a:lnSpc>
            </a:pPr>
            <a:r>
              <a:rPr lang="en-GB" altLang="en-US" sz="1800" b="1" dirty="0"/>
              <a:t>Vanilla</a:t>
            </a:r>
            <a:r>
              <a:rPr lang="en-GB" altLang="en-US" sz="1800" dirty="0"/>
              <a:t> – the option is plain and ordinary</a:t>
            </a:r>
          </a:p>
          <a:p>
            <a:pPr lvl="1">
              <a:lnSpc>
                <a:spcPct val="100000"/>
              </a:lnSpc>
            </a:pPr>
            <a:r>
              <a:rPr lang="en-GB" altLang="en-US" sz="1800" b="1" dirty="0"/>
              <a:t>Exotic</a:t>
            </a:r>
            <a:r>
              <a:rPr lang="en-GB" altLang="en-US" sz="1800" dirty="0"/>
              <a:t> – the option has a special feature not usually associated with a vanilla option</a:t>
            </a:r>
          </a:p>
          <a:p>
            <a:pPr lvl="1">
              <a:lnSpc>
                <a:spcPct val="100000"/>
              </a:lnSpc>
            </a:pPr>
            <a:endParaRPr lang="en-GB" altLang="en-US" sz="1800" dirty="0"/>
          </a:p>
          <a:p>
            <a:pPr marL="0" indent="0">
              <a:lnSpc>
                <a:spcPct val="100000"/>
              </a:lnSpc>
              <a:buNone/>
            </a:pPr>
            <a:r>
              <a:rPr lang="en-GB" altLang="en-US" sz="1800" dirty="0"/>
              <a:t>Vanilla options</a:t>
            </a:r>
          </a:p>
          <a:p>
            <a:pPr lvl="1">
              <a:lnSpc>
                <a:spcPct val="100000"/>
              </a:lnSpc>
            </a:pPr>
            <a:r>
              <a:rPr lang="en-GB" altLang="en-US" sz="1800" dirty="0"/>
              <a:t>Call options – the right to buy</a:t>
            </a:r>
          </a:p>
          <a:p>
            <a:pPr lvl="1">
              <a:lnSpc>
                <a:spcPct val="100000"/>
              </a:lnSpc>
            </a:pPr>
            <a:r>
              <a:rPr lang="en-GB" altLang="en-US" sz="1800" dirty="0"/>
              <a:t>Put options – the right to sell</a:t>
            </a:r>
          </a:p>
          <a:p>
            <a:pPr marL="914400" lvl="2" indent="0">
              <a:buNone/>
            </a:pPr>
            <a:endParaRPr lang="en-GB" altLang="en-US" sz="1800" dirty="0">
              <a:ea typeface="ヒラギノ角ゴ Pro W3" pitchFamily="-112" charset="-128"/>
            </a:endParaRPr>
          </a:p>
        </p:txBody>
      </p:sp>
    </p:spTree>
    <p:extLst>
      <p:ext uri="{BB962C8B-B14F-4D97-AF65-F5344CB8AC3E}">
        <p14:creationId xmlns:p14="http://schemas.microsoft.com/office/powerpoint/2010/main" val="13597332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5">
            <a:extLst>
              <a:ext uri="{FF2B5EF4-FFF2-40B4-BE49-F238E27FC236}">
                <a16:creationId xmlns:a16="http://schemas.microsoft.com/office/drawing/2014/main" id="{6BB7820F-DB38-43B7-A342-F5886A9A457F}"/>
              </a:ext>
            </a:extLst>
          </p:cNvPr>
          <p:cNvSpPr>
            <a:spLocks noGrp="1"/>
          </p:cNvSpPr>
          <p:nvPr>
            <p:ph type="title"/>
          </p:nvPr>
        </p:nvSpPr>
        <p:spPr>
          <a:xfrm>
            <a:off x="612775" y="260350"/>
            <a:ext cx="8062913" cy="720725"/>
          </a:xfrm>
        </p:spPr>
        <p:txBody>
          <a:bodyPr/>
          <a:lstStyle/>
          <a:p>
            <a:r>
              <a:rPr altLang="en-US">
                <a:ea typeface="ヒラギノ角ゴ Pro W3" pitchFamily="-112" charset="-128"/>
              </a:rPr>
              <a:t>Options: Profit &amp; Loss Profiles</a:t>
            </a:r>
            <a:endParaRPr lang="en-US" altLang="en-US">
              <a:ea typeface="ヒラギノ角ゴ Pro W3" pitchFamily="-112" charset="-128"/>
            </a:endParaRPr>
          </a:p>
        </p:txBody>
      </p:sp>
      <p:sp>
        <p:nvSpPr>
          <p:cNvPr id="71683" name="Content Placeholder 2">
            <a:extLst>
              <a:ext uri="{FF2B5EF4-FFF2-40B4-BE49-F238E27FC236}">
                <a16:creationId xmlns:a16="http://schemas.microsoft.com/office/drawing/2014/main" id="{41044CF6-0719-4FD4-B9EC-DA9F101EF849}"/>
              </a:ext>
            </a:extLst>
          </p:cNvPr>
          <p:cNvSpPr>
            <a:spLocks noGrp="1"/>
          </p:cNvSpPr>
          <p:nvPr>
            <p:ph idx="1"/>
          </p:nvPr>
        </p:nvSpPr>
        <p:spPr>
          <a:xfrm>
            <a:off x="611188" y="1268413"/>
            <a:ext cx="8032750" cy="4525962"/>
          </a:xfrm>
        </p:spPr>
        <p:txBody>
          <a:bodyPr/>
          <a:lstStyle/>
          <a:p>
            <a:pPr marL="457200" lvl="1" indent="0">
              <a:buNone/>
            </a:pPr>
            <a:r>
              <a:rPr lang="en-GB" altLang="en-US" sz="1800" b="1" dirty="0">
                <a:ea typeface="ヒラギノ角ゴ Pro W3" pitchFamily="-112" charset="-128"/>
              </a:rPr>
              <a:t>Long call</a:t>
            </a:r>
          </a:p>
          <a:p>
            <a:pPr lvl="2">
              <a:buFont typeface="Calibri" panose="020F0502020204030204" pitchFamily="34" charset="0"/>
              <a:buChar char="―"/>
            </a:pPr>
            <a:r>
              <a:rPr lang="en-GB" altLang="en-US" sz="1800" dirty="0">
                <a:ea typeface="ヒラギノ角ゴ Pro W3" pitchFamily="-112" charset="-128"/>
              </a:rPr>
              <a:t>Long a March ABC plc 700 call @ 30</a:t>
            </a:r>
          </a:p>
          <a:p>
            <a:pPr marL="914400" lvl="2" indent="0">
              <a:buNone/>
            </a:pPr>
            <a:endParaRPr lang="en-GB" altLang="en-US" dirty="0">
              <a:ea typeface="ヒラギノ角ゴ Pro W3" pitchFamily="-112" charset="-128"/>
            </a:endParaRPr>
          </a:p>
        </p:txBody>
      </p:sp>
      <p:pic>
        <p:nvPicPr>
          <p:cNvPr id="71684" name="Picture 5">
            <a:extLst>
              <a:ext uri="{FF2B5EF4-FFF2-40B4-BE49-F238E27FC236}">
                <a16:creationId xmlns:a16="http://schemas.microsoft.com/office/drawing/2014/main" id="{893B47D1-B7B2-4F0F-AA95-983E7A67D7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763838"/>
            <a:ext cx="590550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1259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4">
            <a:extLst>
              <a:ext uri="{FF2B5EF4-FFF2-40B4-BE49-F238E27FC236}">
                <a16:creationId xmlns:a16="http://schemas.microsoft.com/office/drawing/2014/main" id="{18DC4B7A-C825-4FE4-B37B-DE6A87DD4984}"/>
              </a:ext>
            </a:extLst>
          </p:cNvPr>
          <p:cNvSpPr>
            <a:spLocks noGrp="1"/>
          </p:cNvSpPr>
          <p:nvPr>
            <p:ph type="title"/>
          </p:nvPr>
        </p:nvSpPr>
        <p:spPr>
          <a:xfrm>
            <a:off x="612775" y="260350"/>
            <a:ext cx="8062913" cy="720725"/>
          </a:xfrm>
        </p:spPr>
        <p:txBody>
          <a:bodyPr/>
          <a:lstStyle/>
          <a:p>
            <a:endParaRPr altLang="en-US">
              <a:ea typeface="ヒラギノ角ゴ Pro W3" pitchFamily="-112" charset="-128"/>
            </a:endParaRPr>
          </a:p>
        </p:txBody>
      </p:sp>
      <p:sp>
        <p:nvSpPr>
          <p:cNvPr id="73731" name="Content Placeholder 2">
            <a:extLst>
              <a:ext uri="{FF2B5EF4-FFF2-40B4-BE49-F238E27FC236}">
                <a16:creationId xmlns:a16="http://schemas.microsoft.com/office/drawing/2014/main" id="{5E622EAF-D7F5-4502-B833-459ED295C0C0}"/>
              </a:ext>
            </a:extLst>
          </p:cNvPr>
          <p:cNvSpPr>
            <a:spLocks noGrp="1"/>
          </p:cNvSpPr>
          <p:nvPr>
            <p:ph idx="1"/>
          </p:nvPr>
        </p:nvSpPr>
        <p:spPr>
          <a:xfrm>
            <a:off x="611188" y="1268413"/>
            <a:ext cx="8032750" cy="4525962"/>
          </a:xfrm>
        </p:spPr>
        <p:txBody>
          <a:bodyPr/>
          <a:lstStyle/>
          <a:p>
            <a:pPr marL="457200" lvl="1" indent="0">
              <a:buNone/>
            </a:pPr>
            <a:r>
              <a:rPr lang="en-GB" altLang="en-US" sz="1800" b="1" dirty="0">
                <a:ea typeface="ヒラギノ角ゴ Pro W3" pitchFamily="-112" charset="-128"/>
              </a:rPr>
              <a:t>Short call</a:t>
            </a:r>
          </a:p>
          <a:p>
            <a:pPr lvl="2">
              <a:buFont typeface="Calibri" panose="020F0502020204030204" pitchFamily="34" charset="0"/>
              <a:buChar char="―"/>
            </a:pPr>
            <a:r>
              <a:rPr lang="en-GB" altLang="en-US" sz="1800" dirty="0">
                <a:ea typeface="ヒラギノ角ゴ Pro W3" pitchFamily="-112" charset="-128"/>
              </a:rPr>
              <a:t>Short a March ABC plc 700 call @ 30</a:t>
            </a:r>
          </a:p>
          <a:p>
            <a:pPr lvl="2"/>
            <a:endParaRPr lang="en-GB" altLang="en-US" dirty="0">
              <a:ea typeface="ヒラギノ角ゴ Pro W3" pitchFamily="-112" charset="-128"/>
            </a:endParaRPr>
          </a:p>
        </p:txBody>
      </p:sp>
      <p:pic>
        <p:nvPicPr>
          <p:cNvPr id="73732" name="Picture 5">
            <a:extLst>
              <a:ext uri="{FF2B5EF4-FFF2-40B4-BE49-F238E27FC236}">
                <a16:creationId xmlns:a16="http://schemas.microsoft.com/office/drawing/2014/main" id="{647FC82E-DC89-40E4-9D14-69659033B4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88" y="2763838"/>
            <a:ext cx="5683250" cy="354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65769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46">
            <a:extLst>
              <a:ext uri="{FF2B5EF4-FFF2-40B4-BE49-F238E27FC236}">
                <a16:creationId xmlns:a16="http://schemas.microsoft.com/office/drawing/2014/main" id="{25F6D04D-6AA3-4905-97D9-3DE9D6063543}"/>
              </a:ext>
            </a:extLst>
          </p:cNvPr>
          <p:cNvCxnSpPr>
            <a:cxnSpLocks noChangeShapeType="1"/>
          </p:cNvCxnSpPr>
          <p:nvPr/>
        </p:nvCxnSpPr>
        <p:spPr bwMode="auto">
          <a:xfrm>
            <a:off x="1692275" y="3429000"/>
            <a:ext cx="5759450" cy="0"/>
          </a:xfrm>
          <a:prstGeom prst="line">
            <a:avLst/>
          </a:prstGeom>
          <a:noFill/>
          <a:ln w="9525" algn="ctr">
            <a:solidFill>
              <a:schemeClr val="bg1">
                <a:lumMod val="75000"/>
              </a:schemeClr>
            </a:solidFill>
            <a:round/>
            <a:headEnd/>
            <a:tailEnd/>
          </a:ln>
        </p:spPr>
      </p:cxnSp>
      <p:cxnSp>
        <p:nvCxnSpPr>
          <p:cNvPr id="18" name="Straight Connector 46">
            <a:extLst>
              <a:ext uri="{FF2B5EF4-FFF2-40B4-BE49-F238E27FC236}">
                <a16:creationId xmlns:a16="http://schemas.microsoft.com/office/drawing/2014/main" id="{729488CF-B51A-4972-A67B-7B49AB564399}"/>
              </a:ext>
            </a:extLst>
          </p:cNvPr>
          <p:cNvCxnSpPr>
            <a:cxnSpLocks noChangeShapeType="1"/>
          </p:cNvCxnSpPr>
          <p:nvPr/>
        </p:nvCxnSpPr>
        <p:spPr bwMode="auto">
          <a:xfrm>
            <a:off x="1692275" y="2708275"/>
            <a:ext cx="5759450" cy="0"/>
          </a:xfrm>
          <a:prstGeom prst="line">
            <a:avLst/>
          </a:prstGeom>
          <a:noFill/>
          <a:ln w="9525" algn="ctr">
            <a:solidFill>
              <a:schemeClr val="bg1">
                <a:lumMod val="75000"/>
              </a:schemeClr>
            </a:solidFill>
            <a:round/>
            <a:headEnd/>
            <a:tailEnd/>
          </a:ln>
        </p:spPr>
      </p:cxnSp>
      <p:cxnSp>
        <p:nvCxnSpPr>
          <p:cNvPr id="19" name="Straight Connector 46">
            <a:extLst>
              <a:ext uri="{FF2B5EF4-FFF2-40B4-BE49-F238E27FC236}">
                <a16:creationId xmlns:a16="http://schemas.microsoft.com/office/drawing/2014/main" id="{457D0F44-7814-4C08-A815-5C9C131C80FB}"/>
              </a:ext>
            </a:extLst>
          </p:cNvPr>
          <p:cNvCxnSpPr>
            <a:cxnSpLocks noChangeShapeType="1"/>
          </p:cNvCxnSpPr>
          <p:nvPr/>
        </p:nvCxnSpPr>
        <p:spPr bwMode="auto">
          <a:xfrm>
            <a:off x="1692275" y="1989138"/>
            <a:ext cx="5759450" cy="0"/>
          </a:xfrm>
          <a:prstGeom prst="line">
            <a:avLst/>
          </a:prstGeom>
          <a:noFill/>
          <a:ln w="9525" algn="ctr">
            <a:solidFill>
              <a:schemeClr val="bg1">
                <a:lumMod val="75000"/>
              </a:schemeClr>
            </a:solidFill>
            <a:round/>
            <a:headEnd/>
            <a:tailEnd/>
          </a:ln>
        </p:spPr>
      </p:cxnSp>
      <p:cxnSp>
        <p:nvCxnSpPr>
          <p:cNvPr id="20" name="Straight Connector 46">
            <a:extLst>
              <a:ext uri="{FF2B5EF4-FFF2-40B4-BE49-F238E27FC236}">
                <a16:creationId xmlns:a16="http://schemas.microsoft.com/office/drawing/2014/main" id="{4B339B63-2959-4EB4-AB5E-EDB99780F94C}"/>
              </a:ext>
            </a:extLst>
          </p:cNvPr>
          <p:cNvCxnSpPr>
            <a:cxnSpLocks noChangeShapeType="1"/>
          </p:cNvCxnSpPr>
          <p:nvPr/>
        </p:nvCxnSpPr>
        <p:spPr bwMode="auto">
          <a:xfrm>
            <a:off x="1692275" y="4868863"/>
            <a:ext cx="5759450" cy="0"/>
          </a:xfrm>
          <a:prstGeom prst="line">
            <a:avLst/>
          </a:prstGeom>
          <a:noFill/>
          <a:ln w="9525" algn="ctr">
            <a:solidFill>
              <a:schemeClr val="bg1">
                <a:lumMod val="75000"/>
              </a:schemeClr>
            </a:solidFill>
            <a:round/>
            <a:headEnd/>
            <a:tailEnd/>
          </a:ln>
        </p:spPr>
      </p:cxnSp>
      <p:cxnSp>
        <p:nvCxnSpPr>
          <p:cNvPr id="21" name="Straight Connector 46">
            <a:extLst>
              <a:ext uri="{FF2B5EF4-FFF2-40B4-BE49-F238E27FC236}">
                <a16:creationId xmlns:a16="http://schemas.microsoft.com/office/drawing/2014/main" id="{85D19F7A-5A8C-4906-A437-13A7EEA38A77}"/>
              </a:ext>
            </a:extLst>
          </p:cNvPr>
          <p:cNvCxnSpPr>
            <a:cxnSpLocks noChangeShapeType="1"/>
          </p:cNvCxnSpPr>
          <p:nvPr/>
        </p:nvCxnSpPr>
        <p:spPr bwMode="auto">
          <a:xfrm>
            <a:off x="1692275" y="5589588"/>
            <a:ext cx="5759450" cy="0"/>
          </a:xfrm>
          <a:prstGeom prst="line">
            <a:avLst/>
          </a:prstGeom>
          <a:noFill/>
          <a:ln w="9525" algn="ctr">
            <a:solidFill>
              <a:schemeClr val="bg1">
                <a:lumMod val="75000"/>
              </a:schemeClr>
            </a:solidFill>
            <a:round/>
            <a:headEnd/>
            <a:tailEnd/>
          </a:ln>
        </p:spPr>
      </p:cxnSp>
      <p:cxnSp>
        <p:nvCxnSpPr>
          <p:cNvPr id="22" name="Straight Connector 46">
            <a:extLst>
              <a:ext uri="{FF2B5EF4-FFF2-40B4-BE49-F238E27FC236}">
                <a16:creationId xmlns:a16="http://schemas.microsoft.com/office/drawing/2014/main" id="{F4517FA5-2D64-4614-837A-763AEBD55C27}"/>
              </a:ext>
            </a:extLst>
          </p:cNvPr>
          <p:cNvCxnSpPr>
            <a:cxnSpLocks noChangeShapeType="1"/>
          </p:cNvCxnSpPr>
          <p:nvPr/>
        </p:nvCxnSpPr>
        <p:spPr bwMode="auto">
          <a:xfrm>
            <a:off x="1692275" y="6308725"/>
            <a:ext cx="5759450" cy="0"/>
          </a:xfrm>
          <a:prstGeom prst="line">
            <a:avLst/>
          </a:prstGeom>
          <a:noFill/>
          <a:ln w="9525" algn="ctr">
            <a:solidFill>
              <a:schemeClr val="bg1">
                <a:lumMod val="75000"/>
              </a:schemeClr>
            </a:solidFill>
            <a:round/>
            <a:headEnd/>
            <a:tailEnd/>
          </a:ln>
        </p:spPr>
      </p:cxnSp>
      <p:cxnSp>
        <p:nvCxnSpPr>
          <p:cNvPr id="23" name="Straight Connector 41">
            <a:extLst>
              <a:ext uri="{FF2B5EF4-FFF2-40B4-BE49-F238E27FC236}">
                <a16:creationId xmlns:a16="http://schemas.microsoft.com/office/drawing/2014/main" id="{819836AF-8DE3-4AA6-9949-0A9970182CD1}"/>
              </a:ext>
            </a:extLst>
          </p:cNvPr>
          <p:cNvCxnSpPr>
            <a:cxnSpLocks noChangeShapeType="1"/>
          </p:cNvCxnSpPr>
          <p:nvPr/>
        </p:nvCxnSpPr>
        <p:spPr bwMode="auto">
          <a:xfrm>
            <a:off x="2411413" y="1773238"/>
            <a:ext cx="0" cy="4895850"/>
          </a:xfrm>
          <a:prstGeom prst="line">
            <a:avLst/>
          </a:prstGeom>
          <a:noFill/>
          <a:ln w="9525" algn="ctr">
            <a:solidFill>
              <a:schemeClr val="bg1">
                <a:lumMod val="75000"/>
              </a:schemeClr>
            </a:solidFill>
            <a:round/>
            <a:headEnd/>
            <a:tailEnd/>
          </a:ln>
        </p:spPr>
      </p:cxnSp>
      <p:cxnSp>
        <p:nvCxnSpPr>
          <p:cNvPr id="24" name="Straight Connector 41">
            <a:extLst>
              <a:ext uri="{FF2B5EF4-FFF2-40B4-BE49-F238E27FC236}">
                <a16:creationId xmlns:a16="http://schemas.microsoft.com/office/drawing/2014/main" id="{2474F477-D968-4CB5-A262-35F699AF6E07}"/>
              </a:ext>
            </a:extLst>
          </p:cNvPr>
          <p:cNvCxnSpPr>
            <a:cxnSpLocks noChangeShapeType="1"/>
          </p:cNvCxnSpPr>
          <p:nvPr/>
        </p:nvCxnSpPr>
        <p:spPr bwMode="auto">
          <a:xfrm>
            <a:off x="3132138" y="1773238"/>
            <a:ext cx="0" cy="4895850"/>
          </a:xfrm>
          <a:prstGeom prst="line">
            <a:avLst/>
          </a:prstGeom>
          <a:noFill/>
          <a:ln w="9525" algn="ctr">
            <a:solidFill>
              <a:schemeClr val="bg1">
                <a:lumMod val="75000"/>
              </a:schemeClr>
            </a:solidFill>
            <a:round/>
            <a:headEnd/>
            <a:tailEnd/>
          </a:ln>
        </p:spPr>
      </p:cxnSp>
      <p:cxnSp>
        <p:nvCxnSpPr>
          <p:cNvPr id="25" name="Straight Connector 41">
            <a:extLst>
              <a:ext uri="{FF2B5EF4-FFF2-40B4-BE49-F238E27FC236}">
                <a16:creationId xmlns:a16="http://schemas.microsoft.com/office/drawing/2014/main" id="{79A45154-48D9-4CB8-A9F2-59B40EDC1200}"/>
              </a:ext>
            </a:extLst>
          </p:cNvPr>
          <p:cNvCxnSpPr>
            <a:cxnSpLocks noChangeShapeType="1"/>
          </p:cNvCxnSpPr>
          <p:nvPr/>
        </p:nvCxnSpPr>
        <p:spPr bwMode="auto">
          <a:xfrm>
            <a:off x="3851275" y="1773238"/>
            <a:ext cx="0" cy="4895850"/>
          </a:xfrm>
          <a:prstGeom prst="line">
            <a:avLst/>
          </a:prstGeom>
          <a:noFill/>
          <a:ln w="9525" algn="ctr">
            <a:solidFill>
              <a:schemeClr val="bg1">
                <a:lumMod val="75000"/>
              </a:schemeClr>
            </a:solidFill>
            <a:round/>
            <a:headEnd/>
            <a:tailEnd/>
          </a:ln>
        </p:spPr>
      </p:cxnSp>
      <p:cxnSp>
        <p:nvCxnSpPr>
          <p:cNvPr id="26" name="Straight Connector 41">
            <a:extLst>
              <a:ext uri="{FF2B5EF4-FFF2-40B4-BE49-F238E27FC236}">
                <a16:creationId xmlns:a16="http://schemas.microsoft.com/office/drawing/2014/main" id="{70D8DCFD-55DA-4FF1-9D8C-EC1FE2110887}"/>
              </a:ext>
            </a:extLst>
          </p:cNvPr>
          <p:cNvCxnSpPr>
            <a:cxnSpLocks noChangeShapeType="1"/>
          </p:cNvCxnSpPr>
          <p:nvPr/>
        </p:nvCxnSpPr>
        <p:spPr bwMode="auto">
          <a:xfrm>
            <a:off x="4572000" y="1773238"/>
            <a:ext cx="0" cy="4895850"/>
          </a:xfrm>
          <a:prstGeom prst="line">
            <a:avLst/>
          </a:prstGeom>
          <a:noFill/>
          <a:ln w="9525" algn="ctr">
            <a:solidFill>
              <a:schemeClr val="bg1">
                <a:lumMod val="75000"/>
              </a:schemeClr>
            </a:solidFill>
            <a:round/>
            <a:headEnd/>
            <a:tailEnd/>
          </a:ln>
        </p:spPr>
      </p:cxnSp>
      <p:cxnSp>
        <p:nvCxnSpPr>
          <p:cNvPr id="27" name="Straight Connector 41">
            <a:extLst>
              <a:ext uri="{FF2B5EF4-FFF2-40B4-BE49-F238E27FC236}">
                <a16:creationId xmlns:a16="http://schemas.microsoft.com/office/drawing/2014/main" id="{5BA3BFDB-7688-4E26-B517-B2C210E88F5E}"/>
              </a:ext>
            </a:extLst>
          </p:cNvPr>
          <p:cNvCxnSpPr>
            <a:cxnSpLocks noChangeShapeType="1"/>
          </p:cNvCxnSpPr>
          <p:nvPr/>
        </p:nvCxnSpPr>
        <p:spPr bwMode="auto">
          <a:xfrm>
            <a:off x="5292725" y="1773238"/>
            <a:ext cx="0" cy="4895850"/>
          </a:xfrm>
          <a:prstGeom prst="line">
            <a:avLst/>
          </a:prstGeom>
          <a:noFill/>
          <a:ln w="9525" algn="ctr">
            <a:solidFill>
              <a:schemeClr val="bg1">
                <a:lumMod val="75000"/>
              </a:schemeClr>
            </a:solidFill>
            <a:round/>
            <a:headEnd/>
            <a:tailEnd/>
          </a:ln>
        </p:spPr>
      </p:cxnSp>
      <p:cxnSp>
        <p:nvCxnSpPr>
          <p:cNvPr id="28" name="Straight Connector 41">
            <a:extLst>
              <a:ext uri="{FF2B5EF4-FFF2-40B4-BE49-F238E27FC236}">
                <a16:creationId xmlns:a16="http://schemas.microsoft.com/office/drawing/2014/main" id="{1D699482-DDF0-4A1D-A4F3-53D7DB711070}"/>
              </a:ext>
            </a:extLst>
          </p:cNvPr>
          <p:cNvCxnSpPr>
            <a:cxnSpLocks noChangeShapeType="1"/>
          </p:cNvCxnSpPr>
          <p:nvPr/>
        </p:nvCxnSpPr>
        <p:spPr bwMode="auto">
          <a:xfrm>
            <a:off x="6011863" y="1773238"/>
            <a:ext cx="0" cy="4895850"/>
          </a:xfrm>
          <a:prstGeom prst="line">
            <a:avLst/>
          </a:prstGeom>
          <a:noFill/>
          <a:ln w="9525" algn="ctr">
            <a:solidFill>
              <a:schemeClr val="bg1">
                <a:lumMod val="75000"/>
              </a:schemeClr>
            </a:solidFill>
            <a:round/>
            <a:headEnd/>
            <a:tailEnd/>
          </a:ln>
        </p:spPr>
      </p:cxnSp>
      <p:cxnSp>
        <p:nvCxnSpPr>
          <p:cNvPr id="29" name="Straight Connector 41">
            <a:extLst>
              <a:ext uri="{FF2B5EF4-FFF2-40B4-BE49-F238E27FC236}">
                <a16:creationId xmlns:a16="http://schemas.microsoft.com/office/drawing/2014/main" id="{A613A286-69A4-4B42-A94A-FB6C2448D364}"/>
              </a:ext>
            </a:extLst>
          </p:cNvPr>
          <p:cNvCxnSpPr>
            <a:cxnSpLocks noChangeShapeType="1"/>
          </p:cNvCxnSpPr>
          <p:nvPr/>
        </p:nvCxnSpPr>
        <p:spPr bwMode="auto">
          <a:xfrm>
            <a:off x="6732588" y="1773238"/>
            <a:ext cx="0" cy="4895850"/>
          </a:xfrm>
          <a:prstGeom prst="line">
            <a:avLst/>
          </a:prstGeom>
          <a:noFill/>
          <a:ln w="9525" algn="ctr">
            <a:solidFill>
              <a:schemeClr val="bg1">
                <a:lumMod val="75000"/>
              </a:schemeClr>
            </a:solidFill>
            <a:round/>
            <a:headEnd/>
            <a:tailEnd/>
          </a:ln>
        </p:spPr>
      </p:cxnSp>
      <p:sp>
        <p:nvSpPr>
          <p:cNvPr id="75791" name="Title 29">
            <a:extLst>
              <a:ext uri="{FF2B5EF4-FFF2-40B4-BE49-F238E27FC236}">
                <a16:creationId xmlns:a16="http://schemas.microsoft.com/office/drawing/2014/main" id="{0EFB7C6E-3F49-44D5-A336-A02BE9333915}"/>
              </a:ext>
            </a:extLst>
          </p:cNvPr>
          <p:cNvSpPr>
            <a:spLocks noGrp="1"/>
          </p:cNvSpPr>
          <p:nvPr>
            <p:ph type="title"/>
          </p:nvPr>
        </p:nvSpPr>
        <p:spPr>
          <a:xfrm>
            <a:off x="612775" y="260350"/>
            <a:ext cx="8062913" cy="720725"/>
          </a:xfrm>
        </p:spPr>
        <p:txBody>
          <a:bodyPr/>
          <a:lstStyle/>
          <a:p>
            <a:endParaRPr altLang="en-US">
              <a:ea typeface="ヒラギノ角ゴ Pro W3" pitchFamily="-112" charset="-128"/>
            </a:endParaRPr>
          </a:p>
        </p:txBody>
      </p:sp>
      <p:sp>
        <p:nvSpPr>
          <p:cNvPr id="75792" name="Rectangle 68">
            <a:extLst>
              <a:ext uri="{FF2B5EF4-FFF2-40B4-BE49-F238E27FC236}">
                <a16:creationId xmlns:a16="http://schemas.microsoft.com/office/drawing/2014/main" id="{F037C55D-AE15-4BCF-854C-F6440E2BED91}"/>
              </a:ext>
            </a:extLst>
          </p:cNvPr>
          <p:cNvSpPr>
            <a:spLocks noGrp="1"/>
          </p:cNvSpPr>
          <p:nvPr>
            <p:ph idx="1"/>
          </p:nvPr>
        </p:nvSpPr>
        <p:spPr>
          <a:xfrm>
            <a:off x="611188" y="1268413"/>
            <a:ext cx="8032750" cy="4525962"/>
          </a:xfrm>
        </p:spPr>
        <p:txBody>
          <a:bodyPr/>
          <a:lstStyle/>
          <a:p>
            <a:pPr marL="457200" lvl="1" indent="0">
              <a:buNone/>
            </a:pPr>
            <a:r>
              <a:rPr lang="en-GB" altLang="en-US" sz="1800" dirty="0">
                <a:ea typeface="ヒラギノ角ゴ Pro W3" pitchFamily="-112" charset="-128"/>
              </a:rPr>
              <a:t>Long a June ABC plc 115 put @ 10</a:t>
            </a:r>
          </a:p>
        </p:txBody>
      </p:sp>
      <p:sp>
        <p:nvSpPr>
          <p:cNvPr id="75793" name="Text Box 66">
            <a:extLst>
              <a:ext uri="{FF2B5EF4-FFF2-40B4-BE49-F238E27FC236}">
                <a16:creationId xmlns:a16="http://schemas.microsoft.com/office/drawing/2014/main" id="{76CE2C6D-0DD6-41B2-A233-4F248C3DA515}"/>
              </a:ext>
            </a:extLst>
          </p:cNvPr>
          <p:cNvSpPr txBox="1">
            <a:spLocks noChangeArrowheads="1"/>
          </p:cNvSpPr>
          <p:nvPr/>
        </p:nvSpPr>
        <p:spPr bwMode="auto">
          <a:xfrm>
            <a:off x="1828800" y="4154488"/>
            <a:ext cx="59832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defTabSz="574675">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defTabSz="574675">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defTabSz="574675">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defTabSz="574675">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defTabSz="574675">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50000"/>
              </a:spcBef>
              <a:buFontTx/>
              <a:buNone/>
            </a:pPr>
            <a:r>
              <a:rPr lang="en-GB" altLang="en-US" sz="1400">
                <a:solidFill>
                  <a:srgbClr val="000000"/>
                </a:solidFill>
                <a:latin typeface="Arial" panose="020B0604020202020204" pitchFamily="34" charset="0"/>
                <a:cs typeface="Arial" panose="020B0604020202020204" pitchFamily="34" charset="0"/>
              </a:rPr>
              <a:t>        80            90	   100	     110        120          130	  140</a:t>
            </a:r>
            <a:r>
              <a:rPr lang="en-GB" altLang="en-US" sz="1600">
                <a:solidFill>
                  <a:srgbClr val="000000"/>
                </a:solidFill>
                <a:latin typeface="Arial" panose="020B0604020202020204" pitchFamily="34" charset="0"/>
                <a:cs typeface="Arial" panose="020B0604020202020204" pitchFamily="34" charset="0"/>
              </a:rPr>
              <a:t>	</a:t>
            </a:r>
          </a:p>
        </p:txBody>
      </p:sp>
      <p:cxnSp>
        <p:nvCxnSpPr>
          <p:cNvPr id="75794" name="Straight Connector 41">
            <a:extLst>
              <a:ext uri="{FF2B5EF4-FFF2-40B4-BE49-F238E27FC236}">
                <a16:creationId xmlns:a16="http://schemas.microsoft.com/office/drawing/2014/main" id="{2D30131A-437E-429F-B1EB-CB46BAA589C4}"/>
              </a:ext>
            </a:extLst>
          </p:cNvPr>
          <p:cNvCxnSpPr>
            <a:cxnSpLocks noChangeShapeType="1"/>
          </p:cNvCxnSpPr>
          <p:nvPr/>
        </p:nvCxnSpPr>
        <p:spPr bwMode="auto">
          <a:xfrm>
            <a:off x="1692275" y="1773238"/>
            <a:ext cx="0" cy="4895850"/>
          </a:xfrm>
          <a:prstGeom prst="line">
            <a:avLst/>
          </a:prstGeom>
          <a:noFill/>
          <a:ln w="9525" algn="ctr">
            <a:solidFill>
              <a:srgbClr val="003366"/>
            </a:solidFill>
            <a:round/>
            <a:headEnd/>
            <a:tailEnd/>
          </a:ln>
          <a:extLst>
            <a:ext uri="{909E8E84-426E-40DD-AFC4-6F175D3DCCD1}">
              <a14:hiddenFill xmlns:a14="http://schemas.microsoft.com/office/drawing/2010/main">
                <a:noFill/>
              </a14:hiddenFill>
            </a:ext>
          </a:extLst>
        </p:spPr>
      </p:cxnSp>
      <p:cxnSp>
        <p:nvCxnSpPr>
          <p:cNvPr id="75795" name="Straight Connector 46">
            <a:extLst>
              <a:ext uri="{FF2B5EF4-FFF2-40B4-BE49-F238E27FC236}">
                <a16:creationId xmlns:a16="http://schemas.microsoft.com/office/drawing/2014/main" id="{60987C56-1C09-4BDF-A26E-ADC689781BFC}"/>
              </a:ext>
            </a:extLst>
          </p:cNvPr>
          <p:cNvCxnSpPr>
            <a:cxnSpLocks noChangeShapeType="1"/>
          </p:cNvCxnSpPr>
          <p:nvPr/>
        </p:nvCxnSpPr>
        <p:spPr bwMode="auto">
          <a:xfrm>
            <a:off x="1692275" y="4140200"/>
            <a:ext cx="5759450" cy="0"/>
          </a:xfrm>
          <a:prstGeom prst="line">
            <a:avLst/>
          </a:prstGeom>
          <a:noFill/>
          <a:ln w="9525" algn="ctr">
            <a:solidFill>
              <a:srgbClr val="003366"/>
            </a:solidFill>
            <a:round/>
            <a:headEnd/>
            <a:tailEnd/>
          </a:ln>
          <a:extLst>
            <a:ext uri="{909E8E84-426E-40DD-AFC4-6F175D3DCCD1}">
              <a14:hiddenFill xmlns:a14="http://schemas.microsoft.com/office/drawing/2010/main">
                <a:noFill/>
              </a14:hiddenFill>
            </a:ext>
          </a:extLst>
        </p:spPr>
      </p:cxnSp>
      <p:sp>
        <p:nvSpPr>
          <p:cNvPr id="75796" name="TextBox 49">
            <a:extLst>
              <a:ext uri="{FF2B5EF4-FFF2-40B4-BE49-F238E27FC236}">
                <a16:creationId xmlns:a16="http://schemas.microsoft.com/office/drawing/2014/main" id="{5CE96300-1778-4A14-B4EE-3BFE437001D1}"/>
              </a:ext>
            </a:extLst>
          </p:cNvPr>
          <p:cNvSpPr txBox="1">
            <a:spLocks noChangeArrowheads="1"/>
          </p:cNvSpPr>
          <p:nvPr/>
        </p:nvSpPr>
        <p:spPr bwMode="auto">
          <a:xfrm>
            <a:off x="1331913" y="3265488"/>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10</a:t>
            </a:r>
          </a:p>
        </p:txBody>
      </p:sp>
      <p:sp>
        <p:nvSpPr>
          <p:cNvPr id="75797" name="TextBox 50">
            <a:extLst>
              <a:ext uri="{FF2B5EF4-FFF2-40B4-BE49-F238E27FC236}">
                <a16:creationId xmlns:a16="http://schemas.microsoft.com/office/drawing/2014/main" id="{B62E5D7E-CF4A-49E6-91C1-05F66738F6EC}"/>
              </a:ext>
            </a:extLst>
          </p:cNvPr>
          <p:cNvSpPr txBox="1">
            <a:spLocks noChangeArrowheads="1"/>
          </p:cNvSpPr>
          <p:nvPr/>
        </p:nvSpPr>
        <p:spPr bwMode="auto">
          <a:xfrm>
            <a:off x="1403350" y="3984625"/>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0</a:t>
            </a:r>
          </a:p>
        </p:txBody>
      </p:sp>
      <p:sp>
        <p:nvSpPr>
          <p:cNvPr id="75798" name="TextBox 51">
            <a:extLst>
              <a:ext uri="{FF2B5EF4-FFF2-40B4-BE49-F238E27FC236}">
                <a16:creationId xmlns:a16="http://schemas.microsoft.com/office/drawing/2014/main" id="{D944749F-2EC1-4165-9DDE-7154D30105D5}"/>
              </a:ext>
            </a:extLst>
          </p:cNvPr>
          <p:cNvSpPr txBox="1">
            <a:spLocks noChangeArrowheads="1"/>
          </p:cNvSpPr>
          <p:nvPr/>
        </p:nvSpPr>
        <p:spPr bwMode="auto">
          <a:xfrm>
            <a:off x="1331913" y="2565400"/>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20</a:t>
            </a:r>
          </a:p>
        </p:txBody>
      </p:sp>
      <p:sp>
        <p:nvSpPr>
          <p:cNvPr id="75799" name="TextBox 52">
            <a:extLst>
              <a:ext uri="{FF2B5EF4-FFF2-40B4-BE49-F238E27FC236}">
                <a16:creationId xmlns:a16="http://schemas.microsoft.com/office/drawing/2014/main" id="{D5BFE53C-6E27-43EA-8BC5-163CEBEE9EC0}"/>
              </a:ext>
            </a:extLst>
          </p:cNvPr>
          <p:cNvSpPr txBox="1">
            <a:spLocks noChangeArrowheads="1"/>
          </p:cNvSpPr>
          <p:nvPr/>
        </p:nvSpPr>
        <p:spPr bwMode="auto">
          <a:xfrm>
            <a:off x="1331913" y="1817688"/>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30</a:t>
            </a:r>
          </a:p>
        </p:txBody>
      </p:sp>
      <p:sp>
        <p:nvSpPr>
          <p:cNvPr id="75800" name="TextBox 53">
            <a:extLst>
              <a:ext uri="{FF2B5EF4-FFF2-40B4-BE49-F238E27FC236}">
                <a16:creationId xmlns:a16="http://schemas.microsoft.com/office/drawing/2014/main" id="{B3D5B2A9-8753-4E91-967D-CFBD6E4C46DD}"/>
              </a:ext>
            </a:extLst>
          </p:cNvPr>
          <p:cNvSpPr txBox="1">
            <a:spLocks noChangeArrowheads="1"/>
          </p:cNvSpPr>
          <p:nvPr/>
        </p:nvSpPr>
        <p:spPr bwMode="auto">
          <a:xfrm>
            <a:off x="1258888" y="6145213"/>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-30</a:t>
            </a:r>
          </a:p>
        </p:txBody>
      </p:sp>
      <p:sp>
        <p:nvSpPr>
          <p:cNvPr id="75801" name="TextBox 54">
            <a:extLst>
              <a:ext uri="{FF2B5EF4-FFF2-40B4-BE49-F238E27FC236}">
                <a16:creationId xmlns:a16="http://schemas.microsoft.com/office/drawing/2014/main" id="{491C49A0-B3A3-4530-8A6D-6C6FA9D9E243}"/>
              </a:ext>
            </a:extLst>
          </p:cNvPr>
          <p:cNvSpPr txBox="1">
            <a:spLocks noChangeArrowheads="1"/>
          </p:cNvSpPr>
          <p:nvPr/>
        </p:nvSpPr>
        <p:spPr bwMode="auto">
          <a:xfrm>
            <a:off x="1258888" y="54451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-20</a:t>
            </a:r>
          </a:p>
        </p:txBody>
      </p:sp>
      <p:sp>
        <p:nvSpPr>
          <p:cNvPr id="75802" name="TextBox 55">
            <a:extLst>
              <a:ext uri="{FF2B5EF4-FFF2-40B4-BE49-F238E27FC236}">
                <a16:creationId xmlns:a16="http://schemas.microsoft.com/office/drawing/2014/main" id="{BC992F1B-B0F5-4271-9F16-20E26D6E6FD0}"/>
              </a:ext>
            </a:extLst>
          </p:cNvPr>
          <p:cNvSpPr txBox="1">
            <a:spLocks noChangeArrowheads="1"/>
          </p:cNvSpPr>
          <p:nvPr/>
        </p:nvSpPr>
        <p:spPr bwMode="auto">
          <a:xfrm>
            <a:off x="1258888" y="4699000"/>
            <a:ext cx="5048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-10</a:t>
            </a:r>
          </a:p>
        </p:txBody>
      </p:sp>
    </p:spTree>
    <p:extLst>
      <p:ext uri="{BB962C8B-B14F-4D97-AF65-F5344CB8AC3E}">
        <p14:creationId xmlns:p14="http://schemas.microsoft.com/office/powerpoint/2010/main" val="1692611796"/>
      </p:ext>
    </p:extLst>
  </p:cSld>
  <p:clrMapOvr>
    <a:masterClrMapping/>
  </p:clrMapOvr>
  <p:transition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41">
            <a:extLst>
              <a:ext uri="{FF2B5EF4-FFF2-40B4-BE49-F238E27FC236}">
                <a16:creationId xmlns:a16="http://schemas.microsoft.com/office/drawing/2014/main" id="{F1020864-D7E3-4838-84A0-597D2FC87D8D}"/>
              </a:ext>
            </a:extLst>
          </p:cNvPr>
          <p:cNvCxnSpPr>
            <a:cxnSpLocks noChangeShapeType="1"/>
          </p:cNvCxnSpPr>
          <p:nvPr/>
        </p:nvCxnSpPr>
        <p:spPr bwMode="auto">
          <a:xfrm>
            <a:off x="2411413" y="1773238"/>
            <a:ext cx="0" cy="4895850"/>
          </a:xfrm>
          <a:prstGeom prst="line">
            <a:avLst/>
          </a:prstGeom>
          <a:noFill/>
          <a:ln w="9525" algn="ctr">
            <a:solidFill>
              <a:schemeClr val="bg1">
                <a:lumMod val="75000"/>
              </a:schemeClr>
            </a:solidFill>
            <a:round/>
            <a:headEnd/>
            <a:tailEnd/>
          </a:ln>
        </p:spPr>
      </p:cxnSp>
      <p:cxnSp>
        <p:nvCxnSpPr>
          <p:cNvPr id="18" name="Straight Connector 41">
            <a:extLst>
              <a:ext uri="{FF2B5EF4-FFF2-40B4-BE49-F238E27FC236}">
                <a16:creationId xmlns:a16="http://schemas.microsoft.com/office/drawing/2014/main" id="{B7771161-3D39-4C0D-AC28-D750062AE2CA}"/>
              </a:ext>
            </a:extLst>
          </p:cNvPr>
          <p:cNvCxnSpPr>
            <a:cxnSpLocks noChangeShapeType="1"/>
          </p:cNvCxnSpPr>
          <p:nvPr/>
        </p:nvCxnSpPr>
        <p:spPr bwMode="auto">
          <a:xfrm>
            <a:off x="3132138" y="1773238"/>
            <a:ext cx="0" cy="4895850"/>
          </a:xfrm>
          <a:prstGeom prst="line">
            <a:avLst/>
          </a:prstGeom>
          <a:noFill/>
          <a:ln w="9525" algn="ctr">
            <a:solidFill>
              <a:schemeClr val="bg1">
                <a:lumMod val="75000"/>
              </a:schemeClr>
            </a:solidFill>
            <a:round/>
            <a:headEnd/>
            <a:tailEnd/>
          </a:ln>
        </p:spPr>
      </p:cxnSp>
      <p:cxnSp>
        <p:nvCxnSpPr>
          <p:cNvPr id="19" name="Straight Connector 41">
            <a:extLst>
              <a:ext uri="{FF2B5EF4-FFF2-40B4-BE49-F238E27FC236}">
                <a16:creationId xmlns:a16="http://schemas.microsoft.com/office/drawing/2014/main" id="{2C3F8C8C-94A5-48DA-A1CA-D7F91C4F11A4}"/>
              </a:ext>
            </a:extLst>
          </p:cNvPr>
          <p:cNvCxnSpPr>
            <a:cxnSpLocks noChangeShapeType="1"/>
          </p:cNvCxnSpPr>
          <p:nvPr/>
        </p:nvCxnSpPr>
        <p:spPr bwMode="auto">
          <a:xfrm>
            <a:off x="3851275" y="1773238"/>
            <a:ext cx="0" cy="4895850"/>
          </a:xfrm>
          <a:prstGeom prst="line">
            <a:avLst/>
          </a:prstGeom>
          <a:noFill/>
          <a:ln w="9525" algn="ctr">
            <a:solidFill>
              <a:schemeClr val="bg1">
                <a:lumMod val="75000"/>
              </a:schemeClr>
            </a:solidFill>
            <a:round/>
            <a:headEnd/>
            <a:tailEnd/>
          </a:ln>
        </p:spPr>
      </p:cxnSp>
      <p:cxnSp>
        <p:nvCxnSpPr>
          <p:cNvPr id="20" name="Straight Connector 41">
            <a:extLst>
              <a:ext uri="{FF2B5EF4-FFF2-40B4-BE49-F238E27FC236}">
                <a16:creationId xmlns:a16="http://schemas.microsoft.com/office/drawing/2014/main" id="{E1828E29-E241-4025-A04F-1867F0E9990B}"/>
              </a:ext>
            </a:extLst>
          </p:cNvPr>
          <p:cNvCxnSpPr>
            <a:cxnSpLocks noChangeShapeType="1"/>
          </p:cNvCxnSpPr>
          <p:nvPr/>
        </p:nvCxnSpPr>
        <p:spPr bwMode="auto">
          <a:xfrm>
            <a:off x="4572000" y="1773238"/>
            <a:ext cx="0" cy="4895850"/>
          </a:xfrm>
          <a:prstGeom prst="line">
            <a:avLst/>
          </a:prstGeom>
          <a:noFill/>
          <a:ln w="9525" algn="ctr">
            <a:solidFill>
              <a:schemeClr val="bg1">
                <a:lumMod val="75000"/>
              </a:schemeClr>
            </a:solidFill>
            <a:round/>
            <a:headEnd/>
            <a:tailEnd/>
          </a:ln>
        </p:spPr>
      </p:cxnSp>
      <p:cxnSp>
        <p:nvCxnSpPr>
          <p:cNvPr id="21" name="Straight Connector 41">
            <a:extLst>
              <a:ext uri="{FF2B5EF4-FFF2-40B4-BE49-F238E27FC236}">
                <a16:creationId xmlns:a16="http://schemas.microsoft.com/office/drawing/2014/main" id="{23209D6D-5C70-4C0E-8636-1AA4899E81E2}"/>
              </a:ext>
            </a:extLst>
          </p:cNvPr>
          <p:cNvCxnSpPr>
            <a:cxnSpLocks noChangeShapeType="1"/>
          </p:cNvCxnSpPr>
          <p:nvPr/>
        </p:nvCxnSpPr>
        <p:spPr bwMode="auto">
          <a:xfrm>
            <a:off x="5292725" y="1773238"/>
            <a:ext cx="0" cy="4895850"/>
          </a:xfrm>
          <a:prstGeom prst="line">
            <a:avLst/>
          </a:prstGeom>
          <a:noFill/>
          <a:ln w="9525" algn="ctr">
            <a:solidFill>
              <a:schemeClr val="bg1">
                <a:lumMod val="75000"/>
              </a:schemeClr>
            </a:solidFill>
            <a:round/>
            <a:headEnd/>
            <a:tailEnd/>
          </a:ln>
        </p:spPr>
      </p:cxnSp>
      <p:cxnSp>
        <p:nvCxnSpPr>
          <p:cNvPr id="22" name="Straight Connector 41">
            <a:extLst>
              <a:ext uri="{FF2B5EF4-FFF2-40B4-BE49-F238E27FC236}">
                <a16:creationId xmlns:a16="http://schemas.microsoft.com/office/drawing/2014/main" id="{6B01443A-9B5F-4050-AD81-3D287A46A6D0}"/>
              </a:ext>
            </a:extLst>
          </p:cNvPr>
          <p:cNvCxnSpPr>
            <a:cxnSpLocks noChangeShapeType="1"/>
          </p:cNvCxnSpPr>
          <p:nvPr/>
        </p:nvCxnSpPr>
        <p:spPr bwMode="auto">
          <a:xfrm>
            <a:off x="6011863" y="1773238"/>
            <a:ext cx="0" cy="4895850"/>
          </a:xfrm>
          <a:prstGeom prst="line">
            <a:avLst/>
          </a:prstGeom>
          <a:noFill/>
          <a:ln w="9525" algn="ctr">
            <a:solidFill>
              <a:schemeClr val="bg1">
                <a:lumMod val="75000"/>
              </a:schemeClr>
            </a:solidFill>
            <a:round/>
            <a:headEnd/>
            <a:tailEnd/>
          </a:ln>
        </p:spPr>
      </p:cxnSp>
      <p:cxnSp>
        <p:nvCxnSpPr>
          <p:cNvPr id="23" name="Straight Connector 41">
            <a:extLst>
              <a:ext uri="{FF2B5EF4-FFF2-40B4-BE49-F238E27FC236}">
                <a16:creationId xmlns:a16="http://schemas.microsoft.com/office/drawing/2014/main" id="{793D6CA4-FEDA-4669-879A-14F6E0600612}"/>
              </a:ext>
            </a:extLst>
          </p:cNvPr>
          <p:cNvCxnSpPr>
            <a:cxnSpLocks noChangeShapeType="1"/>
          </p:cNvCxnSpPr>
          <p:nvPr/>
        </p:nvCxnSpPr>
        <p:spPr bwMode="auto">
          <a:xfrm>
            <a:off x="6732588" y="1773238"/>
            <a:ext cx="0" cy="4895850"/>
          </a:xfrm>
          <a:prstGeom prst="line">
            <a:avLst/>
          </a:prstGeom>
          <a:noFill/>
          <a:ln w="9525" algn="ctr">
            <a:solidFill>
              <a:schemeClr val="bg1">
                <a:lumMod val="75000"/>
              </a:schemeClr>
            </a:solidFill>
            <a:round/>
            <a:headEnd/>
            <a:tailEnd/>
          </a:ln>
        </p:spPr>
      </p:cxnSp>
      <p:cxnSp>
        <p:nvCxnSpPr>
          <p:cNvPr id="24" name="Straight Connector 46">
            <a:extLst>
              <a:ext uri="{FF2B5EF4-FFF2-40B4-BE49-F238E27FC236}">
                <a16:creationId xmlns:a16="http://schemas.microsoft.com/office/drawing/2014/main" id="{CA4F42E9-2F39-4398-ADF3-8087B39E4316}"/>
              </a:ext>
            </a:extLst>
          </p:cNvPr>
          <p:cNvCxnSpPr>
            <a:cxnSpLocks noChangeShapeType="1"/>
          </p:cNvCxnSpPr>
          <p:nvPr/>
        </p:nvCxnSpPr>
        <p:spPr bwMode="auto">
          <a:xfrm>
            <a:off x="1692275" y="3429000"/>
            <a:ext cx="5759450" cy="0"/>
          </a:xfrm>
          <a:prstGeom prst="line">
            <a:avLst/>
          </a:prstGeom>
          <a:noFill/>
          <a:ln w="9525" algn="ctr">
            <a:solidFill>
              <a:schemeClr val="bg1">
                <a:lumMod val="75000"/>
              </a:schemeClr>
            </a:solidFill>
            <a:round/>
            <a:headEnd/>
            <a:tailEnd/>
          </a:ln>
        </p:spPr>
      </p:cxnSp>
      <p:cxnSp>
        <p:nvCxnSpPr>
          <p:cNvPr id="25" name="Straight Connector 46">
            <a:extLst>
              <a:ext uri="{FF2B5EF4-FFF2-40B4-BE49-F238E27FC236}">
                <a16:creationId xmlns:a16="http://schemas.microsoft.com/office/drawing/2014/main" id="{04FD6D4C-77B9-4878-A3D5-A149852C6B51}"/>
              </a:ext>
            </a:extLst>
          </p:cNvPr>
          <p:cNvCxnSpPr>
            <a:cxnSpLocks noChangeShapeType="1"/>
          </p:cNvCxnSpPr>
          <p:nvPr/>
        </p:nvCxnSpPr>
        <p:spPr bwMode="auto">
          <a:xfrm>
            <a:off x="1692275" y="2708275"/>
            <a:ext cx="5759450" cy="0"/>
          </a:xfrm>
          <a:prstGeom prst="line">
            <a:avLst/>
          </a:prstGeom>
          <a:noFill/>
          <a:ln w="9525" algn="ctr">
            <a:solidFill>
              <a:schemeClr val="bg1">
                <a:lumMod val="75000"/>
              </a:schemeClr>
            </a:solidFill>
            <a:round/>
            <a:headEnd/>
            <a:tailEnd/>
          </a:ln>
        </p:spPr>
      </p:cxnSp>
      <p:cxnSp>
        <p:nvCxnSpPr>
          <p:cNvPr id="26" name="Straight Connector 46">
            <a:extLst>
              <a:ext uri="{FF2B5EF4-FFF2-40B4-BE49-F238E27FC236}">
                <a16:creationId xmlns:a16="http://schemas.microsoft.com/office/drawing/2014/main" id="{B4D74789-7ACC-44B6-BE4E-FB915888A8C8}"/>
              </a:ext>
            </a:extLst>
          </p:cNvPr>
          <p:cNvCxnSpPr>
            <a:cxnSpLocks noChangeShapeType="1"/>
          </p:cNvCxnSpPr>
          <p:nvPr/>
        </p:nvCxnSpPr>
        <p:spPr bwMode="auto">
          <a:xfrm>
            <a:off x="1692275" y="1989138"/>
            <a:ext cx="5759450" cy="0"/>
          </a:xfrm>
          <a:prstGeom prst="line">
            <a:avLst/>
          </a:prstGeom>
          <a:noFill/>
          <a:ln w="9525" algn="ctr">
            <a:solidFill>
              <a:schemeClr val="bg1">
                <a:lumMod val="75000"/>
              </a:schemeClr>
            </a:solidFill>
            <a:round/>
            <a:headEnd/>
            <a:tailEnd/>
          </a:ln>
        </p:spPr>
      </p:cxnSp>
      <p:cxnSp>
        <p:nvCxnSpPr>
          <p:cNvPr id="27" name="Straight Connector 46">
            <a:extLst>
              <a:ext uri="{FF2B5EF4-FFF2-40B4-BE49-F238E27FC236}">
                <a16:creationId xmlns:a16="http://schemas.microsoft.com/office/drawing/2014/main" id="{99DBF4D0-213F-43B3-A680-57C586A67B97}"/>
              </a:ext>
            </a:extLst>
          </p:cNvPr>
          <p:cNvCxnSpPr>
            <a:cxnSpLocks noChangeShapeType="1"/>
          </p:cNvCxnSpPr>
          <p:nvPr/>
        </p:nvCxnSpPr>
        <p:spPr bwMode="auto">
          <a:xfrm>
            <a:off x="1692275" y="4868863"/>
            <a:ext cx="5759450" cy="0"/>
          </a:xfrm>
          <a:prstGeom prst="line">
            <a:avLst/>
          </a:prstGeom>
          <a:noFill/>
          <a:ln w="9525" algn="ctr">
            <a:solidFill>
              <a:schemeClr val="bg1">
                <a:lumMod val="75000"/>
              </a:schemeClr>
            </a:solidFill>
            <a:round/>
            <a:headEnd/>
            <a:tailEnd/>
          </a:ln>
        </p:spPr>
      </p:cxnSp>
      <p:cxnSp>
        <p:nvCxnSpPr>
          <p:cNvPr id="28" name="Straight Connector 46">
            <a:extLst>
              <a:ext uri="{FF2B5EF4-FFF2-40B4-BE49-F238E27FC236}">
                <a16:creationId xmlns:a16="http://schemas.microsoft.com/office/drawing/2014/main" id="{50386F47-DC15-4229-9E1C-8471A232EB85}"/>
              </a:ext>
            </a:extLst>
          </p:cNvPr>
          <p:cNvCxnSpPr>
            <a:cxnSpLocks noChangeShapeType="1"/>
          </p:cNvCxnSpPr>
          <p:nvPr/>
        </p:nvCxnSpPr>
        <p:spPr bwMode="auto">
          <a:xfrm>
            <a:off x="1692275" y="5589588"/>
            <a:ext cx="5759450" cy="0"/>
          </a:xfrm>
          <a:prstGeom prst="line">
            <a:avLst/>
          </a:prstGeom>
          <a:noFill/>
          <a:ln w="9525" algn="ctr">
            <a:solidFill>
              <a:schemeClr val="bg1">
                <a:lumMod val="75000"/>
              </a:schemeClr>
            </a:solidFill>
            <a:round/>
            <a:headEnd/>
            <a:tailEnd/>
          </a:ln>
        </p:spPr>
      </p:cxnSp>
      <p:cxnSp>
        <p:nvCxnSpPr>
          <p:cNvPr id="29" name="Straight Connector 46">
            <a:extLst>
              <a:ext uri="{FF2B5EF4-FFF2-40B4-BE49-F238E27FC236}">
                <a16:creationId xmlns:a16="http://schemas.microsoft.com/office/drawing/2014/main" id="{208207E9-0EC7-4CA3-8F62-CE4C38651029}"/>
              </a:ext>
            </a:extLst>
          </p:cNvPr>
          <p:cNvCxnSpPr>
            <a:cxnSpLocks noChangeShapeType="1"/>
          </p:cNvCxnSpPr>
          <p:nvPr/>
        </p:nvCxnSpPr>
        <p:spPr bwMode="auto">
          <a:xfrm>
            <a:off x="1692275" y="6308725"/>
            <a:ext cx="5759450" cy="0"/>
          </a:xfrm>
          <a:prstGeom prst="line">
            <a:avLst/>
          </a:prstGeom>
          <a:noFill/>
          <a:ln w="9525" algn="ctr">
            <a:solidFill>
              <a:schemeClr val="bg1">
                <a:lumMod val="75000"/>
              </a:schemeClr>
            </a:solidFill>
            <a:round/>
            <a:headEnd/>
            <a:tailEnd/>
          </a:ln>
        </p:spPr>
      </p:cxnSp>
      <p:sp>
        <p:nvSpPr>
          <p:cNvPr id="77839" name="Title 29">
            <a:extLst>
              <a:ext uri="{FF2B5EF4-FFF2-40B4-BE49-F238E27FC236}">
                <a16:creationId xmlns:a16="http://schemas.microsoft.com/office/drawing/2014/main" id="{1403CB1E-990B-458E-A175-0121720CF41E}"/>
              </a:ext>
            </a:extLst>
          </p:cNvPr>
          <p:cNvSpPr>
            <a:spLocks noGrp="1"/>
          </p:cNvSpPr>
          <p:nvPr>
            <p:ph type="title"/>
          </p:nvPr>
        </p:nvSpPr>
        <p:spPr>
          <a:xfrm>
            <a:off x="612775" y="260350"/>
            <a:ext cx="8062913" cy="720725"/>
          </a:xfrm>
        </p:spPr>
        <p:txBody>
          <a:bodyPr/>
          <a:lstStyle/>
          <a:p>
            <a:endParaRPr altLang="en-US">
              <a:ea typeface="ヒラギノ角ゴ Pro W3" pitchFamily="-112" charset="-128"/>
            </a:endParaRPr>
          </a:p>
        </p:txBody>
      </p:sp>
      <p:sp>
        <p:nvSpPr>
          <p:cNvPr id="77840" name="Rectangle 68">
            <a:extLst>
              <a:ext uri="{FF2B5EF4-FFF2-40B4-BE49-F238E27FC236}">
                <a16:creationId xmlns:a16="http://schemas.microsoft.com/office/drawing/2014/main" id="{3D017B15-5DE4-47EC-8A94-44A06DB6C416}"/>
              </a:ext>
            </a:extLst>
          </p:cNvPr>
          <p:cNvSpPr>
            <a:spLocks noGrp="1"/>
          </p:cNvSpPr>
          <p:nvPr>
            <p:ph idx="1"/>
          </p:nvPr>
        </p:nvSpPr>
        <p:spPr>
          <a:xfrm>
            <a:off x="611188" y="1268413"/>
            <a:ext cx="8032750" cy="4525962"/>
          </a:xfrm>
        </p:spPr>
        <p:txBody>
          <a:bodyPr/>
          <a:lstStyle/>
          <a:p>
            <a:pPr marL="457200" lvl="1" indent="0">
              <a:buNone/>
            </a:pPr>
            <a:r>
              <a:rPr lang="en-GB" altLang="en-US" sz="1800" dirty="0">
                <a:ea typeface="ヒラギノ角ゴ Pro W3" pitchFamily="-112" charset="-128"/>
              </a:rPr>
              <a:t>Short a June ABC plc 115 put @ 10</a:t>
            </a:r>
          </a:p>
        </p:txBody>
      </p:sp>
      <p:cxnSp>
        <p:nvCxnSpPr>
          <p:cNvPr id="77841" name="Straight Connector 41">
            <a:extLst>
              <a:ext uri="{FF2B5EF4-FFF2-40B4-BE49-F238E27FC236}">
                <a16:creationId xmlns:a16="http://schemas.microsoft.com/office/drawing/2014/main" id="{2EAA4B5F-2A54-47CD-BE5F-874DDF8F0916}"/>
              </a:ext>
            </a:extLst>
          </p:cNvPr>
          <p:cNvCxnSpPr>
            <a:cxnSpLocks noChangeShapeType="1"/>
          </p:cNvCxnSpPr>
          <p:nvPr/>
        </p:nvCxnSpPr>
        <p:spPr bwMode="auto">
          <a:xfrm>
            <a:off x="1692275" y="1773238"/>
            <a:ext cx="0" cy="4895850"/>
          </a:xfrm>
          <a:prstGeom prst="line">
            <a:avLst/>
          </a:prstGeom>
          <a:noFill/>
          <a:ln w="9525" algn="ctr">
            <a:solidFill>
              <a:srgbClr val="003366"/>
            </a:solidFill>
            <a:round/>
            <a:headEnd/>
            <a:tailEnd/>
          </a:ln>
          <a:extLst>
            <a:ext uri="{909E8E84-426E-40DD-AFC4-6F175D3DCCD1}">
              <a14:hiddenFill xmlns:a14="http://schemas.microsoft.com/office/drawing/2010/main">
                <a:noFill/>
              </a14:hiddenFill>
            </a:ext>
          </a:extLst>
        </p:spPr>
      </p:cxnSp>
      <p:cxnSp>
        <p:nvCxnSpPr>
          <p:cNvPr id="77842" name="Straight Connector 46">
            <a:extLst>
              <a:ext uri="{FF2B5EF4-FFF2-40B4-BE49-F238E27FC236}">
                <a16:creationId xmlns:a16="http://schemas.microsoft.com/office/drawing/2014/main" id="{E953B68D-11D9-422B-8D43-5262F8C3C24F}"/>
              </a:ext>
            </a:extLst>
          </p:cNvPr>
          <p:cNvCxnSpPr>
            <a:cxnSpLocks noChangeShapeType="1"/>
          </p:cNvCxnSpPr>
          <p:nvPr/>
        </p:nvCxnSpPr>
        <p:spPr bwMode="auto">
          <a:xfrm>
            <a:off x="1692275" y="4149725"/>
            <a:ext cx="5759450" cy="0"/>
          </a:xfrm>
          <a:prstGeom prst="line">
            <a:avLst/>
          </a:prstGeom>
          <a:noFill/>
          <a:ln w="9525" algn="ctr">
            <a:solidFill>
              <a:srgbClr val="003366"/>
            </a:solidFill>
            <a:round/>
            <a:headEnd/>
            <a:tailEnd/>
          </a:ln>
          <a:extLst>
            <a:ext uri="{909E8E84-426E-40DD-AFC4-6F175D3DCCD1}">
              <a14:hiddenFill xmlns:a14="http://schemas.microsoft.com/office/drawing/2010/main">
                <a:noFill/>
              </a14:hiddenFill>
            </a:ext>
          </a:extLst>
        </p:spPr>
      </p:cxnSp>
      <p:sp>
        <p:nvSpPr>
          <p:cNvPr id="77843" name="TextBox 49">
            <a:extLst>
              <a:ext uri="{FF2B5EF4-FFF2-40B4-BE49-F238E27FC236}">
                <a16:creationId xmlns:a16="http://schemas.microsoft.com/office/drawing/2014/main" id="{7C2672D2-87B6-40B5-AE48-B6C80D3AED74}"/>
              </a:ext>
            </a:extLst>
          </p:cNvPr>
          <p:cNvSpPr txBox="1">
            <a:spLocks noChangeArrowheads="1"/>
          </p:cNvSpPr>
          <p:nvPr/>
        </p:nvSpPr>
        <p:spPr bwMode="auto">
          <a:xfrm>
            <a:off x="1331913" y="3265488"/>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10</a:t>
            </a:r>
          </a:p>
        </p:txBody>
      </p:sp>
      <p:sp>
        <p:nvSpPr>
          <p:cNvPr id="77844" name="TextBox 50">
            <a:extLst>
              <a:ext uri="{FF2B5EF4-FFF2-40B4-BE49-F238E27FC236}">
                <a16:creationId xmlns:a16="http://schemas.microsoft.com/office/drawing/2014/main" id="{F4247114-401C-4903-B337-4CA39C702F25}"/>
              </a:ext>
            </a:extLst>
          </p:cNvPr>
          <p:cNvSpPr txBox="1">
            <a:spLocks noChangeArrowheads="1"/>
          </p:cNvSpPr>
          <p:nvPr/>
        </p:nvSpPr>
        <p:spPr bwMode="auto">
          <a:xfrm>
            <a:off x="1403350" y="3984625"/>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0</a:t>
            </a:r>
          </a:p>
        </p:txBody>
      </p:sp>
      <p:sp>
        <p:nvSpPr>
          <p:cNvPr id="77845" name="TextBox 51">
            <a:extLst>
              <a:ext uri="{FF2B5EF4-FFF2-40B4-BE49-F238E27FC236}">
                <a16:creationId xmlns:a16="http://schemas.microsoft.com/office/drawing/2014/main" id="{577FB335-3A57-4B4C-A7FE-397405824A36}"/>
              </a:ext>
            </a:extLst>
          </p:cNvPr>
          <p:cNvSpPr txBox="1">
            <a:spLocks noChangeArrowheads="1"/>
          </p:cNvSpPr>
          <p:nvPr/>
        </p:nvSpPr>
        <p:spPr bwMode="auto">
          <a:xfrm>
            <a:off x="1331913" y="2565400"/>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20</a:t>
            </a:r>
          </a:p>
        </p:txBody>
      </p:sp>
      <p:sp>
        <p:nvSpPr>
          <p:cNvPr id="77846" name="TextBox 52">
            <a:extLst>
              <a:ext uri="{FF2B5EF4-FFF2-40B4-BE49-F238E27FC236}">
                <a16:creationId xmlns:a16="http://schemas.microsoft.com/office/drawing/2014/main" id="{E26469B4-6634-41E9-8864-76E5A7E771C0}"/>
              </a:ext>
            </a:extLst>
          </p:cNvPr>
          <p:cNvSpPr txBox="1">
            <a:spLocks noChangeArrowheads="1"/>
          </p:cNvSpPr>
          <p:nvPr/>
        </p:nvSpPr>
        <p:spPr bwMode="auto">
          <a:xfrm>
            <a:off x="1331913" y="1817688"/>
            <a:ext cx="431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30</a:t>
            </a:r>
          </a:p>
        </p:txBody>
      </p:sp>
      <p:sp>
        <p:nvSpPr>
          <p:cNvPr id="77847" name="TextBox 53">
            <a:extLst>
              <a:ext uri="{FF2B5EF4-FFF2-40B4-BE49-F238E27FC236}">
                <a16:creationId xmlns:a16="http://schemas.microsoft.com/office/drawing/2014/main" id="{E57591D4-70FA-446F-8C5C-51198272483E}"/>
              </a:ext>
            </a:extLst>
          </p:cNvPr>
          <p:cNvSpPr txBox="1">
            <a:spLocks noChangeArrowheads="1"/>
          </p:cNvSpPr>
          <p:nvPr/>
        </p:nvSpPr>
        <p:spPr bwMode="auto">
          <a:xfrm>
            <a:off x="1258888" y="6145213"/>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-30</a:t>
            </a:r>
          </a:p>
        </p:txBody>
      </p:sp>
      <p:sp>
        <p:nvSpPr>
          <p:cNvPr id="77848" name="TextBox 54">
            <a:extLst>
              <a:ext uri="{FF2B5EF4-FFF2-40B4-BE49-F238E27FC236}">
                <a16:creationId xmlns:a16="http://schemas.microsoft.com/office/drawing/2014/main" id="{B3BABE14-1CAE-455B-A6F0-BBC3B52AAA49}"/>
              </a:ext>
            </a:extLst>
          </p:cNvPr>
          <p:cNvSpPr txBox="1">
            <a:spLocks noChangeArrowheads="1"/>
          </p:cNvSpPr>
          <p:nvPr/>
        </p:nvSpPr>
        <p:spPr bwMode="auto">
          <a:xfrm>
            <a:off x="1258888" y="5445125"/>
            <a:ext cx="504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-20</a:t>
            </a:r>
          </a:p>
        </p:txBody>
      </p:sp>
      <p:sp>
        <p:nvSpPr>
          <p:cNvPr id="77849" name="TextBox 55">
            <a:extLst>
              <a:ext uri="{FF2B5EF4-FFF2-40B4-BE49-F238E27FC236}">
                <a16:creationId xmlns:a16="http://schemas.microsoft.com/office/drawing/2014/main" id="{3B122FC6-D693-4726-AC8D-3D487C650C3F}"/>
              </a:ext>
            </a:extLst>
          </p:cNvPr>
          <p:cNvSpPr txBox="1">
            <a:spLocks noChangeArrowheads="1"/>
          </p:cNvSpPr>
          <p:nvPr/>
        </p:nvSpPr>
        <p:spPr bwMode="auto">
          <a:xfrm>
            <a:off x="1258888" y="4699000"/>
            <a:ext cx="5048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0"/>
              </a:spcBef>
              <a:buFontTx/>
              <a:buNone/>
            </a:pPr>
            <a:r>
              <a:rPr lang="en-GB" altLang="en-US" sz="1400">
                <a:solidFill>
                  <a:srgbClr val="000000"/>
                </a:solidFill>
                <a:latin typeface="Arial" panose="020B0604020202020204" pitchFamily="34" charset="0"/>
                <a:cs typeface="Arial" panose="020B0604020202020204" pitchFamily="34" charset="0"/>
              </a:rPr>
              <a:t>-10</a:t>
            </a:r>
          </a:p>
        </p:txBody>
      </p:sp>
      <p:sp>
        <p:nvSpPr>
          <p:cNvPr id="77850" name="Text Box 66">
            <a:extLst>
              <a:ext uri="{FF2B5EF4-FFF2-40B4-BE49-F238E27FC236}">
                <a16:creationId xmlns:a16="http://schemas.microsoft.com/office/drawing/2014/main" id="{AD0AF6E1-84C7-4036-814E-CE2D810C991A}"/>
              </a:ext>
            </a:extLst>
          </p:cNvPr>
          <p:cNvSpPr txBox="1">
            <a:spLocks noChangeArrowheads="1"/>
          </p:cNvSpPr>
          <p:nvPr/>
        </p:nvSpPr>
        <p:spPr bwMode="auto">
          <a:xfrm>
            <a:off x="1828800" y="4154488"/>
            <a:ext cx="59832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defTabSz="574675">
              <a:spcBef>
                <a:spcPct val="20000"/>
              </a:spcBef>
              <a:buFont typeface="Arial" panose="020B0604020202020204" pitchFamily="34" charset="0"/>
              <a:buChar char="•"/>
              <a:defRPr sz="2400">
                <a:solidFill>
                  <a:srgbClr val="1E0576"/>
                </a:solidFill>
                <a:latin typeface="Calibri" panose="020F0502020204030204" pitchFamily="34" charset="0"/>
                <a:ea typeface="ヒラギノ角ゴ Pro W3" pitchFamily="-112" charset="-128"/>
                <a:cs typeface="Calibri" panose="020F0502020204030204" pitchFamily="34" charset="0"/>
              </a:defRPr>
            </a:lvl1pPr>
            <a:lvl2pPr marL="742950" indent="-285750" defTabSz="574675">
              <a:spcBef>
                <a:spcPct val="20000"/>
              </a:spcBef>
              <a:buFont typeface="Arial" panose="020B0604020202020204" pitchFamily="34" charset="0"/>
              <a:buChar char="–"/>
              <a:defRPr sz="2200">
                <a:solidFill>
                  <a:srgbClr val="333399"/>
                </a:solidFill>
                <a:latin typeface="Calibri" panose="020F0502020204030204" pitchFamily="34" charset="0"/>
                <a:ea typeface="ヒラギノ角ゴ Pro W3" pitchFamily="-112" charset="-128"/>
                <a:cs typeface="Calibri" panose="020F0502020204030204" pitchFamily="34" charset="0"/>
              </a:defRPr>
            </a:lvl2pPr>
            <a:lvl3pPr marL="1143000" indent="-228600" defTabSz="574675">
              <a:spcBef>
                <a:spcPct val="20000"/>
              </a:spcBef>
              <a:buFont typeface="Arial" panose="020B0604020202020204" pitchFamily="34" charset="0"/>
              <a:buChar char="•"/>
              <a:defRPr sz="2400">
                <a:solidFill>
                  <a:schemeClr val="tx1"/>
                </a:solidFill>
                <a:latin typeface="Calibri" panose="020F0502020204030204" pitchFamily="34" charset="0"/>
                <a:ea typeface="ヒラギノ角ゴ Pro W3" pitchFamily="-112" charset="-128"/>
              </a:defRPr>
            </a:lvl3pPr>
            <a:lvl4pPr marL="1600200" indent="-228600" defTabSz="574675">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4pPr>
            <a:lvl5pPr marL="2057400" indent="-228600" defTabSz="574675">
              <a:spcBef>
                <a:spcPct val="20000"/>
              </a:spcBef>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5pPr>
            <a:lvl6pPr marL="25146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6pPr>
            <a:lvl7pPr marL="29718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7pPr>
            <a:lvl8pPr marL="34290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8pPr>
            <a:lvl9pPr marL="3886200" indent="-228600" defTabSz="574675"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ヒラギノ角ゴ Pro W3" pitchFamily="-112" charset="-128"/>
              </a:defRPr>
            </a:lvl9pPr>
          </a:lstStyle>
          <a:p>
            <a:pPr eaLnBrk="1" hangingPunct="1">
              <a:spcBef>
                <a:spcPct val="50000"/>
              </a:spcBef>
              <a:buFontTx/>
              <a:buNone/>
            </a:pPr>
            <a:r>
              <a:rPr lang="en-GB" altLang="en-US" sz="1400">
                <a:solidFill>
                  <a:srgbClr val="000000"/>
                </a:solidFill>
                <a:latin typeface="Arial" panose="020B0604020202020204" pitchFamily="34" charset="0"/>
                <a:cs typeface="Arial" panose="020B0604020202020204" pitchFamily="34" charset="0"/>
              </a:rPr>
              <a:t>        80            90	   100	     110        120          130	  140</a:t>
            </a:r>
            <a:r>
              <a:rPr lang="en-GB" altLang="en-US" sz="1600">
                <a:solidFill>
                  <a:srgbClr val="0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406539980"/>
      </p:ext>
    </p:extLst>
  </p:cSld>
  <p:clrMapOvr>
    <a:masterClrMapping/>
  </p:clrMapOvr>
  <p:transition advClick="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5"/>
          <p:cNvSpPr>
            <a:spLocks noGrp="1"/>
          </p:cNvSpPr>
          <p:nvPr>
            <p:ph type="title"/>
          </p:nvPr>
        </p:nvSpPr>
        <p:spPr/>
        <p:txBody>
          <a:bodyPr/>
          <a:lstStyle/>
          <a:p>
            <a:r>
              <a:rPr lang="en-GB" altLang="en-US"/>
              <a:t>Option Pricing</a:t>
            </a:r>
          </a:p>
        </p:txBody>
      </p:sp>
      <p:sp>
        <p:nvSpPr>
          <p:cNvPr id="121859" name="Rectangle 6"/>
          <p:cNvSpPr>
            <a:spLocks noGrp="1"/>
          </p:cNvSpPr>
          <p:nvPr>
            <p:ph sz="quarter" idx="4294967295"/>
          </p:nvPr>
        </p:nvSpPr>
        <p:spPr>
          <a:xfrm>
            <a:off x="662880" y="1166813"/>
            <a:ext cx="8229600" cy="4068762"/>
          </a:xfrm>
        </p:spPr>
        <p:txBody>
          <a:bodyPr/>
          <a:lstStyle/>
          <a:p>
            <a:pPr marL="0" indent="0">
              <a:lnSpc>
                <a:spcPct val="100000"/>
              </a:lnSpc>
              <a:buNone/>
            </a:pPr>
            <a:r>
              <a:rPr lang="en-GB" altLang="en-US" sz="1800" dirty="0"/>
              <a:t>The premium</a:t>
            </a:r>
          </a:p>
          <a:p>
            <a:pPr lvl="1">
              <a:lnSpc>
                <a:spcPct val="100000"/>
              </a:lnSpc>
            </a:pPr>
            <a:r>
              <a:rPr lang="en-GB" altLang="en-US" sz="1800" dirty="0"/>
              <a:t>The premium is paid by the holder of an option to the writer. </a:t>
            </a:r>
            <a:br>
              <a:rPr lang="en-GB" altLang="en-US" sz="1800" dirty="0"/>
            </a:br>
            <a:r>
              <a:rPr lang="en-GB" altLang="en-US" sz="1800" dirty="0"/>
              <a:t>It represents the value of the right to buy (call) or sell (put) at the strike.</a:t>
            </a:r>
          </a:p>
          <a:p>
            <a:pPr>
              <a:lnSpc>
                <a:spcPct val="100000"/>
              </a:lnSpc>
            </a:pPr>
            <a:endParaRPr lang="en-GB" altLang="en-US" sz="1800" dirty="0"/>
          </a:p>
          <a:p>
            <a:pPr marL="0" indent="0">
              <a:lnSpc>
                <a:spcPct val="100000"/>
              </a:lnSpc>
              <a:buNone/>
            </a:pPr>
            <a:r>
              <a:rPr lang="en-GB" altLang="en-US" sz="1800" dirty="0"/>
              <a:t>The premium may be split into two components, </a:t>
            </a:r>
            <a:r>
              <a:rPr lang="en-GB" altLang="en-US" sz="1800" b="1" dirty="0"/>
              <a:t>intrinsic value </a:t>
            </a:r>
            <a:r>
              <a:rPr lang="en-GB" altLang="en-US" sz="1800" dirty="0"/>
              <a:t>and </a:t>
            </a:r>
            <a:r>
              <a:rPr lang="en-GB" altLang="en-US" sz="1800" b="1" dirty="0"/>
              <a:t>time value</a:t>
            </a:r>
            <a:r>
              <a:rPr lang="en-GB" altLang="en-US" sz="1800" dirty="0"/>
              <a:t>:</a:t>
            </a:r>
          </a:p>
          <a:p>
            <a:pPr lvl="1">
              <a:lnSpc>
                <a:spcPct val="100000"/>
              </a:lnSpc>
            </a:pPr>
            <a:r>
              <a:rPr lang="en-GB" altLang="en-US" sz="1800" b="1" dirty="0"/>
              <a:t>Intrinsic value </a:t>
            </a:r>
            <a:r>
              <a:rPr lang="en-GB" altLang="en-US" sz="1800" dirty="0"/>
              <a:t>is the built-in profit the option has by virtue of the underlying’s price and its strike price. For example, a 100 call when the underlying is trading at 110 will have intrinsic value of 10. </a:t>
            </a:r>
            <a:br>
              <a:rPr lang="en-GB" altLang="en-US" sz="1800" dirty="0"/>
            </a:br>
            <a:r>
              <a:rPr lang="en-GB" altLang="en-US" sz="1800" b="1" dirty="0"/>
              <a:t>Note: </a:t>
            </a:r>
            <a:r>
              <a:rPr lang="en-GB" altLang="en-US" sz="1800" dirty="0"/>
              <a:t>Intrinsic value will be positive or zero.</a:t>
            </a:r>
          </a:p>
          <a:p>
            <a:pPr lvl="1">
              <a:lnSpc>
                <a:spcPct val="100000"/>
              </a:lnSpc>
            </a:pPr>
            <a:r>
              <a:rPr lang="en-GB" altLang="en-US" sz="1800" b="1" dirty="0"/>
              <a:t>Time value </a:t>
            </a:r>
            <a:r>
              <a:rPr lang="en-GB" altLang="en-US" sz="1800" dirty="0"/>
              <a:t>represents the remaining life the option has regardless of any intrinsic value:</a:t>
            </a:r>
          </a:p>
          <a:p>
            <a:pPr lvl="1">
              <a:lnSpc>
                <a:spcPct val="100000"/>
              </a:lnSpc>
            </a:pPr>
            <a:endParaRPr lang="en-GB" altLang="en-US" sz="1800" dirty="0"/>
          </a:p>
          <a:p>
            <a:pPr marL="0" indent="0">
              <a:lnSpc>
                <a:spcPct val="100000"/>
              </a:lnSpc>
              <a:buNone/>
            </a:pPr>
            <a:r>
              <a:rPr lang="en-GB" altLang="en-US" sz="1800" dirty="0"/>
              <a:t>		</a:t>
            </a:r>
            <a:r>
              <a:rPr lang="en-GB" altLang="en-US" sz="1800" b="1" dirty="0"/>
              <a:t>Premium = Intrinsic value + Time value</a:t>
            </a:r>
          </a:p>
        </p:txBody>
      </p:sp>
    </p:spTree>
    <p:extLst>
      <p:ext uri="{BB962C8B-B14F-4D97-AF65-F5344CB8AC3E}">
        <p14:creationId xmlns:p14="http://schemas.microsoft.com/office/powerpoint/2010/main" val="32545048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
          <p:cNvSpPr>
            <a:spLocks noGrp="1"/>
          </p:cNvSpPr>
          <p:nvPr>
            <p:ph type="title"/>
          </p:nvPr>
        </p:nvSpPr>
        <p:spPr/>
        <p:txBody>
          <a:bodyPr/>
          <a:lstStyle/>
          <a:p>
            <a:r>
              <a:rPr lang="en-US" altLang="en-US" sz="3200" dirty="0"/>
              <a:t>Factors That Influence The Option Premium</a:t>
            </a:r>
          </a:p>
        </p:txBody>
      </p:sp>
      <p:sp>
        <p:nvSpPr>
          <p:cNvPr id="128003" name="Rectangle 11"/>
          <p:cNvSpPr>
            <a:spLocks noGrp="1"/>
          </p:cNvSpPr>
          <p:nvPr>
            <p:ph sz="quarter" idx="4294967295"/>
          </p:nvPr>
        </p:nvSpPr>
        <p:spPr>
          <a:xfrm>
            <a:off x="590872" y="1166813"/>
            <a:ext cx="8229600" cy="4068762"/>
          </a:xfrm>
        </p:spPr>
        <p:txBody>
          <a:bodyPr/>
          <a:lstStyle/>
          <a:p>
            <a:pPr>
              <a:lnSpc>
                <a:spcPct val="100000"/>
              </a:lnSpc>
            </a:pPr>
            <a:r>
              <a:rPr lang="en-GB" altLang="en-US" sz="1800" dirty="0"/>
              <a:t>There are five factors that drive option premiums:</a:t>
            </a:r>
          </a:p>
          <a:p>
            <a:pPr lvl="1">
              <a:lnSpc>
                <a:spcPct val="100000"/>
              </a:lnSpc>
            </a:pPr>
            <a:r>
              <a:rPr lang="en-GB" altLang="en-US" sz="1800" dirty="0"/>
              <a:t>The price of the underlying</a:t>
            </a:r>
          </a:p>
          <a:p>
            <a:pPr lvl="1">
              <a:lnSpc>
                <a:spcPct val="100000"/>
              </a:lnSpc>
            </a:pPr>
            <a:r>
              <a:rPr lang="en-GB" altLang="en-US" sz="1800" dirty="0"/>
              <a:t>The strike price of the option</a:t>
            </a:r>
          </a:p>
          <a:p>
            <a:pPr lvl="1">
              <a:lnSpc>
                <a:spcPct val="100000"/>
              </a:lnSpc>
            </a:pPr>
            <a:r>
              <a:rPr lang="en-GB" altLang="en-US" sz="1800" dirty="0"/>
              <a:t>The option’s remaining life</a:t>
            </a:r>
          </a:p>
          <a:p>
            <a:pPr lvl="1">
              <a:lnSpc>
                <a:spcPct val="100000"/>
              </a:lnSpc>
            </a:pPr>
            <a:r>
              <a:rPr lang="en-GB" altLang="en-US" sz="1800" dirty="0"/>
              <a:t>The volatility of the underlying asset</a:t>
            </a:r>
          </a:p>
          <a:p>
            <a:pPr lvl="1">
              <a:lnSpc>
                <a:spcPct val="100000"/>
              </a:lnSpc>
            </a:pPr>
            <a:r>
              <a:rPr lang="en-GB" altLang="en-US" sz="1800" dirty="0"/>
              <a:t>Interest rates</a:t>
            </a:r>
          </a:p>
          <a:p>
            <a:pPr>
              <a:lnSpc>
                <a:spcPct val="100000"/>
              </a:lnSpc>
            </a:pPr>
            <a:r>
              <a:rPr lang="en-GB" altLang="en-US" sz="1800" dirty="0"/>
              <a:t>These are usually input into a pricing model to calculate a return:</a:t>
            </a:r>
          </a:p>
        </p:txBody>
      </p:sp>
      <p:sp>
        <p:nvSpPr>
          <p:cNvPr id="128004" name="Text Box 4"/>
          <p:cNvSpPr txBox="1">
            <a:spLocks noChangeArrowheads="1"/>
          </p:cNvSpPr>
          <p:nvPr/>
        </p:nvSpPr>
        <p:spPr bwMode="auto">
          <a:xfrm>
            <a:off x="3713503" y="4829725"/>
            <a:ext cx="2660650" cy="641350"/>
          </a:xfrm>
          <a:prstGeom prst="rect">
            <a:avLst/>
          </a:prstGeom>
          <a:solidFill>
            <a:srgbClr val="7DAED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a:t>Option pricing model </a:t>
            </a:r>
            <a:br>
              <a:rPr lang="en-GB" altLang="en-US"/>
            </a:br>
            <a:r>
              <a:rPr lang="en-GB" altLang="en-US"/>
              <a:t>e.g. </a:t>
            </a:r>
            <a:r>
              <a:rPr lang="en-GB" altLang="en-US" b="1"/>
              <a:t>Black-Scholes</a:t>
            </a:r>
          </a:p>
        </p:txBody>
      </p:sp>
      <p:sp>
        <p:nvSpPr>
          <p:cNvPr id="128005" name="AutoShape 7"/>
          <p:cNvSpPr>
            <a:spLocks noChangeArrowheads="1"/>
          </p:cNvSpPr>
          <p:nvPr/>
        </p:nvSpPr>
        <p:spPr bwMode="auto">
          <a:xfrm>
            <a:off x="6542428" y="4823375"/>
            <a:ext cx="457200" cy="663575"/>
          </a:xfrm>
          <a:prstGeom prst="rightArrow">
            <a:avLst>
              <a:gd name="adj1" fmla="val 50000"/>
              <a:gd name="adj2" fmla="val 25000"/>
            </a:avLst>
          </a:prstGeom>
          <a:solidFill>
            <a:schemeClr val="accent1"/>
          </a:solidFill>
          <a:ln w="22225">
            <a:solidFill>
              <a:schemeClr val="bg2"/>
            </a:solidFill>
            <a:miter lim="800000"/>
            <a:headEnd/>
            <a:tailEnd/>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8006" name="Text Box 8"/>
          <p:cNvSpPr txBox="1">
            <a:spLocks noChangeArrowheads="1"/>
          </p:cNvSpPr>
          <p:nvPr/>
        </p:nvSpPr>
        <p:spPr bwMode="auto">
          <a:xfrm>
            <a:off x="6759916" y="4945612"/>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GB" altLang="en-US" b="1"/>
              <a:t>Premium value</a:t>
            </a:r>
          </a:p>
        </p:txBody>
      </p:sp>
      <p:sp>
        <p:nvSpPr>
          <p:cNvPr id="128007" name="Text Box 13"/>
          <p:cNvSpPr txBox="1">
            <a:spLocks noChangeAspect="1" noChangeArrowheads="1"/>
          </p:cNvSpPr>
          <p:nvPr/>
        </p:nvSpPr>
        <p:spPr bwMode="auto">
          <a:xfrm>
            <a:off x="443253" y="4228062"/>
            <a:ext cx="2608263" cy="2016125"/>
          </a:xfrm>
          <a:prstGeom prst="rect">
            <a:avLst/>
          </a:prstGeom>
          <a:solidFill>
            <a:srgbClr val="DAE3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rIns="10800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400" dirty="0"/>
              <a:t>The price of the underlying</a:t>
            </a:r>
            <a:br>
              <a:rPr lang="en-GB" altLang="en-US" sz="1400" dirty="0"/>
            </a:br>
            <a:endParaRPr lang="en-GB" altLang="en-US" sz="1400" dirty="0"/>
          </a:p>
          <a:p>
            <a:pPr eaLnBrk="1" hangingPunct="1"/>
            <a:r>
              <a:rPr lang="en-GB" altLang="en-US" sz="1400" dirty="0"/>
              <a:t>The strike price of the option</a:t>
            </a:r>
            <a:br>
              <a:rPr lang="en-GB" altLang="en-US" sz="1400" dirty="0"/>
            </a:br>
            <a:endParaRPr lang="en-GB" altLang="en-US" sz="1400" dirty="0"/>
          </a:p>
          <a:p>
            <a:pPr eaLnBrk="1" hangingPunct="1"/>
            <a:r>
              <a:rPr lang="en-GB" altLang="en-US" sz="1400" dirty="0"/>
              <a:t>Volatility</a:t>
            </a:r>
            <a:br>
              <a:rPr lang="en-GB" altLang="en-US" sz="1400" dirty="0"/>
            </a:br>
            <a:endParaRPr lang="en-GB" altLang="en-US" sz="1400" dirty="0"/>
          </a:p>
          <a:p>
            <a:pPr eaLnBrk="1" hangingPunct="1"/>
            <a:r>
              <a:rPr lang="en-GB" altLang="en-US" sz="1400" dirty="0"/>
              <a:t>The option’s remaining life</a:t>
            </a:r>
            <a:br>
              <a:rPr lang="en-GB" altLang="en-US" sz="1400" dirty="0"/>
            </a:br>
            <a:endParaRPr lang="en-GB" altLang="en-US" sz="1400" dirty="0"/>
          </a:p>
          <a:p>
            <a:pPr eaLnBrk="1" hangingPunct="1"/>
            <a:r>
              <a:rPr lang="en-GB" altLang="en-US" sz="1400" dirty="0"/>
              <a:t>Interest rates</a:t>
            </a:r>
          </a:p>
        </p:txBody>
      </p:sp>
      <p:sp>
        <p:nvSpPr>
          <p:cNvPr id="128008" name="AutoShape 7"/>
          <p:cNvSpPr>
            <a:spLocks noChangeArrowheads="1"/>
          </p:cNvSpPr>
          <p:nvPr/>
        </p:nvSpPr>
        <p:spPr bwMode="auto">
          <a:xfrm>
            <a:off x="3121366" y="4813850"/>
            <a:ext cx="457200" cy="663575"/>
          </a:xfrm>
          <a:prstGeom prst="rightArrow">
            <a:avLst>
              <a:gd name="adj1" fmla="val 50000"/>
              <a:gd name="adj2" fmla="val 25000"/>
            </a:avLst>
          </a:prstGeom>
          <a:solidFill>
            <a:schemeClr val="accent1"/>
          </a:solidFill>
          <a:ln w="22225">
            <a:solidFill>
              <a:schemeClr val="bg2"/>
            </a:solidFill>
            <a:miter lim="800000"/>
            <a:headEnd/>
            <a:tailEnd/>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34024672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1"/>
          <p:cNvSpPr>
            <a:spLocks noGrp="1"/>
          </p:cNvSpPr>
          <p:nvPr>
            <p:ph type="title"/>
          </p:nvPr>
        </p:nvSpPr>
        <p:spPr/>
        <p:txBody>
          <a:bodyPr/>
          <a:lstStyle/>
          <a:p>
            <a:r>
              <a:rPr lang="en-US" altLang="en-US"/>
              <a:t>Interest Rate Swaps</a:t>
            </a:r>
          </a:p>
        </p:txBody>
      </p:sp>
      <p:sp>
        <p:nvSpPr>
          <p:cNvPr id="82947" name="Rectangle 12"/>
          <p:cNvSpPr>
            <a:spLocks noGrp="1"/>
          </p:cNvSpPr>
          <p:nvPr>
            <p:ph sz="quarter" idx="4294967295"/>
          </p:nvPr>
        </p:nvSpPr>
        <p:spPr>
          <a:xfrm>
            <a:off x="611560" y="1166813"/>
            <a:ext cx="8229600" cy="4068762"/>
          </a:xfrm>
        </p:spPr>
        <p:txBody>
          <a:bodyPr/>
          <a:lstStyle/>
          <a:p>
            <a:pPr marL="0" indent="0">
              <a:lnSpc>
                <a:spcPct val="100000"/>
              </a:lnSpc>
              <a:buNone/>
            </a:pPr>
            <a:r>
              <a:rPr lang="en-US" altLang="en-US" sz="1800" dirty="0"/>
              <a:t>An interest rate swap is an agreement in which floating interest payments are swapped for fixed interest payments on a reference, or notional, principal amount.</a:t>
            </a:r>
          </a:p>
          <a:p>
            <a:pPr marL="0" indent="0">
              <a:lnSpc>
                <a:spcPct val="100000"/>
              </a:lnSpc>
              <a:buNone/>
            </a:pPr>
            <a:endParaRPr lang="en-US" altLang="en-US" sz="1800" dirty="0"/>
          </a:p>
          <a:p>
            <a:pPr marL="0" indent="0">
              <a:lnSpc>
                <a:spcPct val="100000"/>
              </a:lnSpc>
              <a:buNone/>
            </a:pPr>
            <a:endParaRPr lang="en-US" altLang="en-US" sz="1800" dirty="0"/>
          </a:p>
          <a:p>
            <a:pPr marL="0" indent="0">
              <a:lnSpc>
                <a:spcPct val="100000"/>
              </a:lnSpc>
              <a:buNone/>
            </a:pPr>
            <a:endParaRPr lang="en-US" altLang="en-US" sz="1800" dirty="0"/>
          </a:p>
          <a:p>
            <a:pPr>
              <a:lnSpc>
                <a:spcPct val="100000"/>
              </a:lnSpc>
            </a:pPr>
            <a:endParaRPr lang="en-US" altLang="en-US" sz="1800" dirty="0"/>
          </a:p>
          <a:p>
            <a:pPr>
              <a:lnSpc>
                <a:spcPct val="100000"/>
              </a:lnSpc>
            </a:pPr>
            <a:endParaRPr lang="en-US" altLang="en-US" sz="1800" dirty="0"/>
          </a:p>
          <a:p>
            <a:pPr>
              <a:lnSpc>
                <a:spcPct val="100000"/>
              </a:lnSpc>
            </a:pPr>
            <a:endParaRPr lang="en-US" altLang="en-US" sz="1800" dirty="0"/>
          </a:p>
          <a:p>
            <a:pPr>
              <a:lnSpc>
                <a:spcPct val="100000"/>
              </a:lnSpc>
            </a:pPr>
            <a:endParaRPr lang="en-US" altLang="en-US" sz="1800" dirty="0"/>
          </a:p>
          <a:p>
            <a:pPr>
              <a:lnSpc>
                <a:spcPct val="100000"/>
              </a:lnSpc>
            </a:pPr>
            <a:endParaRPr lang="en-US" altLang="en-US" sz="1800" dirty="0"/>
          </a:p>
          <a:p>
            <a:pPr marL="0" indent="0">
              <a:lnSpc>
                <a:spcPct val="100000"/>
              </a:lnSpc>
              <a:buNone/>
            </a:pPr>
            <a:r>
              <a:rPr lang="en-US" altLang="en-US" sz="1800" dirty="0"/>
              <a:t>It is important to remember the main features of an interest rate swap:</a:t>
            </a:r>
          </a:p>
          <a:p>
            <a:pPr lvl="1">
              <a:lnSpc>
                <a:spcPct val="100000"/>
              </a:lnSpc>
            </a:pPr>
            <a:r>
              <a:rPr lang="en-US" altLang="en-US" sz="1800" dirty="0"/>
              <a:t>The term</a:t>
            </a:r>
          </a:p>
          <a:p>
            <a:pPr lvl="1">
              <a:lnSpc>
                <a:spcPct val="100000"/>
              </a:lnSpc>
            </a:pPr>
            <a:r>
              <a:rPr lang="en-US" altLang="en-US" sz="1800" dirty="0"/>
              <a:t>The notional</a:t>
            </a:r>
          </a:p>
          <a:p>
            <a:pPr lvl="1">
              <a:lnSpc>
                <a:spcPct val="100000"/>
              </a:lnSpc>
            </a:pPr>
            <a:r>
              <a:rPr lang="en-US" altLang="en-US" sz="1800" dirty="0"/>
              <a:t>The cash flow calculations</a:t>
            </a:r>
          </a:p>
          <a:p>
            <a:pPr lvl="1">
              <a:lnSpc>
                <a:spcPct val="100000"/>
              </a:lnSpc>
            </a:pPr>
            <a:r>
              <a:rPr lang="en-US" altLang="en-US" sz="1800" dirty="0"/>
              <a:t>The frequency</a:t>
            </a:r>
          </a:p>
        </p:txBody>
      </p:sp>
      <p:sp>
        <p:nvSpPr>
          <p:cNvPr id="82948" name="Text Box 4"/>
          <p:cNvSpPr txBox="1">
            <a:spLocks noChangeArrowheads="1"/>
          </p:cNvSpPr>
          <p:nvPr/>
        </p:nvSpPr>
        <p:spPr bwMode="auto">
          <a:xfrm>
            <a:off x="1435624" y="2754298"/>
            <a:ext cx="1577975" cy="587375"/>
          </a:xfrm>
          <a:prstGeom prst="rect">
            <a:avLst/>
          </a:prstGeom>
          <a:solidFill>
            <a:srgbClr val="DAE3EA"/>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GB" altLang="en-US" sz="1600" b="1"/>
              <a:t>Fixed Rate Payer</a:t>
            </a:r>
          </a:p>
        </p:txBody>
      </p:sp>
      <p:sp>
        <p:nvSpPr>
          <p:cNvPr id="82949" name="Text Box 5"/>
          <p:cNvSpPr txBox="1">
            <a:spLocks noChangeArrowheads="1"/>
          </p:cNvSpPr>
          <p:nvPr/>
        </p:nvSpPr>
        <p:spPr bwMode="auto">
          <a:xfrm>
            <a:off x="6536262" y="2754298"/>
            <a:ext cx="1589087" cy="587375"/>
          </a:xfrm>
          <a:prstGeom prst="rect">
            <a:avLst/>
          </a:prstGeom>
          <a:solidFill>
            <a:srgbClr val="DAE3EA"/>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GB" altLang="en-US" sz="1600" b="1"/>
              <a:t>Fixed Rate Receiver</a:t>
            </a:r>
          </a:p>
        </p:txBody>
      </p:sp>
      <p:sp>
        <p:nvSpPr>
          <p:cNvPr id="82950" name="Line 6"/>
          <p:cNvSpPr>
            <a:spLocks noChangeShapeType="1"/>
          </p:cNvSpPr>
          <p:nvPr/>
        </p:nvSpPr>
        <p:spPr bwMode="auto">
          <a:xfrm>
            <a:off x="3256487" y="2970198"/>
            <a:ext cx="3025775" cy="0"/>
          </a:xfrm>
          <a:prstGeom prst="line">
            <a:avLst/>
          </a:prstGeom>
          <a:noFill/>
          <a:ln w="25400">
            <a:solidFill>
              <a:srgbClr val="CC0033"/>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82951" name="Text Box 7"/>
          <p:cNvSpPr txBox="1">
            <a:spLocks noChangeArrowheads="1"/>
          </p:cNvSpPr>
          <p:nvPr/>
        </p:nvSpPr>
        <p:spPr bwMode="auto">
          <a:xfrm>
            <a:off x="2927874" y="2308211"/>
            <a:ext cx="3736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GB" altLang="en-US" sz="1600"/>
              <a:t>Fixed interest rate on a </a:t>
            </a:r>
            <a:r>
              <a:rPr lang="en-GB" altLang="en-US" sz="1600" b="1"/>
              <a:t>notional</a:t>
            </a:r>
            <a:r>
              <a:rPr lang="en-GB" altLang="en-US" sz="1600"/>
              <a:t> amount for the </a:t>
            </a:r>
            <a:r>
              <a:rPr lang="en-GB" altLang="en-US" sz="1600" b="1"/>
              <a:t>term</a:t>
            </a:r>
            <a:r>
              <a:rPr lang="en-GB" altLang="en-US" sz="1600"/>
              <a:t> of the swap</a:t>
            </a:r>
          </a:p>
        </p:txBody>
      </p:sp>
      <p:sp>
        <p:nvSpPr>
          <p:cNvPr id="82952" name="Text Box 8"/>
          <p:cNvSpPr txBox="1">
            <a:spLocks noChangeArrowheads="1"/>
          </p:cNvSpPr>
          <p:nvPr/>
        </p:nvSpPr>
        <p:spPr bwMode="auto">
          <a:xfrm>
            <a:off x="2804049" y="3382948"/>
            <a:ext cx="39243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GB" altLang="en-US" sz="1600"/>
              <a:t>Floating interest rate on a notional amount for the term of the swap</a:t>
            </a:r>
          </a:p>
        </p:txBody>
      </p:sp>
      <p:sp>
        <p:nvSpPr>
          <p:cNvPr id="82953" name="Freeform 9"/>
          <p:cNvSpPr>
            <a:spLocks/>
          </p:cNvSpPr>
          <p:nvPr/>
        </p:nvSpPr>
        <p:spPr bwMode="auto">
          <a:xfrm flipH="1">
            <a:off x="3329512" y="3043223"/>
            <a:ext cx="2879725" cy="298450"/>
          </a:xfrm>
          <a:custGeom>
            <a:avLst/>
            <a:gdLst>
              <a:gd name="T0" fmla="*/ 0 w 2132"/>
              <a:gd name="T1" fmla="*/ 2147483646 h 203"/>
              <a:gd name="T2" fmla="*/ 2147483646 w 2132"/>
              <a:gd name="T3" fmla="*/ 2147483646 h 203"/>
              <a:gd name="T4" fmla="*/ 2147483646 w 2132"/>
              <a:gd name="T5" fmla="*/ 2147483646 h 203"/>
              <a:gd name="T6" fmla="*/ 2147483646 w 2132"/>
              <a:gd name="T7" fmla="*/ 2147483646 h 203"/>
              <a:gd name="T8" fmla="*/ 2147483646 w 2132"/>
              <a:gd name="T9" fmla="*/ 2147483646 h 203"/>
              <a:gd name="T10" fmla="*/ 2147483646 w 2132"/>
              <a:gd name="T11" fmla="*/ 2147483646 h 203"/>
              <a:gd name="T12" fmla="*/ 0 60000 65536"/>
              <a:gd name="T13" fmla="*/ 0 60000 65536"/>
              <a:gd name="T14" fmla="*/ 0 60000 65536"/>
              <a:gd name="T15" fmla="*/ 0 60000 65536"/>
              <a:gd name="T16" fmla="*/ 0 60000 65536"/>
              <a:gd name="T17" fmla="*/ 0 60000 65536"/>
              <a:gd name="T18" fmla="*/ 0 w 2132"/>
              <a:gd name="T19" fmla="*/ 0 h 203"/>
              <a:gd name="T20" fmla="*/ 2132 w 2132"/>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2132" h="203">
                <a:moveTo>
                  <a:pt x="0" y="143"/>
                </a:moveTo>
                <a:cubicBezTo>
                  <a:pt x="151" y="71"/>
                  <a:pt x="302" y="0"/>
                  <a:pt x="453" y="7"/>
                </a:cubicBezTo>
                <a:cubicBezTo>
                  <a:pt x="604" y="14"/>
                  <a:pt x="748" y="188"/>
                  <a:pt x="907" y="188"/>
                </a:cubicBezTo>
                <a:cubicBezTo>
                  <a:pt x="1066" y="188"/>
                  <a:pt x="1247" y="7"/>
                  <a:pt x="1406" y="7"/>
                </a:cubicBezTo>
                <a:cubicBezTo>
                  <a:pt x="1565" y="7"/>
                  <a:pt x="1739" y="173"/>
                  <a:pt x="1860" y="188"/>
                </a:cubicBezTo>
                <a:cubicBezTo>
                  <a:pt x="1981" y="203"/>
                  <a:pt x="2056" y="150"/>
                  <a:pt x="2132" y="97"/>
                </a:cubicBezTo>
              </a:path>
            </a:pathLst>
          </a:custGeom>
          <a:noFill/>
          <a:ln w="25400">
            <a:solidFill>
              <a:srgbClr val="CC003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GB"/>
          </a:p>
        </p:txBody>
      </p:sp>
    </p:spTree>
    <p:extLst>
      <p:ext uri="{BB962C8B-B14F-4D97-AF65-F5344CB8AC3E}">
        <p14:creationId xmlns:p14="http://schemas.microsoft.com/office/powerpoint/2010/main" val="362681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Credit Derivatives</a:t>
            </a:r>
          </a:p>
        </p:txBody>
      </p:sp>
      <p:sp>
        <p:nvSpPr>
          <p:cNvPr id="5" name="Text Placeholder 4"/>
          <p:cNvSpPr>
            <a:spLocks noGrp="1"/>
          </p:cNvSpPr>
          <p:nvPr>
            <p:ph type="body" idx="4294967295"/>
          </p:nvPr>
        </p:nvSpPr>
        <p:spPr>
          <a:xfrm>
            <a:off x="570111" y="1268413"/>
            <a:ext cx="8034337" cy="4752975"/>
          </a:xfrm>
        </p:spPr>
        <p:txBody>
          <a:bodyPr/>
          <a:lstStyle/>
          <a:p>
            <a:pPr marL="90487" lvl="1" indent="0">
              <a:buNone/>
            </a:pPr>
            <a:r>
              <a:rPr lang="en-GB" sz="1800" dirty="0"/>
              <a:t>Credit default swap</a:t>
            </a:r>
          </a:p>
          <a:p>
            <a:pPr marL="90487" lvl="1" indent="0">
              <a:buNone/>
            </a:pPr>
            <a:endParaRPr lang="en-GB" sz="1800" dirty="0"/>
          </a:p>
          <a:p>
            <a:pPr lvl="2">
              <a:buFont typeface="Wingdings" panose="05000000000000000000" pitchFamily="2" charset="2"/>
              <a:buChar char="§"/>
            </a:pPr>
            <a:r>
              <a:rPr lang="en-GB" sz="1800" dirty="0"/>
              <a:t>A buyer pays a premium to a seller for protection against bond default</a:t>
            </a:r>
          </a:p>
          <a:p>
            <a:pPr lvl="2">
              <a:buFont typeface="Wingdings" panose="05000000000000000000" pitchFamily="2" charset="2"/>
              <a:buChar char="§"/>
            </a:pPr>
            <a:r>
              <a:rPr lang="en-GB" sz="1800" dirty="0"/>
              <a:t>If default occurs:</a:t>
            </a:r>
          </a:p>
          <a:p>
            <a:pPr lvl="3"/>
            <a:r>
              <a:rPr lang="en-GB" dirty="0"/>
              <a:t>The seller receives the bond and pays the face value to the buyer (physical settlement); or</a:t>
            </a:r>
          </a:p>
          <a:p>
            <a:pPr lvl="3"/>
            <a:r>
              <a:rPr lang="en-GB" dirty="0"/>
              <a:t>The seller pays agreed notional principle to the buyer (cash settlement)</a:t>
            </a:r>
          </a:p>
        </p:txBody>
      </p:sp>
    </p:spTree>
    <p:extLst>
      <p:ext uri="{BB962C8B-B14F-4D97-AF65-F5344CB8AC3E}">
        <p14:creationId xmlns:p14="http://schemas.microsoft.com/office/powerpoint/2010/main" val="2125428794"/>
      </p:ext>
    </p:extLst>
  </p:cSld>
  <p:clrMapOvr>
    <a:masterClrMapping/>
  </p:clrMapOvr>
</p:sld>
</file>

<file path=ppt/theme/theme1.xml><?xml version="1.0" encoding="utf-8"?>
<a:theme xmlns:a="http://schemas.openxmlformats.org/drawingml/2006/main" name="Custom Design">
  <a:themeElements>
    <a:clrScheme name="Kaplan test 1">
      <a:dk1>
        <a:srgbClr val="352F84"/>
      </a:dk1>
      <a:lt1>
        <a:srgbClr val="FFFFFF"/>
      </a:lt1>
      <a:dk2>
        <a:srgbClr val="EB529D"/>
      </a:dk2>
      <a:lt2>
        <a:srgbClr val="FFC425"/>
      </a:lt2>
      <a:accent1>
        <a:srgbClr val="0070C0"/>
      </a:accent1>
      <a:accent2>
        <a:srgbClr val="00B0F0"/>
      </a:accent2>
      <a:accent3>
        <a:srgbClr val="00B050"/>
      </a:accent3>
      <a:accent4>
        <a:srgbClr val="92D050"/>
      </a:accent4>
      <a:accent5>
        <a:srgbClr val="FF0000"/>
      </a:accent5>
      <a:accent6>
        <a:srgbClr val="F47B20"/>
      </a:accent6>
      <a:hlink>
        <a:srgbClr val="0000FF"/>
      </a:hlink>
      <a:folHlink>
        <a:srgbClr val="00A5D9"/>
      </a:folHlink>
    </a:clrScheme>
    <a:fontScheme name="Kaplan test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AAA42"/>
        </a:solidFill>
        <a:ln>
          <a:noFill/>
        </a:ln>
        <a:effectLst/>
        <a:scene3d>
          <a:camera prst="orthographicFront">
            <a:rot lat="0" lon="0" rev="0"/>
          </a:camera>
          <a:lightRig rig="contrasting" dir="t">
            <a:rot lat="0" lon="0" rev="7800000"/>
          </a:lightRig>
        </a:scene3d>
        <a:sp3d>
          <a:bevelT w="139700" h="139700"/>
        </a:sp3d>
      </a:spPr>
      <a:bodyPr anchor="ctr"/>
      <a:lstStyle>
        <a:defPPr algn="ctr">
          <a:defRPr sz="2000" dirty="0">
            <a:latin typeface="Calibri" pitchFamily="34" charset="0"/>
            <a:cs typeface="Calibri"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2000" dirty="0" err="1" smtClean="0">
            <a:solidFill>
              <a:srgbClr val="232F84"/>
            </a:solidFill>
            <a:latin typeface="Calibri" pitchFamily="34" charset="0"/>
            <a:cs typeface="Calibri" pitchFamily="34" charset="0"/>
          </a:defRPr>
        </a:defPPr>
      </a:lstStyle>
    </a:tx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7233</TotalTime>
  <Words>6899</Words>
  <Application>Microsoft Office PowerPoint</Application>
  <PresentationFormat>On-screen Show (4:3)</PresentationFormat>
  <Paragraphs>818</Paragraphs>
  <Slides>69</Slides>
  <Notes>68</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69</vt:i4>
      </vt:variant>
    </vt:vector>
  </HeadingPairs>
  <TitlesOfParts>
    <vt:vector size="80" baseType="lpstr">
      <vt:lpstr>ＭＳ Ｐゴシック</vt:lpstr>
      <vt:lpstr>ヒラギノ角ゴ Pro W3</vt:lpstr>
      <vt:lpstr>Arial</vt:lpstr>
      <vt:lpstr>Calibri</vt:lpstr>
      <vt:lpstr>Cambria Math</vt:lpstr>
      <vt:lpstr>Courier New</vt:lpstr>
      <vt:lpstr>Times New Roman</vt:lpstr>
      <vt:lpstr>Wingdings</vt:lpstr>
      <vt:lpstr>Custom Design</vt:lpstr>
      <vt:lpstr>1_Custom Design</vt:lpstr>
      <vt:lpstr>Equation</vt:lpstr>
      <vt:lpstr> Global Financial Markets: The Big Picture</vt:lpstr>
      <vt:lpstr>Financial Markets</vt:lpstr>
      <vt:lpstr>PowerPoint Presentation</vt:lpstr>
      <vt:lpstr>Market Participants (Wholesale)</vt:lpstr>
      <vt:lpstr>Sell-side – A typical Investment Bank</vt:lpstr>
      <vt:lpstr> Buy Side – an Asset Management Firm </vt:lpstr>
      <vt:lpstr>Different Investment Philosophies</vt:lpstr>
      <vt:lpstr>Buy Side – Hedge Funds</vt:lpstr>
      <vt:lpstr>Active vs. Passive vs. Absolute Returns</vt:lpstr>
      <vt:lpstr> Market Economics</vt:lpstr>
      <vt:lpstr>Central Banks</vt:lpstr>
      <vt:lpstr>Inflation</vt:lpstr>
      <vt:lpstr>Circular Flow of Income       </vt:lpstr>
      <vt:lpstr>Gross Domestic Product (GDP) </vt:lpstr>
      <vt:lpstr>Equity Markets</vt:lpstr>
      <vt:lpstr>Equity Features</vt:lpstr>
      <vt:lpstr>PowerPoint Presentation</vt:lpstr>
      <vt:lpstr>Equity Issuance Methods</vt:lpstr>
      <vt:lpstr>Further Issuance (Follow – On Offerings)</vt:lpstr>
      <vt:lpstr>Alternative Trading Venues </vt:lpstr>
      <vt:lpstr>PowerPoint Presentation</vt:lpstr>
      <vt:lpstr> Interest Rates, Money Markets and FX  </vt:lpstr>
      <vt:lpstr>Reference Rates</vt:lpstr>
      <vt:lpstr>Reference Rates</vt:lpstr>
      <vt:lpstr>Reference Rates</vt:lpstr>
      <vt:lpstr>Reference Rates</vt:lpstr>
      <vt:lpstr>Reference Rates</vt:lpstr>
      <vt:lpstr>Reference Rates</vt:lpstr>
      <vt:lpstr>Reference Rates</vt:lpstr>
      <vt:lpstr>  Money Markets Instruments </vt:lpstr>
      <vt:lpstr>T-Bills and Commercial Paper</vt:lpstr>
      <vt:lpstr>PowerPoint Presentation</vt:lpstr>
      <vt:lpstr>PowerPoint Presentation</vt:lpstr>
      <vt:lpstr>PowerPoint Presentation</vt:lpstr>
      <vt:lpstr>PowerPoint Presentation</vt:lpstr>
      <vt:lpstr>PowerPoint Presentation</vt:lpstr>
      <vt:lpstr> Foreign Exchange  </vt:lpstr>
      <vt:lpstr>Foreign Exchange (FX)</vt:lpstr>
      <vt:lpstr>Factors Affecting Foreign Exchange Rates</vt:lpstr>
      <vt:lpstr>Cryptocurrencies</vt:lpstr>
      <vt:lpstr>Distributed Ledger Technology (DLT)</vt:lpstr>
      <vt:lpstr>Bonds</vt:lpstr>
      <vt:lpstr>Fixed Income</vt:lpstr>
      <vt:lpstr>The Present Value of a Bond</vt:lpstr>
      <vt:lpstr>The Present Value of a Bond</vt:lpstr>
      <vt:lpstr> Accrued Interest </vt:lpstr>
      <vt:lpstr>Accrued Interest</vt:lpstr>
      <vt:lpstr> Bond risk </vt:lpstr>
      <vt:lpstr> Yields </vt:lpstr>
      <vt:lpstr> Yield Curves </vt:lpstr>
      <vt:lpstr>Corporate Debt</vt:lpstr>
      <vt:lpstr> Asset-backed securities (ABSs) </vt:lpstr>
      <vt:lpstr>Credit Ratings (Investment Grade)</vt:lpstr>
      <vt:lpstr>Derivatives</vt:lpstr>
      <vt:lpstr>Types of Derivatives</vt:lpstr>
      <vt:lpstr>PowerPoint Presentation</vt:lpstr>
      <vt:lpstr>Pricing Futures and Forwards</vt:lpstr>
      <vt:lpstr>Further Uses of Futures: Portfolio Hedging</vt:lpstr>
      <vt:lpstr>Long Hedge</vt:lpstr>
      <vt:lpstr>Short Hedge</vt:lpstr>
      <vt:lpstr>Options</vt:lpstr>
      <vt:lpstr>Options: Profit &amp; Loss Profiles</vt:lpstr>
      <vt:lpstr>PowerPoint Presentation</vt:lpstr>
      <vt:lpstr>PowerPoint Presentation</vt:lpstr>
      <vt:lpstr>PowerPoint Presentation</vt:lpstr>
      <vt:lpstr>Option Pricing</vt:lpstr>
      <vt:lpstr>Factors That Influence The Option Premium</vt:lpstr>
      <vt:lpstr>Interest Rate Swaps</vt:lpstr>
      <vt:lpstr>Credit Derivatives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heading</dc:title>
  <dc:creator>cdunham</dc:creator>
  <cp:lastModifiedBy>L C</cp:lastModifiedBy>
  <cp:revision>294</cp:revision>
  <cp:lastPrinted>2018-02-22T12:39:19Z</cp:lastPrinted>
  <dcterms:created xsi:type="dcterms:W3CDTF">2012-03-21T12:03:01Z</dcterms:created>
  <dcterms:modified xsi:type="dcterms:W3CDTF">2025-12-05T19:54:55Z</dcterms:modified>
</cp:coreProperties>
</file>