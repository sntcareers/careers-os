
<file path=[Content_Types].xml><?xml version="1.0" encoding="utf-8"?>
<Types xmlns="http://schemas.openxmlformats.org/package/2006/content-types">
  <Default Extension="fntdata" ContentType="application/x-fontdata"/>
  <Default Extension="gif" ContentType="image/gif"/>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0" r:id="rId2"/>
  </p:sldMasterIdLst>
  <p:notesMasterIdLst>
    <p:notesMasterId r:id="rId44"/>
  </p:notesMasterIdLst>
  <p:sldIdLst>
    <p:sldId id="315" r:id="rId3"/>
    <p:sldId id="257" r:id="rId4"/>
    <p:sldId id="318" r:id="rId5"/>
    <p:sldId id="317" r:id="rId6"/>
    <p:sldId id="316" r:id="rId7"/>
    <p:sldId id="259" r:id="rId8"/>
    <p:sldId id="260" r:id="rId9"/>
    <p:sldId id="263" r:id="rId10"/>
    <p:sldId id="264" r:id="rId11"/>
    <p:sldId id="270" r:id="rId12"/>
    <p:sldId id="267" r:id="rId13"/>
    <p:sldId id="271" r:id="rId14"/>
    <p:sldId id="319" r:id="rId15"/>
    <p:sldId id="280" r:id="rId16"/>
    <p:sldId id="266" r:id="rId17"/>
    <p:sldId id="273" r:id="rId18"/>
    <p:sldId id="272" r:id="rId19"/>
    <p:sldId id="277" r:id="rId20"/>
    <p:sldId id="278" r:id="rId21"/>
    <p:sldId id="279" r:id="rId22"/>
    <p:sldId id="281" r:id="rId23"/>
    <p:sldId id="285" r:id="rId24"/>
    <p:sldId id="320" r:id="rId25"/>
    <p:sldId id="287" r:id="rId26"/>
    <p:sldId id="288" r:id="rId27"/>
    <p:sldId id="289" r:id="rId28"/>
    <p:sldId id="290" r:id="rId29"/>
    <p:sldId id="291" r:id="rId30"/>
    <p:sldId id="292" r:id="rId31"/>
    <p:sldId id="293" r:id="rId32"/>
    <p:sldId id="294" r:id="rId33"/>
    <p:sldId id="297" r:id="rId34"/>
    <p:sldId id="298" r:id="rId35"/>
    <p:sldId id="299" r:id="rId36"/>
    <p:sldId id="300" r:id="rId37"/>
    <p:sldId id="301" r:id="rId38"/>
    <p:sldId id="302" r:id="rId39"/>
    <p:sldId id="303" r:id="rId40"/>
    <p:sldId id="305" r:id="rId41"/>
    <p:sldId id="306" r:id="rId42"/>
    <p:sldId id="307" r:id="rId43"/>
  </p:sldIdLst>
  <p:sldSz cx="12192000" cy="6858000"/>
  <p:notesSz cx="6858000" cy="9144000"/>
  <p:embeddedFontLst>
    <p:embeddedFont>
      <p:font typeface="Roboto" panose="02000000000000000000" pitchFamily="2" charset="0"/>
      <p:regular r:id="rId45"/>
      <p:bold r:id="rId46"/>
      <p:italic r:id="rId47"/>
      <p:boldItalic r:id="rId48"/>
    </p:embeddedFont>
    <p:embeddedFont>
      <p:font typeface="Roboto Medium" panose="02000000000000000000" pitchFamily="2" charset="0"/>
      <p:regular r:id="rId49"/>
      <p:bold r:id="rId50"/>
      <p:italic r:id="rId51"/>
      <p:boldItalic r:id="rId52"/>
    </p:embeddedFont>
    <p:embeddedFont>
      <p:font typeface="Roboto Mono" panose="00000009000000000000" pitchFamily="49" charset="0"/>
      <p:regular r:id="rId53"/>
      <p:bold r:id="rId54"/>
      <p:italic r:id="rId55"/>
      <p:boldItalic r:id="rId5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78" roundtripDataSignature="AMtx7mjE83ekKBxmBpkBmmCTwplLeLEi0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9" d="100"/>
          <a:sy n="59" d="100"/>
        </p:scale>
        <p:origin x="940" y="5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font" Target="fonts/font3.fntdata"/><Relationship Id="rId50" Type="http://schemas.openxmlformats.org/officeDocument/2006/relationships/font" Target="fonts/font6.fntdata"/><Relationship Id="rId55" Type="http://schemas.openxmlformats.org/officeDocument/2006/relationships/font" Target="fonts/font11.fntdata"/><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font" Target="fonts/font1.fntdata"/><Relationship Id="rId53" Type="http://schemas.openxmlformats.org/officeDocument/2006/relationships/font" Target="fonts/font9.fntdata"/><Relationship Id="rId79" Type="http://schemas.openxmlformats.org/officeDocument/2006/relationships/presProps" Target="presProps.xml"/><Relationship Id="rId5" Type="http://schemas.openxmlformats.org/officeDocument/2006/relationships/slide" Target="slides/slide3.xml"/><Relationship Id="rId82" Type="http://schemas.openxmlformats.org/officeDocument/2006/relationships/tableStyles" Target="tableStyles.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font" Target="fonts/font4.fntdata"/><Relationship Id="rId56" Type="http://schemas.openxmlformats.org/officeDocument/2006/relationships/font" Target="fonts/font12.fntdata"/><Relationship Id="rId8" Type="http://schemas.openxmlformats.org/officeDocument/2006/relationships/slide" Target="slides/slide6.xml"/><Relationship Id="rId51" Type="http://schemas.openxmlformats.org/officeDocument/2006/relationships/font" Target="fonts/font7.fntdata"/><Relationship Id="rId80" Type="http://schemas.openxmlformats.org/officeDocument/2006/relationships/viewProps" Target="viewProp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font" Target="fonts/font2.fntdata"/><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font" Target="fonts/font10.fntdata"/><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font" Target="fonts/font5.fntdata"/><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notesMaster" Target="notesMasters/notesMaster1.xml"/><Relationship Id="rId52" Type="http://schemas.openxmlformats.org/officeDocument/2006/relationships/font" Target="fonts/font8.fntdata"/><Relationship Id="rId78" Type="http://customschemas.google.com/relationships/presentationmetadata" Target="metadata"/><Relationship Id="rId81"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2" name="Google Shape;142;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2E4FEDD0-055D-8BAB-2CA2-AF90F3C9014B}"/>
            </a:ext>
          </a:extLst>
        </p:cNvPr>
        <p:cNvGrpSpPr/>
        <p:nvPr/>
      </p:nvGrpSpPr>
      <p:grpSpPr>
        <a:xfrm>
          <a:off x="0" y="0"/>
          <a:ext cx="0" cy="0"/>
          <a:chOff x="0" y="0"/>
          <a:chExt cx="0" cy="0"/>
        </a:xfrm>
      </p:grpSpPr>
      <p:sp>
        <p:nvSpPr>
          <p:cNvPr id="141" name="Google Shape;141;p2:notes">
            <a:extLst>
              <a:ext uri="{FF2B5EF4-FFF2-40B4-BE49-F238E27FC236}">
                <a16:creationId xmlns:a16="http://schemas.microsoft.com/office/drawing/2014/main" id="{81090A4B-316B-51D5-907F-DC03D5E7947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2" name="Google Shape;142;p2:notes">
            <a:extLst>
              <a:ext uri="{FF2B5EF4-FFF2-40B4-BE49-F238E27FC236}">
                <a16:creationId xmlns:a16="http://schemas.microsoft.com/office/drawing/2014/main" id="{C13F6548-C7B9-5B58-42BB-913BAAAE1C4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9519253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2D43B095-4F26-20BA-7A09-4BA71CE6486A}"/>
            </a:ext>
          </a:extLst>
        </p:cNvPr>
        <p:cNvGrpSpPr/>
        <p:nvPr/>
      </p:nvGrpSpPr>
      <p:grpSpPr>
        <a:xfrm>
          <a:off x="0" y="0"/>
          <a:ext cx="0" cy="0"/>
          <a:chOff x="0" y="0"/>
          <a:chExt cx="0" cy="0"/>
        </a:xfrm>
      </p:grpSpPr>
      <p:sp>
        <p:nvSpPr>
          <p:cNvPr id="141" name="Google Shape;141;p2:notes">
            <a:extLst>
              <a:ext uri="{FF2B5EF4-FFF2-40B4-BE49-F238E27FC236}">
                <a16:creationId xmlns:a16="http://schemas.microsoft.com/office/drawing/2014/main" id="{7D5BF45F-8F35-8599-B306-A77F37AF81DA}"/>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2" name="Google Shape;142;p2:notes">
            <a:extLst>
              <a:ext uri="{FF2B5EF4-FFF2-40B4-BE49-F238E27FC236}">
                <a16:creationId xmlns:a16="http://schemas.microsoft.com/office/drawing/2014/main" id="{E9A43741-EE62-C757-2DEA-33AD9CB05BE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7723539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SG"/>
              <a:t>Isabelle</a:t>
            </a:r>
            <a:endParaRPr/>
          </a:p>
        </p:txBody>
      </p:sp>
      <p:sp>
        <p:nvSpPr>
          <p:cNvPr id="181" name="Google Shape;181;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g3a1423cfbf8_0_2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SG"/>
              <a:t>Isabelle</a:t>
            </a:r>
            <a:endParaRPr/>
          </a:p>
        </p:txBody>
      </p:sp>
      <p:sp>
        <p:nvSpPr>
          <p:cNvPr id="189" name="Google Shape;189;g3a1423cfbf8_0_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08" name="Google Shape;208;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Google Shape;216;g314c0bbca86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17" name="Google Shape;217;g314c0bbca86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313dc173f8b_0_28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SG"/>
              <a:t>Isabelle</a:t>
            </a:r>
            <a:endParaRPr/>
          </a:p>
        </p:txBody>
      </p:sp>
      <p:sp>
        <p:nvSpPr>
          <p:cNvPr id="258" name="Google Shape;258;g313dc173f8b_0_2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39" name="Google Shape;239;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p:cNvGrpSpPr/>
        <p:nvPr/>
      </p:nvGrpSpPr>
      <p:grpSpPr>
        <a:xfrm>
          <a:off x="0" y="0"/>
          <a:ext cx="0" cy="0"/>
          <a:chOff x="0" y="0"/>
          <a:chExt cx="0" cy="0"/>
        </a:xfrm>
      </p:grpSpPr>
      <p:sp>
        <p:nvSpPr>
          <p:cNvPr id="265" name="Google Shape;265;g313dc173f8b_0_28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SG">
                <a:solidFill>
                  <a:schemeClr val="dk1"/>
                </a:solidFill>
              </a:rPr>
              <a:t>Isabelle</a:t>
            </a:r>
            <a:endParaRPr>
              <a:solidFill>
                <a:schemeClr val="dk1"/>
              </a:solidFill>
            </a:endParaRPr>
          </a:p>
          <a:p>
            <a:pPr marL="0" lvl="0" indent="0" algn="l" rtl="0">
              <a:lnSpc>
                <a:spcPct val="100000"/>
              </a:lnSpc>
              <a:spcBef>
                <a:spcPts val="0"/>
              </a:spcBef>
              <a:spcAft>
                <a:spcPts val="0"/>
              </a:spcAft>
              <a:buSzPts val="1100"/>
              <a:buNone/>
            </a:pPr>
            <a:endParaRPr>
              <a:solidFill>
                <a:schemeClr val="dk1"/>
              </a:solidFill>
            </a:endParaRPr>
          </a:p>
          <a:p>
            <a:pPr marL="0" lvl="0" indent="0" algn="l" rtl="0">
              <a:lnSpc>
                <a:spcPct val="100000"/>
              </a:lnSpc>
              <a:spcBef>
                <a:spcPts val="0"/>
              </a:spcBef>
              <a:spcAft>
                <a:spcPts val="0"/>
              </a:spcAft>
              <a:buSzPts val="1100"/>
              <a:buNone/>
            </a:pPr>
            <a:r>
              <a:rPr lang="en-SG">
                <a:solidFill>
                  <a:schemeClr val="dk1"/>
                </a:solidFill>
              </a:rPr>
              <a:t>Default distribution resembles corporate issuers at higher credit rating levels for EM</a:t>
            </a:r>
            <a:endParaRPr>
              <a:solidFill>
                <a:schemeClr val="dk1"/>
              </a:solidFill>
            </a:endParaRPr>
          </a:p>
        </p:txBody>
      </p:sp>
      <p:sp>
        <p:nvSpPr>
          <p:cNvPr id="266" name="Google Shape;266;g313dc173f8b_0_2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1"/>
        <p:cNvGrpSpPr/>
        <p:nvPr/>
      </p:nvGrpSpPr>
      <p:grpSpPr>
        <a:xfrm>
          <a:off x="0" y="0"/>
          <a:ext cx="0" cy="0"/>
          <a:chOff x="0" y="0"/>
          <a:chExt cx="0" cy="0"/>
        </a:xfrm>
      </p:grpSpPr>
      <p:sp>
        <p:nvSpPr>
          <p:cNvPr id="332" name="Google Shape;332;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33" name="Google Shape;333;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32" name="Google Shape;23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r>
              <a:rPr lang="en-SG">
                <a:solidFill>
                  <a:schemeClr val="dk1"/>
                </a:solidFill>
              </a:rPr>
              <a:t>Isabelle</a:t>
            </a:r>
            <a:endParaRPr/>
          </a:p>
        </p:txBody>
      </p:sp>
      <p:sp>
        <p:nvSpPr>
          <p:cNvPr id="281" name="Google Shape;281;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p:cNvGrpSpPr/>
        <p:nvPr/>
      </p:nvGrpSpPr>
      <p:grpSpPr>
        <a:xfrm>
          <a:off x="0" y="0"/>
          <a:ext cx="0" cy="0"/>
          <a:chOff x="0" y="0"/>
          <a:chExt cx="0" cy="0"/>
        </a:xfrm>
      </p:grpSpPr>
      <p:sp>
        <p:nvSpPr>
          <p:cNvPr id="273" name="Google Shape;273;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SG"/>
              <a:t>Focus on macro, but can consider individual credit analysis in how to best express your views?</a:t>
            </a:r>
            <a:endParaRPr/>
          </a:p>
        </p:txBody>
      </p:sp>
      <p:sp>
        <p:nvSpPr>
          <p:cNvPr id="274" name="Google Shape;274;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SG"/>
              <a:t>Isabelle</a:t>
            </a:r>
            <a:endParaRPr sz="1300" b="1">
              <a:solidFill>
                <a:schemeClr val="dk1"/>
              </a:solidFill>
            </a:endParaRPr>
          </a:p>
          <a:p>
            <a:pPr marL="457200" lvl="0" indent="-298450" algn="l" rtl="0">
              <a:lnSpc>
                <a:spcPct val="115000"/>
              </a:lnSpc>
              <a:spcBef>
                <a:spcPts val="1200"/>
              </a:spcBef>
              <a:spcAft>
                <a:spcPts val="0"/>
              </a:spcAft>
              <a:buClr>
                <a:schemeClr val="dk1"/>
              </a:buClr>
              <a:buSzPts val="1100"/>
              <a:buChar char="●"/>
            </a:pPr>
            <a:r>
              <a:rPr lang="en-SG">
                <a:solidFill>
                  <a:schemeClr val="dk1"/>
                </a:solidFill>
              </a:rPr>
              <a:t>Bonds can have either a </a:t>
            </a:r>
            <a:r>
              <a:rPr lang="en-SG" b="1">
                <a:solidFill>
                  <a:schemeClr val="dk1"/>
                </a:solidFill>
              </a:rPr>
              <a:t>floating interest rate</a:t>
            </a:r>
            <a:r>
              <a:rPr lang="en-SG">
                <a:solidFill>
                  <a:schemeClr val="dk1"/>
                </a:solidFill>
              </a:rPr>
              <a:t> or a </a:t>
            </a:r>
            <a:r>
              <a:rPr lang="en-SG" b="1">
                <a:solidFill>
                  <a:schemeClr val="dk1"/>
                </a:solidFill>
              </a:rPr>
              <a:t>fixed interest rate</a:t>
            </a:r>
            <a:r>
              <a:rPr lang="en-SG">
                <a:solidFill>
                  <a:schemeClr val="dk1"/>
                </a:solidFill>
              </a:rPr>
              <a:t>.</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SG" b="1">
                <a:solidFill>
                  <a:schemeClr val="dk1"/>
                </a:solidFill>
              </a:rPr>
              <a:t>Floating rate bonds</a:t>
            </a:r>
            <a:r>
              <a:rPr lang="en-SG">
                <a:solidFill>
                  <a:schemeClr val="dk1"/>
                </a:solidFill>
              </a:rPr>
              <a:t> have interest payments that adjust periodically based on a benchmark rate plus a fixed spread. For example, a floating rate bond might have a rate of </a:t>
            </a:r>
            <a:r>
              <a:rPr lang="en-SG" b="1">
                <a:solidFill>
                  <a:schemeClr val="dk1"/>
                </a:solidFill>
              </a:rPr>
              <a:t>LIBOR + 200 basis points</a:t>
            </a:r>
            <a:r>
              <a:rPr lang="en-SG">
                <a:solidFill>
                  <a:schemeClr val="dk1"/>
                </a:solidFill>
              </a:rPr>
              <a:t>. This means that if the LIBOR rate is 1%, the bond's interest rate will be 3% (1% + 2% or 200 basis points).</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SG" b="1">
                <a:solidFill>
                  <a:schemeClr val="dk1"/>
                </a:solidFill>
              </a:rPr>
              <a:t>Fixed rate bonds</a:t>
            </a:r>
            <a:r>
              <a:rPr lang="en-SG">
                <a:solidFill>
                  <a:schemeClr val="dk1"/>
                </a:solidFill>
              </a:rPr>
              <a:t>, on the other hand, have an interest rate that remains constant over the life of the bond. This gives investors predictable income but doesn’t benefit from rising interest rates like a floating rate bond might.</a:t>
            </a:r>
            <a:endParaRPr sz="1300" b="1">
              <a:solidFill>
                <a:schemeClr val="dk1"/>
              </a:solidFill>
            </a:endParaRPr>
          </a:p>
          <a:p>
            <a:pPr marL="457200" lvl="0" indent="-298450" algn="l" rtl="0">
              <a:lnSpc>
                <a:spcPct val="115000"/>
              </a:lnSpc>
              <a:spcBef>
                <a:spcPts val="0"/>
              </a:spcBef>
              <a:spcAft>
                <a:spcPts val="0"/>
              </a:spcAft>
              <a:buClr>
                <a:schemeClr val="dk1"/>
              </a:buClr>
              <a:buSzPts val="1100"/>
              <a:buChar char="●"/>
            </a:pPr>
            <a:r>
              <a:rPr lang="en-SG">
                <a:solidFill>
                  <a:schemeClr val="dk1"/>
                </a:solidFill>
              </a:rPr>
              <a:t>Some bonds have a </a:t>
            </a:r>
            <a:r>
              <a:rPr lang="en-SG" b="1">
                <a:solidFill>
                  <a:schemeClr val="dk1"/>
                </a:solidFill>
              </a:rPr>
              <a:t>call provision</a:t>
            </a:r>
            <a:r>
              <a:rPr lang="en-SG">
                <a:solidFill>
                  <a:schemeClr val="dk1"/>
                </a:solidFill>
              </a:rPr>
              <a:t>, which allows the </a:t>
            </a:r>
            <a:r>
              <a:rPr lang="en-SG" b="1">
                <a:solidFill>
                  <a:schemeClr val="dk1"/>
                </a:solidFill>
              </a:rPr>
              <a:t>issuer to redeem, or "call," the bond before its maturity date</a:t>
            </a:r>
            <a:r>
              <a:rPr lang="en-SG">
                <a:solidFill>
                  <a:schemeClr val="dk1"/>
                </a:solidFill>
              </a:rPr>
              <a:t>. This is typically done when interest rates drop, allowing the issuer to refinance at a lower rate.</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SG">
                <a:solidFill>
                  <a:schemeClr val="dk1"/>
                </a:solidFill>
              </a:rPr>
              <a:t>For example, if a company issued a bond at 5% interest but rates in the market have since fallen to 3%, it may "call" the bond, repay investors, and then issue new debt at the lower rate, saving on interest costs.</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SG">
                <a:solidFill>
                  <a:schemeClr val="dk1"/>
                </a:solidFill>
              </a:rPr>
              <a:t>From an investor’s perspective, the call provision adds some risk, as they could lose a high-yielding bond earlier than expected and might have to reinvest at a lower rate.</a:t>
            </a:r>
            <a:endParaRPr sz="1300" b="1">
              <a:solidFill>
                <a:schemeClr val="dk1"/>
              </a:solidFill>
            </a:endParaRPr>
          </a:p>
          <a:p>
            <a:pPr marL="457200" lvl="0" indent="-298450" algn="l" rtl="0">
              <a:lnSpc>
                <a:spcPct val="115000"/>
              </a:lnSpc>
              <a:spcBef>
                <a:spcPts val="0"/>
              </a:spcBef>
              <a:spcAft>
                <a:spcPts val="0"/>
              </a:spcAft>
              <a:buClr>
                <a:schemeClr val="dk1"/>
              </a:buClr>
              <a:buSzPts val="1100"/>
              <a:buChar char="●"/>
            </a:pPr>
            <a:r>
              <a:rPr lang="en-SG" b="1">
                <a:solidFill>
                  <a:schemeClr val="dk1"/>
                </a:solidFill>
              </a:rPr>
              <a:t>Convertible bonds</a:t>
            </a:r>
            <a:r>
              <a:rPr lang="en-SG">
                <a:solidFill>
                  <a:schemeClr val="dk1"/>
                </a:solidFill>
              </a:rPr>
              <a:t> offer a unique feature where, under certain conditions, the bond can be </a:t>
            </a:r>
            <a:r>
              <a:rPr lang="en-SG" b="1">
                <a:solidFill>
                  <a:schemeClr val="dk1"/>
                </a:solidFill>
              </a:rPr>
              <a:t>converted into a specified number of shares of the issuer’s stock</a:t>
            </a:r>
            <a:r>
              <a:rPr lang="en-SG">
                <a:solidFill>
                  <a:schemeClr val="dk1"/>
                </a:solidFill>
              </a:rPr>
              <a:t>.</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SG">
                <a:solidFill>
                  <a:schemeClr val="dk1"/>
                </a:solidFill>
              </a:rPr>
              <a:t>Convertibility might be allowed after a specific date or if the issuer’s stock reaches a certain price. This feature gives bondholders the potential for equity upside if the company performs well and the stock price rises.</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SG">
                <a:solidFill>
                  <a:schemeClr val="dk1"/>
                </a:solidFill>
              </a:rPr>
              <a:t>For investors, convertibility is attractive because it provides a bond’s fixed income along with the possibility of converting to equity and benefiting from share price gains.</a:t>
            </a:r>
            <a:endParaRPr sz="1300" b="1">
              <a:solidFill>
                <a:schemeClr val="dk1"/>
              </a:solidFill>
            </a:endParaRPr>
          </a:p>
          <a:p>
            <a:pPr marL="457200" lvl="0" indent="-298450" algn="l" rtl="0">
              <a:lnSpc>
                <a:spcPct val="115000"/>
              </a:lnSpc>
              <a:spcBef>
                <a:spcPts val="0"/>
              </a:spcBef>
              <a:spcAft>
                <a:spcPts val="0"/>
              </a:spcAft>
              <a:buClr>
                <a:schemeClr val="dk1"/>
              </a:buClr>
              <a:buSzPts val="1100"/>
              <a:buChar char="●"/>
            </a:pPr>
            <a:r>
              <a:rPr lang="en-SG">
                <a:solidFill>
                  <a:schemeClr val="dk1"/>
                </a:solidFill>
              </a:rPr>
              <a:t>In the event of a company’s liquidation (for example, if it goes bankrupt), there is an </a:t>
            </a:r>
            <a:r>
              <a:rPr lang="en-SG" b="1">
                <a:solidFill>
                  <a:schemeClr val="dk1"/>
                </a:solidFill>
              </a:rPr>
              <a:t>order of priority in which creditors are paid</a:t>
            </a:r>
            <a:r>
              <a:rPr lang="en-SG">
                <a:solidFill>
                  <a:schemeClr val="dk1"/>
                </a:solidFill>
              </a:rPr>
              <a:t>. This is known as the </a:t>
            </a:r>
            <a:r>
              <a:rPr lang="en-SG" b="1">
                <a:solidFill>
                  <a:schemeClr val="dk1"/>
                </a:solidFill>
              </a:rPr>
              <a:t>liquidation preference</a:t>
            </a:r>
            <a:r>
              <a:rPr lang="en-SG">
                <a:solidFill>
                  <a:schemeClr val="dk1"/>
                </a:solidFill>
              </a:rPr>
              <a:t>.</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SG">
                <a:solidFill>
                  <a:schemeClr val="dk1"/>
                </a:solidFill>
              </a:rPr>
              <a:t>Typically, </a:t>
            </a:r>
            <a:r>
              <a:rPr lang="en-SG" b="1">
                <a:solidFill>
                  <a:schemeClr val="dk1"/>
                </a:solidFill>
              </a:rPr>
              <a:t>senior debt holders</a:t>
            </a:r>
            <a:r>
              <a:rPr lang="en-SG">
                <a:solidFill>
                  <a:schemeClr val="dk1"/>
                </a:solidFill>
              </a:rPr>
              <a:t> (like senior bondholders) are paid first, followed by </a:t>
            </a:r>
            <a:r>
              <a:rPr lang="en-SG" b="1">
                <a:solidFill>
                  <a:schemeClr val="dk1"/>
                </a:solidFill>
              </a:rPr>
              <a:t>junior debt holders</a:t>
            </a:r>
            <a:r>
              <a:rPr lang="en-SG">
                <a:solidFill>
                  <a:schemeClr val="dk1"/>
                </a:solidFill>
              </a:rPr>
              <a:t> (such as subordinated or unsecured bonds), and then any </a:t>
            </a:r>
            <a:r>
              <a:rPr lang="en-SG" b="1">
                <a:solidFill>
                  <a:schemeClr val="dk1"/>
                </a:solidFill>
              </a:rPr>
              <a:t>hybrid instruments</a:t>
            </a:r>
            <a:r>
              <a:rPr lang="en-SG">
                <a:solidFill>
                  <a:schemeClr val="dk1"/>
                </a:solidFill>
              </a:rPr>
              <a:t> like convertible bonds, which are lower in priority.</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SG">
                <a:solidFill>
                  <a:schemeClr val="dk1"/>
                </a:solidFill>
              </a:rPr>
              <a:t>For investors, understanding the liquidation preference is critical because it influences the recovery amount they may receive in the worst-case scenario, where the company is unable to meet all its obligations.</a:t>
            </a:r>
            <a:endParaRPr sz="1300" b="1">
              <a:solidFill>
                <a:schemeClr val="dk1"/>
              </a:solidFill>
            </a:endParaRPr>
          </a:p>
          <a:p>
            <a:pPr marL="457200" lvl="0" indent="-298450" algn="l" rtl="0">
              <a:lnSpc>
                <a:spcPct val="115000"/>
              </a:lnSpc>
              <a:spcBef>
                <a:spcPts val="0"/>
              </a:spcBef>
              <a:spcAft>
                <a:spcPts val="0"/>
              </a:spcAft>
              <a:buClr>
                <a:schemeClr val="dk1"/>
              </a:buClr>
              <a:buSzPts val="1100"/>
              <a:buChar char="●"/>
            </a:pPr>
            <a:r>
              <a:rPr lang="en-SG">
                <a:solidFill>
                  <a:schemeClr val="dk1"/>
                </a:solidFill>
              </a:rPr>
              <a:t>Some bonds come with </a:t>
            </a:r>
            <a:r>
              <a:rPr lang="en-SG" b="1">
                <a:solidFill>
                  <a:schemeClr val="dk1"/>
                </a:solidFill>
              </a:rPr>
              <a:t>credit enhancements</a:t>
            </a:r>
            <a:r>
              <a:rPr lang="en-SG">
                <a:solidFill>
                  <a:schemeClr val="dk1"/>
                </a:solidFill>
              </a:rPr>
              <a:t> to reduce the risk of default and make the bond more attractive to investors. Common forms of credit enhancement include:</a:t>
            </a:r>
            <a:endParaRPr>
              <a:solidFill>
                <a:schemeClr val="dk1"/>
              </a:solidFill>
            </a:endParaRPr>
          </a:p>
          <a:p>
            <a:pPr marL="914400" lvl="1" indent="-298450" algn="l" rtl="0">
              <a:lnSpc>
                <a:spcPct val="115000"/>
              </a:lnSpc>
              <a:spcBef>
                <a:spcPts val="0"/>
              </a:spcBef>
              <a:spcAft>
                <a:spcPts val="0"/>
              </a:spcAft>
              <a:buClr>
                <a:schemeClr val="dk1"/>
              </a:buClr>
              <a:buSzPts val="1100"/>
              <a:buChar char="○"/>
            </a:pPr>
            <a:r>
              <a:rPr lang="en-SG" b="1">
                <a:solidFill>
                  <a:schemeClr val="dk1"/>
                </a:solidFill>
              </a:rPr>
              <a:t>Guarantee</a:t>
            </a:r>
            <a:r>
              <a:rPr lang="en-SG">
                <a:solidFill>
                  <a:schemeClr val="dk1"/>
                </a:solidFill>
              </a:rPr>
              <a:t>: Another entity, such as a parent company or a government, guarantees the bond’s payments, making it more secure.</a:t>
            </a:r>
            <a:endParaRPr>
              <a:solidFill>
                <a:schemeClr val="dk1"/>
              </a:solidFill>
            </a:endParaRPr>
          </a:p>
          <a:p>
            <a:pPr marL="914400" lvl="1" indent="-298450" algn="l" rtl="0">
              <a:lnSpc>
                <a:spcPct val="115000"/>
              </a:lnSpc>
              <a:spcBef>
                <a:spcPts val="0"/>
              </a:spcBef>
              <a:spcAft>
                <a:spcPts val="0"/>
              </a:spcAft>
              <a:buClr>
                <a:schemeClr val="dk1"/>
              </a:buClr>
              <a:buSzPts val="1100"/>
              <a:buChar char="○"/>
            </a:pPr>
            <a:r>
              <a:rPr lang="en-SG" b="1">
                <a:solidFill>
                  <a:schemeClr val="dk1"/>
                </a:solidFill>
              </a:rPr>
              <a:t>Letter of Credit</a:t>
            </a:r>
            <a:r>
              <a:rPr lang="en-SG">
                <a:solidFill>
                  <a:schemeClr val="dk1"/>
                </a:solidFill>
              </a:rPr>
              <a:t>: A bank provides a letter of credit to back the bond, promising to cover interest or principal payments if the issuer cannot meet them.</a:t>
            </a:r>
            <a:endParaRPr>
              <a:solidFill>
                <a:schemeClr val="dk1"/>
              </a:solidFill>
            </a:endParaRPr>
          </a:p>
          <a:p>
            <a:pPr marL="914400" lvl="1" indent="-298450" algn="l" rtl="0">
              <a:lnSpc>
                <a:spcPct val="115000"/>
              </a:lnSpc>
              <a:spcBef>
                <a:spcPts val="0"/>
              </a:spcBef>
              <a:spcAft>
                <a:spcPts val="0"/>
              </a:spcAft>
              <a:buClr>
                <a:schemeClr val="dk1"/>
              </a:buClr>
              <a:buSzPts val="1100"/>
              <a:buChar char="○"/>
            </a:pPr>
            <a:r>
              <a:rPr lang="en-SG" b="1">
                <a:solidFill>
                  <a:schemeClr val="dk1"/>
                </a:solidFill>
              </a:rPr>
              <a:t>Collateral</a:t>
            </a:r>
            <a:r>
              <a:rPr lang="en-SG">
                <a:solidFill>
                  <a:schemeClr val="dk1"/>
                </a:solidFill>
              </a:rPr>
              <a:t>: The bond might be </a:t>
            </a:r>
            <a:r>
              <a:rPr lang="en-SG" b="1">
                <a:solidFill>
                  <a:schemeClr val="dk1"/>
                </a:solidFill>
              </a:rPr>
              <a:t>secured by specific assets</a:t>
            </a:r>
            <a:r>
              <a:rPr lang="en-SG">
                <a:solidFill>
                  <a:schemeClr val="dk1"/>
                </a:solidFill>
              </a:rPr>
              <a:t>, such as real estate or equipment, which can be sold to repay investors if the issuer defaults.</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SG">
                <a:solidFill>
                  <a:schemeClr val="dk1"/>
                </a:solidFill>
              </a:rPr>
              <a:t>Credit enhancement can be reassuring for investors, as it adds an extra layer of security and reduces the risk of loss.</a:t>
            </a:r>
            <a:endParaRPr>
              <a:solidFill>
                <a:schemeClr val="dk1"/>
              </a:solidFill>
            </a:endParaRPr>
          </a:p>
          <a:p>
            <a:pPr marL="457200" lvl="0" indent="-298450" algn="l" rtl="0">
              <a:lnSpc>
                <a:spcPct val="100000"/>
              </a:lnSpc>
              <a:spcBef>
                <a:spcPts val="0"/>
              </a:spcBef>
              <a:spcAft>
                <a:spcPts val="0"/>
              </a:spcAft>
              <a:buSzPts val="1100"/>
              <a:buChar char="-"/>
            </a:pPr>
            <a:r>
              <a:rPr lang="en-SG"/>
              <a:t>Look at bond on the right</a:t>
            </a:r>
            <a:endParaRPr/>
          </a:p>
          <a:p>
            <a:pPr marL="914400" lvl="1" indent="-298450" algn="l" rtl="0">
              <a:lnSpc>
                <a:spcPct val="100000"/>
              </a:lnSpc>
              <a:spcBef>
                <a:spcPts val="0"/>
              </a:spcBef>
              <a:spcAft>
                <a:spcPts val="0"/>
              </a:spcAft>
              <a:buSzPts val="1100"/>
              <a:buChar char="-"/>
            </a:pPr>
            <a:r>
              <a:rPr lang="en-SG"/>
              <a:t>Issuer, instrument, currency, assessing risk associated with country/specific asset factors </a:t>
            </a:r>
            <a:endParaRPr/>
          </a:p>
          <a:p>
            <a:pPr marL="914400" lvl="1" indent="-298450" algn="l" rtl="0">
              <a:lnSpc>
                <a:spcPct val="100000"/>
              </a:lnSpc>
              <a:spcBef>
                <a:spcPts val="0"/>
              </a:spcBef>
              <a:spcAft>
                <a:spcPts val="0"/>
              </a:spcAft>
              <a:buSzPts val="1100"/>
              <a:buChar char="-"/>
            </a:pPr>
            <a:r>
              <a:rPr lang="en-SG"/>
              <a:t>Identification information</a:t>
            </a:r>
            <a:endParaRPr/>
          </a:p>
          <a:p>
            <a:pPr marL="914400" lvl="1" indent="-298450" algn="l" rtl="0">
              <a:lnSpc>
                <a:spcPct val="100000"/>
              </a:lnSpc>
              <a:spcBef>
                <a:spcPts val="0"/>
              </a:spcBef>
              <a:spcAft>
                <a:spcPts val="0"/>
              </a:spcAft>
              <a:buSzPts val="1100"/>
              <a:buChar char="-"/>
            </a:pPr>
            <a:r>
              <a:rPr lang="en-SG"/>
              <a:t>Information about payments and time to maturity -&gt; helps you work out pattern of cash flows for bond valuation</a:t>
            </a:r>
            <a:endParaRPr/>
          </a:p>
        </p:txBody>
      </p:sp>
      <p:sp>
        <p:nvSpPr>
          <p:cNvPr id="313" name="Google Shape;313;p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7"/>
        <p:cNvGrpSpPr/>
        <p:nvPr/>
      </p:nvGrpSpPr>
      <p:grpSpPr>
        <a:xfrm>
          <a:off x="0" y="0"/>
          <a:ext cx="0" cy="0"/>
          <a:chOff x="0" y="0"/>
          <a:chExt cx="0" cy="0"/>
        </a:xfrm>
      </p:grpSpPr>
      <p:sp>
        <p:nvSpPr>
          <p:cNvPr id="318" name="Google Shape;318;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SG"/>
              <a:t>Isabelle</a:t>
            </a:r>
            <a:endParaRPr/>
          </a:p>
          <a:p>
            <a:pPr marL="0" lvl="0" indent="0" algn="l" rtl="0">
              <a:lnSpc>
                <a:spcPct val="100000"/>
              </a:lnSpc>
              <a:spcBef>
                <a:spcPts val="0"/>
              </a:spcBef>
              <a:spcAft>
                <a:spcPts val="0"/>
              </a:spcAft>
              <a:buSzPts val="1100"/>
              <a:buNone/>
            </a:pPr>
            <a:endParaRPr/>
          </a:p>
          <a:p>
            <a:pPr marL="457200" lvl="0" indent="-298450" algn="l" rtl="0">
              <a:lnSpc>
                <a:spcPct val="100000"/>
              </a:lnSpc>
              <a:spcBef>
                <a:spcPts val="0"/>
              </a:spcBef>
              <a:spcAft>
                <a:spcPts val="0"/>
              </a:spcAft>
              <a:buSzPts val="1100"/>
              <a:buChar char="-"/>
            </a:pPr>
            <a:r>
              <a:rPr lang="en-SG"/>
              <a:t>Inverse relationship between priority of repayment and riskiness</a:t>
            </a:r>
            <a:endParaRPr/>
          </a:p>
          <a:p>
            <a:pPr marL="457200" lvl="0" indent="-298450" algn="l" rtl="0">
              <a:lnSpc>
                <a:spcPct val="100000"/>
              </a:lnSpc>
              <a:spcBef>
                <a:spcPts val="0"/>
              </a:spcBef>
              <a:spcAft>
                <a:spcPts val="0"/>
              </a:spcAft>
              <a:buSzPts val="1100"/>
              <a:buChar char="-"/>
            </a:pPr>
            <a:r>
              <a:rPr lang="en-SG"/>
              <a:t>Secured debt -&gt; backed by some sort of collateral, making it less risky because investors can seize collateral in event of default</a:t>
            </a:r>
            <a:endParaRPr/>
          </a:p>
        </p:txBody>
      </p:sp>
      <p:sp>
        <p:nvSpPr>
          <p:cNvPr id="319" name="Google Shape;319;p1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g3a1423cfbf8_0_3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SG"/>
              <a:t>Isabelle</a:t>
            </a:r>
            <a:endParaRPr sz="1300" b="1">
              <a:solidFill>
                <a:schemeClr val="dk1"/>
              </a:solidFill>
            </a:endParaRPr>
          </a:p>
          <a:p>
            <a:pPr marL="457200" lvl="0" indent="-298450" algn="l" rtl="0">
              <a:lnSpc>
                <a:spcPct val="115000"/>
              </a:lnSpc>
              <a:spcBef>
                <a:spcPts val="1200"/>
              </a:spcBef>
              <a:spcAft>
                <a:spcPts val="0"/>
              </a:spcAft>
              <a:buClr>
                <a:schemeClr val="dk1"/>
              </a:buClr>
              <a:buSzPts val="1100"/>
              <a:buChar char="●"/>
            </a:pPr>
            <a:r>
              <a:rPr lang="en-SG">
                <a:solidFill>
                  <a:schemeClr val="dk1"/>
                </a:solidFill>
              </a:rPr>
              <a:t>Bonds can have either a </a:t>
            </a:r>
            <a:r>
              <a:rPr lang="en-SG" b="1">
                <a:solidFill>
                  <a:schemeClr val="dk1"/>
                </a:solidFill>
              </a:rPr>
              <a:t>floating interest rate</a:t>
            </a:r>
            <a:r>
              <a:rPr lang="en-SG">
                <a:solidFill>
                  <a:schemeClr val="dk1"/>
                </a:solidFill>
              </a:rPr>
              <a:t> or a </a:t>
            </a:r>
            <a:r>
              <a:rPr lang="en-SG" b="1">
                <a:solidFill>
                  <a:schemeClr val="dk1"/>
                </a:solidFill>
              </a:rPr>
              <a:t>fixed interest rate</a:t>
            </a:r>
            <a:r>
              <a:rPr lang="en-SG">
                <a:solidFill>
                  <a:schemeClr val="dk1"/>
                </a:solidFill>
              </a:rPr>
              <a:t>.</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SG" b="1">
                <a:solidFill>
                  <a:schemeClr val="dk1"/>
                </a:solidFill>
              </a:rPr>
              <a:t>Floating rate bonds</a:t>
            </a:r>
            <a:r>
              <a:rPr lang="en-SG">
                <a:solidFill>
                  <a:schemeClr val="dk1"/>
                </a:solidFill>
              </a:rPr>
              <a:t> have interest payments that adjust periodically based on a benchmark rate plus a fixed spread. For example, a floating rate bond might have a rate of </a:t>
            </a:r>
            <a:r>
              <a:rPr lang="en-SG" b="1">
                <a:solidFill>
                  <a:schemeClr val="dk1"/>
                </a:solidFill>
              </a:rPr>
              <a:t>LIBOR + 200 basis points</a:t>
            </a:r>
            <a:r>
              <a:rPr lang="en-SG">
                <a:solidFill>
                  <a:schemeClr val="dk1"/>
                </a:solidFill>
              </a:rPr>
              <a:t>. This means that if the LIBOR rate is 1%, the bond's interest rate will be 3% (1% + 2% or 200 basis points).</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SG" b="1">
                <a:solidFill>
                  <a:schemeClr val="dk1"/>
                </a:solidFill>
              </a:rPr>
              <a:t>Fixed rate bonds</a:t>
            </a:r>
            <a:r>
              <a:rPr lang="en-SG">
                <a:solidFill>
                  <a:schemeClr val="dk1"/>
                </a:solidFill>
              </a:rPr>
              <a:t>, on the other hand, have an interest rate that remains constant over the life of the bond. This gives investors predictable income but doesn’t benefit from rising interest rates like a floating rate bond might.</a:t>
            </a:r>
            <a:endParaRPr sz="1300" b="1">
              <a:solidFill>
                <a:schemeClr val="dk1"/>
              </a:solidFill>
            </a:endParaRPr>
          </a:p>
          <a:p>
            <a:pPr marL="457200" lvl="0" indent="-298450" algn="l" rtl="0">
              <a:lnSpc>
                <a:spcPct val="115000"/>
              </a:lnSpc>
              <a:spcBef>
                <a:spcPts val="0"/>
              </a:spcBef>
              <a:spcAft>
                <a:spcPts val="0"/>
              </a:spcAft>
              <a:buClr>
                <a:schemeClr val="dk1"/>
              </a:buClr>
              <a:buSzPts val="1100"/>
              <a:buChar char="●"/>
            </a:pPr>
            <a:r>
              <a:rPr lang="en-SG">
                <a:solidFill>
                  <a:schemeClr val="dk1"/>
                </a:solidFill>
              </a:rPr>
              <a:t>Some bonds have a </a:t>
            </a:r>
            <a:r>
              <a:rPr lang="en-SG" b="1">
                <a:solidFill>
                  <a:schemeClr val="dk1"/>
                </a:solidFill>
              </a:rPr>
              <a:t>call provision</a:t>
            </a:r>
            <a:r>
              <a:rPr lang="en-SG">
                <a:solidFill>
                  <a:schemeClr val="dk1"/>
                </a:solidFill>
              </a:rPr>
              <a:t>, which allows the </a:t>
            </a:r>
            <a:r>
              <a:rPr lang="en-SG" b="1">
                <a:solidFill>
                  <a:schemeClr val="dk1"/>
                </a:solidFill>
              </a:rPr>
              <a:t>issuer to redeem, or "call," the bond before its maturity date</a:t>
            </a:r>
            <a:r>
              <a:rPr lang="en-SG">
                <a:solidFill>
                  <a:schemeClr val="dk1"/>
                </a:solidFill>
              </a:rPr>
              <a:t>. This is typically done when interest rates drop, allowing the issuer to refinance at a lower rate.</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SG">
                <a:solidFill>
                  <a:schemeClr val="dk1"/>
                </a:solidFill>
              </a:rPr>
              <a:t>For example, if a company issued a bond at 5% interest but rates in the market have since fallen to 3%, it may "call" the bond, repay investors, and then issue new debt at the lower rate, saving on interest costs.</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SG">
                <a:solidFill>
                  <a:schemeClr val="dk1"/>
                </a:solidFill>
              </a:rPr>
              <a:t>From an investor’s perspective, the call provision adds some risk, as they could lose a high-yielding bond earlier than expected and might have to reinvest at a lower rate.</a:t>
            </a:r>
            <a:endParaRPr sz="1300" b="1">
              <a:solidFill>
                <a:schemeClr val="dk1"/>
              </a:solidFill>
            </a:endParaRPr>
          </a:p>
          <a:p>
            <a:pPr marL="457200" lvl="0" indent="-298450" algn="l" rtl="0">
              <a:lnSpc>
                <a:spcPct val="115000"/>
              </a:lnSpc>
              <a:spcBef>
                <a:spcPts val="0"/>
              </a:spcBef>
              <a:spcAft>
                <a:spcPts val="0"/>
              </a:spcAft>
              <a:buClr>
                <a:schemeClr val="dk1"/>
              </a:buClr>
              <a:buSzPts val="1100"/>
              <a:buChar char="●"/>
            </a:pPr>
            <a:r>
              <a:rPr lang="en-SG" b="1">
                <a:solidFill>
                  <a:schemeClr val="dk1"/>
                </a:solidFill>
              </a:rPr>
              <a:t>Convertible bonds</a:t>
            </a:r>
            <a:r>
              <a:rPr lang="en-SG">
                <a:solidFill>
                  <a:schemeClr val="dk1"/>
                </a:solidFill>
              </a:rPr>
              <a:t> offer a unique feature where, under certain conditions, the bond can be </a:t>
            </a:r>
            <a:r>
              <a:rPr lang="en-SG" b="1">
                <a:solidFill>
                  <a:schemeClr val="dk1"/>
                </a:solidFill>
              </a:rPr>
              <a:t>converted into a specified number of shares of the issuer’s stock</a:t>
            </a:r>
            <a:r>
              <a:rPr lang="en-SG">
                <a:solidFill>
                  <a:schemeClr val="dk1"/>
                </a:solidFill>
              </a:rPr>
              <a:t>.</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SG">
                <a:solidFill>
                  <a:schemeClr val="dk1"/>
                </a:solidFill>
              </a:rPr>
              <a:t>Convertibility might be allowed after a specific date or if the issuer’s stock reaches a certain price. This feature gives bondholders the potential for equity upside if the company performs well and the stock price rises.</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SG">
                <a:solidFill>
                  <a:schemeClr val="dk1"/>
                </a:solidFill>
              </a:rPr>
              <a:t>For investors, convertibility is attractive because it provides a bond’s fixed income along with the possibility of converting to equity and benefiting from share price gains.</a:t>
            </a:r>
            <a:endParaRPr sz="1300" b="1">
              <a:solidFill>
                <a:schemeClr val="dk1"/>
              </a:solidFill>
            </a:endParaRPr>
          </a:p>
          <a:p>
            <a:pPr marL="457200" lvl="0" indent="-298450" algn="l" rtl="0">
              <a:lnSpc>
                <a:spcPct val="115000"/>
              </a:lnSpc>
              <a:spcBef>
                <a:spcPts val="0"/>
              </a:spcBef>
              <a:spcAft>
                <a:spcPts val="0"/>
              </a:spcAft>
              <a:buClr>
                <a:schemeClr val="dk1"/>
              </a:buClr>
              <a:buSzPts val="1100"/>
              <a:buChar char="●"/>
            </a:pPr>
            <a:r>
              <a:rPr lang="en-SG">
                <a:solidFill>
                  <a:schemeClr val="dk1"/>
                </a:solidFill>
              </a:rPr>
              <a:t>In the event of a company’s liquidation (for example, if it goes bankrupt), there is an </a:t>
            </a:r>
            <a:r>
              <a:rPr lang="en-SG" b="1">
                <a:solidFill>
                  <a:schemeClr val="dk1"/>
                </a:solidFill>
              </a:rPr>
              <a:t>order of priority in which creditors are paid</a:t>
            </a:r>
            <a:r>
              <a:rPr lang="en-SG">
                <a:solidFill>
                  <a:schemeClr val="dk1"/>
                </a:solidFill>
              </a:rPr>
              <a:t>. This is known as the </a:t>
            </a:r>
            <a:r>
              <a:rPr lang="en-SG" b="1">
                <a:solidFill>
                  <a:schemeClr val="dk1"/>
                </a:solidFill>
              </a:rPr>
              <a:t>liquidation preference</a:t>
            </a:r>
            <a:r>
              <a:rPr lang="en-SG">
                <a:solidFill>
                  <a:schemeClr val="dk1"/>
                </a:solidFill>
              </a:rPr>
              <a:t>.</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SG">
                <a:solidFill>
                  <a:schemeClr val="dk1"/>
                </a:solidFill>
              </a:rPr>
              <a:t>Typically, </a:t>
            </a:r>
            <a:r>
              <a:rPr lang="en-SG" b="1">
                <a:solidFill>
                  <a:schemeClr val="dk1"/>
                </a:solidFill>
              </a:rPr>
              <a:t>senior debt holders</a:t>
            </a:r>
            <a:r>
              <a:rPr lang="en-SG">
                <a:solidFill>
                  <a:schemeClr val="dk1"/>
                </a:solidFill>
              </a:rPr>
              <a:t> (like senior bondholders) are paid first, followed by </a:t>
            </a:r>
            <a:r>
              <a:rPr lang="en-SG" b="1">
                <a:solidFill>
                  <a:schemeClr val="dk1"/>
                </a:solidFill>
              </a:rPr>
              <a:t>junior debt holders</a:t>
            </a:r>
            <a:r>
              <a:rPr lang="en-SG">
                <a:solidFill>
                  <a:schemeClr val="dk1"/>
                </a:solidFill>
              </a:rPr>
              <a:t> (such as subordinated or unsecured bonds), and then any </a:t>
            </a:r>
            <a:r>
              <a:rPr lang="en-SG" b="1">
                <a:solidFill>
                  <a:schemeClr val="dk1"/>
                </a:solidFill>
              </a:rPr>
              <a:t>hybrid instruments</a:t>
            </a:r>
            <a:r>
              <a:rPr lang="en-SG">
                <a:solidFill>
                  <a:schemeClr val="dk1"/>
                </a:solidFill>
              </a:rPr>
              <a:t> like convertible bonds, which are lower in priority.</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SG">
                <a:solidFill>
                  <a:schemeClr val="dk1"/>
                </a:solidFill>
              </a:rPr>
              <a:t>For investors, understanding the liquidation preference is critical because it influences the recovery amount they may receive in the worst-case scenario, where the company is unable to meet all its obligations.</a:t>
            </a:r>
            <a:endParaRPr sz="1300" b="1">
              <a:solidFill>
                <a:schemeClr val="dk1"/>
              </a:solidFill>
            </a:endParaRPr>
          </a:p>
          <a:p>
            <a:pPr marL="457200" lvl="0" indent="-298450" algn="l" rtl="0">
              <a:lnSpc>
                <a:spcPct val="115000"/>
              </a:lnSpc>
              <a:spcBef>
                <a:spcPts val="0"/>
              </a:spcBef>
              <a:spcAft>
                <a:spcPts val="0"/>
              </a:spcAft>
              <a:buClr>
                <a:schemeClr val="dk1"/>
              </a:buClr>
              <a:buSzPts val="1100"/>
              <a:buChar char="●"/>
            </a:pPr>
            <a:r>
              <a:rPr lang="en-SG">
                <a:solidFill>
                  <a:schemeClr val="dk1"/>
                </a:solidFill>
              </a:rPr>
              <a:t>Some bonds come with </a:t>
            </a:r>
            <a:r>
              <a:rPr lang="en-SG" b="1">
                <a:solidFill>
                  <a:schemeClr val="dk1"/>
                </a:solidFill>
              </a:rPr>
              <a:t>credit enhancements</a:t>
            </a:r>
            <a:r>
              <a:rPr lang="en-SG">
                <a:solidFill>
                  <a:schemeClr val="dk1"/>
                </a:solidFill>
              </a:rPr>
              <a:t> to reduce the risk of default and make the bond more attractive to investors. Common forms of credit enhancement include:</a:t>
            </a:r>
            <a:endParaRPr>
              <a:solidFill>
                <a:schemeClr val="dk1"/>
              </a:solidFill>
            </a:endParaRPr>
          </a:p>
          <a:p>
            <a:pPr marL="914400" lvl="1" indent="-298450" algn="l" rtl="0">
              <a:lnSpc>
                <a:spcPct val="115000"/>
              </a:lnSpc>
              <a:spcBef>
                <a:spcPts val="0"/>
              </a:spcBef>
              <a:spcAft>
                <a:spcPts val="0"/>
              </a:spcAft>
              <a:buClr>
                <a:schemeClr val="dk1"/>
              </a:buClr>
              <a:buSzPts val="1100"/>
              <a:buChar char="○"/>
            </a:pPr>
            <a:r>
              <a:rPr lang="en-SG" b="1">
                <a:solidFill>
                  <a:schemeClr val="dk1"/>
                </a:solidFill>
              </a:rPr>
              <a:t>Guarantee</a:t>
            </a:r>
            <a:r>
              <a:rPr lang="en-SG">
                <a:solidFill>
                  <a:schemeClr val="dk1"/>
                </a:solidFill>
              </a:rPr>
              <a:t>: Another entity, such as a parent company or a government, guarantees the bond’s payments, making it more secure.</a:t>
            </a:r>
            <a:endParaRPr>
              <a:solidFill>
                <a:schemeClr val="dk1"/>
              </a:solidFill>
            </a:endParaRPr>
          </a:p>
          <a:p>
            <a:pPr marL="914400" lvl="1" indent="-298450" algn="l" rtl="0">
              <a:lnSpc>
                <a:spcPct val="115000"/>
              </a:lnSpc>
              <a:spcBef>
                <a:spcPts val="0"/>
              </a:spcBef>
              <a:spcAft>
                <a:spcPts val="0"/>
              </a:spcAft>
              <a:buClr>
                <a:schemeClr val="dk1"/>
              </a:buClr>
              <a:buSzPts val="1100"/>
              <a:buChar char="○"/>
            </a:pPr>
            <a:r>
              <a:rPr lang="en-SG" b="1">
                <a:solidFill>
                  <a:schemeClr val="dk1"/>
                </a:solidFill>
              </a:rPr>
              <a:t>Letter of Credit</a:t>
            </a:r>
            <a:r>
              <a:rPr lang="en-SG">
                <a:solidFill>
                  <a:schemeClr val="dk1"/>
                </a:solidFill>
              </a:rPr>
              <a:t>: A bank provides a letter of credit to back the bond, promising to cover interest or principal payments if the issuer cannot meet them.</a:t>
            </a:r>
            <a:endParaRPr>
              <a:solidFill>
                <a:schemeClr val="dk1"/>
              </a:solidFill>
            </a:endParaRPr>
          </a:p>
          <a:p>
            <a:pPr marL="914400" lvl="1" indent="-298450" algn="l" rtl="0">
              <a:lnSpc>
                <a:spcPct val="115000"/>
              </a:lnSpc>
              <a:spcBef>
                <a:spcPts val="0"/>
              </a:spcBef>
              <a:spcAft>
                <a:spcPts val="0"/>
              </a:spcAft>
              <a:buClr>
                <a:schemeClr val="dk1"/>
              </a:buClr>
              <a:buSzPts val="1100"/>
              <a:buChar char="○"/>
            </a:pPr>
            <a:r>
              <a:rPr lang="en-SG" b="1">
                <a:solidFill>
                  <a:schemeClr val="dk1"/>
                </a:solidFill>
              </a:rPr>
              <a:t>Collateral</a:t>
            </a:r>
            <a:r>
              <a:rPr lang="en-SG">
                <a:solidFill>
                  <a:schemeClr val="dk1"/>
                </a:solidFill>
              </a:rPr>
              <a:t>: The bond might be </a:t>
            </a:r>
            <a:r>
              <a:rPr lang="en-SG" b="1">
                <a:solidFill>
                  <a:schemeClr val="dk1"/>
                </a:solidFill>
              </a:rPr>
              <a:t>secured by specific assets</a:t>
            </a:r>
            <a:r>
              <a:rPr lang="en-SG">
                <a:solidFill>
                  <a:schemeClr val="dk1"/>
                </a:solidFill>
              </a:rPr>
              <a:t>, such as real estate or equipment, which can be sold to repay investors if the issuer defaults.</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SG">
                <a:solidFill>
                  <a:schemeClr val="dk1"/>
                </a:solidFill>
              </a:rPr>
              <a:t>Credit enhancement can be reassuring for investors, as it adds an extra layer of security and reduces the risk of loss.</a:t>
            </a:r>
            <a:endParaRPr>
              <a:solidFill>
                <a:schemeClr val="dk1"/>
              </a:solidFill>
            </a:endParaRPr>
          </a:p>
          <a:p>
            <a:pPr marL="457200" lvl="0" indent="-298450" algn="l" rtl="0">
              <a:lnSpc>
                <a:spcPct val="100000"/>
              </a:lnSpc>
              <a:spcBef>
                <a:spcPts val="0"/>
              </a:spcBef>
              <a:spcAft>
                <a:spcPts val="0"/>
              </a:spcAft>
              <a:buSzPts val="1100"/>
              <a:buChar char="-"/>
            </a:pPr>
            <a:r>
              <a:rPr lang="en-SG"/>
              <a:t>Look at bond on the right</a:t>
            </a:r>
            <a:endParaRPr/>
          </a:p>
          <a:p>
            <a:pPr marL="914400" lvl="1" indent="-298450" algn="l" rtl="0">
              <a:lnSpc>
                <a:spcPct val="100000"/>
              </a:lnSpc>
              <a:spcBef>
                <a:spcPts val="0"/>
              </a:spcBef>
              <a:spcAft>
                <a:spcPts val="0"/>
              </a:spcAft>
              <a:buSzPts val="1100"/>
              <a:buChar char="-"/>
            </a:pPr>
            <a:r>
              <a:rPr lang="en-SG"/>
              <a:t>Issuer, instrument, currency, assessing risk associated with country/specific asset factors </a:t>
            </a:r>
            <a:endParaRPr/>
          </a:p>
          <a:p>
            <a:pPr marL="914400" lvl="1" indent="-298450" algn="l" rtl="0">
              <a:lnSpc>
                <a:spcPct val="100000"/>
              </a:lnSpc>
              <a:spcBef>
                <a:spcPts val="0"/>
              </a:spcBef>
              <a:spcAft>
                <a:spcPts val="0"/>
              </a:spcAft>
              <a:buSzPts val="1100"/>
              <a:buChar char="-"/>
            </a:pPr>
            <a:r>
              <a:rPr lang="en-SG"/>
              <a:t>Identification information</a:t>
            </a:r>
            <a:endParaRPr/>
          </a:p>
          <a:p>
            <a:pPr marL="914400" lvl="1" indent="-298450" algn="l" rtl="0">
              <a:lnSpc>
                <a:spcPct val="100000"/>
              </a:lnSpc>
              <a:spcBef>
                <a:spcPts val="0"/>
              </a:spcBef>
              <a:spcAft>
                <a:spcPts val="0"/>
              </a:spcAft>
              <a:buSzPts val="1100"/>
              <a:buChar char="-"/>
            </a:pPr>
            <a:r>
              <a:rPr lang="en-SG"/>
              <a:t>Information about payments and time to maturity -&gt; helps you work out pattern of cash flows for bond valuation</a:t>
            </a:r>
            <a:endParaRPr/>
          </a:p>
        </p:txBody>
      </p:sp>
      <p:sp>
        <p:nvSpPr>
          <p:cNvPr id="326" name="Google Shape;326;g3a1423cfbf8_0_39: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p2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SG">
                <a:solidFill>
                  <a:schemeClr val="dk1"/>
                </a:solidFill>
              </a:rPr>
              <a:t>Isabelle</a:t>
            </a:r>
            <a:endParaRPr>
              <a:solidFill>
                <a:schemeClr val="dk1"/>
              </a:solidFill>
            </a:endParaRPr>
          </a:p>
          <a:p>
            <a:pPr marL="0" lvl="0" indent="0" algn="l" rtl="0">
              <a:lnSpc>
                <a:spcPct val="100000"/>
              </a:lnSpc>
              <a:spcBef>
                <a:spcPts val="0"/>
              </a:spcBef>
              <a:spcAft>
                <a:spcPts val="0"/>
              </a:spcAft>
              <a:buSzPts val="1100"/>
              <a:buNone/>
            </a:pPr>
            <a:endParaRPr>
              <a:solidFill>
                <a:schemeClr val="dk1"/>
              </a:solidFill>
            </a:endParaRPr>
          </a:p>
          <a:p>
            <a:pPr marL="457200" lvl="0" indent="-298450" algn="l" rtl="0">
              <a:lnSpc>
                <a:spcPct val="100000"/>
              </a:lnSpc>
              <a:spcBef>
                <a:spcPts val="0"/>
              </a:spcBef>
              <a:spcAft>
                <a:spcPts val="0"/>
              </a:spcAft>
              <a:buClr>
                <a:schemeClr val="dk1"/>
              </a:buClr>
              <a:buSzPts val="1100"/>
              <a:buChar char="-"/>
            </a:pPr>
            <a:r>
              <a:rPr lang="en-SG">
                <a:solidFill>
                  <a:schemeClr val="dk1"/>
                </a:solidFill>
              </a:rPr>
              <a:t>The future cash flows (coupons and principal) are </a:t>
            </a:r>
            <a:r>
              <a:rPr lang="en-SG" b="1">
                <a:solidFill>
                  <a:schemeClr val="dk1"/>
                </a:solidFill>
              </a:rPr>
              <a:t>discounted</a:t>
            </a:r>
            <a:r>
              <a:rPr lang="en-SG">
                <a:solidFill>
                  <a:schemeClr val="dk1"/>
                </a:solidFill>
              </a:rPr>
              <a:t> back to the present using the appropriate </a:t>
            </a:r>
            <a:r>
              <a:rPr lang="en-SG" b="1">
                <a:solidFill>
                  <a:schemeClr val="dk1"/>
                </a:solidFill>
              </a:rPr>
              <a:t>discount rate</a:t>
            </a:r>
            <a:r>
              <a:rPr lang="en-SG">
                <a:solidFill>
                  <a:schemeClr val="dk1"/>
                </a:solidFill>
              </a:rPr>
              <a:t>, often the </a:t>
            </a:r>
            <a:r>
              <a:rPr lang="en-SG" b="1">
                <a:solidFill>
                  <a:schemeClr val="dk1"/>
                </a:solidFill>
              </a:rPr>
              <a:t>yield to maturity (YTM)</a:t>
            </a:r>
            <a:r>
              <a:rPr lang="en-SG">
                <a:solidFill>
                  <a:schemeClr val="dk1"/>
                </a:solidFill>
              </a:rPr>
              <a:t> or the bond’s </a:t>
            </a:r>
            <a:r>
              <a:rPr lang="en-SG" b="1">
                <a:solidFill>
                  <a:schemeClr val="dk1"/>
                </a:solidFill>
              </a:rPr>
              <a:t>required rate of return</a:t>
            </a:r>
            <a:r>
              <a:rPr lang="en-SG">
                <a:solidFill>
                  <a:schemeClr val="dk1"/>
                </a:solidFill>
              </a:rPr>
              <a:t>.</a:t>
            </a:r>
            <a:endParaRPr>
              <a:solidFill>
                <a:schemeClr val="dk1"/>
              </a:solidFill>
            </a:endParaRPr>
          </a:p>
          <a:p>
            <a:pPr marL="457200" lvl="0" indent="-298450" algn="l" rtl="0">
              <a:lnSpc>
                <a:spcPct val="100000"/>
              </a:lnSpc>
              <a:spcBef>
                <a:spcPts val="0"/>
              </a:spcBef>
              <a:spcAft>
                <a:spcPts val="0"/>
              </a:spcAft>
              <a:buClr>
                <a:schemeClr val="dk1"/>
              </a:buClr>
              <a:buSzPts val="1100"/>
              <a:buChar char="-"/>
            </a:pPr>
            <a:r>
              <a:rPr lang="en-SG">
                <a:solidFill>
                  <a:schemeClr val="dk1"/>
                </a:solidFill>
              </a:rPr>
              <a:t>This gives the </a:t>
            </a:r>
            <a:r>
              <a:rPr lang="en-SG" b="1">
                <a:solidFill>
                  <a:schemeClr val="dk1"/>
                </a:solidFill>
              </a:rPr>
              <a:t>present value of expected cash flows</a:t>
            </a:r>
            <a:r>
              <a:rPr lang="en-SG">
                <a:solidFill>
                  <a:schemeClr val="dk1"/>
                </a:solidFill>
              </a:rPr>
              <a:t> under the assumption that the bond will </a:t>
            </a:r>
            <a:r>
              <a:rPr lang="en-SG" b="1">
                <a:solidFill>
                  <a:schemeClr val="dk1"/>
                </a:solidFill>
              </a:rPr>
              <a:t>not default</a:t>
            </a:r>
            <a:r>
              <a:rPr lang="en-SG">
                <a:solidFill>
                  <a:schemeClr val="dk1"/>
                </a:solidFill>
              </a:rPr>
              <a:t>.</a:t>
            </a:r>
            <a:endParaRPr>
              <a:solidFill>
                <a:schemeClr val="dk1"/>
              </a:solidFill>
            </a:endParaRPr>
          </a:p>
          <a:p>
            <a:pPr marL="0" lvl="0" indent="0" algn="l" rtl="0">
              <a:lnSpc>
                <a:spcPct val="115000"/>
              </a:lnSpc>
              <a:spcBef>
                <a:spcPts val="1200"/>
              </a:spcBef>
              <a:spcAft>
                <a:spcPts val="0"/>
              </a:spcAft>
              <a:buSzPts val="1100"/>
              <a:buNone/>
            </a:pPr>
            <a:r>
              <a:rPr lang="en-SG">
                <a:solidFill>
                  <a:schemeClr val="dk1"/>
                </a:solidFill>
              </a:rPr>
              <a:t>To account for the possibility of </a:t>
            </a:r>
            <a:r>
              <a:rPr lang="en-SG" b="1">
                <a:solidFill>
                  <a:schemeClr val="dk1"/>
                </a:solidFill>
              </a:rPr>
              <a:t>default risk</a:t>
            </a:r>
            <a:r>
              <a:rPr lang="en-SG">
                <a:solidFill>
                  <a:schemeClr val="dk1"/>
                </a:solidFill>
              </a:rPr>
              <a:t>, we need to adjust the bond’s cash flows for the likelihood that the issuer may not make all of its payments. The process involves using </a:t>
            </a:r>
            <a:r>
              <a:rPr lang="en-SG" b="1">
                <a:solidFill>
                  <a:schemeClr val="dk1"/>
                </a:solidFill>
              </a:rPr>
              <a:t>simulated future default rates</a:t>
            </a:r>
            <a:r>
              <a:rPr lang="en-SG">
                <a:solidFill>
                  <a:schemeClr val="dk1"/>
                </a:solidFill>
              </a:rPr>
              <a:t> to adjust the expected future cash flows.</a:t>
            </a:r>
            <a:endParaRPr>
              <a:solidFill>
                <a:schemeClr val="dk1"/>
              </a:solidFill>
            </a:endParaRPr>
          </a:p>
          <a:p>
            <a:pPr marL="0" lvl="0" indent="0" algn="l" rtl="0">
              <a:lnSpc>
                <a:spcPct val="115000"/>
              </a:lnSpc>
              <a:spcBef>
                <a:spcPts val="1200"/>
              </a:spcBef>
              <a:spcAft>
                <a:spcPts val="0"/>
              </a:spcAft>
              <a:buSzPts val="1100"/>
              <a:buNone/>
            </a:pPr>
            <a:r>
              <a:rPr lang="en-SG" b="1">
                <a:solidFill>
                  <a:schemeClr val="dk1"/>
                </a:solidFill>
              </a:rPr>
              <a:t>Steps Involved in Adjusting for Default Risk:</a:t>
            </a:r>
            <a:endParaRPr b="1">
              <a:solidFill>
                <a:schemeClr val="dk1"/>
              </a:solidFill>
            </a:endParaRPr>
          </a:p>
          <a:p>
            <a:pPr marL="457200" lvl="0" indent="-298450" algn="l" rtl="0">
              <a:lnSpc>
                <a:spcPct val="115000"/>
              </a:lnSpc>
              <a:spcBef>
                <a:spcPts val="1200"/>
              </a:spcBef>
              <a:spcAft>
                <a:spcPts val="0"/>
              </a:spcAft>
              <a:buClr>
                <a:schemeClr val="dk1"/>
              </a:buClr>
              <a:buSzPts val="1100"/>
              <a:buAutoNum type="arabicPeriod"/>
            </a:pPr>
            <a:r>
              <a:rPr lang="en-SG" b="1">
                <a:solidFill>
                  <a:schemeClr val="dk1"/>
                </a:solidFill>
              </a:rPr>
              <a:t>Simulate Default Probabilities:</a:t>
            </a:r>
            <a:endParaRPr b="1">
              <a:solidFill>
                <a:schemeClr val="dk1"/>
              </a:solidFill>
            </a:endParaRPr>
          </a:p>
          <a:p>
            <a:pPr marL="914400" lvl="1" indent="-298450" algn="l" rtl="0">
              <a:lnSpc>
                <a:spcPct val="115000"/>
              </a:lnSpc>
              <a:spcBef>
                <a:spcPts val="0"/>
              </a:spcBef>
              <a:spcAft>
                <a:spcPts val="0"/>
              </a:spcAft>
              <a:buClr>
                <a:schemeClr val="dk1"/>
              </a:buClr>
              <a:buSzPts val="1100"/>
              <a:buChar char="○"/>
            </a:pPr>
            <a:r>
              <a:rPr lang="en-SG">
                <a:solidFill>
                  <a:schemeClr val="dk1"/>
                </a:solidFill>
              </a:rPr>
              <a:t>A simulated default rate is essentially an estimate of the probability that the bond issuer will default at each future time point. These rates may change over time due to economic factors, creditworthiness of the issuer, or other external conditions.</a:t>
            </a:r>
            <a:endParaRPr>
              <a:solidFill>
                <a:schemeClr val="dk1"/>
              </a:solidFill>
            </a:endParaRPr>
          </a:p>
          <a:p>
            <a:pPr marL="914400" lvl="1" indent="-298450" algn="l" rtl="0">
              <a:lnSpc>
                <a:spcPct val="115000"/>
              </a:lnSpc>
              <a:spcBef>
                <a:spcPts val="0"/>
              </a:spcBef>
              <a:spcAft>
                <a:spcPts val="0"/>
              </a:spcAft>
              <a:buClr>
                <a:schemeClr val="dk1"/>
              </a:buClr>
              <a:buSzPts val="1100"/>
              <a:buChar char="○"/>
            </a:pPr>
            <a:r>
              <a:rPr lang="en-SG">
                <a:solidFill>
                  <a:schemeClr val="dk1"/>
                </a:solidFill>
              </a:rPr>
              <a:t>For example, an issuer may have a higher chance of defaulting in the final years of the bond’s life if it has financial difficulties, or if the bond is near maturity.</a:t>
            </a:r>
            <a:endParaRPr>
              <a:solidFill>
                <a:schemeClr val="dk1"/>
              </a:solidFill>
            </a:endParaRPr>
          </a:p>
          <a:p>
            <a:pPr marL="457200" lvl="0" indent="-298450" algn="l" rtl="0">
              <a:lnSpc>
                <a:spcPct val="115000"/>
              </a:lnSpc>
              <a:spcBef>
                <a:spcPts val="0"/>
              </a:spcBef>
              <a:spcAft>
                <a:spcPts val="0"/>
              </a:spcAft>
              <a:buClr>
                <a:schemeClr val="dk1"/>
              </a:buClr>
              <a:buSzPts val="1100"/>
              <a:buAutoNum type="arabicPeriod"/>
            </a:pPr>
            <a:r>
              <a:rPr lang="en-SG" b="1">
                <a:solidFill>
                  <a:schemeClr val="dk1"/>
                </a:solidFill>
              </a:rPr>
              <a:t>Adjust Cash Flows for Default Risk:</a:t>
            </a:r>
            <a:endParaRPr b="1">
              <a:solidFill>
                <a:schemeClr val="dk1"/>
              </a:solidFill>
            </a:endParaRPr>
          </a:p>
          <a:p>
            <a:pPr marL="914400" lvl="1" indent="-298450" algn="l" rtl="0">
              <a:lnSpc>
                <a:spcPct val="115000"/>
              </a:lnSpc>
              <a:spcBef>
                <a:spcPts val="0"/>
              </a:spcBef>
              <a:spcAft>
                <a:spcPts val="0"/>
              </a:spcAft>
              <a:buClr>
                <a:schemeClr val="dk1"/>
              </a:buClr>
              <a:buSzPts val="1100"/>
              <a:buChar char="○"/>
            </a:pPr>
            <a:r>
              <a:rPr lang="en-SG">
                <a:solidFill>
                  <a:schemeClr val="dk1"/>
                </a:solidFill>
              </a:rPr>
              <a:t>Assume that once a company or sovereign defaults, it cannot pay its future coupons. </a:t>
            </a:r>
            <a:endParaRPr>
              <a:solidFill>
                <a:schemeClr val="dk1"/>
              </a:solidFill>
            </a:endParaRPr>
          </a:p>
          <a:p>
            <a:pPr marL="914400" lvl="1" indent="-298450" algn="l" rtl="0">
              <a:lnSpc>
                <a:spcPct val="115000"/>
              </a:lnSpc>
              <a:spcBef>
                <a:spcPts val="0"/>
              </a:spcBef>
              <a:spcAft>
                <a:spcPts val="0"/>
              </a:spcAft>
              <a:buClr>
                <a:schemeClr val="dk1"/>
              </a:buClr>
              <a:buSzPts val="1100"/>
              <a:buChar char="○"/>
            </a:pPr>
            <a:r>
              <a:rPr lang="en-SG">
                <a:solidFill>
                  <a:schemeClr val="dk1"/>
                </a:solidFill>
              </a:rPr>
              <a:t>Period 1: either default with probability p and some default payout (e.g. collateral to seize), or don’t default (probability 1-p) and receive normal coupon payment, in the second case we can continue on to time period 2 and repeat same analysis, where you receive 2nd coupon payment with probability (1-p)^2 (i.e. didn’t default in period 1 or period 2) or default with probability p(1-p)</a:t>
            </a:r>
            <a:endParaRPr>
              <a:solidFill>
                <a:schemeClr val="dk1"/>
              </a:solidFill>
            </a:endParaRPr>
          </a:p>
          <a:p>
            <a:pPr marL="457200" lvl="0" indent="-298450" algn="l" rtl="0">
              <a:lnSpc>
                <a:spcPct val="115000"/>
              </a:lnSpc>
              <a:spcBef>
                <a:spcPts val="0"/>
              </a:spcBef>
              <a:spcAft>
                <a:spcPts val="0"/>
              </a:spcAft>
              <a:buClr>
                <a:schemeClr val="dk1"/>
              </a:buClr>
              <a:buSzPts val="1100"/>
              <a:buAutoNum type="arabicPeriod"/>
            </a:pPr>
            <a:r>
              <a:rPr lang="en-SG" b="1">
                <a:solidFill>
                  <a:schemeClr val="dk1"/>
                </a:solidFill>
              </a:rPr>
              <a:t>Discount the Adjusted Cash Flows:</a:t>
            </a:r>
            <a:endParaRPr b="1">
              <a:solidFill>
                <a:schemeClr val="dk1"/>
              </a:solidFill>
            </a:endParaRPr>
          </a:p>
          <a:p>
            <a:pPr marL="914400" lvl="1" indent="-298450" algn="l" rtl="0">
              <a:lnSpc>
                <a:spcPct val="115000"/>
              </a:lnSpc>
              <a:spcBef>
                <a:spcPts val="0"/>
              </a:spcBef>
              <a:spcAft>
                <a:spcPts val="0"/>
              </a:spcAft>
              <a:buClr>
                <a:schemeClr val="dk1"/>
              </a:buClr>
              <a:buSzPts val="1100"/>
              <a:buChar char="○"/>
            </a:pPr>
            <a:r>
              <a:rPr lang="en-SG">
                <a:solidFill>
                  <a:schemeClr val="dk1"/>
                </a:solidFill>
              </a:rPr>
              <a:t>Once the cash flows are adjusted for default risk, they are discounted back to the present using the same </a:t>
            </a:r>
            <a:r>
              <a:rPr lang="en-SG" b="1">
                <a:solidFill>
                  <a:schemeClr val="dk1"/>
                </a:solidFill>
              </a:rPr>
              <a:t>discount rate</a:t>
            </a:r>
            <a:r>
              <a:rPr lang="en-SG">
                <a:solidFill>
                  <a:schemeClr val="dk1"/>
                </a:solidFill>
              </a:rPr>
              <a:t> (YTM) as in the basic DCF model, assuming the default risk is properly factored into the rate.</a:t>
            </a:r>
            <a:endParaRPr>
              <a:solidFill>
                <a:schemeClr val="dk1"/>
              </a:solidFill>
            </a:endParaRPr>
          </a:p>
          <a:p>
            <a:pPr marL="914400" lvl="1" indent="-298450" algn="l" rtl="0">
              <a:lnSpc>
                <a:spcPct val="115000"/>
              </a:lnSpc>
              <a:spcBef>
                <a:spcPts val="0"/>
              </a:spcBef>
              <a:spcAft>
                <a:spcPts val="0"/>
              </a:spcAft>
              <a:buClr>
                <a:schemeClr val="dk1"/>
              </a:buClr>
              <a:buSzPts val="1100"/>
              <a:buChar char="○"/>
            </a:pPr>
            <a:r>
              <a:rPr lang="en-SG">
                <a:solidFill>
                  <a:schemeClr val="dk1"/>
                </a:solidFill>
              </a:rPr>
              <a:t>The present value of the bond would then be calculated as:</a:t>
            </a:r>
            <a:br>
              <a:rPr lang="en-SG">
                <a:solidFill>
                  <a:schemeClr val="dk1"/>
                </a:solidFill>
              </a:rPr>
            </a:br>
            <a:r>
              <a:rPr lang="en-SG">
                <a:solidFill>
                  <a:schemeClr val="dk1"/>
                </a:solidFill>
              </a:rPr>
              <a:t>This formula now reflects the probability-adjusted value of future cash flows, accounting for potential defaults at each time period</a:t>
            </a:r>
            <a:endParaRPr>
              <a:solidFill>
                <a:schemeClr val="dk1"/>
              </a:solidFill>
            </a:endParaRPr>
          </a:p>
        </p:txBody>
      </p:sp>
      <p:sp>
        <p:nvSpPr>
          <p:cNvPr id="339" name="Google Shape;339;p2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5"/>
        <p:cNvGrpSpPr/>
        <p:nvPr/>
      </p:nvGrpSpPr>
      <p:grpSpPr>
        <a:xfrm>
          <a:off x="0" y="0"/>
          <a:ext cx="0" cy="0"/>
          <a:chOff x="0" y="0"/>
          <a:chExt cx="0" cy="0"/>
        </a:xfrm>
      </p:grpSpPr>
      <p:sp>
        <p:nvSpPr>
          <p:cNvPr id="376" name="Google Shape;376;g3a1423cfbf8_0_7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SG">
                <a:solidFill>
                  <a:schemeClr val="dk1"/>
                </a:solidFill>
              </a:rPr>
              <a:t>Isabelle</a:t>
            </a:r>
            <a:endParaRPr>
              <a:solidFill>
                <a:schemeClr val="dk1"/>
              </a:solidFill>
            </a:endParaRPr>
          </a:p>
          <a:p>
            <a:pPr marL="0" lvl="0" indent="0" algn="l" rtl="0">
              <a:lnSpc>
                <a:spcPct val="100000"/>
              </a:lnSpc>
              <a:spcBef>
                <a:spcPts val="0"/>
              </a:spcBef>
              <a:spcAft>
                <a:spcPts val="0"/>
              </a:spcAft>
              <a:buSzPts val="1100"/>
              <a:buNone/>
            </a:pPr>
            <a:endParaRPr>
              <a:solidFill>
                <a:schemeClr val="dk1"/>
              </a:solidFill>
            </a:endParaRPr>
          </a:p>
          <a:p>
            <a:pPr marL="457200" lvl="0" indent="-298450" algn="l" rtl="0">
              <a:lnSpc>
                <a:spcPct val="100000"/>
              </a:lnSpc>
              <a:spcBef>
                <a:spcPts val="0"/>
              </a:spcBef>
              <a:spcAft>
                <a:spcPts val="0"/>
              </a:spcAft>
              <a:buClr>
                <a:schemeClr val="dk1"/>
              </a:buClr>
              <a:buSzPts val="1100"/>
              <a:buChar char="-"/>
            </a:pPr>
            <a:r>
              <a:rPr lang="en-SG">
                <a:solidFill>
                  <a:schemeClr val="dk1"/>
                </a:solidFill>
              </a:rPr>
              <a:t>The future cash flows (coupons and principal) are </a:t>
            </a:r>
            <a:r>
              <a:rPr lang="en-SG" b="1">
                <a:solidFill>
                  <a:schemeClr val="dk1"/>
                </a:solidFill>
              </a:rPr>
              <a:t>discounted</a:t>
            </a:r>
            <a:r>
              <a:rPr lang="en-SG">
                <a:solidFill>
                  <a:schemeClr val="dk1"/>
                </a:solidFill>
              </a:rPr>
              <a:t> back to the present using the appropriate </a:t>
            </a:r>
            <a:r>
              <a:rPr lang="en-SG" b="1">
                <a:solidFill>
                  <a:schemeClr val="dk1"/>
                </a:solidFill>
              </a:rPr>
              <a:t>discount rate</a:t>
            </a:r>
            <a:r>
              <a:rPr lang="en-SG">
                <a:solidFill>
                  <a:schemeClr val="dk1"/>
                </a:solidFill>
              </a:rPr>
              <a:t>, often the </a:t>
            </a:r>
            <a:r>
              <a:rPr lang="en-SG" b="1">
                <a:solidFill>
                  <a:schemeClr val="dk1"/>
                </a:solidFill>
              </a:rPr>
              <a:t>yield to maturity (YTM)</a:t>
            </a:r>
            <a:r>
              <a:rPr lang="en-SG">
                <a:solidFill>
                  <a:schemeClr val="dk1"/>
                </a:solidFill>
              </a:rPr>
              <a:t> or the bond’s </a:t>
            </a:r>
            <a:r>
              <a:rPr lang="en-SG" b="1">
                <a:solidFill>
                  <a:schemeClr val="dk1"/>
                </a:solidFill>
              </a:rPr>
              <a:t>required rate of return</a:t>
            </a:r>
            <a:r>
              <a:rPr lang="en-SG">
                <a:solidFill>
                  <a:schemeClr val="dk1"/>
                </a:solidFill>
              </a:rPr>
              <a:t>.</a:t>
            </a:r>
            <a:endParaRPr>
              <a:solidFill>
                <a:schemeClr val="dk1"/>
              </a:solidFill>
            </a:endParaRPr>
          </a:p>
          <a:p>
            <a:pPr marL="457200" lvl="0" indent="-298450" algn="l" rtl="0">
              <a:lnSpc>
                <a:spcPct val="100000"/>
              </a:lnSpc>
              <a:spcBef>
                <a:spcPts val="0"/>
              </a:spcBef>
              <a:spcAft>
                <a:spcPts val="0"/>
              </a:spcAft>
              <a:buClr>
                <a:schemeClr val="dk1"/>
              </a:buClr>
              <a:buSzPts val="1100"/>
              <a:buChar char="-"/>
            </a:pPr>
            <a:r>
              <a:rPr lang="en-SG">
                <a:solidFill>
                  <a:schemeClr val="dk1"/>
                </a:solidFill>
              </a:rPr>
              <a:t>This gives the </a:t>
            </a:r>
            <a:r>
              <a:rPr lang="en-SG" b="1">
                <a:solidFill>
                  <a:schemeClr val="dk1"/>
                </a:solidFill>
              </a:rPr>
              <a:t>present value of expected cash flows</a:t>
            </a:r>
            <a:r>
              <a:rPr lang="en-SG">
                <a:solidFill>
                  <a:schemeClr val="dk1"/>
                </a:solidFill>
              </a:rPr>
              <a:t> under the assumption that the bond will </a:t>
            </a:r>
            <a:r>
              <a:rPr lang="en-SG" b="1">
                <a:solidFill>
                  <a:schemeClr val="dk1"/>
                </a:solidFill>
              </a:rPr>
              <a:t>not default</a:t>
            </a:r>
            <a:r>
              <a:rPr lang="en-SG">
                <a:solidFill>
                  <a:schemeClr val="dk1"/>
                </a:solidFill>
              </a:rPr>
              <a:t>.</a:t>
            </a:r>
            <a:endParaRPr>
              <a:solidFill>
                <a:schemeClr val="dk1"/>
              </a:solidFill>
            </a:endParaRPr>
          </a:p>
          <a:p>
            <a:pPr marL="0" lvl="0" indent="0" algn="l" rtl="0">
              <a:lnSpc>
                <a:spcPct val="115000"/>
              </a:lnSpc>
              <a:spcBef>
                <a:spcPts val="1200"/>
              </a:spcBef>
              <a:spcAft>
                <a:spcPts val="0"/>
              </a:spcAft>
              <a:buSzPts val="1100"/>
              <a:buNone/>
            </a:pPr>
            <a:r>
              <a:rPr lang="en-SG">
                <a:solidFill>
                  <a:schemeClr val="dk1"/>
                </a:solidFill>
              </a:rPr>
              <a:t>To account for the possibility of </a:t>
            </a:r>
            <a:r>
              <a:rPr lang="en-SG" b="1">
                <a:solidFill>
                  <a:schemeClr val="dk1"/>
                </a:solidFill>
              </a:rPr>
              <a:t>default risk</a:t>
            </a:r>
            <a:r>
              <a:rPr lang="en-SG">
                <a:solidFill>
                  <a:schemeClr val="dk1"/>
                </a:solidFill>
              </a:rPr>
              <a:t>, we need to adjust the bond’s cash flows for the likelihood that the issuer may not make all of its payments. The process involves using </a:t>
            </a:r>
            <a:r>
              <a:rPr lang="en-SG" b="1">
                <a:solidFill>
                  <a:schemeClr val="dk1"/>
                </a:solidFill>
              </a:rPr>
              <a:t>simulated future default rates</a:t>
            </a:r>
            <a:r>
              <a:rPr lang="en-SG">
                <a:solidFill>
                  <a:schemeClr val="dk1"/>
                </a:solidFill>
              </a:rPr>
              <a:t> to adjust the expected future cash flows.</a:t>
            </a:r>
            <a:endParaRPr>
              <a:solidFill>
                <a:schemeClr val="dk1"/>
              </a:solidFill>
            </a:endParaRPr>
          </a:p>
          <a:p>
            <a:pPr marL="0" lvl="0" indent="0" algn="l" rtl="0">
              <a:lnSpc>
                <a:spcPct val="115000"/>
              </a:lnSpc>
              <a:spcBef>
                <a:spcPts val="1200"/>
              </a:spcBef>
              <a:spcAft>
                <a:spcPts val="0"/>
              </a:spcAft>
              <a:buSzPts val="1100"/>
              <a:buNone/>
            </a:pPr>
            <a:r>
              <a:rPr lang="en-SG" b="1">
                <a:solidFill>
                  <a:schemeClr val="dk1"/>
                </a:solidFill>
              </a:rPr>
              <a:t>Steps Involved in Adjusting for Default Risk:</a:t>
            </a:r>
            <a:endParaRPr b="1">
              <a:solidFill>
                <a:schemeClr val="dk1"/>
              </a:solidFill>
            </a:endParaRPr>
          </a:p>
          <a:p>
            <a:pPr marL="457200" lvl="0" indent="-298450" algn="l" rtl="0">
              <a:lnSpc>
                <a:spcPct val="115000"/>
              </a:lnSpc>
              <a:spcBef>
                <a:spcPts val="1200"/>
              </a:spcBef>
              <a:spcAft>
                <a:spcPts val="0"/>
              </a:spcAft>
              <a:buClr>
                <a:schemeClr val="dk1"/>
              </a:buClr>
              <a:buSzPts val="1100"/>
              <a:buAutoNum type="arabicPeriod"/>
            </a:pPr>
            <a:r>
              <a:rPr lang="en-SG" b="1">
                <a:solidFill>
                  <a:schemeClr val="dk1"/>
                </a:solidFill>
              </a:rPr>
              <a:t>Simulate Default Probabilities:</a:t>
            </a:r>
            <a:endParaRPr b="1">
              <a:solidFill>
                <a:schemeClr val="dk1"/>
              </a:solidFill>
            </a:endParaRPr>
          </a:p>
          <a:p>
            <a:pPr marL="914400" lvl="1" indent="-298450" algn="l" rtl="0">
              <a:lnSpc>
                <a:spcPct val="115000"/>
              </a:lnSpc>
              <a:spcBef>
                <a:spcPts val="0"/>
              </a:spcBef>
              <a:spcAft>
                <a:spcPts val="0"/>
              </a:spcAft>
              <a:buClr>
                <a:schemeClr val="dk1"/>
              </a:buClr>
              <a:buSzPts val="1100"/>
              <a:buChar char="○"/>
            </a:pPr>
            <a:r>
              <a:rPr lang="en-SG">
                <a:solidFill>
                  <a:schemeClr val="dk1"/>
                </a:solidFill>
              </a:rPr>
              <a:t>A simulated default rate is essentially an estimate of the probability that the bond issuer will default at each future time point. These rates may change over time due to economic factors, creditworthiness of the issuer, or other external conditions.</a:t>
            </a:r>
            <a:endParaRPr>
              <a:solidFill>
                <a:schemeClr val="dk1"/>
              </a:solidFill>
            </a:endParaRPr>
          </a:p>
          <a:p>
            <a:pPr marL="914400" lvl="1" indent="-298450" algn="l" rtl="0">
              <a:lnSpc>
                <a:spcPct val="115000"/>
              </a:lnSpc>
              <a:spcBef>
                <a:spcPts val="0"/>
              </a:spcBef>
              <a:spcAft>
                <a:spcPts val="0"/>
              </a:spcAft>
              <a:buClr>
                <a:schemeClr val="dk1"/>
              </a:buClr>
              <a:buSzPts val="1100"/>
              <a:buChar char="○"/>
            </a:pPr>
            <a:r>
              <a:rPr lang="en-SG">
                <a:solidFill>
                  <a:schemeClr val="dk1"/>
                </a:solidFill>
              </a:rPr>
              <a:t>For example, an issuer may have a higher chance of defaulting in the final years of the bond’s life if it has financial difficulties, or if the bond is near maturity.</a:t>
            </a:r>
            <a:endParaRPr>
              <a:solidFill>
                <a:schemeClr val="dk1"/>
              </a:solidFill>
            </a:endParaRPr>
          </a:p>
          <a:p>
            <a:pPr marL="457200" lvl="0" indent="-298450" algn="l" rtl="0">
              <a:lnSpc>
                <a:spcPct val="115000"/>
              </a:lnSpc>
              <a:spcBef>
                <a:spcPts val="0"/>
              </a:spcBef>
              <a:spcAft>
                <a:spcPts val="0"/>
              </a:spcAft>
              <a:buClr>
                <a:schemeClr val="dk1"/>
              </a:buClr>
              <a:buSzPts val="1100"/>
              <a:buAutoNum type="arabicPeriod"/>
            </a:pPr>
            <a:r>
              <a:rPr lang="en-SG" b="1">
                <a:solidFill>
                  <a:schemeClr val="dk1"/>
                </a:solidFill>
              </a:rPr>
              <a:t>Adjust Cash Flows for Default Risk:</a:t>
            </a:r>
            <a:endParaRPr b="1">
              <a:solidFill>
                <a:schemeClr val="dk1"/>
              </a:solidFill>
            </a:endParaRPr>
          </a:p>
          <a:p>
            <a:pPr marL="914400" lvl="1" indent="-298450" algn="l" rtl="0">
              <a:lnSpc>
                <a:spcPct val="115000"/>
              </a:lnSpc>
              <a:spcBef>
                <a:spcPts val="0"/>
              </a:spcBef>
              <a:spcAft>
                <a:spcPts val="0"/>
              </a:spcAft>
              <a:buClr>
                <a:schemeClr val="dk1"/>
              </a:buClr>
              <a:buSzPts val="1100"/>
              <a:buChar char="○"/>
            </a:pPr>
            <a:r>
              <a:rPr lang="en-SG">
                <a:solidFill>
                  <a:schemeClr val="dk1"/>
                </a:solidFill>
              </a:rPr>
              <a:t>Assume that once a company or sovereign defaults, it cannot pay its future coupons. </a:t>
            </a:r>
            <a:endParaRPr>
              <a:solidFill>
                <a:schemeClr val="dk1"/>
              </a:solidFill>
            </a:endParaRPr>
          </a:p>
          <a:p>
            <a:pPr marL="914400" lvl="1" indent="-298450" algn="l" rtl="0">
              <a:lnSpc>
                <a:spcPct val="115000"/>
              </a:lnSpc>
              <a:spcBef>
                <a:spcPts val="0"/>
              </a:spcBef>
              <a:spcAft>
                <a:spcPts val="0"/>
              </a:spcAft>
              <a:buClr>
                <a:schemeClr val="dk1"/>
              </a:buClr>
              <a:buSzPts val="1100"/>
              <a:buChar char="○"/>
            </a:pPr>
            <a:r>
              <a:rPr lang="en-SG">
                <a:solidFill>
                  <a:schemeClr val="dk1"/>
                </a:solidFill>
              </a:rPr>
              <a:t>Period 1: either default with probability p and some default payout (e.g. collateral to seize), or don’t default (probability 1-p) and receive normal coupon payment, in the second case we can continue on to time period 2 and repeat same analysis, where you receive 2nd coupon payment with probability (1-p)^2 (i.e. didn’t default in period 1 or period 2) or default with probability p(1-p)</a:t>
            </a:r>
            <a:endParaRPr>
              <a:solidFill>
                <a:schemeClr val="dk1"/>
              </a:solidFill>
            </a:endParaRPr>
          </a:p>
          <a:p>
            <a:pPr marL="457200" lvl="0" indent="-298450" algn="l" rtl="0">
              <a:lnSpc>
                <a:spcPct val="115000"/>
              </a:lnSpc>
              <a:spcBef>
                <a:spcPts val="0"/>
              </a:spcBef>
              <a:spcAft>
                <a:spcPts val="0"/>
              </a:spcAft>
              <a:buClr>
                <a:schemeClr val="dk1"/>
              </a:buClr>
              <a:buSzPts val="1100"/>
              <a:buAutoNum type="arabicPeriod"/>
            </a:pPr>
            <a:r>
              <a:rPr lang="en-SG" b="1">
                <a:solidFill>
                  <a:schemeClr val="dk1"/>
                </a:solidFill>
              </a:rPr>
              <a:t>Discount the Adjusted Cash Flows:</a:t>
            </a:r>
            <a:endParaRPr b="1">
              <a:solidFill>
                <a:schemeClr val="dk1"/>
              </a:solidFill>
            </a:endParaRPr>
          </a:p>
          <a:p>
            <a:pPr marL="914400" lvl="1" indent="-298450" algn="l" rtl="0">
              <a:lnSpc>
                <a:spcPct val="115000"/>
              </a:lnSpc>
              <a:spcBef>
                <a:spcPts val="0"/>
              </a:spcBef>
              <a:spcAft>
                <a:spcPts val="0"/>
              </a:spcAft>
              <a:buClr>
                <a:schemeClr val="dk1"/>
              </a:buClr>
              <a:buSzPts val="1100"/>
              <a:buChar char="○"/>
            </a:pPr>
            <a:r>
              <a:rPr lang="en-SG">
                <a:solidFill>
                  <a:schemeClr val="dk1"/>
                </a:solidFill>
              </a:rPr>
              <a:t>Once the cash flows are adjusted for default risk, they are discounted back to the present using the same </a:t>
            </a:r>
            <a:r>
              <a:rPr lang="en-SG" b="1">
                <a:solidFill>
                  <a:schemeClr val="dk1"/>
                </a:solidFill>
              </a:rPr>
              <a:t>discount rate</a:t>
            </a:r>
            <a:r>
              <a:rPr lang="en-SG">
                <a:solidFill>
                  <a:schemeClr val="dk1"/>
                </a:solidFill>
              </a:rPr>
              <a:t> (YTM) as in the basic DCF model, assuming the default risk is properly factored into the rate.</a:t>
            </a:r>
            <a:endParaRPr>
              <a:solidFill>
                <a:schemeClr val="dk1"/>
              </a:solidFill>
            </a:endParaRPr>
          </a:p>
          <a:p>
            <a:pPr marL="914400" lvl="1" indent="-298450" algn="l" rtl="0">
              <a:lnSpc>
                <a:spcPct val="115000"/>
              </a:lnSpc>
              <a:spcBef>
                <a:spcPts val="0"/>
              </a:spcBef>
              <a:spcAft>
                <a:spcPts val="0"/>
              </a:spcAft>
              <a:buClr>
                <a:schemeClr val="dk1"/>
              </a:buClr>
              <a:buSzPts val="1100"/>
              <a:buChar char="○"/>
            </a:pPr>
            <a:r>
              <a:rPr lang="en-SG">
                <a:solidFill>
                  <a:schemeClr val="dk1"/>
                </a:solidFill>
              </a:rPr>
              <a:t>The present value of the bond would then be calculated as:</a:t>
            </a:r>
            <a:br>
              <a:rPr lang="en-SG">
                <a:solidFill>
                  <a:schemeClr val="dk1"/>
                </a:solidFill>
              </a:rPr>
            </a:br>
            <a:r>
              <a:rPr lang="en-SG">
                <a:solidFill>
                  <a:schemeClr val="dk1"/>
                </a:solidFill>
              </a:rPr>
              <a:t>This formula now reflects the probability-adjusted value of future cash flows, accounting for potential defaults at each time period</a:t>
            </a:r>
            <a:endParaRPr>
              <a:solidFill>
                <a:schemeClr val="dk1"/>
              </a:solidFill>
            </a:endParaRPr>
          </a:p>
        </p:txBody>
      </p:sp>
      <p:sp>
        <p:nvSpPr>
          <p:cNvPr id="377" name="Google Shape;377;g3a1423cfbf8_0_79: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8"/>
        <p:cNvGrpSpPr/>
        <p:nvPr/>
      </p:nvGrpSpPr>
      <p:grpSpPr>
        <a:xfrm>
          <a:off x="0" y="0"/>
          <a:ext cx="0" cy="0"/>
          <a:chOff x="0" y="0"/>
          <a:chExt cx="0" cy="0"/>
        </a:xfrm>
      </p:grpSpPr>
      <p:sp>
        <p:nvSpPr>
          <p:cNvPr id="389" name="Google Shape;389;p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90" name="Google Shape;390;p1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4"/>
        <p:cNvGrpSpPr/>
        <p:nvPr/>
      </p:nvGrpSpPr>
      <p:grpSpPr>
        <a:xfrm>
          <a:off x="0" y="0"/>
          <a:ext cx="0" cy="0"/>
          <a:chOff x="0" y="0"/>
          <a:chExt cx="0" cy="0"/>
        </a:xfrm>
      </p:grpSpPr>
      <p:sp>
        <p:nvSpPr>
          <p:cNvPr id="395" name="Google Shape;395;p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96" name="Google Shape;396;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2"/>
        <p:cNvGrpSpPr/>
        <p:nvPr/>
      </p:nvGrpSpPr>
      <p:grpSpPr>
        <a:xfrm>
          <a:off x="0" y="0"/>
          <a:ext cx="0" cy="0"/>
          <a:chOff x="0" y="0"/>
          <a:chExt cx="0" cy="0"/>
        </a:xfrm>
      </p:grpSpPr>
      <p:sp>
        <p:nvSpPr>
          <p:cNvPr id="403" name="Google Shape;403;p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04" name="Google Shape;404;p1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9"/>
        <p:cNvGrpSpPr/>
        <p:nvPr/>
      </p:nvGrpSpPr>
      <p:grpSpPr>
        <a:xfrm>
          <a:off x="0" y="0"/>
          <a:ext cx="0" cy="0"/>
          <a:chOff x="0" y="0"/>
          <a:chExt cx="0" cy="0"/>
        </a:xfrm>
      </p:grpSpPr>
      <p:sp>
        <p:nvSpPr>
          <p:cNvPr id="410" name="Google Shape;410;g314c0bbca86_0_27: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11" name="Google Shape;411;g314c0bbca86_0_2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5"/>
        <p:cNvGrpSpPr/>
        <p:nvPr/>
      </p:nvGrpSpPr>
      <p:grpSpPr>
        <a:xfrm>
          <a:off x="0" y="0"/>
          <a:ext cx="0" cy="0"/>
          <a:chOff x="0" y="0"/>
          <a:chExt cx="0" cy="0"/>
        </a:xfrm>
      </p:grpSpPr>
      <p:sp>
        <p:nvSpPr>
          <p:cNvPr id="416" name="Google Shape;416;g314c0bbca86_0_33: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17" name="Google Shape;417;g314c0bbca86_0_3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2"/>
        <p:cNvGrpSpPr/>
        <p:nvPr/>
      </p:nvGrpSpPr>
      <p:grpSpPr>
        <a:xfrm>
          <a:off x="0" y="0"/>
          <a:ext cx="0" cy="0"/>
          <a:chOff x="0" y="0"/>
          <a:chExt cx="0" cy="0"/>
        </a:xfrm>
      </p:grpSpPr>
      <p:sp>
        <p:nvSpPr>
          <p:cNvPr id="423" name="Google Shape;423;p1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SG">
                <a:solidFill>
                  <a:schemeClr val="dk1"/>
                </a:solidFill>
              </a:rPr>
              <a:t>Isabelle</a:t>
            </a:r>
            <a:endParaRPr>
              <a:solidFill>
                <a:schemeClr val="dk1"/>
              </a:solidFill>
            </a:endParaRPr>
          </a:p>
          <a:p>
            <a:pPr marL="0" lvl="0" indent="0" algn="l" rtl="0">
              <a:lnSpc>
                <a:spcPct val="100000"/>
              </a:lnSpc>
              <a:spcBef>
                <a:spcPts val="0"/>
              </a:spcBef>
              <a:spcAft>
                <a:spcPts val="0"/>
              </a:spcAft>
              <a:buSzPts val="1100"/>
              <a:buNone/>
            </a:pPr>
            <a:endParaRPr>
              <a:solidFill>
                <a:schemeClr val="dk1"/>
              </a:solidFill>
            </a:endParaRPr>
          </a:p>
          <a:p>
            <a:pPr marL="457200" lvl="0" indent="-298450" algn="l" rtl="0">
              <a:lnSpc>
                <a:spcPct val="115000"/>
              </a:lnSpc>
              <a:spcBef>
                <a:spcPts val="1200"/>
              </a:spcBef>
              <a:spcAft>
                <a:spcPts val="0"/>
              </a:spcAft>
              <a:buClr>
                <a:schemeClr val="dk1"/>
              </a:buClr>
              <a:buSzPts val="1100"/>
              <a:buChar char="●"/>
            </a:pPr>
            <a:r>
              <a:rPr lang="en-SG">
                <a:solidFill>
                  <a:schemeClr val="dk1"/>
                </a:solidFill>
              </a:rPr>
              <a:t>Credit spread options are </a:t>
            </a:r>
            <a:r>
              <a:rPr lang="en-SG" b="1">
                <a:solidFill>
                  <a:schemeClr val="dk1"/>
                </a:solidFill>
              </a:rPr>
              <a:t>derivatives that allow investors to hedge or speculate on changes in the credit spread</a:t>
            </a:r>
            <a:r>
              <a:rPr lang="en-SG">
                <a:solidFill>
                  <a:schemeClr val="dk1"/>
                </a:solidFill>
              </a:rPr>
              <a:t> (the difference in yield between a corporate or sovereign bond and a risk-free benchmark rate).</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SG">
                <a:solidFill>
                  <a:schemeClr val="dk1"/>
                </a:solidFill>
              </a:rPr>
              <a:t>Investors use these options to manage exposure to credit risk, particularly changes in a bond's credit quality.</a:t>
            </a:r>
            <a:endParaRPr>
              <a:solidFill>
                <a:schemeClr val="dk1"/>
              </a:solidFill>
            </a:endParaRPr>
          </a:p>
          <a:p>
            <a:pPr marL="0" lvl="0" indent="0" algn="l" rtl="0">
              <a:lnSpc>
                <a:spcPct val="115000"/>
              </a:lnSpc>
              <a:spcBef>
                <a:spcPts val="1200"/>
              </a:spcBef>
              <a:spcAft>
                <a:spcPts val="0"/>
              </a:spcAft>
              <a:buSzPts val="1100"/>
              <a:buNone/>
            </a:pPr>
            <a:r>
              <a:rPr lang="en-SG" b="1">
                <a:solidFill>
                  <a:schemeClr val="dk1"/>
                </a:solidFill>
              </a:rPr>
              <a:t>Structure Similar to Equity Options</a:t>
            </a:r>
            <a:r>
              <a:rPr lang="en-SG">
                <a:solidFill>
                  <a:schemeClr val="dk1"/>
                </a:solidFill>
              </a:rPr>
              <a:t>:</a:t>
            </a:r>
            <a:endParaRPr>
              <a:solidFill>
                <a:schemeClr val="dk1"/>
              </a:solidFill>
            </a:endParaRPr>
          </a:p>
          <a:p>
            <a:pPr marL="457200" lvl="0" indent="-298450" algn="l" rtl="0">
              <a:lnSpc>
                <a:spcPct val="115000"/>
              </a:lnSpc>
              <a:spcBef>
                <a:spcPts val="1200"/>
              </a:spcBef>
              <a:spcAft>
                <a:spcPts val="0"/>
              </a:spcAft>
              <a:buClr>
                <a:schemeClr val="dk1"/>
              </a:buClr>
              <a:buSzPts val="1100"/>
              <a:buChar char="●"/>
            </a:pPr>
            <a:r>
              <a:rPr lang="en-SG">
                <a:solidFill>
                  <a:schemeClr val="dk1"/>
                </a:solidFill>
              </a:rPr>
              <a:t>Like equity </a:t>
            </a:r>
            <a:r>
              <a:rPr lang="en-SG" b="1">
                <a:solidFill>
                  <a:schemeClr val="dk1"/>
                </a:solidFill>
              </a:rPr>
              <a:t>puts and calls</a:t>
            </a:r>
            <a:r>
              <a:rPr lang="en-SG">
                <a:solidFill>
                  <a:schemeClr val="dk1"/>
                </a:solidFill>
              </a:rPr>
              <a:t>, credit spread options offer the </a:t>
            </a:r>
            <a:r>
              <a:rPr lang="en-SG" b="1">
                <a:solidFill>
                  <a:schemeClr val="dk1"/>
                </a:solidFill>
              </a:rPr>
              <a:t>right (not the obligation) to benefit from changes in the credit spread</a:t>
            </a:r>
            <a:r>
              <a:rPr lang="en-SG">
                <a:solidFill>
                  <a:schemeClr val="dk1"/>
                </a:solidFill>
              </a:rPr>
              <a:t>.</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SG">
                <a:solidFill>
                  <a:schemeClr val="dk1"/>
                </a:solidFill>
              </a:rPr>
              <a:t>However, instead of a strike price for an asset, the strike here is a </a:t>
            </a:r>
            <a:r>
              <a:rPr lang="en-SG" b="1">
                <a:solidFill>
                  <a:schemeClr val="dk1"/>
                </a:solidFill>
              </a:rPr>
              <a:t>specific credit spread level</a:t>
            </a:r>
            <a:r>
              <a:rPr lang="en-SG">
                <a:solidFill>
                  <a:schemeClr val="dk1"/>
                </a:solidFill>
              </a:rPr>
              <a:t>.</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SG">
                <a:solidFill>
                  <a:schemeClr val="dk1"/>
                </a:solidFill>
              </a:rPr>
              <a:t>A </a:t>
            </a:r>
            <a:r>
              <a:rPr lang="en-SG" b="1">
                <a:solidFill>
                  <a:schemeClr val="dk1"/>
                </a:solidFill>
              </a:rPr>
              <a:t>credit spread call option</a:t>
            </a:r>
            <a:r>
              <a:rPr lang="en-SG">
                <a:solidFill>
                  <a:schemeClr val="dk1"/>
                </a:solidFill>
              </a:rPr>
              <a:t> increases in value when the credit spread </a:t>
            </a:r>
            <a:r>
              <a:rPr lang="en-SG" b="1">
                <a:solidFill>
                  <a:schemeClr val="dk1"/>
                </a:solidFill>
              </a:rPr>
              <a:t>widens</a:t>
            </a:r>
            <a:r>
              <a:rPr lang="en-SG">
                <a:solidFill>
                  <a:schemeClr val="dk1"/>
                </a:solidFill>
              </a:rPr>
              <a:t> (indicating worsening credit conditions).</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SG">
                <a:solidFill>
                  <a:schemeClr val="dk1"/>
                </a:solidFill>
              </a:rPr>
              <a:t>Intuition: If a bond’s credit spread widens, it suggests the bond is riskier, and yields are rising relative to a safer benchmark. A call option profits from this, so it’s essentially </a:t>
            </a:r>
            <a:r>
              <a:rPr lang="en-SG" b="1">
                <a:solidFill>
                  <a:schemeClr val="dk1"/>
                </a:solidFill>
              </a:rPr>
              <a:t>a bet against the issuer’s credit quality</a:t>
            </a:r>
            <a:r>
              <a:rPr lang="en-SG">
                <a:solidFill>
                  <a:schemeClr val="dk1"/>
                </a:solidFill>
              </a:rPr>
              <a:t>. If you buy an equity call -&gt; betting on the price to rise (vs. here, betting on yields to rise)</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SG">
                <a:solidFill>
                  <a:schemeClr val="dk1"/>
                </a:solidFill>
              </a:rPr>
              <a:t>Suppose an investor buys a credit spread call option with a strike spread of 300 basis points. If the bond’s spread widens to 350 basis points, the call option gains value, as the actual spread is now higher than the strike. The buyer pays 50*Duration factor to credit option seller. </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SG">
                <a:solidFill>
                  <a:schemeClr val="dk1"/>
                </a:solidFill>
              </a:rPr>
              <a:t>A </a:t>
            </a:r>
            <a:r>
              <a:rPr lang="en-SG" b="1">
                <a:solidFill>
                  <a:schemeClr val="dk1"/>
                </a:solidFill>
              </a:rPr>
              <a:t>credit spread put option</a:t>
            </a:r>
            <a:r>
              <a:rPr lang="en-SG">
                <a:solidFill>
                  <a:schemeClr val="dk1"/>
                </a:solidFill>
              </a:rPr>
              <a:t> gains value when the credit spread </a:t>
            </a:r>
            <a:r>
              <a:rPr lang="en-SG" b="1">
                <a:solidFill>
                  <a:schemeClr val="dk1"/>
                </a:solidFill>
              </a:rPr>
              <a:t>narrows</a:t>
            </a:r>
            <a:r>
              <a:rPr lang="en-SG">
                <a:solidFill>
                  <a:schemeClr val="dk1"/>
                </a:solidFill>
              </a:rPr>
              <a:t> (indicating improving credit conditions).</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SG">
                <a:solidFill>
                  <a:schemeClr val="dk1"/>
                </a:solidFill>
              </a:rPr>
              <a:t>Intuition: If credit spreads narrow, the bond is perceived as safer, and its yield spread over the benchmark falls. The put option profits from this, so it’s like </a:t>
            </a:r>
            <a:r>
              <a:rPr lang="en-SG" b="1">
                <a:solidFill>
                  <a:schemeClr val="dk1"/>
                </a:solidFill>
              </a:rPr>
              <a:t>betting on credit quality improvement</a:t>
            </a:r>
            <a:r>
              <a:rPr lang="en-SG">
                <a:solidFill>
                  <a:schemeClr val="dk1"/>
                </a:solidFill>
              </a:rPr>
              <a:t>. If you buy an equity put, betting on the price to fall, here we are betting on the yield spread to fall</a:t>
            </a:r>
            <a:endParaRPr b="1">
              <a:solidFill>
                <a:schemeClr val="dk1"/>
              </a:solidFill>
            </a:endParaRPr>
          </a:p>
          <a:p>
            <a:pPr marL="0" lvl="0" indent="0" algn="l" rtl="0">
              <a:lnSpc>
                <a:spcPct val="115000"/>
              </a:lnSpc>
              <a:spcBef>
                <a:spcPts val="1200"/>
              </a:spcBef>
              <a:spcAft>
                <a:spcPts val="0"/>
              </a:spcAft>
              <a:buSzPts val="1100"/>
              <a:buNone/>
            </a:pPr>
            <a:r>
              <a:rPr lang="en-SG" b="1">
                <a:solidFill>
                  <a:schemeClr val="dk1"/>
                </a:solidFill>
              </a:rPr>
              <a:t>Intrinsic Value and Option Payoff</a:t>
            </a:r>
            <a:r>
              <a:rPr lang="en-SG">
                <a:solidFill>
                  <a:schemeClr val="dk1"/>
                </a:solidFill>
              </a:rPr>
              <a:t>:</a:t>
            </a:r>
            <a:endParaRPr>
              <a:solidFill>
                <a:schemeClr val="dk1"/>
              </a:solidFill>
            </a:endParaRPr>
          </a:p>
          <a:p>
            <a:pPr marL="457200" lvl="0" indent="-298450" algn="l" rtl="0">
              <a:lnSpc>
                <a:spcPct val="115000"/>
              </a:lnSpc>
              <a:spcBef>
                <a:spcPts val="1200"/>
              </a:spcBef>
              <a:spcAft>
                <a:spcPts val="0"/>
              </a:spcAft>
              <a:buClr>
                <a:schemeClr val="dk1"/>
              </a:buClr>
              <a:buSzPts val="1100"/>
              <a:buChar char="●"/>
            </a:pPr>
            <a:r>
              <a:rPr lang="en-SG" b="1">
                <a:solidFill>
                  <a:schemeClr val="dk1"/>
                </a:solidFill>
              </a:rPr>
              <a:t>Intrinsic Value</a:t>
            </a:r>
            <a:r>
              <a:rPr lang="en-SG">
                <a:solidFill>
                  <a:schemeClr val="dk1"/>
                </a:solidFill>
              </a:rPr>
              <a:t>: The difference between the strike spread and the current spread determines the option’s intrinsic value.</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SG" b="1">
                <a:solidFill>
                  <a:schemeClr val="dk1"/>
                </a:solidFill>
              </a:rPr>
              <a:t>Payoff</a:t>
            </a:r>
            <a:r>
              <a:rPr lang="en-SG">
                <a:solidFill>
                  <a:schemeClr val="dk1"/>
                </a:solidFill>
              </a:rPr>
              <a:t>: The payoff for a credit spread call option can be calculated as </a:t>
            </a:r>
            <a:r>
              <a:rPr lang="en-SG">
                <a:solidFill>
                  <a:srgbClr val="188038"/>
                </a:solidFill>
                <a:latin typeface="Roboto Mono"/>
                <a:ea typeface="Roboto Mono"/>
                <a:cs typeface="Roboto Mono"/>
                <a:sym typeface="Roboto Mono"/>
              </a:rPr>
              <a:t>Max(0, Strike Spread - Current Spread) x Duration Factor</a:t>
            </a:r>
            <a:r>
              <a:rPr lang="en-SG">
                <a:solidFill>
                  <a:schemeClr val="dk1"/>
                </a:solidFill>
              </a:rPr>
              <a:t>.</a:t>
            </a:r>
            <a:endParaRPr>
              <a:solidFill>
                <a:schemeClr val="dk1"/>
              </a:solidFill>
            </a:endParaRPr>
          </a:p>
          <a:p>
            <a:pPr marL="914400" lvl="1" indent="-298450" algn="l" rtl="0">
              <a:lnSpc>
                <a:spcPct val="115000"/>
              </a:lnSpc>
              <a:spcBef>
                <a:spcPts val="0"/>
              </a:spcBef>
              <a:spcAft>
                <a:spcPts val="0"/>
              </a:spcAft>
              <a:buClr>
                <a:schemeClr val="dk1"/>
              </a:buClr>
              <a:buSzPts val="1100"/>
              <a:buChar char="○"/>
            </a:pPr>
            <a:r>
              <a:rPr lang="en-SG" b="1">
                <a:solidFill>
                  <a:schemeClr val="dk1"/>
                </a:solidFill>
              </a:rPr>
              <a:t>Duration Factor</a:t>
            </a:r>
            <a:r>
              <a:rPr lang="en-SG">
                <a:solidFill>
                  <a:schemeClr val="dk1"/>
                </a:solidFill>
              </a:rPr>
              <a:t>: This is used to scale the payoff according to the bond’s sensitivity to spread changes.</a:t>
            </a:r>
            <a:endParaRPr>
              <a:solidFill>
                <a:schemeClr val="dk1"/>
              </a:solidFill>
            </a:endParaRPr>
          </a:p>
          <a:p>
            <a:pPr marL="0" lvl="0" indent="0" algn="l" rtl="0">
              <a:lnSpc>
                <a:spcPct val="100000"/>
              </a:lnSpc>
              <a:spcBef>
                <a:spcPts val="1200"/>
              </a:spcBef>
              <a:spcAft>
                <a:spcPts val="0"/>
              </a:spcAft>
              <a:buClr>
                <a:schemeClr val="dk1"/>
              </a:buClr>
              <a:buSzPts val="1100"/>
              <a:buFont typeface="Arial"/>
              <a:buNone/>
            </a:pPr>
            <a:endParaRPr>
              <a:solidFill>
                <a:schemeClr val="dk1"/>
              </a:solidFill>
            </a:endParaRPr>
          </a:p>
        </p:txBody>
      </p:sp>
      <p:sp>
        <p:nvSpPr>
          <p:cNvPr id="424" name="Google Shape;424;p1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0"/>
        <p:cNvGrpSpPr/>
        <p:nvPr/>
      </p:nvGrpSpPr>
      <p:grpSpPr>
        <a:xfrm>
          <a:off x="0" y="0"/>
          <a:ext cx="0" cy="0"/>
          <a:chOff x="0" y="0"/>
          <a:chExt cx="0" cy="0"/>
        </a:xfrm>
      </p:grpSpPr>
      <p:sp>
        <p:nvSpPr>
          <p:cNvPr id="431" name="Google Shape;431;p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SG">
                <a:solidFill>
                  <a:schemeClr val="dk1"/>
                </a:solidFill>
              </a:rPr>
              <a:t>Isabelle</a:t>
            </a:r>
            <a:endParaRPr>
              <a:solidFill>
                <a:schemeClr val="dk1"/>
              </a:solidFill>
            </a:endParaRPr>
          </a:p>
          <a:p>
            <a:pPr marL="0" lvl="0" indent="0" algn="l" rtl="0">
              <a:lnSpc>
                <a:spcPct val="100000"/>
              </a:lnSpc>
              <a:spcBef>
                <a:spcPts val="0"/>
              </a:spcBef>
              <a:spcAft>
                <a:spcPts val="0"/>
              </a:spcAft>
              <a:buSzPts val="1100"/>
              <a:buNone/>
            </a:pPr>
            <a:endParaRPr>
              <a:solidFill>
                <a:schemeClr val="dk1"/>
              </a:solidFill>
            </a:endParaRPr>
          </a:p>
          <a:p>
            <a:pPr marL="0" lvl="0" indent="0" algn="l" rtl="0">
              <a:lnSpc>
                <a:spcPct val="115000"/>
              </a:lnSpc>
              <a:spcBef>
                <a:spcPts val="1400"/>
              </a:spcBef>
              <a:spcAft>
                <a:spcPts val="0"/>
              </a:spcAft>
              <a:buSzPts val="1100"/>
              <a:buNone/>
            </a:pPr>
            <a:r>
              <a:rPr lang="en-SG" sz="1300" b="1">
                <a:solidFill>
                  <a:schemeClr val="dk1"/>
                </a:solidFill>
              </a:rPr>
              <a:t>Total Return Swaps (TRS)</a:t>
            </a:r>
            <a:endParaRPr sz="1300" b="1">
              <a:solidFill>
                <a:schemeClr val="dk1"/>
              </a:solidFill>
            </a:endParaRPr>
          </a:p>
          <a:p>
            <a:pPr marL="0" lvl="0" indent="0" algn="l" rtl="0">
              <a:lnSpc>
                <a:spcPct val="115000"/>
              </a:lnSpc>
              <a:spcBef>
                <a:spcPts val="1200"/>
              </a:spcBef>
              <a:spcAft>
                <a:spcPts val="0"/>
              </a:spcAft>
              <a:buSzPts val="1100"/>
              <a:buNone/>
            </a:pPr>
            <a:r>
              <a:rPr lang="en-SG" b="1">
                <a:solidFill>
                  <a:schemeClr val="dk1"/>
                </a:solidFill>
              </a:rPr>
              <a:t>Key Points:</a:t>
            </a:r>
            <a:endParaRPr b="1">
              <a:solidFill>
                <a:schemeClr val="dk1"/>
              </a:solidFill>
            </a:endParaRPr>
          </a:p>
          <a:p>
            <a:pPr marL="457200" lvl="0" indent="-298450" algn="l" rtl="0">
              <a:lnSpc>
                <a:spcPct val="115000"/>
              </a:lnSpc>
              <a:spcBef>
                <a:spcPts val="1200"/>
              </a:spcBef>
              <a:spcAft>
                <a:spcPts val="0"/>
              </a:spcAft>
              <a:buClr>
                <a:schemeClr val="dk1"/>
              </a:buClr>
              <a:buSzPts val="1100"/>
              <a:buChar char="-"/>
            </a:pPr>
            <a:r>
              <a:rPr lang="en-SG" b="1">
                <a:solidFill>
                  <a:schemeClr val="dk1"/>
                </a:solidFill>
              </a:rPr>
              <a:t>Total return swap</a:t>
            </a:r>
            <a:endParaRPr b="1">
              <a:solidFill>
                <a:schemeClr val="dk1"/>
              </a:solidFill>
            </a:endParaRPr>
          </a:p>
          <a:p>
            <a:pPr marL="457200" lvl="0" indent="-298450" algn="l" rtl="0">
              <a:lnSpc>
                <a:spcPct val="115000"/>
              </a:lnSpc>
              <a:spcBef>
                <a:spcPts val="0"/>
              </a:spcBef>
              <a:spcAft>
                <a:spcPts val="0"/>
              </a:spcAft>
              <a:buClr>
                <a:schemeClr val="dk1"/>
              </a:buClr>
              <a:buSzPts val="1100"/>
              <a:buChar char="-"/>
            </a:pPr>
            <a:r>
              <a:rPr lang="en-SG">
                <a:solidFill>
                  <a:schemeClr val="dk1"/>
                </a:solidFill>
              </a:rPr>
              <a:t>In a Total Return Swap, the investor does not directly own the underlying asset but gets exposure to its total return (capital gains + dividends for equities/coupon payments for bonds), which is a capital efficient way to take a position on an asset</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SG">
                <a:solidFill>
                  <a:schemeClr val="dk1"/>
                </a:solidFill>
              </a:rPr>
              <a:t>The bank or financial institution providing the TRS uses its balance sheet to facilitate the transaction, which effectively provides leverage to the investor who only puts up margin rather than buying the asset outright. This means the investor can gain the economic benefits of owning an asset without the capital requirements or risks of actually owning it.</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SG" b="1">
                <a:solidFill>
                  <a:schemeClr val="dk1"/>
                </a:solidFill>
              </a:rPr>
              <a:t>Asset swap</a:t>
            </a:r>
            <a:endParaRPr b="1">
              <a:solidFill>
                <a:schemeClr val="dk1"/>
              </a:solidFill>
            </a:endParaRPr>
          </a:p>
          <a:p>
            <a:pPr marL="457200" lvl="0" indent="-298450" algn="l" rtl="0">
              <a:lnSpc>
                <a:spcPct val="115000"/>
              </a:lnSpc>
              <a:spcBef>
                <a:spcPts val="0"/>
              </a:spcBef>
              <a:spcAft>
                <a:spcPts val="0"/>
              </a:spcAft>
              <a:buClr>
                <a:schemeClr val="dk1"/>
              </a:buClr>
              <a:buSzPts val="1100"/>
              <a:buChar char="-"/>
            </a:pPr>
            <a:r>
              <a:rPr lang="en-SG">
                <a:solidFill>
                  <a:schemeClr val="dk1"/>
                </a:solidFill>
              </a:rPr>
              <a:t>An asset swap involves exchanging the fixed cash flows (interest payments) from an asset (typically a bond or debt instrument) for floating-rate payments, such as LIBOR or SOFR-based payments.</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SG">
                <a:solidFill>
                  <a:schemeClr val="dk1"/>
                </a:solidFill>
              </a:rPr>
              <a:t>The investor typically wants to convert the fixed interest payment on their bond into a floating payment, either for </a:t>
            </a:r>
            <a:r>
              <a:rPr lang="en-SG" b="1">
                <a:solidFill>
                  <a:schemeClr val="dk1"/>
                </a:solidFill>
              </a:rPr>
              <a:t>speculation</a:t>
            </a:r>
            <a:r>
              <a:rPr lang="en-SG">
                <a:solidFill>
                  <a:schemeClr val="dk1"/>
                </a:solidFill>
              </a:rPr>
              <a:t> (e.g. if they believe interest rates will rise you might want to convert fixed to floating, if fall -&gt; floating to fixed at lower rate to secure predictable returns) or </a:t>
            </a:r>
            <a:r>
              <a:rPr lang="en-SG" b="1">
                <a:solidFill>
                  <a:schemeClr val="dk1"/>
                </a:solidFill>
              </a:rPr>
              <a:t>hedging</a:t>
            </a:r>
            <a:r>
              <a:rPr lang="en-SG">
                <a:solidFill>
                  <a:schemeClr val="dk1"/>
                </a:solidFill>
              </a:rPr>
              <a:t> (if they have floating-rate liabilities).</a:t>
            </a:r>
            <a:endParaRPr>
              <a:solidFill>
                <a:schemeClr val="dk1"/>
              </a:solidFill>
            </a:endParaRPr>
          </a:p>
          <a:p>
            <a:pPr marL="0" lvl="0" indent="0" algn="l" rtl="0">
              <a:lnSpc>
                <a:spcPct val="115000"/>
              </a:lnSpc>
              <a:spcBef>
                <a:spcPts val="1200"/>
              </a:spcBef>
              <a:spcAft>
                <a:spcPts val="0"/>
              </a:spcAft>
              <a:buSzPts val="1100"/>
              <a:buNone/>
            </a:pPr>
            <a:endParaRPr>
              <a:solidFill>
                <a:schemeClr val="dk1"/>
              </a:solidFill>
            </a:endParaRPr>
          </a:p>
          <a:p>
            <a:pPr marL="0" lvl="0" indent="0" algn="l" rtl="0">
              <a:lnSpc>
                <a:spcPct val="115000"/>
              </a:lnSpc>
              <a:spcBef>
                <a:spcPts val="1400"/>
              </a:spcBef>
              <a:spcAft>
                <a:spcPts val="0"/>
              </a:spcAft>
              <a:buSzPts val="1100"/>
              <a:buNone/>
            </a:pPr>
            <a:r>
              <a:rPr lang="en-SG" sz="1300" b="1">
                <a:solidFill>
                  <a:schemeClr val="dk1"/>
                </a:solidFill>
              </a:rPr>
              <a:t>Payoff Flow in Total Return Swap</a:t>
            </a:r>
            <a:endParaRPr sz="1300" b="1">
              <a:solidFill>
                <a:schemeClr val="dk1"/>
              </a:solidFill>
            </a:endParaRPr>
          </a:p>
          <a:p>
            <a:pPr marL="0" lvl="0" indent="0" algn="l" rtl="0">
              <a:lnSpc>
                <a:spcPct val="115000"/>
              </a:lnSpc>
              <a:spcBef>
                <a:spcPts val="1200"/>
              </a:spcBef>
              <a:spcAft>
                <a:spcPts val="0"/>
              </a:spcAft>
              <a:buSzPts val="1100"/>
              <a:buNone/>
            </a:pPr>
            <a:r>
              <a:rPr lang="en-SG">
                <a:solidFill>
                  <a:schemeClr val="dk1"/>
                </a:solidFill>
              </a:rPr>
              <a:t>In a </a:t>
            </a:r>
            <a:r>
              <a:rPr lang="en-SG" b="1">
                <a:solidFill>
                  <a:schemeClr val="dk1"/>
                </a:solidFill>
              </a:rPr>
              <a:t>Total Return Swap (TRS)</a:t>
            </a:r>
            <a:r>
              <a:rPr lang="en-SG">
                <a:solidFill>
                  <a:schemeClr val="dk1"/>
                </a:solidFill>
              </a:rPr>
              <a:t>, the flow of payoffs is as follows:</a:t>
            </a:r>
            <a:endParaRPr>
              <a:solidFill>
                <a:schemeClr val="dk1"/>
              </a:solidFill>
            </a:endParaRPr>
          </a:p>
          <a:p>
            <a:pPr marL="914400" lvl="1" indent="-298450" algn="l" rtl="0">
              <a:lnSpc>
                <a:spcPct val="115000"/>
              </a:lnSpc>
              <a:spcBef>
                <a:spcPts val="1200"/>
              </a:spcBef>
              <a:spcAft>
                <a:spcPts val="0"/>
              </a:spcAft>
              <a:buClr>
                <a:schemeClr val="dk1"/>
              </a:buClr>
              <a:buSzPts val="1100"/>
              <a:buChar char="○"/>
            </a:pPr>
            <a:r>
              <a:rPr lang="en-SG">
                <a:solidFill>
                  <a:schemeClr val="dk1"/>
                </a:solidFill>
              </a:rPr>
              <a:t>The investor receives the </a:t>
            </a:r>
            <a:r>
              <a:rPr lang="en-SG" b="1">
                <a:solidFill>
                  <a:schemeClr val="dk1"/>
                </a:solidFill>
              </a:rPr>
              <a:t>total return</a:t>
            </a:r>
            <a:r>
              <a:rPr lang="en-SG">
                <a:solidFill>
                  <a:schemeClr val="dk1"/>
                </a:solidFill>
              </a:rPr>
              <a:t> from the reference asset. This includes:</a:t>
            </a:r>
            <a:endParaRPr>
              <a:solidFill>
                <a:schemeClr val="dk1"/>
              </a:solidFill>
            </a:endParaRPr>
          </a:p>
          <a:p>
            <a:pPr marL="1371600" lvl="2" indent="-298450" algn="l" rtl="0">
              <a:lnSpc>
                <a:spcPct val="115000"/>
              </a:lnSpc>
              <a:spcBef>
                <a:spcPts val="0"/>
              </a:spcBef>
              <a:spcAft>
                <a:spcPts val="0"/>
              </a:spcAft>
              <a:buClr>
                <a:schemeClr val="dk1"/>
              </a:buClr>
              <a:buSzPts val="1100"/>
              <a:buChar char="■"/>
            </a:pPr>
            <a:r>
              <a:rPr lang="en-SG" b="1">
                <a:solidFill>
                  <a:schemeClr val="dk1"/>
                </a:solidFill>
              </a:rPr>
              <a:t>Capital appreciation</a:t>
            </a:r>
            <a:r>
              <a:rPr lang="en-SG">
                <a:solidFill>
                  <a:schemeClr val="dk1"/>
                </a:solidFill>
              </a:rPr>
              <a:t> (if the asset’s price increases).</a:t>
            </a:r>
            <a:endParaRPr>
              <a:solidFill>
                <a:schemeClr val="dk1"/>
              </a:solidFill>
            </a:endParaRPr>
          </a:p>
          <a:p>
            <a:pPr marL="1371600" lvl="2" indent="-298450" algn="l" rtl="0">
              <a:lnSpc>
                <a:spcPct val="115000"/>
              </a:lnSpc>
              <a:spcBef>
                <a:spcPts val="0"/>
              </a:spcBef>
              <a:spcAft>
                <a:spcPts val="0"/>
              </a:spcAft>
              <a:buClr>
                <a:schemeClr val="dk1"/>
              </a:buClr>
              <a:buSzPts val="1100"/>
              <a:buChar char="■"/>
            </a:pPr>
            <a:r>
              <a:rPr lang="en-SG" b="1">
                <a:solidFill>
                  <a:schemeClr val="dk1"/>
                </a:solidFill>
              </a:rPr>
              <a:t>Income generated</a:t>
            </a:r>
            <a:r>
              <a:rPr lang="en-SG">
                <a:solidFill>
                  <a:schemeClr val="dk1"/>
                </a:solidFill>
              </a:rPr>
              <a:t> (such as dividends for equities or interest payments for bonds).</a:t>
            </a:r>
            <a:endParaRPr>
              <a:solidFill>
                <a:schemeClr val="dk1"/>
              </a:solidFill>
            </a:endParaRPr>
          </a:p>
          <a:p>
            <a:pPr marL="914400" lvl="1" indent="-298450" algn="l" rtl="0">
              <a:lnSpc>
                <a:spcPct val="115000"/>
              </a:lnSpc>
              <a:spcBef>
                <a:spcPts val="0"/>
              </a:spcBef>
              <a:spcAft>
                <a:spcPts val="0"/>
              </a:spcAft>
              <a:buClr>
                <a:schemeClr val="dk1"/>
              </a:buClr>
              <a:buSzPts val="1100"/>
              <a:buChar char="○"/>
            </a:pPr>
            <a:r>
              <a:rPr lang="en-SG">
                <a:solidFill>
                  <a:schemeClr val="dk1"/>
                </a:solidFill>
              </a:rPr>
              <a:t>The investor does </a:t>
            </a:r>
            <a:r>
              <a:rPr lang="en-SG" b="1">
                <a:solidFill>
                  <a:schemeClr val="dk1"/>
                </a:solidFill>
              </a:rPr>
              <a:t>not own</a:t>
            </a:r>
            <a:r>
              <a:rPr lang="en-SG">
                <a:solidFill>
                  <a:schemeClr val="dk1"/>
                </a:solidFill>
              </a:rPr>
              <a:t> the asset but effectively gains exposure to the asset's performance as if they did.</a:t>
            </a:r>
            <a:endParaRPr>
              <a:solidFill>
                <a:schemeClr val="dk1"/>
              </a:solidFill>
            </a:endParaRPr>
          </a:p>
          <a:p>
            <a:pPr marL="914400" lvl="1" indent="-298450" algn="l" rtl="0">
              <a:lnSpc>
                <a:spcPct val="115000"/>
              </a:lnSpc>
              <a:spcBef>
                <a:spcPts val="0"/>
              </a:spcBef>
              <a:spcAft>
                <a:spcPts val="0"/>
              </a:spcAft>
              <a:buClr>
                <a:schemeClr val="dk1"/>
              </a:buClr>
              <a:buSzPts val="1100"/>
              <a:buChar char="○"/>
            </a:pPr>
            <a:r>
              <a:rPr lang="en-SG">
                <a:solidFill>
                  <a:schemeClr val="dk1"/>
                </a:solidFill>
              </a:rPr>
              <a:t>Investor will pay bank some base rate (e.g. LIBOR) + spread on the notional value to compensate the bank for taking on risks associated with holding the underlying bond, plus any capital depreciation if the asset’s price falls</a:t>
            </a:r>
            <a:endParaRPr>
              <a:solidFill>
                <a:schemeClr val="dk1"/>
              </a:solidFill>
            </a:endParaRPr>
          </a:p>
          <a:p>
            <a:pPr marL="0" lvl="0" indent="0" algn="l" rtl="0">
              <a:lnSpc>
                <a:spcPct val="115000"/>
              </a:lnSpc>
              <a:spcBef>
                <a:spcPts val="1400"/>
              </a:spcBef>
              <a:spcAft>
                <a:spcPts val="0"/>
              </a:spcAft>
              <a:buSzPts val="1100"/>
              <a:buNone/>
            </a:pPr>
            <a:r>
              <a:rPr lang="en-SG" sz="1300" b="1">
                <a:solidFill>
                  <a:schemeClr val="dk1"/>
                </a:solidFill>
              </a:rPr>
              <a:t>Payoff Flow in Asset Swap</a:t>
            </a:r>
            <a:endParaRPr sz="1300" b="1">
              <a:solidFill>
                <a:schemeClr val="dk1"/>
              </a:solidFill>
            </a:endParaRPr>
          </a:p>
          <a:p>
            <a:pPr marL="0" lvl="0" indent="0" algn="l" rtl="0">
              <a:lnSpc>
                <a:spcPct val="115000"/>
              </a:lnSpc>
              <a:spcBef>
                <a:spcPts val="1200"/>
              </a:spcBef>
              <a:spcAft>
                <a:spcPts val="0"/>
              </a:spcAft>
              <a:buSzPts val="1100"/>
              <a:buNone/>
            </a:pPr>
            <a:r>
              <a:rPr lang="en-SG">
                <a:solidFill>
                  <a:schemeClr val="dk1"/>
                </a:solidFill>
              </a:rPr>
              <a:t>In an </a:t>
            </a:r>
            <a:r>
              <a:rPr lang="en-SG" b="1">
                <a:solidFill>
                  <a:schemeClr val="dk1"/>
                </a:solidFill>
              </a:rPr>
              <a:t>Asset Swap</a:t>
            </a:r>
            <a:r>
              <a:rPr lang="en-SG">
                <a:solidFill>
                  <a:schemeClr val="dk1"/>
                </a:solidFill>
              </a:rPr>
              <a:t>, the flow of payoffs is as follows:</a:t>
            </a:r>
            <a:endParaRPr>
              <a:solidFill>
                <a:schemeClr val="dk1"/>
              </a:solidFill>
            </a:endParaRPr>
          </a:p>
          <a:p>
            <a:pPr marL="457200" lvl="0" indent="-298450" algn="l" rtl="0">
              <a:lnSpc>
                <a:spcPct val="115000"/>
              </a:lnSpc>
              <a:spcBef>
                <a:spcPts val="1200"/>
              </a:spcBef>
              <a:spcAft>
                <a:spcPts val="0"/>
              </a:spcAft>
              <a:buClr>
                <a:schemeClr val="dk1"/>
              </a:buClr>
              <a:buSzPts val="1100"/>
              <a:buAutoNum type="arabicPeriod"/>
            </a:pPr>
            <a:r>
              <a:rPr lang="en-SG" b="1">
                <a:solidFill>
                  <a:schemeClr val="dk1"/>
                </a:solidFill>
              </a:rPr>
              <a:t>Investor (Fixed Income Receiver):</a:t>
            </a:r>
            <a:endParaRPr b="1">
              <a:solidFill>
                <a:schemeClr val="dk1"/>
              </a:solidFill>
            </a:endParaRPr>
          </a:p>
          <a:p>
            <a:pPr marL="914400" lvl="1" indent="-298450" algn="l" rtl="0">
              <a:lnSpc>
                <a:spcPct val="115000"/>
              </a:lnSpc>
              <a:spcBef>
                <a:spcPts val="0"/>
              </a:spcBef>
              <a:spcAft>
                <a:spcPts val="0"/>
              </a:spcAft>
              <a:buClr>
                <a:schemeClr val="dk1"/>
              </a:buClr>
              <a:buSzPts val="1100"/>
              <a:buChar char="○"/>
            </a:pPr>
            <a:r>
              <a:rPr lang="en-SG">
                <a:solidFill>
                  <a:schemeClr val="dk1"/>
                </a:solidFill>
              </a:rPr>
              <a:t>The investor receives the </a:t>
            </a:r>
            <a:r>
              <a:rPr lang="en-SG" b="1">
                <a:solidFill>
                  <a:schemeClr val="dk1"/>
                </a:solidFill>
              </a:rPr>
              <a:t>fixed payments</a:t>
            </a:r>
            <a:r>
              <a:rPr lang="en-SG">
                <a:solidFill>
                  <a:schemeClr val="dk1"/>
                </a:solidFill>
              </a:rPr>
              <a:t> from their bond or debt instrument (the underlying asset) which they hold or purchased. These payments are typically periodic interest payments (coupons).</a:t>
            </a:r>
            <a:endParaRPr>
              <a:solidFill>
                <a:schemeClr val="dk1"/>
              </a:solidFill>
            </a:endParaRPr>
          </a:p>
          <a:p>
            <a:pPr marL="914400" lvl="1" indent="-298450" algn="l" rtl="0">
              <a:lnSpc>
                <a:spcPct val="115000"/>
              </a:lnSpc>
              <a:spcBef>
                <a:spcPts val="0"/>
              </a:spcBef>
              <a:spcAft>
                <a:spcPts val="0"/>
              </a:spcAft>
              <a:buClr>
                <a:schemeClr val="dk1"/>
              </a:buClr>
              <a:buSzPts val="1100"/>
              <a:buChar char="○"/>
            </a:pPr>
            <a:r>
              <a:rPr lang="en-SG">
                <a:solidFill>
                  <a:schemeClr val="dk1"/>
                </a:solidFill>
              </a:rPr>
              <a:t>However, in the asset swap, the investor will convert these fixed payments into a </a:t>
            </a:r>
            <a:r>
              <a:rPr lang="en-SG" b="1">
                <a:solidFill>
                  <a:schemeClr val="dk1"/>
                </a:solidFill>
              </a:rPr>
              <a:t>floating rate</a:t>
            </a:r>
            <a:endParaRPr>
              <a:solidFill>
                <a:schemeClr val="dk1"/>
              </a:solidFill>
            </a:endParaRPr>
          </a:p>
          <a:p>
            <a:pPr marL="457200" lvl="0" indent="-298450" algn="l" rtl="0">
              <a:lnSpc>
                <a:spcPct val="115000"/>
              </a:lnSpc>
              <a:spcBef>
                <a:spcPts val="0"/>
              </a:spcBef>
              <a:spcAft>
                <a:spcPts val="0"/>
              </a:spcAft>
              <a:buClr>
                <a:schemeClr val="dk1"/>
              </a:buClr>
              <a:buSzPts val="1100"/>
              <a:buAutoNum type="arabicPeriod"/>
            </a:pPr>
            <a:r>
              <a:rPr lang="en-SG" b="1">
                <a:solidFill>
                  <a:schemeClr val="dk1"/>
                </a:solidFill>
              </a:rPr>
              <a:t>Counterparty (Floating Payment Receiver):</a:t>
            </a:r>
            <a:endParaRPr b="1">
              <a:solidFill>
                <a:schemeClr val="dk1"/>
              </a:solidFill>
            </a:endParaRPr>
          </a:p>
          <a:p>
            <a:pPr marL="914400" lvl="1" indent="-298450" algn="l" rtl="0">
              <a:lnSpc>
                <a:spcPct val="115000"/>
              </a:lnSpc>
              <a:spcBef>
                <a:spcPts val="0"/>
              </a:spcBef>
              <a:spcAft>
                <a:spcPts val="0"/>
              </a:spcAft>
              <a:buClr>
                <a:schemeClr val="dk1"/>
              </a:buClr>
              <a:buSzPts val="1100"/>
              <a:buChar char="○"/>
            </a:pPr>
            <a:r>
              <a:rPr lang="en-SG">
                <a:solidFill>
                  <a:schemeClr val="dk1"/>
                </a:solidFill>
              </a:rPr>
              <a:t>The counterparty (often a bank or financial institution) receives the </a:t>
            </a:r>
            <a:r>
              <a:rPr lang="en-SG" b="1">
                <a:solidFill>
                  <a:schemeClr val="dk1"/>
                </a:solidFill>
              </a:rPr>
              <a:t>floating rate</a:t>
            </a:r>
            <a:r>
              <a:rPr lang="en-SG">
                <a:solidFill>
                  <a:schemeClr val="dk1"/>
                </a:solidFill>
              </a:rPr>
              <a:t> payments (such as LIBOR + spread or SOFR + spread).</a:t>
            </a:r>
            <a:endParaRPr>
              <a:solidFill>
                <a:schemeClr val="dk1"/>
              </a:solidFill>
            </a:endParaRPr>
          </a:p>
          <a:p>
            <a:pPr marL="914400" lvl="1" indent="-298450" algn="l" rtl="0">
              <a:lnSpc>
                <a:spcPct val="115000"/>
              </a:lnSpc>
              <a:spcBef>
                <a:spcPts val="0"/>
              </a:spcBef>
              <a:spcAft>
                <a:spcPts val="0"/>
              </a:spcAft>
              <a:buClr>
                <a:schemeClr val="dk1"/>
              </a:buClr>
              <a:buSzPts val="1100"/>
              <a:buChar char="○"/>
            </a:pPr>
            <a:r>
              <a:rPr lang="en-SG">
                <a:solidFill>
                  <a:schemeClr val="dk1"/>
                </a:solidFill>
              </a:rPr>
              <a:t>In exchange, they pay the investor the </a:t>
            </a:r>
            <a:r>
              <a:rPr lang="en-SG" b="1">
                <a:solidFill>
                  <a:schemeClr val="dk1"/>
                </a:solidFill>
              </a:rPr>
              <a:t>fixed payments</a:t>
            </a:r>
            <a:r>
              <a:rPr lang="en-SG">
                <a:solidFill>
                  <a:schemeClr val="dk1"/>
                </a:solidFill>
              </a:rPr>
              <a:t> of the underlying asset (such as the bond’s coupon payments).</a:t>
            </a:r>
            <a:endParaRPr>
              <a:solidFill>
                <a:schemeClr val="dk1"/>
              </a:solidFill>
            </a:endParaRPr>
          </a:p>
          <a:p>
            <a:pPr marL="457200" lvl="0" indent="-298450" algn="l" rtl="0">
              <a:lnSpc>
                <a:spcPct val="115000"/>
              </a:lnSpc>
              <a:spcBef>
                <a:spcPts val="0"/>
              </a:spcBef>
              <a:spcAft>
                <a:spcPts val="0"/>
              </a:spcAft>
              <a:buClr>
                <a:schemeClr val="dk1"/>
              </a:buClr>
              <a:buSzPts val="1100"/>
              <a:buAutoNum type="arabicPeriod"/>
            </a:pPr>
            <a:r>
              <a:rPr lang="en-SG" b="1">
                <a:solidFill>
                  <a:schemeClr val="dk1"/>
                </a:solidFill>
              </a:rPr>
              <a:t>Flow of Payments:</a:t>
            </a:r>
            <a:endParaRPr b="1">
              <a:solidFill>
                <a:schemeClr val="dk1"/>
              </a:solidFill>
            </a:endParaRPr>
          </a:p>
          <a:p>
            <a:pPr marL="914400" lvl="1" indent="-298450" algn="l" rtl="0">
              <a:lnSpc>
                <a:spcPct val="115000"/>
              </a:lnSpc>
              <a:spcBef>
                <a:spcPts val="0"/>
              </a:spcBef>
              <a:spcAft>
                <a:spcPts val="0"/>
              </a:spcAft>
              <a:buClr>
                <a:schemeClr val="dk1"/>
              </a:buClr>
              <a:buSzPts val="1100"/>
              <a:buChar char="○"/>
            </a:pPr>
            <a:r>
              <a:rPr lang="en-SG">
                <a:solidFill>
                  <a:schemeClr val="dk1"/>
                </a:solidFill>
              </a:rPr>
              <a:t>If the floating rate rises (e.g., if interest rates increase), the investor may benefit more from the floating payments they receive compared to the fixed coupon payments they would have originally received from the bond.</a:t>
            </a:r>
            <a:endParaRPr>
              <a:solidFill>
                <a:schemeClr val="dk1"/>
              </a:solidFill>
            </a:endParaRPr>
          </a:p>
          <a:p>
            <a:pPr marL="914400" lvl="1" indent="-298450" algn="l" rtl="0">
              <a:lnSpc>
                <a:spcPct val="115000"/>
              </a:lnSpc>
              <a:spcBef>
                <a:spcPts val="0"/>
              </a:spcBef>
              <a:spcAft>
                <a:spcPts val="0"/>
              </a:spcAft>
              <a:buClr>
                <a:schemeClr val="dk1"/>
              </a:buClr>
              <a:buSzPts val="1100"/>
              <a:buChar char="○"/>
            </a:pPr>
            <a:r>
              <a:rPr lang="en-SG">
                <a:solidFill>
                  <a:schemeClr val="dk1"/>
                </a:solidFill>
              </a:rPr>
              <a:t>Conversely, if interest rates fall, the investor is still receiving the fixed coupon, which might be more advantageous than the floating rate (depending on the swap structure).</a:t>
            </a:r>
            <a:endParaRPr>
              <a:solidFill>
                <a:schemeClr val="dk1"/>
              </a:solidFill>
            </a:endParaRPr>
          </a:p>
          <a:p>
            <a:pPr marL="0" lvl="0" indent="0" algn="l" rtl="0">
              <a:lnSpc>
                <a:spcPct val="115000"/>
              </a:lnSpc>
              <a:spcBef>
                <a:spcPts val="1200"/>
              </a:spcBef>
              <a:spcAft>
                <a:spcPts val="1200"/>
              </a:spcAft>
              <a:buClr>
                <a:schemeClr val="dk1"/>
              </a:buClr>
              <a:buSzPts val="1100"/>
              <a:buFont typeface="Arial"/>
              <a:buNone/>
            </a:pPr>
            <a:r>
              <a:rPr lang="en-SG">
                <a:solidFill>
                  <a:schemeClr val="dk1"/>
                </a:solidFill>
              </a:rPr>
              <a:t>In both cases (TRS and Asset Swaps), the swaps allow the parties to </a:t>
            </a:r>
            <a:r>
              <a:rPr lang="en-SG" b="1">
                <a:solidFill>
                  <a:schemeClr val="dk1"/>
                </a:solidFill>
              </a:rPr>
              <a:t>transform the characteristics of the asset’s return or cash flows</a:t>
            </a:r>
            <a:r>
              <a:rPr lang="en-SG">
                <a:solidFill>
                  <a:schemeClr val="dk1"/>
                </a:solidFill>
              </a:rPr>
              <a:t>, creating flexible and customizable financial instruments for leverage, speculation, or hedging.</a:t>
            </a:r>
            <a:endParaRPr>
              <a:solidFill>
                <a:schemeClr val="dk1"/>
              </a:solidFill>
            </a:endParaRPr>
          </a:p>
        </p:txBody>
      </p:sp>
      <p:sp>
        <p:nvSpPr>
          <p:cNvPr id="432" name="Google Shape;432;p2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0"/>
        <p:cNvGrpSpPr/>
        <p:nvPr/>
      </p:nvGrpSpPr>
      <p:grpSpPr>
        <a:xfrm>
          <a:off x="0" y="0"/>
          <a:ext cx="0" cy="0"/>
          <a:chOff x="0" y="0"/>
          <a:chExt cx="0" cy="0"/>
        </a:xfrm>
      </p:grpSpPr>
      <p:sp>
        <p:nvSpPr>
          <p:cNvPr id="441" name="Google Shape;441;p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r>
              <a:rPr lang="en-SG">
                <a:solidFill>
                  <a:schemeClr val="dk1"/>
                </a:solidFill>
              </a:rPr>
              <a:t>Isabelle</a:t>
            </a:r>
            <a:endParaRPr>
              <a:solidFill>
                <a:schemeClr val="dk1"/>
              </a:solidFill>
            </a:endParaRPr>
          </a:p>
          <a:p>
            <a:pPr marL="457200" lvl="0" indent="-298450" algn="l" rtl="0">
              <a:lnSpc>
                <a:spcPct val="100000"/>
              </a:lnSpc>
              <a:spcBef>
                <a:spcPts val="0"/>
              </a:spcBef>
              <a:spcAft>
                <a:spcPts val="0"/>
              </a:spcAft>
              <a:buClr>
                <a:schemeClr val="dk1"/>
              </a:buClr>
              <a:buSzPts val="1100"/>
              <a:buChar char="-"/>
            </a:pPr>
            <a:r>
              <a:rPr lang="en-SG">
                <a:solidFill>
                  <a:schemeClr val="dk1"/>
                </a:solidFill>
              </a:rPr>
              <a:t>Bonds -&gt; but maybe you don’t want to hold idiosyncratic risk by holding one or two or even a handful of bonds</a:t>
            </a:r>
            <a:endParaRPr>
              <a:solidFill>
                <a:schemeClr val="dk1"/>
              </a:solidFill>
            </a:endParaRPr>
          </a:p>
          <a:p>
            <a:pPr marL="457200" lvl="0" indent="-298450" algn="l" rtl="0">
              <a:lnSpc>
                <a:spcPct val="100000"/>
              </a:lnSpc>
              <a:spcBef>
                <a:spcPts val="0"/>
              </a:spcBef>
              <a:spcAft>
                <a:spcPts val="0"/>
              </a:spcAft>
              <a:buClr>
                <a:schemeClr val="dk1"/>
              </a:buClr>
              <a:buSzPts val="1100"/>
              <a:buChar char="-"/>
            </a:pPr>
            <a:r>
              <a:rPr lang="en-SG">
                <a:solidFill>
                  <a:schemeClr val="dk1"/>
                </a:solidFill>
              </a:rPr>
              <a:t>So maybe you want to hold a portfolio of various bonds, but it’s a pain to go and source them yourselves</a:t>
            </a:r>
            <a:endParaRPr>
              <a:solidFill>
                <a:schemeClr val="dk1"/>
              </a:solidFill>
            </a:endParaRPr>
          </a:p>
          <a:p>
            <a:pPr marL="457200" lvl="0" indent="-298450" algn="l" rtl="0">
              <a:lnSpc>
                <a:spcPct val="100000"/>
              </a:lnSpc>
              <a:spcBef>
                <a:spcPts val="0"/>
              </a:spcBef>
              <a:spcAft>
                <a:spcPts val="0"/>
              </a:spcAft>
              <a:buClr>
                <a:schemeClr val="dk1"/>
              </a:buClr>
              <a:buSzPts val="1100"/>
              <a:buChar char="-"/>
            </a:pPr>
            <a:r>
              <a:rPr lang="en-SG">
                <a:solidFill>
                  <a:schemeClr val="dk1"/>
                </a:solidFill>
              </a:rPr>
              <a:t>So express view through just purchasing an ETF, fixed basket of bonds that provides diversification and replicates an underlying bond index</a:t>
            </a:r>
            <a:endParaRPr>
              <a:solidFill>
                <a:schemeClr val="dk1"/>
              </a:solidFill>
            </a:endParaRPr>
          </a:p>
        </p:txBody>
      </p:sp>
      <p:sp>
        <p:nvSpPr>
          <p:cNvPr id="442" name="Google Shape;442;p2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8"/>
        <p:cNvGrpSpPr/>
        <p:nvPr/>
      </p:nvGrpSpPr>
      <p:grpSpPr>
        <a:xfrm>
          <a:off x="0" y="0"/>
          <a:ext cx="0" cy="0"/>
          <a:chOff x="0" y="0"/>
          <a:chExt cx="0" cy="0"/>
        </a:xfrm>
      </p:grpSpPr>
      <p:sp>
        <p:nvSpPr>
          <p:cNvPr id="459" name="Google Shape;459;g3a1423cfbf8_0_9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60" name="Google Shape;460;g3a1423cfbf8_0_9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3"/>
        <p:cNvGrpSpPr/>
        <p:nvPr/>
      </p:nvGrpSpPr>
      <p:grpSpPr>
        <a:xfrm>
          <a:off x="0" y="0"/>
          <a:ext cx="0" cy="0"/>
          <a:chOff x="0" y="0"/>
          <a:chExt cx="0" cy="0"/>
        </a:xfrm>
      </p:grpSpPr>
      <p:sp>
        <p:nvSpPr>
          <p:cNvPr id="464" name="Google Shape;464;p2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65" name="Google Shape;465;p2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9"/>
        <p:cNvGrpSpPr/>
        <p:nvPr/>
      </p:nvGrpSpPr>
      <p:grpSpPr>
        <a:xfrm>
          <a:off x="0" y="0"/>
          <a:ext cx="0" cy="0"/>
          <a:chOff x="0" y="0"/>
          <a:chExt cx="0" cy="0"/>
        </a:xfrm>
      </p:grpSpPr>
      <p:sp>
        <p:nvSpPr>
          <p:cNvPr id="470" name="Google Shape;470;g3a1423cfbf8_0_10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71" name="Google Shape;471;g3a1423cfbf8_0_101: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5"/>
        <p:cNvGrpSpPr/>
        <p:nvPr/>
      </p:nvGrpSpPr>
      <p:grpSpPr>
        <a:xfrm>
          <a:off x="0" y="0"/>
          <a:ext cx="0" cy="0"/>
          <a:chOff x="0" y="0"/>
          <a:chExt cx="0" cy="0"/>
        </a:xfrm>
      </p:grpSpPr>
      <p:sp>
        <p:nvSpPr>
          <p:cNvPr id="476" name="Google Shape;476;g3a1423cfbf8_0_9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77" name="Google Shape;477;g3a1423cfbf8_0_94: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2"/>
        <p:cNvGrpSpPr/>
        <p:nvPr/>
      </p:nvGrpSpPr>
      <p:grpSpPr>
        <a:xfrm>
          <a:off x="0" y="0"/>
          <a:ext cx="0" cy="0"/>
          <a:chOff x="0" y="0"/>
          <a:chExt cx="0" cy="0"/>
        </a:xfrm>
      </p:grpSpPr>
      <p:sp>
        <p:nvSpPr>
          <p:cNvPr id="483" name="Google Shape;483;p2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84" name="Google Shape;484;p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9"/>
        <p:cNvGrpSpPr/>
        <p:nvPr/>
      </p:nvGrpSpPr>
      <p:grpSpPr>
        <a:xfrm>
          <a:off x="0" y="0"/>
          <a:ext cx="0" cy="0"/>
          <a:chOff x="0" y="0"/>
          <a:chExt cx="0" cy="0"/>
        </a:xfrm>
      </p:grpSpPr>
      <p:sp>
        <p:nvSpPr>
          <p:cNvPr id="490" name="Google Shape;490;p2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91" name="Google Shape;491;p2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6"/>
        <p:cNvGrpSpPr/>
        <p:nvPr/>
      </p:nvGrpSpPr>
      <p:grpSpPr>
        <a:xfrm>
          <a:off x="0" y="0"/>
          <a:ext cx="0" cy="0"/>
          <a:chOff x="0" y="0"/>
          <a:chExt cx="0" cy="0"/>
        </a:xfrm>
      </p:grpSpPr>
      <p:sp>
        <p:nvSpPr>
          <p:cNvPr id="497" name="Google Shape;497;p2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98" name="Google Shape;498;p2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1"/>
        <p:cNvGrpSpPr/>
        <p:nvPr/>
      </p:nvGrpSpPr>
      <p:grpSpPr>
        <a:xfrm>
          <a:off x="0" y="0"/>
          <a:ext cx="0" cy="0"/>
          <a:chOff x="0" y="0"/>
          <a:chExt cx="0" cy="0"/>
        </a:xfrm>
      </p:grpSpPr>
      <p:sp>
        <p:nvSpPr>
          <p:cNvPr id="512" name="Google Shape;512;p3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13" name="Google Shape;513;p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8"/>
        <p:cNvGrpSpPr/>
        <p:nvPr/>
      </p:nvGrpSpPr>
      <p:grpSpPr>
        <a:xfrm>
          <a:off x="0" y="0"/>
          <a:ext cx="0" cy="0"/>
          <a:chOff x="0" y="0"/>
          <a:chExt cx="0" cy="0"/>
        </a:xfrm>
      </p:grpSpPr>
      <p:sp>
        <p:nvSpPr>
          <p:cNvPr id="519" name="Google Shape;519;p3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20" name="Google Shape;520;p3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6"/>
        <p:cNvGrpSpPr/>
        <p:nvPr/>
      </p:nvGrpSpPr>
      <p:grpSpPr>
        <a:xfrm>
          <a:off x="0" y="0"/>
          <a:ext cx="0" cy="0"/>
          <a:chOff x="0" y="0"/>
          <a:chExt cx="0" cy="0"/>
        </a:xfrm>
      </p:grpSpPr>
      <p:sp>
        <p:nvSpPr>
          <p:cNvPr id="527" name="Google Shape;527;p3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28" name="Google Shape;528;p3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g314d0ef89fb_1_74"/>
          <p:cNvSpPr txBox="1">
            <a:spLocks noGrp="1"/>
          </p:cNvSpPr>
          <p:nvPr>
            <p:ph type="ctrTitle"/>
          </p:nvPr>
        </p:nvSpPr>
        <p:spPr>
          <a:xfrm>
            <a:off x="415611" y="992767"/>
            <a:ext cx="11360700" cy="2736900"/>
          </a:xfrm>
          <a:prstGeom prst="rect">
            <a:avLst/>
          </a:prstGeom>
          <a:noFill/>
          <a:ln>
            <a:noFill/>
          </a:ln>
        </p:spPr>
        <p:txBody>
          <a:bodyPr spcFirstLastPara="1" wrap="square" lIns="121900" tIns="121900" rIns="121900" bIns="121900" anchor="b" anchorCtr="0">
            <a:normAutofit/>
          </a:bodyPr>
          <a:lstStyle>
            <a:lvl1pPr lvl="0" algn="ctr">
              <a:lnSpc>
                <a:spcPct val="100000"/>
              </a:lnSpc>
              <a:spcBef>
                <a:spcPts val="0"/>
              </a:spcBef>
              <a:spcAft>
                <a:spcPts val="0"/>
              </a:spcAft>
              <a:buSzPts val="6900"/>
              <a:buNone/>
              <a:defRPr sz="6900"/>
            </a:lvl1pPr>
            <a:lvl2pPr lvl="1" algn="ctr">
              <a:lnSpc>
                <a:spcPct val="100000"/>
              </a:lnSpc>
              <a:spcBef>
                <a:spcPts val="0"/>
              </a:spcBef>
              <a:spcAft>
                <a:spcPts val="0"/>
              </a:spcAft>
              <a:buSzPts val="6900"/>
              <a:buNone/>
              <a:defRPr sz="6900"/>
            </a:lvl2pPr>
            <a:lvl3pPr lvl="2" algn="ctr">
              <a:lnSpc>
                <a:spcPct val="100000"/>
              </a:lnSpc>
              <a:spcBef>
                <a:spcPts val="0"/>
              </a:spcBef>
              <a:spcAft>
                <a:spcPts val="0"/>
              </a:spcAft>
              <a:buSzPts val="6900"/>
              <a:buNone/>
              <a:defRPr sz="6900"/>
            </a:lvl3pPr>
            <a:lvl4pPr lvl="3" algn="ctr">
              <a:lnSpc>
                <a:spcPct val="100000"/>
              </a:lnSpc>
              <a:spcBef>
                <a:spcPts val="0"/>
              </a:spcBef>
              <a:spcAft>
                <a:spcPts val="0"/>
              </a:spcAft>
              <a:buSzPts val="6900"/>
              <a:buNone/>
              <a:defRPr sz="6900"/>
            </a:lvl4pPr>
            <a:lvl5pPr lvl="4" algn="ctr">
              <a:lnSpc>
                <a:spcPct val="100000"/>
              </a:lnSpc>
              <a:spcBef>
                <a:spcPts val="0"/>
              </a:spcBef>
              <a:spcAft>
                <a:spcPts val="0"/>
              </a:spcAft>
              <a:buSzPts val="6900"/>
              <a:buNone/>
              <a:defRPr sz="6900"/>
            </a:lvl5pPr>
            <a:lvl6pPr lvl="5" algn="ctr">
              <a:lnSpc>
                <a:spcPct val="100000"/>
              </a:lnSpc>
              <a:spcBef>
                <a:spcPts val="0"/>
              </a:spcBef>
              <a:spcAft>
                <a:spcPts val="0"/>
              </a:spcAft>
              <a:buSzPts val="6900"/>
              <a:buNone/>
              <a:defRPr sz="6900"/>
            </a:lvl6pPr>
            <a:lvl7pPr lvl="6" algn="ctr">
              <a:lnSpc>
                <a:spcPct val="100000"/>
              </a:lnSpc>
              <a:spcBef>
                <a:spcPts val="0"/>
              </a:spcBef>
              <a:spcAft>
                <a:spcPts val="0"/>
              </a:spcAft>
              <a:buSzPts val="6900"/>
              <a:buNone/>
              <a:defRPr sz="6900"/>
            </a:lvl7pPr>
            <a:lvl8pPr lvl="7" algn="ctr">
              <a:lnSpc>
                <a:spcPct val="100000"/>
              </a:lnSpc>
              <a:spcBef>
                <a:spcPts val="0"/>
              </a:spcBef>
              <a:spcAft>
                <a:spcPts val="0"/>
              </a:spcAft>
              <a:buSzPts val="6900"/>
              <a:buNone/>
              <a:defRPr sz="6900"/>
            </a:lvl8pPr>
            <a:lvl9pPr lvl="8" algn="ctr">
              <a:lnSpc>
                <a:spcPct val="100000"/>
              </a:lnSpc>
              <a:spcBef>
                <a:spcPts val="0"/>
              </a:spcBef>
              <a:spcAft>
                <a:spcPts val="0"/>
              </a:spcAft>
              <a:buSzPts val="6900"/>
              <a:buNone/>
              <a:defRPr sz="6900"/>
            </a:lvl9pPr>
          </a:lstStyle>
          <a:p>
            <a:endParaRPr/>
          </a:p>
        </p:txBody>
      </p:sp>
      <p:sp>
        <p:nvSpPr>
          <p:cNvPr id="11" name="Google Shape;11;g314d0ef89fb_1_74"/>
          <p:cNvSpPr txBox="1">
            <a:spLocks noGrp="1"/>
          </p:cNvSpPr>
          <p:nvPr>
            <p:ph type="subTitle" idx="1"/>
          </p:nvPr>
        </p:nvSpPr>
        <p:spPr>
          <a:xfrm>
            <a:off x="415600" y="3778833"/>
            <a:ext cx="11360700" cy="1056900"/>
          </a:xfrm>
          <a:prstGeom prst="rect">
            <a:avLst/>
          </a:prstGeom>
          <a:noFill/>
          <a:ln>
            <a:noFill/>
          </a:ln>
        </p:spPr>
        <p:txBody>
          <a:bodyPr spcFirstLastPara="1" wrap="square" lIns="121900" tIns="121900" rIns="121900" bIns="121900" anchor="t" anchorCtr="0">
            <a:normAutofit/>
          </a:bodyPr>
          <a:lstStyle>
            <a:lvl1pPr lvl="0" algn="ctr">
              <a:lnSpc>
                <a:spcPct val="100000"/>
              </a:lnSpc>
              <a:spcBef>
                <a:spcPts val="0"/>
              </a:spcBef>
              <a:spcAft>
                <a:spcPts val="0"/>
              </a:spcAft>
              <a:buSzPts val="3700"/>
              <a:buNone/>
              <a:defRPr sz="3700"/>
            </a:lvl1pPr>
            <a:lvl2pPr lvl="1" algn="ctr">
              <a:lnSpc>
                <a:spcPct val="100000"/>
              </a:lnSpc>
              <a:spcBef>
                <a:spcPts val="0"/>
              </a:spcBef>
              <a:spcAft>
                <a:spcPts val="0"/>
              </a:spcAft>
              <a:buSzPts val="3700"/>
              <a:buNone/>
              <a:defRPr sz="3700"/>
            </a:lvl2pPr>
            <a:lvl3pPr lvl="2" algn="ctr">
              <a:lnSpc>
                <a:spcPct val="100000"/>
              </a:lnSpc>
              <a:spcBef>
                <a:spcPts val="0"/>
              </a:spcBef>
              <a:spcAft>
                <a:spcPts val="0"/>
              </a:spcAft>
              <a:buSzPts val="3700"/>
              <a:buNone/>
              <a:defRPr sz="3700"/>
            </a:lvl3pPr>
            <a:lvl4pPr lvl="3" algn="ctr">
              <a:lnSpc>
                <a:spcPct val="100000"/>
              </a:lnSpc>
              <a:spcBef>
                <a:spcPts val="0"/>
              </a:spcBef>
              <a:spcAft>
                <a:spcPts val="0"/>
              </a:spcAft>
              <a:buSzPts val="3700"/>
              <a:buNone/>
              <a:defRPr sz="3700"/>
            </a:lvl4pPr>
            <a:lvl5pPr lvl="4" algn="ctr">
              <a:lnSpc>
                <a:spcPct val="100000"/>
              </a:lnSpc>
              <a:spcBef>
                <a:spcPts val="0"/>
              </a:spcBef>
              <a:spcAft>
                <a:spcPts val="0"/>
              </a:spcAft>
              <a:buSzPts val="3700"/>
              <a:buNone/>
              <a:defRPr sz="3700"/>
            </a:lvl5pPr>
            <a:lvl6pPr lvl="5" algn="ctr">
              <a:lnSpc>
                <a:spcPct val="100000"/>
              </a:lnSpc>
              <a:spcBef>
                <a:spcPts val="0"/>
              </a:spcBef>
              <a:spcAft>
                <a:spcPts val="0"/>
              </a:spcAft>
              <a:buSzPts val="3700"/>
              <a:buNone/>
              <a:defRPr sz="3700"/>
            </a:lvl6pPr>
            <a:lvl7pPr lvl="6" algn="ctr">
              <a:lnSpc>
                <a:spcPct val="100000"/>
              </a:lnSpc>
              <a:spcBef>
                <a:spcPts val="0"/>
              </a:spcBef>
              <a:spcAft>
                <a:spcPts val="0"/>
              </a:spcAft>
              <a:buSzPts val="3700"/>
              <a:buNone/>
              <a:defRPr sz="3700"/>
            </a:lvl7pPr>
            <a:lvl8pPr lvl="7" algn="ctr">
              <a:lnSpc>
                <a:spcPct val="100000"/>
              </a:lnSpc>
              <a:spcBef>
                <a:spcPts val="0"/>
              </a:spcBef>
              <a:spcAft>
                <a:spcPts val="0"/>
              </a:spcAft>
              <a:buSzPts val="3700"/>
              <a:buNone/>
              <a:defRPr sz="3700"/>
            </a:lvl8pPr>
            <a:lvl9pPr lvl="8" algn="ctr">
              <a:lnSpc>
                <a:spcPct val="100000"/>
              </a:lnSpc>
              <a:spcBef>
                <a:spcPts val="0"/>
              </a:spcBef>
              <a:spcAft>
                <a:spcPts val="0"/>
              </a:spcAft>
              <a:buSzPts val="3700"/>
              <a:buNone/>
              <a:defRPr sz="3700"/>
            </a:lvl9pPr>
          </a:lstStyle>
          <a:p>
            <a:endParaRPr/>
          </a:p>
        </p:txBody>
      </p:sp>
      <p:sp>
        <p:nvSpPr>
          <p:cNvPr id="12" name="Google Shape;12;g314d0ef89fb_1_74"/>
          <p:cNvSpPr txBox="1">
            <a:spLocks noGrp="1"/>
          </p:cNvSpPr>
          <p:nvPr>
            <p:ph type="sldNum" idx="12"/>
          </p:nvPr>
        </p:nvSpPr>
        <p:spPr>
          <a:xfrm>
            <a:off x="11296611" y="6217623"/>
            <a:ext cx="731700" cy="524700"/>
          </a:xfrm>
          <a:prstGeom prst="rect">
            <a:avLst/>
          </a:prstGeom>
          <a:noFill/>
          <a:ln>
            <a:noFill/>
          </a:ln>
        </p:spPr>
        <p:txBody>
          <a:bodyPr spcFirstLastPara="1" wrap="square" lIns="121900" tIns="121900" rIns="121900" bIns="121900" anchor="ctr" anchorCtr="0">
            <a:norm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SG"/>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g314d0ef89fb_1_78"/>
          <p:cNvSpPr txBox="1">
            <a:spLocks noGrp="1"/>
          </p:cNvSpPr>
          <p:nvPr>
            <p:ph type="title"/>
          </p:nvPr>
        </p:nvSpPr>
        <p:spPr>
          <a:xfrm>
            <a:off x="415600" y="2867800"/>
            <a:ext cx="11360700" cy="1122300"/>
          </a:xfrm>
          <a:prstGeom prst="rect">
            <a:avLst/>
          </a:prstGeom>
          <a:noFill/>
          <a:ln>
            <a:noFill/>
          </a:ln>
        </p:spPr>
        <p:txBody>
          <a:bodyPr spcFirstLastPara="1" wrap="square" lIns="121900" tIns="121900" rIns="121900" bIns="121900" anchor="ctr" anchorCtr="0">
            <a:normAutofit/>
          </a:bodyPr>
          <a:lstStyle>
            <a:lvl1pPr lvl="0" algn="ctr">
              <a:lnSpc>
                <a:spcPct val="100000"/>
              </a:lnSpc>
              <a:spcBef>
                <a:spcPts val="0"/>
              </a:spcBef>
              <a:spcAft>
                <a:spcPts val="0"/>
              </a:spcAft>
              <a:buSzPts val="4800"/>
              <a:buNone/>
              <a:defRPr sz="4800"/>
            </a:lvl1pPr>
            <a:lvl2pPr lvl="1" algn="ctr">
              <a:lnSpc>
                <a:spcPct val="100000"/>
              </a:lnSpc>
              <a:spcBef>
                <a:spcPts val="0"/>
              </a:spcBef>
              <a:spcAft>
                <a:spcPts val="0"/>
              </a:spcAft>
              <a:buSzPts val="4800"/>
              <a:buNone/>
              <a:defRPr sz="4800"/>
            </a:lvl2pPr>
            <a:lvl3pPr lvl="2" algn="ctr">
              <a:lnSpc>
                <a:spcPct val="100000"/>
              </a:lnSpc>
              <a:spcBef>
                <a:spcPts val="0"/>
              </a:spcBef>
              <a:spcAft>
                <a:spcPts val="0"/>
              </a:spcAft>
              <a:buSzPts val="4800"/>
              <a:buNone/>
              <a:defRPr sz="4800"/>
            </a:lvl3pPr>
            <a:lvl4pPr lvl="3" algn="ctr">
              <a:lnSpc>
                <a:spcPct val="100000"/>
              </a:lnSpc>
              <a:spcBef>
                <a:spcPts val="0"/>
              </a:spcBef>
              <a:spcAft>
                <a:spcPts val="0"/>
              </a:spcAft>
              <a:buSzPts val="4800"/>
              <a:buNone/>
              <a:defRPr sz="4800"/>
            </a:lvl4pPr>
            <a:lvl5pPr lvl="4" algn="ctr">
              <a:lnSpc>
                <a:spcPct val="100000"/>
              </a:lnSpc>
              <a:spcBef>
                <a:spcPts val="0"/>
              </a:spcBef>
              <a:spcAft>
                <a:spcPts val="0"/>
              </a:spcAft>
              <a:buSzPts val="4800"/>
              <a:buNone/>
              <a:defRPr sz="4800"/>
            </a:lvl5pPr>
            <a:lvl6pPr lvl="5" algn="ctr">
              <a:lnSpc>
                <a:spcPct val="100000"/>
              </a:lnSpc>
              <a:spcBef>
                <a:spcPts val="0"/>
              </a:spcBef>
              <a:spcAft>
                <a:spcPts val="0"/>
              </a:spcAft>
              <a:buSzPts val="4800"/>
              <a:buNone/>
              <a:defRPr sz="4800"/>
            </a:lvl6pPr>
            <a:lvl7pPr lvl="6" algn="ctr">
              <a:lnSpc>
                <a:spcPct val="100000"/>
              </a:lnSpc>
              <a:spcBef>
                <a:spcPts val="0"/>
              </a:spcBef>
              <a:spcAft>
                <a:spcPts val="0"/>
              </a:spcAft>
              <a:buSzPts val="4800"/>
              <a:buNone/>
              <a:defRPr sz="4800"/>
            </a:lvl7pPr>
            <a:lvl8pPr lvl="7" algn="ctr">
              <a:lnSpc>
                <a:spcPct val="100000"/>
              </a:lnSpc>
              <a:spcBef>
                <a:spcPts val="0"/>
              </a:spcBef>
              <a:spcAft>
                <a:spcPts val="0"/>
              </a:spcAft>
              <a:buSzPts val="4800"/>
              <a:buNone/>
              <a:defRPr sz="4800"/>
            </a:lvl8pPr>
            <a:lvl9pPr lvl="8" algn="ctr">
              <a:lnSpc>
                <a:spcPct val="100000"/>
              </a:lnSpc>
              <a:spcBef>
                <a:spcPts val="0"/>
              </a:spcBef>
              <a:spcAft>
                <a:spcPts val="0"/>
              </a:spcAft>
              <a:buSzPts val="4800"/>
              <a:buNone/>
              <a:defRPr sz="4800"/>
            </a:lvl9pPr>
          </a:lstStyle>
          <a:p>
            <a:endParaRPr/>
          </a:p>
        </p:txBody>
      </p:sp>
      <p:sp>
        <p:nvSpPr>
          <p:cNvPr id="15" name="Google Shape;15;g314d0ef89fb_1_78"/>
          <p:cNvSpPr txBox="1">
            <a:spLocks noGrp="1"/>
          </p:cNvSpPr>
          <p:nvPr>
            <p:ph type="sldNum" idx="12"/>
          </p:nvPr>
        </p:nvSpPr>
        <p:spPr>
          <a:xfrm>
            <a:off x="11296611" y="6217623"/>
            <a:ext cx="731700" cy="524700"/>
          </a:xfrm>
          <a:prstGeom prst="rect">
            <a:avLst/>
          </a:prstGeom>
          <a:noFill/>
          <a:ln>
            <a:noFill/>
          </a:ln>
        </p:spPr>
        <p:txBody>
          <a:bodyPr spcFirstLastPara="1" wrap="square" lIns="121900" tIns="121900" rIns="121900" bIns="121900" anchor="ctr" anchorCtr="0">
            <a:norm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SG"/>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g314d0ef89fb_1_81"/>
          <p:cNvSpPr txBox="1">
            <a:spLocks noGrp="1"/>
          </p:cNvSpPr>
          <p:nvPr>
            <p:ph type="title"/>
          </p:nvPr>
        </p:nvSpPr>
        <p:spPr>
          <a:xfrm>
            <a:off x="415600" y="593367"/>
            <a:ext cx="11360700" cy="763500"/>
          </a:xfrm>
          <a:prstGeom prst="rect">
            <a:avLst/>
          </a:prstGeom>
          <a:noFill/>
          <a:ln>
            <a:noFill/>
          </a:ln>
        </p:spPr>
        <p:txBody>
          <a:bodyPr spcFirstLastPara="1" wrap="square" lIns="121900" tIns="121900" rIns="121900" bIns="121900" anchor="t" anchorCtr="0">
            <a:normAutofit/>
          </a:bodyPr>
          <a:lstStyle>
            <a:lvl1pPr lvl="0" algn="l">
              <a:lnSpc>
                <a:spcPct val="100000"/>
              </a:lnSpc>
              <a:spcBef>
                <a:spcPts val="0"/>
              </a:spcBef>
              <a:spcAft>
                <a:spcPts val="0"/>
              </a:spcAft>
              <a:buSzPts val="3700"/>
              <a:buNone/>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a:endParaRPr/>
          </a:p>
        </p:txBody>
      </p:sp>
      <p:sp>
        <p:nvSpPr>
          <p:cNvPr id="18" name="Google Shape;18;g314d0ef89fb_1_81"/>
          <p:cNvSpPr txBox="1">
            <a:spLocks noGrp="1"/>
          </p:cNvSpPr>
          <p:nvPr>
            <p:ph type="body" idx="1"/>
          </p:nvPr>
        </p:nvSpPr>
        <p:spPr>
          <a:xfrm>
            <a:off x="415600" y="1536633"/>
            <a:ext cx="11360700" cy="4555200"/>
          </a:xfrm>
          <a:prstGeom prst="rect">
            <a:avLst/>
          </a:prstGeom>
          <a:noFill/>
          <a:ln>
            <a:noFill/>
          </a:ln>
        </p:spPr>
        <p:txBody>
          <a:bodyPr spcFirstLastPara="1" wrap="square" lIns="121900" tIns="121900" rIns="121900" bIns="121900" anchor="t" anchorCtr="0">
            <a:normAutofit/>
          </a:bodyPr>
          <a:lstStyle>
            <a:lvl1pPr marL="457200" lvl="0" indent="-381000" algn="l">
              <a:lnSpc>
                <a:spcPct val="115000"/>
              </a:lnSpc>
              <a:spcBef>
                <a:spcPts val="0"/>
              </a:spcBef>
              <a:spcAft>
                <a:spcPts val="0"/>
              </a:spcAft>
              <a:buSzPts val="2400"/>
              <a:buChar char="●"/>
              <a:defRPr/>
            </a:lvl1pPr>
            <a:lvl2pPr marL="914400" lvl="1" indent="-349250" algn="l">
              <a:lnSpc>
                <a:spcPct val="115000"/>
              </a:lnSpc>
              <a:spcBef>
                <a:spcPts val="0"/>
              </a:spcBef>
              <a:spcAft>
                <a:spcPts val="0"/>
              </a:spcAft>
              <a:buSzPts val="1900"/>
              <a:buChar char="○"/>
              <a:defRPr/>
            </a:lvl2pPr>
            <a:lvl3pPr marL="1371600" lvl="2" indent="-349250" algn="l">
              <a:lnSpc>
                <a:spcPct val="115000"/>
              </a:lnSpc>
              <a:spcBef>
                <a:spcPts val="0"/>
              </a:spcBef>
              <a:spcAft>
                <a:spcPts val="0"/>
              </a:spcAft>
              <a:buSzPts val="1900"/>
              <a:buChar char="■"/>
              <a:defRPr/>
            </a:lvl3pPr>
            <a:lvl4pPr marL="1828800" lvl="3" indent="-349250" algn="l">
              <a:lnSpc>
                <a:spcPct val="115000"/>
              </a:lnSpc>
              <a:spcBef>
                <a:spcPts val="0"/>
              </a:spcBef>
              <a:spcAft>
                <a:spcPts val="0"/>
              </a:spcAft>
              <a:buSzPts val="1900"/>
              <a:buChar char="●"/>
              <a:defRPr/>
            </a:lvl4pPr>
            <a:lvl5pPr marL="2286000" lvl="4" indent="-349250" algn="l">
              <a:lnSpc>
                <a:spcPct val="115000"/>
              </a:lnSpc>
              <a:spcBef>
                <a:spcPts val="0"/>
              </a:spcBef>
              <a:spcAft>
                <a:spcPts val="0"/>
              </a:spcAft>
              <a:buSzPts val="1900"/>
              <a:buChar char="○"/>
              <a:defRPr/>
            </a:lvl5pPr>
            <a:lvl6pPr marL="2743200" lvl="5" indent="-349250" algn="l">
              <a:lnSpc>
                <a:spcPct val="115000"/>
              </a:lnSpc>
              <a:spcBef>
                <a:spcPts val="0"/>
              </a:spcBef>
              <a:spcAft>
                <a:spcPts val="0"/>
              </a:spcAft>
              <a:buSzPts val="1900"/>
              <a:buChar char="■"/>
              <a:defRPr/>
            </a:lvl6pPr>
            <a:lvl7pPr marL="3200400" lvl="6" indent="-349250" algn="l">
              <a:lnSpc>
                <a:spcPct val="115000"/>
              </a:lnSpc>
              <a:spcBef>
                <a:spcPts val="0"/>
              </a:spcBef>
              <a:spcAft>
                <a:spcPts val="0"/>
              </a:spcAft>
              <a:buSzPts val="1900"/>
              <a:buChar char="●"/>
              <a:defRPr/>
            </a:lvl7pPr>
            <a:lvl8pPr marL="3657600" lvl="7" indent="-349250" algn="l">
              <a:lnSpc>
                <a:spcPct val="115000"/>
              </a:lnSpc>
              <a:spcBef>
                <a:spcPts val="0"/>
              </a:spcBef>
              <a:spcAft>
                <a:spcPts val="0"/>
              </a:spcAft>
              <a:buSzPts val="1900"/>
              <a:buChar char="○"/>
              <a:defRPr/>
            </a:lvl8pPr>
            <a:lvl9pPr marL="4114800" lvl="8" indent="-349250" algn="l">
              <a:lnSpc>
                <a:spcPct val="115000"/>
              </a:lnSpc>
              <a:spcBef>
                <a:spcPts val="0"/>
              </a:spcBef>
              <a:spcAft>
                <a:spcPts val="0"/>
              </a:spcAft>
              <a:buSzPts val="1900"/>
              <a:buChar char="■"/>
              <a:defRPr/>
            </a:lvl9pPr>
          </a:lstStyle>
          <a:p>
            <a:endParaRPr/>
          </a:p>
        </p:txBody>
      </p:sp>
      <p:sp>
        <p:nvSpPr>
          <p:cNvPr id="19" name="Google Shape;19;g314d0ef89fb_1_81"/>
          <p:cNvSpPr txBox="1">
            <a:spLocks noGrp="1"/>
          </p:cNvSpPr>
          <p:nvPr>
            <p:ph type="sldNum" idx="12"/>
          </p:nvPr>
        </p:nvSpPr>
        <p:spPr>
          <a:xfrm>
            <a:off x="11296611" y="6217623"/>
            <a:ext cx="731700" cy="524700"/>
          </a:xfrm>
          <a:prstGeom prst="rect">
            <a:avLst/>
          </a:prstGeom>
          <a:noFill/>
          <a:ln>
            <a:noFill/>
          </a:ln>
        </p:spPr>
        <p:txBody>
          <a:bodyPr spcFirstLastPara="1" wrap="square" lIns="121900" tIns="121900" rIns="121900" bIns="121900" anchor="ctr" anchorCtr="0">
            <a:norm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SG"/>
              <a:t>‹#›</a:t>
            </a:fld>
            <a:endParaRPr/>
          </a:p>
        </p:txBody>
      </p:sp>
      <p:pic>
        <p:nvPicPr>
          <p:cNvPr id="20" name="Google Shape;20;g314d0ef89fb_1_81" descr="MBP Capital, the LSE Student Investment Fund | LinkedIn"/>
          <p:cNvPicPr preferRelativeResize="0"/>
          <p:nvPr/>
        </p:nvPicPr>
        <p:blipFill rotWithShape="1">
          <a:blip r:embed="rId2">
            <a:alphaModFix/>
          </a:blip>
          <a:srcRect/>
          <a:stretch/>
        </p:blipFill>
        <p:spPr>
          <a:xfrm>
            <a:off x="11164375" y="5861967"/>
            <a:ext cx="996034" cy="996034"/>
          </a:xfrm>
          <a:prstGeom prst="rect">
            <a:avLst/>
          </a:prstGeom>
          <a:noFill/>
          <a:ln>
            <a:noFill/>
          </a:ln>
        </p:spPr>
      </p:pic>
      <p:sp>
        <p:nvSpPr>
          <p:cNvPr id="21" name="Google Shape;21;g314d0ef89fb_1_81"/>
          <p:cNvSpPr txBox="1">
            <a:spLocks noGrp="1"/>
          </p:cNvSpPr>
          <p:nvPr>
            <p:ph type="sldNum" idx="2"/>
          </p:nvPr>
        </p:nvSpPr>
        <p:spPr>
          <a:xfrm>
            <a:off x="10565011" y="6217623"/>
            <a:ext cx="731700" cy="524700"/>
          </a:xfrm>
          <a:prstGeom prst="rect">
            <a:avLst/>
          </a:prstGeom>
          <a:noFill/>
          <a:ln>
            <a:noFill/>
          </a:ln>
        </p:spPr>
        <p:txBody>
          <a:bodyPr spcFirstLastPara="1" wrap="square" lIns="121900" tIns="121900" rIns="121900" bIns="121900" anchor="ctr" anchorCtr="0">
            <a:norm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SG"/>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2"/>
        <p:cNvGrpSpPr/>
        <p:nvPr/>
      </p:nvGrpSpPr>
      <p:grpSpPr>
        <a:xfrm>
          <a:off x="0" y="0"/>
          <a:ext cx="0" cy="0"/>
          <a:chOff x="0" y="0"/>
          <a:chExt cx="0" cy="0"/>
        </a:xfrm>
      </p:grpSpPr>
      <p:sp>
        <p:nvSpPr>
          <p:cNvPr id="23" name="Google Shape;23;g314d0ef89fb_1_87"/>
          <p:cNvSpPr txBox="1">
            <a:spLocks noGrp="1"/>
          </p:cNvSpPr>
          <p:nvPr>
            <p:ph type="title"/>
          </p:nvPr>
        </p:nvSpPr>
        <p:spPr>
          <a:xfrm>
            <a:off x="415600" y="593367"/>
            <a:ext cx="11360700" cy="763500"/>
          </a:xfrm>
          <a:prstGeom prst="rect">
            <a:avLst/>
          </a:prstGeom>
          <a:noFill/>
          <a:ln>
            <a:noFill/>
          </a:ln>
        </p:spPr>
        <p:txBody>
          <a:bodyPr spcFirstLastPara="1" wrap="square" lIns="121900" tIns="121900" rIns="121900" bIns="121900" anchor="t" anchorCtr="0">
            <a:normAutofit/>
          </a:bodyPr>
          <a:lstStyle>
            <a:lvl1pPr lvl="0" algn="l">
              <a:lnSpc>
                <a:spcPct val="100000"/>
              </a:lnSpc>
              <a:spcBef>
                <a:spcPts val="0"/>
              </a:spcBef>
              <a:spcAft>
                <a:spcPts val="0"/>
              </a:spcAft>
              <a:buSzPts val="3700"/>
              <a:buNone/>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a:endParaRPr/>
          </a:p>
        </p:txBody>
      </p:sp>
      <p:sp>
        <p:nvSpPr>
          <p:cNvPr id="24" name="Google Shape;24;g314d0ef89fb_1_87"/>
          <p:cNvSpPr txBox="1">
            <a:spLocks noGrp="1"/>
          </p:cNvSpPr>
          <p:nvPr>
            <p:ph type="body" idx="1"/>
          </p:nvPr>
        </p:nvSpPr>
        <p:spPr>
          <a:xfrm>
            <a:off x="415600" y="1536633"/>
            <a:ext cx="5333100" cy="4555200"/>
          </a:xfrm>
          <a:prstGeom prst="rect">
            <a:avLst/>
          </a:prstGeom>
          <a:noFill/>
          <a:ln>
            <a:noFill/>
          </a:ln>
        </p:spPr>
        <p:txBody>
          <a:bodyPr spcFirstLastPara="1" wrap="square" lIns="121900" tIns="121900" rIns="121900" bIns="121900" anchor="t" anchorCtr="0">
            <a:normAutofit/>
          </a:bodyPr>
          <a:lstStyle>
            <a:lvl1pPr marL="457200" lvl="0" indent="-349250" algn="l">
              <a:lnSpc>
                <a:spcPct val="115000"/>
              </a:lnSpc>
              <a:spcBef>
                <a:spcPts val="0"/>
              </a:spcBef>
              <a:spcAft>
                <a:spcPts val="0"/>
              </a:spcAft>
              <a:buSzPts val="1900"/>
              <a:buChar char="●"/>
              <a:defRPr sz="1900"/>
            </a:lvl1pPr>
            <a:lvl2pPr marL="914400" lvl="1" indent="-330200" algn="l">
              <a:lnSpc>
                <a:spcPct val="115000"/>
              </a:lnSpc>
              <a:spcBef>
                <a:spcPts val="0"/>
              </a:spcBef>
              <a:spcAft>
                <a:spcPts val="0"/>
              </a:spcAft>
              <a:buSzPts val="1600"/>
              <a:buChar char="○"/>
              <a:defRPr sz="1600"/>
            </a:lvl2pPr>
            <a:lvl3pPr marL="1371600" lvl="2" indent="-330200" algn="l">
              <a:lnSpc>
                <a:spcPct val="115000"/>
              </a:lnSpc>
              <a:spcBef>
                <a:spcPts val="0"/>
              </a:spcBef>
              <a:spcAft>
                <a:spcPts val="0"/>
              </a:spcAft>
              <a:buSzPts val="1600"/>
              <a:buChar char="■"/>
              <a:defRPr sz="1600"/>
            </a:lvl3pPr>
            <a:lvl4pPr marL="1828800" lvl="3" indent="-330200" algn="l">
              <a:lnSpc>
                <a:spcPct val="115000"/>
              </a:lnSpc>
              <a:spcBef>
                <a:spcPts val="0"/>
              </a:spcBef>
              <a:spcAft>
                <a:spcPts val="0"/>
              </a:spcAft>
              <a:buSzPts val="1600"/>
              <a:buChar char="●"/>
              <a:defRPr sz="1600"/>
            </a:lvl4pPr>
            <a:lvl5pPr marL="2286000" lvl="4" indent="-330200" algn="l">
              <a:lnSpc>
                <a:spcPct val="115000"/>
              </a:lnSpc>
              <a:spcBef>
                <a:spcPts val="0"/>
              </a:spcBef>
              <a:spcAft>
                <a:spcPts val="0"/>
              </a:spcAft>
              <a:buSzPts val="1600"/>
              <a:buChar char="○"/>
              <a:defRPr sz="1600"/>
            </a:lvl5pPr>
            <a:lvl6pPr marL="2743200" lvl="5" indent="-330200" algn="l">
              <a:lnSpc>
                <a:spcPct val="115000"/>
              </a:lnSpc>
              <a:spcBef>
                <a:spcPts val="0"/>
              </a:spcBef>
              <a:spcAft>
                <a:spcPts val="0"/>
              </a:spcAft>
              <a:buSzPts val="1600"/>
              <a:buChar char="■"/>
              <a:defRPr sz="1600"/>
            </a:lvl6pPr>
            <a:lvl7pPr marL="3200400" lvl="6" indent="-330200" algn="l">
              <a:lnSpc>
                <a:spcPct val="115000"/>
              </a:lnSpc>
              <a:spcBef>
                <a:spcPts val="0"/>
              </a:spcBef>
              <a:spcAft>
                <a:spcPts val="0"/>
              </a:spcAft>
              <a:buSzPts val="1600"/>
              <a:buChar char="●"/>
              <a:defRPr sz="1600"/>
            </a:lvl7pPr>
            <a:lvl8pPr marL="3657600" lvl="7" indent="-330200" algn="l">
              <a:lnSpc>
                <a:spcPct val="115000"/>
              </a:lnSpc>
              <a:spcBef>
                <a:spcPts val="0"/>
              </a:spcBef>
              <a:spcAft>
                <a:spcPts val="0"/>
              </a:spcAft>
              <a:buSzPts val="1600"/>
              <a:buChar char="○"/>
              <a:defRPr sz="1600"/>
            </a:lvl8pPr>
            <a:lvl9pPr marL="4114800" lvl="8" indent="-330200" algn="l">
              <a:lnSpc>
                <a:spcPct val="115000"/>
              </a:lnSpc>
              <a:spcBef>
                <a:spcPts val="0"/>
              </a:spcBef>
              <a:spcAft>
                <a:spcPts val="0"/>
              </a:spcAft>
              <a:buSzPts val="1600"/>
              <a:buChar char="■"/>
              <a:defRPr sz="1600"/>
            </a:lvl9pPr>
          </a:lstStyle>
          <a:p>
            <a:endParaRPr/>
          </a:p>
        </p:txBody>
      </p:sp>
      <p:sp>
        <p:nvSpPr>
          <p:cNvPr id="25" name="Google Shape;25;g314d0ef89fb_1_87"/>
          <p:cNvSpPr txBox="1">
            <a:spLocks noGrp="1"/>
          </p:cNvSpPr>
          <p:nvPr>
            <p:ph type="body" idx="2"/>
          </p:nvPr>
        </p:nvSpPr>
        <p:spPr>
          <a:xfrm>
            <a:off x="6443200" y="1536633"/>
            <a:ext cx="5333100" cy="4555200"/>
          </a:xfrm>
          <a:prstGeom prst="rect">
            <a:avLst/>
          </a:prstGeom>
          <a:noFill/>
          <a:ln>
            <a:noFill/>
          </a:ln>
        </p:spPr>
        <p:txBody>
          <a:bodyPr spcFirstLastPara="1" wrap="square" lIns="121900" tIns="121900" rIns="121900" bIns="121900" anchor="t" anchorCtr="0">
            <a:normAutofit/>
          </a:bodyPr>
          <a:lstStyle>
            <a:lvl1pPr marL="457200" lvl="0" indent="-349250" algn="l">
              <a:lnSpc>
                <a:spcPct val="115000"/>
              </a:lnSpc>
              <a:spcBef>
                <a:spcPts val="0"/>
              </a:spcBef>
              <a:spcAft>
                <a:spcPts val="0"/>
              </a:spcAft>
              <a:buSzPts val="1900"/>
              <a:buChar char="●"/>
              <a:defRPr sz="1900"/>
            </a:lvl1pPr>
            <a:lvl2pPr marL="914400" lvl="1" indent="-330200" algn="l">
              <a:lnSpc>
                <a:spcPct val="115000"/>
              </a:lnSpc>
              <a:spcBef>
                <a:spcPts val="0"/>
              </a:spcBef>
              <a:spcAft>
                <a:spcPts val="0"/>
              </a:spcAft>
              <a:buSzPts val="1600"/>
              <a:buChar char="○"/>
              <a:defRPr sz="1600"/>
            </a:lvl2pPr>
            <a:lvl3pPr marL="1371600" lvl="2" indent="-330200" algn="l">
              <a:lnSpc>
                <a:spcPct val="115000"/>
              </a:lnSpc>
              <a:spcBef>
                <a:spcPts val="0"/>
              </a:spcBef>
              <a:spcAft>
                <a:spcPts val="0"/>
              </a:spcAft>
              <a:buSzPts val="1600"/>
              <a:buChar char="■"/>
              <a:defRPr sz="1600"/>
            </a:lvl3pPr>
            <a:lvl4pPr marL="1828800" lvl="3" indent="-330200" algn="l">
              <a:lnSpc>
                <a:spcPct val="115000"/>
              </a:lnSpc>
              <a:spcBef>
                <a:spcPts val="0"/>
              </a:spcBef>
              <a:spcAft>
                <a:spcPts val="0"/>
              </a:spcAft>
              <a:buSzPts val="1600"/>
              <a:buChar char="●"/>
              <a:defRPr sz="1600"/>
            </a:lvl4pPr>
            <a:lvl5pPr marL="2286000" lvl="4" indent="-330200" algn="l">
              <a:lnSpc>
                <a:spcPct val="115000"/>
              </a:lnSpc>
              <a:spcBef>
                <a:spcPts val="0"/>
              </a:spcBef>
              <a:spcAft>
                <a:spcPts val="0"/>
              </a:spcAft>
              <a:buSzPts val="1600"/>
              <a:buChar char="○"/>
              <a:defRPr sz="1600"/>
            </a:lvl5pPr>
            <a:lvl6pPr marL="2743200" lvl="5" indent="-330200" algn="l">
              <a:lnSpc>
                <a:spcPct val="115000"/>
              </a:lnSpc>
              <a:spcBef>
                <a:spcPts val="0"/>
              </a:spcBef>
              <a:spcAft>
                <a:spcPts val="0"/>
              </a:spcAft>
              <a:buSzPts val="1600"/>
              <a:buChar char="■"/>
              <a:defRPr sz="1600"/>
            </a:lvl6pPr>
            <a:lvl7pPr marL="3200400" lvl="6" indent="-330200" algn="l">
              <a:lnSpc>
                <a:spcPct val="115000"/>
              </a:lnSpc>
              <a:spcBef>
                <a:spcPts val="0"/>
              </a:spcBef>
              <a:spcAft>
                <a:spcPts val="0"/>
              </a:spcAft>
              <a:buSzPts val="1600"/>
              <a:buChar char="●"/>
              <a:defRPr sz="1600"/>
            </a:lvl7pPr>
            <a:lvl8pPr marL="3657600" lvl="7" indent="-330200" algn="l">
              <a:lnSpc>
                <a:spcPct val="115000"/>
              </a:lnSpc>
              <a:spcBef>
                <a:spcPts val="0"/>
              </a:spcBef>
              <a:spcAft>
                <a:spcPts val="0"/>
              </a:spcAft>
              <a:buSzPts val="1600"/>
              <a:buChar char="○"/>
              <a:defRPr sz="1600"/>
            </a:lvl8pPr>
            <a:lvl9pPr marL="4114800" lvl="8" indent="-330200" algn="l">
              <a:lnSpc>
                <a:spcPct val="115000"/>
              </a:lnSpc>
              <a:spcBef>
                <a:spcPts val="0"/>
              </a:spcBef>
              <a:spcAft>
                <a:spcPts val="0"/>
              </a:spcAft>
              <a:buSzPts val="1600"/>
              <a:buChar char="■"/>
              <a:defRPr sz="1600"/>
            </a:lvl9pPr>
          </a:lstStyle>
          <a:p>
            <a:endParaRPr/>
          </a:p>
        </p:txBody>
      </p:sp>
      <p:sp>
        <p:nvSpPr>
          <p:cNvPr id="26" name="Google Shape;26;g314d0ef89fb_1_87"/>
          <p:cNvSpPr txBox="1">
            <a:spLocks noGrp="1"/>
          </p:cNvSpPr>
          <p:nvPr>
            <p:ph type="sldNum" idx="12"/>
          </p:nvPr>
        </p:nvSpPr>
        <p:spPr>
          <a:xfrm>
            <a:off x="11296611" y="6217623"/>
            <a:ext cx="731700" cy="524700"/>
          </a:xfrm>
          <a:prstGeom prst="rect">
            <a:avLst/>
          </a:prstGeom>
          <a:noFill/>
          <a:ln>
            <a:noFill/>
          </a:ln>
        </p:spPr>
        <p:txBody>
          <a:bodyPr spcFirstLastPara="1" wrap="square" lIns="121900" tIns="121900" rIns="121900" bIns="121900" anchor="ctr" anchorCtr="0">
            <a:norm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SG"/>
              <a:t>‹#›</a:t>
            </a:fld>
            <a:endParaRPr/>
          </a:p>
        </p:txBody>
      </p:sp>
      <p:pic>
        <p:nvPicPr>
          <p:cNvPr id="27" name="Google Shape;27;g314d0ef89fb_1_87" descr="MBP Capital, the LSE Student Investment Fund | LinkedIn"/>
          <p:cNvPicPr preferRelativeResize="0"/>
          <p:nvPr/>
        </p:nvPicPr>
        <p:blipFill rotWithShape="1">
          <a:blip r:embed="rId2">
            <a:alphaModFix/>
          </a:blip>
          <a:srcRect/>
          <a:stretch/>
        </p:blipFill>
        <p:spPr>
          <a:xfrm>
            <a:off x="11164375" y="5861967"/>
            <a:ext cx="996034" cy="996034"/>
          </a:xfrm>
          <a:prstGeom prst="rect">
            <a:avLst/>
          </a:prstGeom>
          <a:noFill/>
          <a:ln>
            <a:noFill/>
          </a:ln>
        </p:spPr>
      </p:pic>
      <p:sp>
        <p:nvSpPr>
          <p:cNvPr id="28" name="Google Shape;28;g314d0ef89fb_1_87"/>
          <p:cNvSpPr txBox="1">
            <a:spLocks noGrp="1"/>
          </p:cNvSpPr>
          <p:nvPr>
            <p:ph type="sldNum" idx="3"/>
          </p:nvPr>
        </p:nvSpPr>
        <p:spPr>
          <a:xfrm>
            <a:off x="10565011" y="6217623"/>
            <a:ext cx="731700" cy="524700"/>
          </a:xfrm>
          <a:prstGeom prst="rect">
            <a:avLst/>
          </a:prstGeom>
          <a:noFill/>
          <a:ln>
            <a:noFill/>
          </a:ln>
        </p:spPr>
        <p:txBody>
          <a:bodyPr spcFirstLastPara="1" wrap="square" lIns="121900" tIns="121900" rIns="121900" bIns="121900" anchor="ctr" anchorCtr="0">
            <a:norm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SG"/>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9"/>
        <p:cNvGrpSpPr/>
        <p:nvPr/>
      </p:nvGrpSpPr>
      <p:grpSpPr>
        <a:xfrm>
          <a:off x="0" y="0"/>
          <a:ext cx="0" cy="0"/>
          <a:chOff x="0" y="0"/>
          <a:chExt cx="0" cy="0"/>
        </a:xfrm>
      </p:grpSpPr>
      <p:sp>
        <p:nvSpPr>
          <p:cNvPr id="30" name="Google Shape;30;g314d0ef89fb_1_94"/>
          <p:cNvSpPr txBox="1">
            <a:spLocks noGrp="1"/>
          </p:cNvSpPr>
          <p:nvPr>
            <p:ph type="title"/>
          </p:nvPr>
        </p:nvSpPr>
        <p:spPr>
          <a:xfrm>
            <a:off x="415600" y="593367"/>
            <a:ext cx="11360700" cy="763500"/>
          </a:xfrm>
          <a:prstGeom prst="rect">
            <a:avLst/>
          </a:prstGeom>
          <a:noFill/>
          <a:ln>
            <a:noFill/>
          </a:ln>
        </p:spPr>
        <p:txBody>
          <a:bodyPr spcFirstLastPara="1" wrap="square" lIns="121900" tIns="121900" rIns="121900" bIns="121900" anchor="t" anchorCtr="0">
            <a:normAutofit/>
          </a:bodyPr>
          <a:lstStyle>
            <a:lvl1pPr lvl="0" algn="l">
              <a:lnSpc>
                <a:spcPct val="100000"/>
              </a:lnSpc>
              <a:spcBef>
                <a:spcPts val="0"/>
              </a:spcBef>
              <a:spcAft>
                <a:spcPts val="0"/>
              </a:spcAft>
              <a:buSzPts val="3700"/>
              <a:buNone/>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a:endParaRPr/>
          </a:p>
        </p:txBody>
      </p:sp>
      <p:sp>
        <p:nvSpPr>
          <p:cNvPr id="31" name="Google Shape;31;g314d0ef89fb_1_94"/>
          <p:cNvSpPr txBox="1">
            <a:spLocks noGrp="1"/>
          </p:cNvSpPr>
          <p:nvPr>
            <p:ph type="sldNum" idx="12"/>
          </p:nvPr>
        </p:nvSpPr>
        <p:spPr>
          <a:xfrm>
            <a:off x="11296611" y="6217623"/>
            <a:ext cx="731700" cy="524700"/>
          </a:xfrm>
          <a:prstGeom prst="rect">
            <a:avLst/>
          </a:prstGeom>
          <a:noFill/>
          <a:ln>
            <a:noFill/>
          </a:ln>
        </p:spPr>
        <p:txBody>
          <a:bodyPr spcFirstLastPara="1" wrap="square" lIns="121900" tIns="121900" rIns="121900" bIns="121900" anchor="ctr" anchorCtr="0">
            <a:norm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SG"/>
              <a:t>‹#›</a:t>
            </a:fld>
            <a:endParaRPr/>
          </a:p>
        </p:txBody>
      </p:sp>
      <p:pic>
        <p:nvPicPr>
          <p:cNvPr id="32" name="Google Shape;32;g314d0ef89fb_1_94" descr="MBP Capital, the LSE Student Investment Fund | LinkedIn"/>
          <p:cNvPicPr preferRelativeResize="0"/>
          <p:nvPr/>
        </p:nvPicPr>
        <p:blipFill rotWithShape="1">
          <a:blip r:embed="rId2">
            <a:alphaModFix/>
          </a:blip>
          <a:srcRect/>
          <a:stretch/>
        </p:blipFill>
        <p:spPr>
          <a:xfrm>
            <a:off x="11164375" y="5861967"/>
            <a:ext cx="996034" cy="996034"/>
          </a:xfrm>
          <a:prstGeom prst="rect">
            <a:avLst/>
          </a:prstGeom>
          <a:noFill/>
          <a:ln>
            <a:noFill/>
          </a:ln>
        </p:spPr>
      </p:pic>
      <p:sp>
        <p:nvSpPr>
          <p:cNvPr id="33" name="Google Shape;33;g314d0ef89fb_1_94"/>
          <p:cNvSpPr txBox="1">
            <a:spLocks noGrp="1"/>
          </p:cNvSpPr>
          <p:nvPr>
            <p:ph type="sldNum" idx="2"/>
          </p:nvPr>
        </p:nvSpPr>
        <p:spPr>
          <a:xfrm>
            <a:off x="10565011" y="6217623"/>
            <a:ext cx="731700" cy="524700"/>
          </a:xfrm>
          <a:prstGeom prst="rect">
            <a:avLst/>
          </a:prstGeom>
          <a:noFill/>
          <a:ln>
            <a:noFill/>
          </a:ln>
        </p:spPr>
        <p:txBody>
          <a:bodyPr spcFirstLastPara="1" wrap="square" lIns="121900" tIns="121900" rIns="121900" bIns="121900" anchor="ctr" anchorCtr="0">
            <a:norm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SG"/>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4"/>
        <p:cNvGrpSpPr/>
        <p:nvPr/>
      </p:nvGrpSpPr>
      <p:grpSpPr>
        <a:xfrm>
          <a:off x="0" y="0"/>
          <a:ext cx="0" cy="0"/>
          <a:chOff x="0" y="0"/>
          <a:chExt cx="0" cy="0"/>
        </a:xfrm>
      </p:grpSpPr>
      <p:sp>
        <p:nvSpPr>
          <p:cNvPr id="35" name="Google Shape;35;g314d0ef89fb_1_99"/>
          <p:cNvSpPr txBox="1">
            <a:spLocks noGrp="1"/>
          </p:cNvSpPr>
          <p:nvPr>
            <p:ph type="title"/>
          </p:nvPr>
        </p:nvSpPr>
        <p:spPr>
          <a:xfrm>
            <a:off x="415600" y="740800"/>
            <a:ext cx="3744000" cy="1007700"/>
          </a:xfrm>
          <a:prstGeom prst="rect">
            <a:avLst/>
          </a:prstGeom>
          <a:noFill/>
          <a:ln>
            <a:noFill/>
          </a:ln>
        </p:spPr>
        <p:txBody>
          <a:bodyPr spcFirstLastPara="1" wrap="square" lIns="121900" tIns="121900" rIns="121900" bIns="121900" anchor="b" anchorCtr="0">
            <a:normAutofit/>
          </a:bodyPr>
          <a:lstStyle>
            <a:lvl1pPr lvl="0" algn="l">
              <a:lnSpc>
                <a:spcPct val="100000"/>
              </a:lnSpc>
              <a:spcBef>
                <a:spcPts val="0"/>
              </a:spcBef>
              <a:spcAft>
                <a:spcPts val="0"/>
              </a:spcAft>
              <a:buSzPts val="3200"/>
              <a:buNone/>
              <a:defRPr sz="3200"/>
            </a:lvl1pPr>
            <a:lvl2pPr lvl="1" algn="l">
              <a:lnSpc>
                <a:spcPct val="100000"/>
              </a:lnSpc>
              <a:spcBef>
                <a:spcPts val="0"/>
              </a:spcBef>
              <a:spcAft>
                <a:spcPts val="0"/>
              </a:spcAft>
              <a:buSzPts val="3200"/>
              <a:buNone/>
              <a:defRPr sz="3200"/>
            </a:lvl2pPr>
            <a:lvl3pPr lvl="2" algn="l">
              <a:lnSpc>
                <a:spcPct val="100000"/>
              </a:lnSpc>
              <a:spcBef>
                <a:spcPts val="0"/>
              </a:spcBef>
              <a:spcAft>
                <a:spcPts val="0"/>
              </a:spcAft>
              <a:buSzPts val="3200"/>
              <a:buNone/>
              <a:defRPr sz="3200"/>
            </a:lvl3pPr>
            <a:lvl4pPr lvl="3" algn="l">
              <a:lnSpc>
                <a:spcPct val="100000"/>
              </a:lnSpc>
              <a:spcBef>
                <a:spcPts val="0"/>
              </a:spcBef>
              <a:spcAft>
                <a:spcPts val="0"/>
              </a:spcAft>
              <a:buSzPts val="3200"/>
              <a:buNone/>
              <a:defRPr sz="3200"/>
            </a:lvl4pPr>
            <a:lvl5pPr lvl="4" algn="l">
              <a:lnSpc>
                <a:spcPct val="100000"/>
              </a:lnSpc>
              <a:spcBef>
                <a:spcPts val="0"/>
              </a:spcBef>
              <a:spcAft>
                <a:spcPts val="0"/>
              </a:spcAft>
              <a:buSzPts val="3200"/>
              <a:buNone/>
              <a:defRPr sz="3200"/>
            </a:lvl5pPr>
            <a:lvl6pPr lvl="5" algn="l">
              <a:lnSpc>
                <a:spcPct val="100000"/>
              </a:lnSpc>
              <a:spcBef>
                <a:spcPts val="0"/>
              </a:spcBef>
              <a:spcAft>
                <a:spcPts val="0"/>
              </a:spcAft>
              <a:buSzPts val="3200"/>
              <a:buNone/>
              <a:defRPr sz="3200"/>
            </a:lvl6pPr>
            <a:lvl7pPr lvl="6" algn="l">
              <a:lnSpc>
                <a:spcPct val="100000"/>
              </a:lnSpc>
              <a:spcBef>
                <a:spcPts val="0"/>
              </a:spcBef>
              <a:spcAft>
                <a:spcPts val="0"/>
              </a:spcAft>
              <a:buSzPts val="3200"/>
              <a:buNone/>
              <a:defRPr sz="3200"/>
            </a:lvl7pPr>
            <a:lvl8pPr lvl="7" algn="l">
              <a:lnSpc>
                <a:spcPct val="100000"/>
              </a:lnSpc>
              <a:spcBef>
                <a:spcPts val="0"/>
              </a:spcBef>
              <a:spcAft>
                <a:spcPts val="0"/>
              </a:spcAft>
              <a:buSzPts val="3200"/>
              <a:buNone/>
              <a:defRPr sz="3200"/>
            </a:lvl8pPr>
            <a:lvl9pPr lvl="8" algn="l">
              <a:lnSpc>
                <a:spcPct val="100000"/>
              </a:lnSpc>
              <a:spcBef>
                <a:spcPts val="0"/>
              </a:spcBef>
              <a:spcAft>
                <a:spcPts val="0"/>
              </a:spcAft>
              <a:buSzPts val="3200"/>
              <a:buNone/>
              <a:defRPr sz="3200"/>
            </a:lvl9pPr>
          </a:lstStyle>
          <a:p>
            <a:endParaRPr/>
          </a:p>
        </p:txBody>
      </p:sp>
      <p:sp>
        <p:nvSpPr>
          <p:cNvPr id="36" name="Google Shape;36;g314d0ef89fb_1_99"/>
          <p:cNvSpPr txBox="1">
            <a:spLocks noGrp="1"/>
          </p:cNvSpPr>
          <p:nvPr>
            <p:ph type="body" idx="1"/>
          </p:nvPr>
        </p:nvSpPr>
        <p:spPr>
          <a:xfrm>
            <a:off x="415600" y="1852800"/>
            <a:ext cx="3744000" cy="4239300"/>
          </a:xfrm>
          <a:prstGeom prst="rect">
            <a:avLst/>
          </a:prstGeom>
          <a:noFill/>
          <a:ln>
            <a:noFill/>
          </a:ln>
        </p:spPr>
        <p:txBody>
          <a:bodyPr spcFirstLastPara="1" wrap="square" lIns="121900" tIns="121900" rIns="121900" bIns="121900" anchor="t" anchorCtr="0">
            <a:normAutofit/>
          </a:bodyPr>
          <a:lstStyle>
            <a:lvl1pPr marL="457200" lvl="0" indent="-330200" algn="l">
              <a:lnSpc>
                <a:spcPct val="115000"/>
              </a:lnSpc>
              <a:spcBef>
                <a:spcPts val="0"/>
              </a:spcBef>
              <a:spcAft>
                <a:spcPts val="0"/>
              </a:spcAft>
              <a:buSzPts val="1600"/>
              <a:buChar char="●"/>
              <a:defRPr sz="1600"/>
            </a:lvl1pPr>
            <a:lvl2pPr marL="914400" lvl="1" indent="-330200" algn="l">
              <a:lnSpc>
                <a:spcPct val="115000"/>
              </a:lnSpc>
              <a:spcBef>
                <a:spcPts val="0"/>
              </a:spcBef>
              <a:spcAft>
                <a:spcPts val="0"/>
              </a:spcAft>
              <a:buSzPts val="1600"/>
              <a:buChar char="○"/>
              <a:defRPr sz="1600"/>
            </a:lvl2pPr>
            <a:lvl3pPr marL="1371600" lvl="2" indent="-330200" algn="l">
              <a:lnSpc>
                <a:spcPct val="115000"/>
              </a:lnSpc>
              <a:spcBef>
                <a:spcPts val="0"/>
              </a:spcBef>
              <a:spcAft>
                <a:spcPts val="0"/>
              </a:spcAft>
              <a:buSzPts val="1600"/>
              <a:buChar char="■"/>
              <a:defRPr sz="1600"/>
            </a:lvl3pPr>
            <a:lvl4pPr marL="1828800" lvl="3" indent="-330200" algn="l">
              <a:lnSpc>
                <a:spcPct val="115000"/>
              </a:lnSpc>
              <a:spcBef>
                <a:spcPts val="0"/>
              </a:spcBef>
              <a:spcAft>
                <a:spcPts val="0"/>
              </a:spcAft>
              <a:buSzPts val="1600"/>
              <a:buChar char="●"/>
              <a:defRPr sz="1600"/>
            </a:lvl4pPr>
            <a:lvl5pPr marL="2286000" lvl="4" indent="-330200" algn="l">
              <a:lnSpc>
                <a:spcPct val="115000"/>
              </a:lnSpc>
              <a:spcBef>
                <a:spcPts val="0"/>
              </a:spcBef>
              <a:spcAft>
                <a:spcPts val="0"/>
              </a:spcAft>
              <a:buSzPts val="1600"/>
              <a:buChar char="○"/>
              <a:defRPr sz="1600"/>
            </a:lvl5pPr>
            <a:lvl6pPr marL="2743200" lvl="5" indent="-330200" algn="l">
              <a:lnSpc>
                <a:spcPct val="115000"/>
              </a:lnSpc>
              <a:spcBef>
                <a:spcPts val="0"/>
              </a:spcBef>
              <a:spcAft>
                <a:spcPts val="0"/>
              </a:spcAft>
              <a:buSzPts val="1600"/>
              <a:buChar char="■"/>
              <a:defRPr sz="1600"/>
            </a:lvl6pPr>
            <a:lvl7pPr marL="3200400" lvl="6" indent="-330200" algn="l">
              <a:lnSpc>
                <a:spcPct val="115000"/>
              </a:lnSpc>
              <a:spcBef>
                <a:spcPts val="0"/>
              </a:spcBef>
              <a:spcAft>
                <a:spcPts val="0"/>
              </a:spcAft>
              <a:buSzPts val="1600"/>
              <a:buChar char="●"/>
              <a:defRPr sz="1600"/>
            </a:lvl7pPr>
            <a:lvl8pPr marL="3657600" lvl="7" indent="-330200" algn="l">
              <a:lnSpc>
                <a:spcPct val="115000"/>
              </a:lnSpc>
              <a:spcBef>
                <a:spcPts val="0"/>
              </a:spcBef>
              <a:spcAft>
                <a:spcPts val="0"/>
              </a:spcAft>
              <a:buSzPts val="1600"/>
              <a:buChar char="○"/>
              <a:defRPr sz="1600"/>
            </a:lvl8pPr>
            <a:lvl9pPr marL="4114800" lvl="8" indent="-330200" algn="l">
              <a:lnSpc>
                <a:spcPct val="115000"/>
              </a:lnSpc>
              <a:spcBef>
                <a:spcPts val="0"/>
              </a:spcBef>
              <a:spcAft>
                <a:spcPts val="0"/>
              </a:spcAft>
              <a:buSzPts val="1600"/>
              <a:buChar char="■"/>
              <a:defRPr sz="1600"/>
            </a:lvl9pPr>
          </a:lstStyle>
          <a:p>
            <a:endParaRPr/>
          </a:p>
        </p:txBody>
      </p:sp>
      <p:sp>
        <p:nvSpPr>
          <p:cNvPr id="37" name="Google Shape;37;g314d0ef89fb_1_99"/>
          <p:cNvSpPr txBox="1">
            <a:spLocks noGrp="1"/>
          </p:cNvSpPr>
          <p:nvPr>
            <p:ph type="sldNum" idx="12"/>
          </p:nvPr>
        </p:nvSpPr>
        <p:spPr>
          <a:xfrm>
            <a:off x="11296611" y="6217623"/>
            <a:ext cx="731700" cy="524700"/>
          </a:xfrm>
          <a:prstGeom prst="rect">
            <a:avLst/>
          </a:prstGeom>
          <a:noFill/>
          <a:ln>
            <a:noFill/>
          </a:ln>
        </p:spPr>
        <p:txBody>
          <a:bodyPr spcFirstLastPara="1" wrap="square" lIns="121900" tIns="121900" rIns="121900" bIns="121900" anchor="ctr" anchorCtr="0">
            <a:norm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SG"/>
              <a:t>‹#›</a:t>
            </a:fld>
            <a:endParaRPr/>
          </a:p>
        </p:txBody>
      </p:sp>
      <p:pic>
        <p:nvPicPr>
          <p:cNvPr id="38" name="Google Shape;38;g314d0ef89fb_1_99" descr="MBP Capital, the LSE Student Investment Fund | LinkedIn"/>
          <p:cNvPicPr preferRelativeResize="0"/>
          <p:nvPr/>
        </p:nvPicPr>
        <p:blipFill rotWithShape="1">
          <a:blip r:embed="rId2">
            <a:alphaModFix/>
          </a:blip>
          <a:srcRect/>
          <a:stretch/>
        </p:blipFill>
        <p:spPr>
          <a:xfrm>
            <a:off x="11164375" y="5861967"/>
            <a:ext cx="996034" cy="996034"/>
          </a:xfrm>
          <a:prstGeom prst="rect">
            <a:avLst/>
          </a:prstGeom>
          <a:noFill/>
          <a:ln>
            <a:noFill/>
          </a:ln>
        </p:spPr>
      </p:pic>
      <p:sp>
        <p:nvSpPr>
          <p:cNvPr id="39" name="Google Shape;39;g314d0ef89fb_1_99"/>
          <p:cNvSpPr txBox="1">
            <a:spLocks noGrp="1"/>
          </p:cNvSpPr>
          <p:nvPr>
            <p:ph type="sldNum" idx="2"/>
          </p:nvPr>
        </p:nvSpPr>
        <p:spPr>
          <a:xfrm>
            <a:off x="10565011" y="6217623"/>
            <a:ext cx="731700" cy="524700"/>
          </a:xfrm>
          <a:prstGeom prst="rect">
            <a:avLst/>
          </a:prstGeom>
          <a:noFill/>
          <a:ln>
            <a:noFill/>
          </a:ln>
        </p:spPr>
        <p:txBody>
          <a:bodyPr spcFirstLastPara="1" wrap="square" lIns="121900" tIns="121900" rIns="121900" bIns="121900" anchor="ctr" anchorCtr="0">
            <a:norm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SG"/>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40"/>
        <p:cNvGrpSpPr/>
        <p:nvPr/>
      </p:nvGrpSpPr>
      <p:grpSpPr>
        <a:xfrm>
          <a:off x="0" y="0"/>
          <a:ext cx="0" cy="0"/>
          <a:chOff x="0" y="0"/>
          <a:chExt cx="0" cy="0"/>
        </a:xfrm>
      </p:grpSpPr>
      <p:sp>
        <p:nvSpPr>
          <p:cNvPr id="41" name="Google Shape;41;g314d0ef89fb_1_105"/>
          <p:cNvSpPr txBox="1">
            <a:spLocks noGrp="1"/>
          </p:cNvSpPr>
          <p:nvPr>
            <p:ph type="title"/>
          </p:nvPr>
        </p:nvSpPr>
        <p:spPr>
          <a:xfrm>
            <a:off x="653667" y="600200"/>
            <a:ext cx="8490300" cy="5454300"/>
          </a:xfrm>
          <a:prstGeom prst="rect">
            <a:avLst/>
          </a:prstGeom>
          <a:noFill/>
          <a:ln>
            <a:noFill/>
          </a:ln>
        </p:spPr>
        <p:txBody>
          <a:bodyPr spcFirstLastPara="1" wrap="square" lIns="121900" tIns="121900" rIns="121900" bIns="121900" anchor="ctr" anchorCtr="0">
            <a:normAutofit/>
          </a:bodyPr>
          <a:lstStyle>
            <a:lvl1pPr lvl="0" algn="l">
              <a:lnSpc>
                <a:spcPct val="100000"/>
              </a:lnSpc>
              <a:spcBef>
                <a:spcPts val="0"/>
              </a:spcBef>
              <a:spcAft>
                <a:spcPts val="0"/>
              </a:spcAft>
              <a:buSzPts val="6400"/>
              <a:buNone/>
              <a:defRPr sz="6400"/>
            </a:lvl1pPr>
            <a:lvl2pPr lvl="1" algn="l">
              <a:lnSpc>
                <a:spcPct val="100000"/>
              </a:lnSpc>
              <a:spcBef>
                <a:spcPts val="0"/>
              </a:spcBef>
              <a:spcAft>
                <a:spcPts val="0"/>
              </a:spcAft>
              <a:buSzPts val="6400"/>
              <a:buNone/>
              <a:defRPr sz="6400"/>
            </a:lvl2pPr>
            <a:lvl3pPr lvl="2" algn="l">
              <a:lnSpc>
                <a:spcPct val="100000"/>
              </a:lnSpc>
              <a:spcBef>
                <a:spcPts val="0"/>
              </a:spcBef>
              <a:spcAft>
                <a:spcPts val="0"/>
              </a:spcAft>
              <a:buSzPts val="6400"/>
              <a:buNone/>
              <a:defRPr sz="6400"/>
            </a:lvl3pPr>
            <a:lvl4pPr lvl="3" algn="l">
              <a:lnSpc>
                <a:spcPct val="100000"/>
              </a:lnSpc>
              <a:spcBef>
                <a:spcPts val="0"/>
              </a:spcBef>
              <a:spcAft>
                <a:spcPts val="0"/>
              </a:spcAft>
              <a:buSzPts val="6400"/>
              <a:buNone/>
              <a:defRPr sz="6400"/>
            </a:lvl4pPr>
            <a:lvl5pPr lvl="4" algn="l">
              <a:lnSpc>
                <a:spcPct val="100000"/>
              </a:lnSpc>
              <a:spcBef>
                <a:spcPts val="0"/>
              </a:spcBef>
              <a:spcAft>
                <a:spcPts val="0"/>
              </a:spcAft>
              <a:buSzPts val="6400"/>
              <a:buNone/>
              <a:defRPr sz="6400"/>
            </a:lvl5pPr>
            <a:lvl6pPr lvl="5" algn="l">
              <a:lnSpc>
                <a:spcPct val="100000"/>
              </a:lnSpc>
              <a:spcBef>
                <a:spcPts val="0"/>
              </a:spcBef>
              <a:spcAft>
                <a:spcPts val="0"/>
              </a:spcAft>
              <a:buSzPts val="6400"/>
              <a:buNone/>
              <a:defRPr sz="6400"/>
            </a:lvl6pPr>
            <a:lvl7pPr lvl="6" algn="l">
              <a:lnSpc>
                <a:spcPct val="100000"/>
              </a:lnSpc>
              <a:spcBef>
                <a:spcPts val="0"/>
              </a:spcBef>
              <a:spcAft>
                <a:spcPts val="0"/>
              </a:spcAft>
              <a:buSzPts val="6400"/>
              <a:buNone/>
              <a:defRPr sz="6400"/>
            </a:lvl7pPr>
            <a:lvl8pPr lvl="7" algn="l">
              <a:lnSpc>
                <a:spcPct val="100000"/>
              </a:lnSpc>
              <a:spcBef>
                <a:spcPts val="0"/>
              </a:spcBef>
              <a:spcAft>
                <a:spcPts val="0"/>
              </a:spcAft>
              <a:buSzPts val="6400"/>
              <a:buNone/>
              <a:defRPr sz="6400"/>
            </a:lvl8pPr>
            <a:lvl9pPr lvl="8" algn="l">
              <a:lnSpc>
                <a:spcPct val="100000"/>
              </a:lnSpc>
              <a:spcBef>
                <a:spcPts val="0"/>
              </a:spcBef>
              <a:spcAft>
                <a:spcPts val="0"/>
              </a:spcAft>
              <a:buSzPts val="6400"/>
              <a:buNone/>
              <a:defRPr sz="6400"/>
            </a:lvl9pPr>
          </a:lstStyle>
          <a:p>
            <a:endParaRPr/>
          </a:p>
        </p:txBody>
      </p:sp>
      <p:sp>
        <p:nvSpPr>
          <p:cNvPr id="42" name="Google Shape;42;g314d0ef89fb_1_105"/>
          <p:cNvSpPr txBox="1">
            <a:spLocks noGrp="1"/>
          </p:cNvSpPr>
          <p:nvPr>
            <p:ph type="sldNum" idx="12"/>
          </p:nvPr>
        </p:nvSpPr>
        <p:spPr>
          <a:xfrm>
            <a:off x="11296611" y="6217623"/>
            <a:ext cx="731700" cy="524700"/>
          </a:xfrm>
          <a:prstGeom prst="rect">
            <a:avLst/>
          </a:prstGeom>
          <a:noFill/>
          <a:ln>
            <a:noFill/>
          </a:ln>
        </p:spPr>
        <p:txBody>
          <a:bodyPr spcFirstLastPara="1" wrap="square" lIns="121900" tIns="121900" rIns="121900" bIns="121900" anchor="ctr" anchorCtr="0">
            <a:norm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SG"/>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3"/>
        <p:cNvGrpSpPr/>
        <p:nvPr/>
      </p:nvGrpSpPr>
      <p:grpSpPr>
        <a:xfrm>
          <a:off x="0" y="0"/>
          <a:ext cx="0" cy="0"/>
          <a:chOff x="0" y="0"/>
          <a:chExt cx="0" cy="0"/>
        </a:xfrm>
      </p:grpSpPr>
      <p:sp>
        <p:nvSpPr>
          <p:cNvPr id="44" name="Google Shape;44;g314d0ef89fb_1_108"/>
          <p:cNvSpPr/>
          <p:nvPr/>
        </p:nvSpPr>
        <p:spPr>
          <a:xfrm>
            <a:off x="6096000" y="-167"/>
            <a:ext cx="6096000" cy="6858000"/>
          </a:xfrm>
          <a:prstGeom prst="rect">
            <a:avLst/>
          </a:prstGeom>
          <a:solidFill>
            <a:schemeClr val="lt2"/>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sp>
        <p:nvSpPr>
          <p:cNvPr id="45" name="Google Shape;45;g314d0ef89fb_1_108"/>
          <p:cNvSpPr txBox="1">
            <a:spLocks noGrp="1"/>
          </p:cNvSpPr>
          <p:nvPr>
            <p:ph type="title"/>
          </p:nvPr>
        </p:nvSpPr>
        <p:spPr>
          <a:xfrm>
            <a:off x="354000" y="1644233"/>
            <a:ext cx="5393700" cy="1976400"/>
          </a:xfrm>
          <a:prstGeom prst="rect">
            <a:avLst/>
          </a:prstGeom>
          <a:noFill/>
          <a:ln>
            <a:noFill/>
          </a:ln>
        </p:spPr>
        <p:txBody>
          <a:bodyPr spcFirstLastPara="1" wrap="square" lIns="121900" tIns="121900" rIns="121900" bIns="121900" anchor="b" anchorCtr="0">
            <a:normAutofit/>
          </a:bodyPr>
          <a:lstStyle>
            <a:lvl1pPr lvl="0" algn="ctr">
              <a:lnSpc>
                <a:spcPct val="100000"/>
              </a:lnSpc>
              <a:spcBef>
                <a:spcPts val="0"/>
              </a:spcBef>
              <a:spcAft>
                <a:spcPts val="0"/>
              </a:spcAft>
              <a:buSzPts val="5600"/>
              <a:buNone/>
              <a:defRPr sz="5600"/>
            </a:lvl1pPr>
            <a:lvl2pPr lvl="1" algn="ctr">
              <a:lnSpc>
                <a:spcPct val="100000"/>
              </a:lnSpc>
              <a:spcBef>
                <a:spcPts val="0"/>
              </a:spcBef>
              <a:spcAft>
                <a:spcPts val="0"/>
              </a:spcAft>
              <a:buSzPts val="5600"/>
              <a:buNone/>
              <a:defRPr sz="5600"/>
            </a:lvl2pPr>
            <a:lvl3pPr lvl="2" algn="ctr">
              <a:lnSpc>
                <a:spcPct val="100000"/>
              </a:lnSpc>
              <a:spcBef>
                <a:spcPts val="0"/>
              </a:spcBef>
              <a:spcAft>
                <a:spcPts val="0"/>
              </a:spcAft>
              <a:buSzPts val="5600"/>
              <a:buNone/>
              <a:defRPr sz="5600"/>
            </a:lvl3pPr>
            <a:lvl4pPr lvl="3" algn="ctr">
              <a:lnSpc>
                <a:spcPct val="100000"/>
              </a:lnSpc>
              <a:spcBef>
                <a:spcPts val="0"/>
              </a:spcBef>
              <a:spcAft>
                <a:spcPts val="0"/>
              </a:spcAft>
              <a:buSzPts val="5600"/>
              <a:buNone/>
              <a:defRPr sz="5600"/>
            </a:lvl4pPr>
            <a:lvl5pPr lvl="4" algn="ctr">
              <a:lnSpc>
                <a:spcPct val="100000"/>
              </a:lnSpc>
              <a:spcBef>
                <a:spcPts val="0"/>
              </a:spcBef>
              <a:spcAft>
                <a:spcPts val="0"/>
              </a:spcAft>
              <a:buSzPts val="5600"/>
              <a:buNone/>
              <a:defRPr sz="5600"/>
            </a:lvl5pPr>
            <a:lvl6pPr lvl="5" algn="ctr">
              <a:lnSpc>
                <a:spcPct val="100000"/>
              </a:lnSpc>
              <a:spcBef>
                <a:spcPts val="0"/>
              </a:spcBef>
              <a:spcAft>
                <a:spcPts val="0"/>
              </a:spcAft>
              <a:buSzPts val="5600"/>
              <a:buNone/>
              <a:defRPr sz="5600"/>
            </a:lvl6pPr>
            <a:lvl7pPr lvl="6" algn="ctr">
              <a:lnSpc>
                <a:spcPct val="100000"/>
              </a:lnSpc>
              <a:spcBef>
                <a:spcPts val="0"/>
              </a:spcBef>
              <a:spcAft>
                <a:spcPts val="0"/>
              </a:spcAft>
              <a:buSzPts val="5600"/>
              <a:buNone/>
              <a:defRPr sz="5600"/>
            </a:lvl7pPr>
            <a:lvl8pPr lvl="7" algn="ctr">
              <a:lnSpc>
                <a:spcPct val="100000"/>
              </a:lnSpc>
              <a:spcBef>
                <a:spcPts val="0"/>
              </a:spcBef>
              <a:spcAft>
                <a:spcPts val="0"/>
              </a:spcAft>
              <a:buSzPts val="5600"/>
              <a:buNone/>
              <a:defRPr sz="5600"/>
            </a:lvl8pPr>
            <a:lvl9pPr lvl="8" algn="ctr">
              <a:lnSpc>
                <a:spcPct val="100000"/>
              </a:lnSpc>
              <a:spcBef>
                <a:spcPts val="0"/>
              </a:spcBef>
              <a:spcAft>
                <a:spcPts val="0"/>
              </a:spcAft>
              <a:buSzPts val="5600"/>
              <a:buNone/>
              <a:defRPr sz="5600"/>
            </a:lvl9pPr>
          </a:lstStyle>
          <a:p>
            <a:endParaRPr/>
          </a:p>
        </p:txBody>
      </p:sp>
      <p:sp>
        <p:nvSpPr>
          <p:cNvPr id="46" name="Google Shape;46;g314d0ef89fb_1_108"/>
          <p:cNvSpPr txBox="1">
            <a:spLocks noGrp="1"/>
          </p:cNvSpPr>
          <p:nvPr>
            <p:ph type="subTitle" idx="1"/>
          </p:nvPr>
        </p:nvSpPr>
        <p:spPr>
          <a:xfrm>
            <a:off x="354000" y="3737433"/>
            <a:ext cx="5393700" cy="1646700"/>
          </a:xfrm>
          <a:prstGeom prst="rect">
            <a:avLst/>
          </a:prstGeom>
          <a:noFill/>
          <a:ln>
            <a:noFill/>
          </a:ln>
        </p:spPr>
        <p:txBody>
          <a:bodyPr spcFirstLastPara="1" wrap="square" lIns="121900" tIns="121900" rIns="121900" bIns="121900"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47" name="Google Shape;47;g314d0ef89fb_1_108"/>
          <p:cNvSpPr txBox="1">
            <a:spLocks noGrp="1"/>
          </p:cNvSpPr>
          <p:nvPr>
            <p:ph type="body" idx="2"/>
          </p:nvPr>
        </p:nvSpPr>
        <p:spPr>
          <a:xfrm>
            <a:off x="6586000" y="965433"/>
            <a:ext cx="5115900" cy="4926900"/>
          </a:xfrm>
          <a:prstGeom prst="rect">
            <a:avLst/>
          </a:prstGeom>
          <a:noFill/>
          <a:ln>
            <a:noFill/>
          </a:ln>
        </p:spPr>
        <p:txBody>
          <a:bodyPr spcFirstLastPara="1" wrap="square" lIns="121900" tIns="121900" rIns="121900" bIns="121900" anchor="ctr" anchorCtr="0">
            <a:normAutofit/>
          </a:bodyPr>
          <a:lstStyle>
            <a:lvl1pPr marL="457200" lvl="0" indent="-381000" algn="l">
              <a:lnSpc>
                <a:spcPct val="115000"/>
              </a:lnSpc>
              <a:spcBef>
                <a:spcPts val="0"/>
              </a:spcBef>
              <a:spcAft>
                <a:spcPts val="0"/>
              </a:spcAft>
              <a:buSzPts val="2400"/>
              <a:buChar char="●"/>
              <a:defRPr/>
            </a:lvl1pPr>
            <a:lvl2pPr marL="914400" lvl="1" indent="-349250" algn="l">
              <a:lnSpc>
                <a:spcPct val="115000"/>
              </a:lnSpc>
              <a:spcBef>
                <a:spcPts val="0"/>
              </a:spcBef>
              <a:spcAft>
                <a:spcPts val="0"/>
              </a:spcAft>
              <a:buSzPts val="1900"/>
              <a:buChar char="○"/>
              <a:defRPr/>
            </a:lvl2pPr>
            <a:lvl3pPr marL="1371600" lvl="2" indent="-349250" algn="l">
              <a:lnSpc>
                <a:spcPct val="115000"/>
              </a:lnSpc>
              <a:spcBef>
                <a:spcPts val="0"/>
              </a:spcBef>
              <a:spcAft>
                <a:spcPts val="0"/>
              </a:spcAft>
              <a:buSzPts val="1900"/>
              <a:buChar char="■"/>
              <a:defRPr/>
            </a:lvl3pPr>
            <a:lvl4pPr marL="1828800" lvl="3" indent="-349250" algn="l">
              <a:lnSpc>
                <a:spcPct val="115000"/>
              </a:lnSpc>
              <a:spcBef>
                <a:spcPts val="0"/>
              </a:spcBef>
              <a:spcAft>
                <a:spcPts val="0"/>
              </a:spcAft>
              <a:buSzPts val="1900"/>
              <a:buChar char="●"/>
              <a:defRPr/>
            </a:lvl4pPr>
            <a:lvl5pPr marL="2286000" lvl="4" indent="-349250" algn="l">
              <a:lnSpc>
                <a:spcPct val="115000"/>
              </a:lnSpc>
              <a:spcBef>
                <a:spcPts val="0"/>
              </a:spcBef>
              <a:spcAft>
                <a:spcPts val="0"/>
              </a:spcAft>
              <a:buSzPts val="1900"/>
              <a:buChar char="○"/>
              <a:defRPr/>
            </a:lvl5pPr>
            <a:lvl6pPr marL="2743200" lvl="5" indent="-349250" algn="l">
              <a:lnSpc>
                <a:spcPct val="115000"/>
              </a:lnSpc>
              <a:spcBef>
                <a:spcPts val="0"/>
              </a:spcBef>
              <a:spcAft>
                <a:spcPts val="0"/>
              </a:spcAft>
              <a:buSzPts val="1900"/>
              <a:buChar char="■"/>
              <a:defRPr/>
            </a:lvl6pPr>
            <a:lvl7pPr marL="3200400" lvl="6" indent="-349250" algn="l">
              <a:lnSpc>
                <a:spcPct val="115000"/>
              </a:lnSpc>
              <a:spcBef>
                <a:spcPts val="0"/>
              </a:spcBef>
              <a:spcAft>
                <a:spcPts val="0"/>
              </a:spcAft>
              <a:buSzPts val="1900"/>
              <a:buChar char="●"/>
              <a:defRPr/>
            </a:lvl7pPr>
            <a:lvl8pPr marL="3657600" lvl="7" indent="-349250" algn="l">
              <a:lnSpc>
                <a:spcPct val="115000"/>
              </a:lnSpc>
              <a:spcBef>
                <a:spcPts val="0"/>
              </a:spcBef>
              <a:spcAft>
                <a:spcPts val="0"/>
              </a:spcAft>
              <a:buSzPts val="1900"/>
              <a:buChar char="○"/>
              <a:defRPr/>
            </a:lvl8pPr>
            <a:lvl9pPr marL="4114800" lvl="8" indent="-349250" algn="l">
              <a:lnSpc>
                <a:spcPct val="115000"/>
              </a:lnSpc>
              <a:spcBef>
                <a:spcPts val="0"/>
              </a:spcBef>
              <a:spcAft>
                <a:spcPts val="0"/>
              </a:spcAft>
              <a:buSzPts val="1900"/>
              <a:buChar char="■"/>
              <a:defRPr/>
            </a:lvl9pPr>
          </a:lstStyle>
          <a:p>
            <a:endParaRPr/>
          </a:p>
        </p:txBody>
      </p:sp>
      <p:sp>
        <p:nvSpPr>
          <p:cNvPr id="48" name="Google Shape;48;g314d0ef89fb_1_108"/>
          <p:cNvSpPr txBox="1">
            <a:spLocks noGrp="1"/>
          </p:cNvSpPr>
          <p:nvPr>
            <p:ph type="sldNum" idx="12"/>
          </p:nvPr>
        </p:nvSpPr>
        <p:spPr>
          <a:xfrm>
            <a:off x="11296611" y="6217623"/>
            <a:ext cx="731700" cy="524700"/>
          </a:xfrm>
          <a:prstGeom prst="rect">
            <a:avLst/>
          </a:prstGeom>
          <a:noFill/>
          <a:ln>
            <a:noFill/>
          </a:ln>
        </p:spPr>
        <p:txBody>
          <a:bodyPr spcFirstLastPara="1" wrap="square" lIns="121900" tIns="121900" rIns="121900" bIns="121900" anchor="ctr" anchorCtr="0">
            <a:norm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SG"/>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9"/>
        <p:cNvGrpSpPr/>
        <p:nvPr/>
      </p:nvGrpSpPr>
      <p:grpSpPr>
        <a:xfrm>
          <a:off x="0" y="0"/>
          <a:ext cx="0" cy="0"/>
          <a:chOff x="0" y="0"/>
          <a:chExt cx="0" cy="0"/>
        </a:xfrm>
      </p:grpSpPr>
      <p:sp>
        <p:nvSpPr>
          <p:cNvPr id="50" name="Google Shape;50;g314d0ef89fb_1_114"/>
          <p:cNvSpPr txBox="1">
            <a:spLocks noGrp="1"/>
          </p:cNvSpPr>
          <p:nvPr>
            <p:ph type="body" idx="1"/>
          </p:nvPr>
        </p:nvSpPr>
        <p:spPr>
          <a:xfrm>
            <a:off x="415600" y="5640767"/>
            <a:ext cx="7998300" cy="806700"/>
          </a:xfrm>
          <a:prstGeom prst="rect">
            <a:avLst/>
          </a:prstGeom>
          <a:noFill/>
          <a:ln>
            <a:noFill/>
          </a:ln>
        </p:spPr>
        <p:txBody>
          <a:bodyPr spcFirstLastPara="1" wrap="square" lIns="121900" tIns="121900" rIns="121900" bIns="121900" anchor="ctr" anchorCtr="0">
            <a:normAutofit/>
          </a:bodyPr>
          <a:lstStyle>
            <a:lvl1pPr marL="457200" lvl="0" indent="-228600" algn="l">
              <a:lnSpc>
                <a:spcPct val="100000"/>
              </a:lnSpc>
              <a:spcBef>
                <a:spcPts val="0"/>
              </a:spcBef>
              <a:spcAft>
                <a:spcPts val="0"/>
              </a:spcAft>
              <a:buSzPts val="2400"/>
              <a:buNone/>
              <a:defRPr/>
            </a:lvl1pPr>
          </a:lstStyle>
          <a:p>
            <a:endParaRPr/>
          </a:p>
        </p:txBody>
      </p:sp>
      <p:sp>
        <p:nvSpPr>
          <p:cNvPr id="51" name="Google Shape;51;g314d0ef89fb_1_114"/>
          <p:cNvSpPr txBox="1">
            <a:spLocks noGrp="1"/>
          </p:cNvSpPr>
          <p:nvPr>
            <p:ph type="sldNum" idx="12"/>
          </p:nvPr>
        </p:nvSpPr>
        <p:spPr>
          <a:xfrm>
            <a:off x="11296611" y="6217623"/>
            <a:ext cx="731700" cy="524700"/>
          </a:xfrm>
          <a:prstGeom prst="rect">
            <a:avLst/>
          </a:prstGeom>
          <a:noFill/>
          <a:ln>
            <a:noFill/>
          </a:ln>
        </p:spPr>
        <p:txBody>
          <a:bodyPr spcFirstLastPara="1" wrap="square" lIns="121900" tIns="121900" rIns="121900" bIns="121900" anchor="ctr" anchorCtr="0">
            <a:norm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SG"/>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2"/>
        <p:cNvGrpSpPr/>
        <p:nvPr/>
      </p:nvGrpSpPr>
      <p:grpSpPr>
        <a:xfrm>
          <a:off x="0" y="0"/>
          <a:ext cx="0" cy="0"/>
          <a:chOff x="0" y="0"/>
          <a:chExt cx="0" cy="0"/>
        </a:xfrm>
      </p:grpSpPr>
      <p:sp>
        <p:nvSpPr>
          <p:cNvPr id="53" name="Google Shape;53;g314d0ef89fb_1_117"/>
          <p:cNvSpPr txBox="1">
            <a:spLocks noGrp="1"/>
          </p:cNvSpPr>
          <p:nvPr>
            <p:ph type="title" hasCustomPrompt="1"/>
          </p:nvPr>
        </p:nvSpPr>
        <p:spPr>
          <a:xfrm>
            <a:off x="415600" y="1474833"/>
            <a:ext cx="11360700" cy="2618100"/>
          </a:xfrm>
          <a:prstGeom prst="rect">
            <a:avLst/>
          </a:prstGeom>
          <a:noFill/>
          <a:ln>
            <a:noFill/>
          </a:ln>
        </p:spPr>
        <p:txBody>
          <a:bodyPr spcFirstLastPara="1" wrap="square" lIns="121900" tIns="121900" rIns="121900" bIns="121900" anchor="b" anchorCtr="0">
            <a:normAutofit/>
          </a:bodyPr>
          <a:lstStyle>
            <a:lvl1pPr lvl="0" algn="ctr">
              <a:lnSpc>
                <a:spcPct val="100000"/>
              </a:lnSpc>
              <a:spcBef>
                <a:spcPts val="0"/>
              </a:spcBef>
              <a:spcAft>
                <a:spcPts val="0"/>
              </a:spcAft>
              <a:buSzPts val="16000"/>
              <a:buNone/>
              <a:defRPr sz="16000"/>
            </a:lvl1pPr>
            <a:lvl2pPr lvl="1" algn="ctr">
              <a:lnSpc>
                <a:spcPct val="100000"/>
              </a:lnSpc>
              <a:spcBef>
                <a:spcPts val="0"/>
              </a:spcBef>
              <a:spcAft>
                <a:spcPts val="0"/>
              </a:spcAft>
              <a:buSzPts val="16000"/>
              <a:buNone/>
              <a:defRPr sz="16000"/>
            </a:lvl2pPr>
            <a:lvl3pPr lvl="2" algn="ctr">
              <a:lnSpc>
                <a:spcPct val="100000"/>
              </a:lnSpc>
              <a:spcBef>
                <a:spcPts val="0"/>
              </a:spcBef>
              <a:spcAft>
                <a:spcPts val="0"/>
              </a:spcAft>
              <a:buSzPts val="16000"/>
              <a:buNone/>
              <a:defRPr sz="16000"/>
            </a:lvl3pPr>
            <a:lvl4pPr lvl="3" algn="ctr">
              <a:lnSpc>
                <a:spcPct val="100000"/>
              </a:lnSpc>
              <a:spcBef>
                <a:spcPts val="0"/>
              </a:spcBef>
              <a:spcAft>
                <a:spcPts val="0"/>
              </a:spcAft>
              <a:buSzPts val="16000"/>
              <a:buNone/>
              <a:defRPr sz="16000"/>
            </a:lvl4pPr>
            <a:lvl5pPr lvl="4" algn="ctr">
              <a:lnSpc>
                <a:spcPct val="100000"/>
              </a:lnSpc>
              <a:spcBef>
                <a:spcPts val="0"/>
              </a:spcBef>
              <a:spcAft>
                <a:spcPts val="0"/>
              </a:spcAft>
              <a:buSzPts val="16000"/>
              <a:buNone/>
              <a:defRPr sz="16000"/>
            </a:lvl5pPr>
            <a:lvl6pPr lvl="5" algn="ctr">
              <a:lnSpc>
                <a:spcPct val="100000"/>
              </a:lnSpc>
              <a:spcBef>
                <a:spcPts val="0"/>
              </a:spcBef>
              <a:spcAft>
                <a:spcPts val="0"/>
              </a:spcAft>
              <a:buSzPts val="16000"/>
              <a:buNone/>
              <a:defRPr sz="16000"/>
            </a:lvl6pPr>
            <a:lvl7pPr lvl="6" algn="ctr">
              <a:lnSpc>
                <a:spcPct val="100000"/>
              </a:lnSpc>
              <a:spcBef>
                <a:spcPts val="0"/>
              </a:spcBef>
              <a:spcAft>
                <a:spcPts val="0"/>
              </a:spcAft>
              <a:buSzPts val="16000"/>
              <a:buNone/>
              <a:defRPr sz="16000"/>
            </a:lvl7pPr>
            <a:lvl8pPr lvl="7" algn="ctr">
              <a:lnSpc>
                <a:spcPct val="100000"/>
              </a:lnSpc>
              <a:spcBef>
                <a:spcPts val="0"/>
              </a:spcBef>
              <a:spcAft>
                <a:spcPts val="0"/>
              </a:spcAft>
              <a:buSzPts val="16000"/>
              <a:buNone/>
              <a:defRPr sz="16000"/>
            </a:lvl8pPr>
            <a:lvl9pPr lvl="8" algn="ctr">
              <a:lnSpc>
                <a:spcPct val="100000"/>
              </a:lnSpc>
              <a:spcBef>
                <a:spcPts val="0"/>
              </a:spcBef>
              <a:spcAft>
                <a:spcPts val="0"/>
              </a:spcAft>
              <a:buSzPts val="16000"/>
              <a:buNone/>
              <a:defRPr sz="16000"/>
            </a:lvl9pPr>
          </a:lstStyle>
          <a:p>
            <a:r>
              <a:t>xx%</a:t>
            </a:r>
          </a:p>
        </p:txBody>
      </p:sp>
      <p:sp>
        <p:nvSpPr>
          <p:cNvPr id="54" name="Google Shape;54;g314d0ef89fb_1_117"/>
          <p:cNvSpPr txBox="1">
            <a:spLocks noGrp="1"/>
          </p:cNvSpPr>
          <p:nvPr>
            <p:ph type="body" idx="1"/>
          </p:nvPr>
        </p:nvSpPr>
        <p:spPr>
          <a:xfrm>
            <a:off x="415600" y="4202967"/>
            <a:ext cx="11360700" cy="1734300"/>
          </a:xfrm>
          <a:prstGeom prst="rect">
            <a:avLst/>
          </a:prstGeom>
          <a:noFill/>
          <a:ln>
            <a:noFill/>
          </a:ln>
        </p:spPr>
        <p:txBody>
          <a:bodyPr spcFirstLastPara="1" wrap="square" lIns="121900" tIns="121900" rIns="121900" bIns="121900" anchor="t" anchorCtr="0">
            <a:normAutofit/>
          </a:bodyPr>
          <a:lstStyle>
            <a:lvl1pPr marL="457200" lvl="0" indent="-381000" algn="ctr">
              <a:lnSpc>
                <a:spcPct val="115000"/>
              </a:lnSpc>
              <a:spcBef>
                <a:spcPts val="0"/>
              </a:spcBef>
              <a:spcAft>
                <a:spcPts val="0"/>
              </a:spcAft>
              <a:buSzPts val="2400"/>
              <a:buChar char="●"/>
              <a:defRPr/>
            </a:lvl1pPr>
            <a:lvl2pPr marL="914400" lvl="1" indent="-349250" algn="ctr">
              <a:lnSpc>
                <a:spcPct val="115000"/>
              </a:lnSpc>
              <a:spcBef>
                <a:spcPts val="0"/>
              </a:spcBef>
              <a:spcAft>
                <a:spcPts val="0"/>
              </a:spcAft>
              <a:buSzPts val="1900"/>
              <a:buChar char="○"/>
              <a:defRPr/>
            </a:lvl2pPr>
            <a:lvl3pPr marL="1371600" lvl="2" indent="-349250" algn="ctr">
              <a:lnSpc>
                <a:spcPct val="115000"/>
              </a:lnSpc>
              <a:spcBef>
                <a:spcPts val="0"/>
              </a:spcBef>
              <a:spcAft>
                <a:spcPts val="0"/>
              </a:spcAft>
              <a:buSzPts val="1900"/>
              <a:buChar char="■"/>
              <a:defRPr/>
            </a:lvl3pPr>
            <a:lvl4pPr marL="1828800" lvl="3" indent="-349250" algn="ctr">
              <a:lnSpc>
                <a:spcPct val="115000"/>
              </a:lnSpc>
              <a:spcBef>
                <a:spcPts val="0"/>
              </a:spcBef>
              <a:spcAft>
                <a:spcPts val="0"/>
              </a:spcAft>
              <a:buSzPts val="1900"/>
              <a:buChar char="●"/>
              <a:defRPr/>
            </a:lvl4pPr>
            <a:lvl5pPr marL="2286000" lvl="4" indent="-349250" algn="ctr">
              <a:lnSpc>
                <a:spcPct val="115000"/>
              </a:lnSpc>
              <a:spcBef>
                <a:spcPts val="0"/>
              </a:spcBef>
              <a:spcAft>
                <a:spcPts val="0"/>
              </a:spcAft>
              <a:buSzPts val="1900"/>
              <a:buChar char="○"/>
              <a:defRPr/>
            </a:lvl5pPr>
            <a:lvl6pPr marL="2743200" lvl="5" indent="-349250" algn="ctr">
              <a:lnSpc>
                <a:spcPct val="115000"/>
              </a:lnSpc>
              <a:spcBef>
                <a:spcPts val="0"/>
              </a:spcBef>
              <a:spcAft>
                <a:spcPts val="0"/>
              </a:spcAft>
              <a:buSzPts val="1900"/>
              <a:buChar char="■"/>
              <a:defRPr/>
            </a:lvl6pPr>
            <a:lvl7pPr marL="3200400" lvl="6" indent="-349250" algn="ctr">
              <a:lnSpc>
                <a:spcPct val="115000"/>
              </a:lnSpc>
              <a:spcBef>
                <a:spcPts val="0"/>
              </a:spcBef>
              <a:spcAft>
                <a:spcPts val="0"/>
              </a:spcAft>
              <a:buSzPts val="1900"/>
              <a:buChar char="●"/>
              <a:defRPr/>
            </a:lvl7pPr>
            <a:lvl8pPr marL="3657600" lvl="7" indent="-349250" algn="ctr">
              <a:lnSpc>
                <a:spcPct val="115000"/>
              </a:lnSpc>
              <a:spcBef>
                <a:spcPts val="0"/>
              </a:spcBef>
              <a:spcAft>
                <a:spcPts val="0"/>
              </a:spcAft>
              <a:buSzPts val="1900"/>
              <a:buChar char="○"/>
              <a:defRPr/>
            </a:lvl8pPr>
            <a:lvl9pPr marL="4114800" lvl="8" indent="-349250" algn="ctr">
              <a:lnSpc>
                <a:spcPct val="115000"/>
              </a:lnSpc>
              <a:spcBef>
                <a:spcPts val="0"/>
              </a:spcBef>
              <a:spcAft>
                <a:spcPts val="0"/>
              </a:spcAft>
              <a:buSzPts val="1900"/>
              <a:buChar char="■"/>
              <a:defRPr/>
            </a:lvl9pPr>
          </a:lstStyle>
          <a:p>
            <a:endParaRPr/>
          </a:p>
        </p:txBody>
      </p:sp>
      <p:sp>
        <p:nvSpPr>
          <p:cNvPr id="55" name="Google Shape;55;g314d0ef89fb_1_117"/>
          <p:cNvSpPr txBox="1">
            <a:spLocks noGrp="1"/>
          </p:cNvSpPr>
          <p:nvPr>
            <p:ph type="sldNum" idx="12"/>
          </p:nvPr>
        </p:nvSpPr>
        <p:spPr>
          <a:xfrm>
            <a:off x="11296611" y="6217623"/>
            <a:ext cx="731700" cy="524700"/>
          </a:xfrm>
          <a:prstGeom prst="rect">
            <a:avLst/>
          </a:prstGeom>
          <a:noFill/>
          <a:ln>
            <a:noFill/>
          </a:ln>
        </p:spPr>
        <p:txBody>
          <a:bodyPr spcFirstLastPara="1" wrap="square" lIns="121900" tIns="121900" rIns="121900" bIns="121900" anchor="ctr" anchorCtr="0">
            <a:norm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SG"/>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g314d0ef89fb_1_121"/>
          <p:cNvSpPr txBox="1">
            <a:spLocks noGrp="1"/>
          </p:cNvSpPr>
          <p:nvPr>
            <p:ph type="sldNum" idx="12"/>
          </p:nvPr>
        </p:nvSpPr>
        <p:spPr>
          <a:xfrm>
            <a:off x="11296611" y="6217623"/>
            <a:ext cx="731700" cy="524700"/>
          </a:xfrm>
          <a:prstGeom prst="rect">
            <a:avLst/>
          </a:prstGeom>
          <a:noFill/>
          <a:ln>
            <a:noFill/>
          </a:ln>
        </p:spPr>
        <p:txBody>
          <a:bodyPr spcFirstLastPara="1" wrap="square" lIns="121900" tIns="121900" rIns="121900" bIns="121900" anchor="ctr" anchorCtr="0">
            <a:norm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SG"/>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Section Header" type="secHead">
  <p:cSld name="1_Section Header">
    <p:spTree>
      <p:nvGrpSpPr>
        <p:cNvPr id="1" name="Shape 76"/>
        <p:cNvGrpSpPr/>
        <p:nvPr/>
      </p:nvGrpSpPr>
      <p:grpSpPr>
        <a:xfrm>
          <a:off x="0" y="0"/>
          <a:ext cx="0" cy="0"/>
          <a:chOff x="0" y="0"/>
          <a:chExt cx="0" cy="0"/>
        </a:xfrm>
      </p:grpSpPr>
      <p:sp>
        <p:nvSpPr>
          <p:cNvPr id="77" name="Google Shape;77;p4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4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79" name="Google Shape;79;p4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4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p4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SG"/>
              <a:t>‹#›</a:t>
            </a:fld>
            <a:endParaRPr/>
          </a:p>
        </p:txBody>
      </p:sp>
    </p:spTree>
    <p:extLst>
      <p:ext uri="{BB962C8B-B14F-4D97-AF65-F5344CB8AC3E}">
        <p14:creationId xmlns:p14="http://schemas.microsoft.com/office/powerpoint/2010/main" val="126899126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64"/>
        <p:cNvGrpSpPr/>
        <p:nvPr/>
      </p:nvGrpSpPr>
      <p:grpSpPr>
        <a:xfrm>
          <a:off x="0" y="0"/>
          <a:ext cx="0" cy="0"/>
          <a:chOff x="0" y="0"/>
          <a:chExt cx="0" cy="0"/>
        </a:xfrm>
      </p:grpSpPr>
      <p:sp>
        <p:nvSpPr>
          <p:cNvPr id="65" name="Google Shape;65;p4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059C92"/>
              </a:buClr>
              <a:buSzPts val="1800"/>
              <a:buNone/>
              <a:defRPr>
                <a:solidFill>
                  <a:srgbClr val="059C9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4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7" name="Google Shape;67;p4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8" name="Google Shape;68;p4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4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SG"/>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70"/>
        <p:cNvGrpSpPr/>
        <p:nvPr/>
      </p:nvGrpSpPr>
      <p:grpSpPr>
        <a:xfrm>
          <a:off x="0" y="0"/>
          <a:ext cx="0" cy="0"/>
          <a:chOff x="0" y="0"/>
          <a:chExt cx="0" cy="0"/>
        </a:xfrm>
      </p:grpSpPr>
      <p:sp>
        <p:nvSpPr>
          <p:cNvPr id="71" name="Google Shape;71;p42"/>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rgbClr val="059C92"/>
              </a:buClr>
              <a:buSzPts val="6000"/>
              <a:buFont typeface="Calibri"/>
              <a:buNone/>
              <a:defRPr sz="6000">
                <a:solidFill>
                  <a:srgbClr val="059C92"/>
                </a:solidFill>
              </a:defRPr>
            </a:lvl1pPr>
            <a:lvl2pPr lvl="1" algn="l">
              <a:lnSpc>
                <a:spcPct val="100000"/>
              </a:lnSpc>
              <a:spcBef>
                <a:spcPts val="0"/>
              </a:spcBef>
              <a:spcAft>
                <a:spcPts val="0"/>
              </a:spcAft>
              <a:buClr>
                <a:srgbClr val="059C92"/>
              </a:buClr>
              <a:buSzPts val="1400"/>
              <a:buNone/>
              <a:defRPr>
                <a:solidFill>
                  <a:srgbClr val="059C92"/>
                </a:solidFill>
              </a:defRPr>
            </a:lvl2pPr>
            <a:lvl3pPr lvl="2" algn="l">
              <a:lnSpc>
                <a:spcPct val="100000"/>
              </a:lnSpc>
              <a:spcBef>
                <a:spcPts val="0"/>
              </a:spcBef>
              <a:spcAft>
                <a:spcPts val="0"/>
              </a:spcAft>
              <a:buClr>
                <a:srgbClr val="059C92"/>
              </a:buClr>
              <a:buSzPts val="1400"/>
              <a:buNone/>
              <a:defRPr>
                <a:solidFill>
                  <a:srgbClr val="059C92"/>
                </a:solidFill>
              </a:defRPr>
            </a:lvl3pPr>
            <a:lvl4pPr lvl="3" algn="l">
              <a:lnSpc>
                <a:spcPct val="100000"/>
              </a:lnSpc>
              <a:spcBef>
                <a:spcPts val="0"/>
              </a:spcBef>
              <a:spcAft>
                <a:spcPts val="0"/>
              </a:spcAft>
              <a:buClr>
                <a:srgbClr val="059C92"/>
              </a:buClr>
              <a:buSzPts val="1400"/>
              <a:buNone/>
              <a:defRPr>
                <a:solidFill>
                  <a:srgbClr val="059C92"/>
                </a:solidFill>
              </a:defRPr>
            </a:lvl4pPr>
            <a:lvl5pPr lvl="4" algn="l">
              <a:lnSpc>
                <a:spcPct val="100000"/>
              </a:lnSpc>
              <a:spcBef>
                <a:spcPts val="0"/>
              </a:spcBef>
              <a:spcAft>
                <a:spcPts val="0"/>
              </a:spcAft>
              <a:buClr>
                <a:srgbClr val="059C92"/>
              </a:buClr>
              <a:buSzPts val="1400"/>
              <a:buNone/>
              <a:defRPr>
                <a:solidFill>
                  <a:srgbClr val="059C92"/>
                </a:solidFill>
              </a:defRPr>
            </a:lvl5pPr>
            <a:lvl6pPr lvl="5" algn="l">
              <a:lnSpc>
                <a:spcPct val="100000"/>
              </a:lnSpc>
              <a:spcBef>
                <a:spcPts val="0"/>
              </a:spcBef>
              <a:spcAft>
                <a:spcPts val="0"/>
              </a:spcAft>
              <a:buClr>
                <a:srgbClr val="059C92"/>
              </a:buClr>
              <a:buSzPts val="1400"/>
              <a:buNone/>
              <a:defRPr>
                <a:solidFill>
                  <a:srgbClr val="059C92"/>
                </a:solidFill>
              </a:defRPr>
            </a:lvl6pPr>
            <a:lvl7pPr lvl="6" algn="l">
              <a:lnSpc>
                <a:spcPct val="100000"/>
              </a:lnSpc>
              <a:spcBef>
                <a:spcPts val="0"/>
              </a:spcBef>
              <a:spcAft>
                <a:spcPts val="0"/>
              </a:spcAft>
              <a:buClr>
                <a:srgbClr val="059C92"/>
              </a:buClr>
              <a:buSzPts val="1400"/>
              <a:buNone/>
              <a:defRPr>
                <a:solidFill>
                  <a:srgbClr val="059C92"/>
                </a:solidFill>
              </a:defRPr>
            </a:lvl7pPr>
            <a:lvl8pPr lvl="7" algn="l">
              <a:lnSpc>
                <a:spcPct val="100000"/>
              </a:lnSpc>
              <a:spcBef>
                <a:spcPts val="0"/>
              </a:spcBef>
              <a:spcAft>
                <a:spcPts val="0"/>
              </a:spcAft>
              <a:buClr>
                <a:srgbClr val="059C92"/>
              </a:buClr>
              <a:buSzPts val="1400"/>
              <a:buNone/>
              <a:defRPr>
                <a:solidFill>
                  <a:srgbClr val="059C92"/>
                </a:solidFill>
              </a:defRPr>
            </a:lvl8pPr>
            <a:lvl9pPr lvl="8" algn="l">
              <a:lnSpc>
                <a:spcPct val="100000"/>
              </a:lnSpc>
              <a:spcBef>
                <a:spcPts val="0"/>
              </a:spcBef>
              <a:spcAft>
                <a:spcPts val="0"/>
              </a:spcAft>
              <a:buClr>
                <a:srgbClr val="059C92"/>
              </a:buClr>
              <a:buSzPts val="1400"/>
              <a:buNone/>
              <a:defRPr>
                <a:solidFill>
                  <a:srgbClr val="059C92"/>
                </a:solidFill>
              </a:defRPr>
            </a:lvl9pPr>
          </a:lstStyle>
          <a:p>
            <a:endParaRPr/>
          </a:p>
        </p:txBody>
      </p:sp>
      <p:sp>
        <p:nvSpPr>
          <p:cNvPr id="72" name="Google Shape;72;p42"/>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73" name="Google Shape;73;p4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4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4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SG"/>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76"/>
        <p:cNvGrpSpPr/>
        <p:nvPr/>
      </p:nvGrpSpPr>
      <p:grpSpPr>
        <a:xfrm>
          <a:off x="0" y="0"/>
          <a:ext cx="0" cy="0"/>
          <a:chOff x="0" y="0"/>
          <a:chExt cx="0" cy="0"/>
        </a:xfrm>
      </p:grpSpPr>
      <p:sp>
        <p:nvSpPr>
          <p:cNvPr id="77" name="Google Shape;77;p4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4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79" name="Google Shape;79;p4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4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p4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SG"/>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82"/>
        <p:cNvGrpSpPr/>
        <p:nvPr/>
      </p:nvGrpSpPr>
      <p:grpSpPr>
        <a:xfrm>
          <a:off x="0" y="0"/>
          <a:ext cx="0" cy="0"/>
          <a:chOff x="0" y="0"/>
          <a:chExt cx="0" cy="0"/>
        </a:xfrm>
      </p:grpSpPr>
      <p:sp>
        <p:nvSpPr>
          <p:cNvPr id="83" name="Google Shape;83;p4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4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5" name="Google Shape;85;p4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6" name="Google Shape;86;p4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7" name="Google Shape;87;p4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8" name="Google Shape;88;p4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SG"/>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89"/>
        <p:cNvGrpSpPr/>
        <p:nvPr/>
      </p:nvGrpSpPr>
      <p:grpSpPr>
        <a:xfrm>
          <a:off x="0" y="0"/>
          <a:ext cx="0" cy="0"/>
          <a:chOff x="0" y="0"/>
          <a:chExt cx="0" cy="0"/>
        </a:xfrm>
      </p:grpSpPr>
      <p:sp>
        <p:nvSpPr>
          <p:cNvPr id="90" name="Google Shape;90;p4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1" name="Google Shape;91;p4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92" name="Google Shape;92;p4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3" name="Google Shape;93;p4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94" name="Google Shape;94;p4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5" name="Google Shape;95;p4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6" name="Google Shape;96;p4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7" name="Google Shape;97;p4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SG"/>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98"/>
        <p:cNvGrpSpPr/>
        <p:nvPr/>
      </p:nvGrpSpPr>
      <p:grpSpPr>
        <a:xfrm>
          <a:off x="0" y="0"/>
          <a:ext cx="0" cy="0"/>
          <a:chOff x="0" y="0"/>
          <a:chExt cx="0" cy="0"/>
        </a:xfrm>
      </p:grpSpPr>
      <p:sp>
        <p:nvSpPr>
          <p:cNvPr id="99" name="Google Shape;99;p4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0" name="Google Shape;100;p4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1" name="Google Shape;101;p4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2" name="Google Shape;102;p4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SG"/>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03"/>
        <p:cNvGrpSpPr/>
        <p:nvPr/>
      </p:nvGrpSpPr>
      <p:grpSpPr>
        <a:xfrm>
          <a:off x="0" y="0"/>
          <a:ext cx="0" cy="0"/>
          <a:chOff x="0" y="0"/>
          <a:chExt cx="0" cy="0"/>
        </a:xfrm>
      </p:grpSpPr>
      <p:sp>
        <p:nvSpPr>
          <p:cNvPr id="104" name="Google Shape;104;p4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5" name="Google Shape;105;p4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6" name="Google Shape;106;p4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SG"/>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107"/>
        <p:cNvGrpSpPr/>
        <p:nvPr/>
      </p:nvGrpSpPr>
      <p:grpSpPr>
        <a:xfrm>
          <a:off x="0" y="0"/>
          <a:ext cx="0" cy="0"/>
          <a:chOff x="0" y="0"/>
          <a:chExt cx="0" cy="0"/>
        </a:xfrm>
      </p:grpSpPr>
      <p:sp>
        <p:nvSpPr>
          <p:cNvPr id="108" name="Google Shape;108;p4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9" name="Google Shape;109;p4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110" name="Google Shape;110;p4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11" name="Google Shape;111;p4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2" name="Google Shape;112;p4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3" name="Google Shape;113;p4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SG"/>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14"/>
        <p:cNvGrpSpPr/>
        <p:nvPr/>
      </p:nvGrpSpPr>
      <p:grpSpPr>
        <a:xfrm>
          <a:off x="0" y="0"/>
          <a:ext cx="0" cy="0"/>
          <a:chOff x="0" y="0"/>
          <a:chExt cx="0" cy="0"/>
        </a:xfrm>
      </p:grpSpPr>
      <p:sp>
        <p:nvSpPr>
          <p:cNvPr id="115" name="Google Shape;115;p5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6" name="Google Shape;116;p50"/>
          <p:cNvSpPr>
            <a:spLocks noGrp="1"/>
          </p:cNvSpPr>
          <p:nvPr>
            <p:ph type="pic" idx="2"/>
          </p:nvPr>
        </p:nvSpPr>
        <p:spPr>
          <a:xfrm>
            <a:off x="5183188" y="987425"/>
            <a:ext cx="6172200" cy="4873625"/>
          </a:xfrm>
          <a:prstGeom prst="rect">
            <a:avLst/>
          </a:prstGeom>
          <a:noFill/>
          <a:ln>
            <a:noFill/>
          </a:ln>
        </p:spPr>
      </p:sp>
      <p:sp>
        <p:nvSpPr>
          <p:cNvPr id="117" name="Google Shape;117;p5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18" name="Google Shape;118;p5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9" name="Google Shape;119;p5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0" name="Google Shape;120;p5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SG"/>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21"/>
        <p:cNvGrpSpPr/>
        <p:nvPr/>
      </p:nvGrpSpPr>
      <p:grpSpPr>
        <a:xfrm>
          <a:off x="0" y="0"/>
          <a:ext cx="0" cy="0"/>
          <a:chOff x="0" y="0"/>
          <a:chExt cx="0" cy="0"/>
        </a:xfrm>
      </p:grpSpPr>
      <p:sp>
        <p:nvSpPr>
          <p:cNvPr id="122" name="Google Shape;122;p5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3" name="Google Shape;123;p5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24" name="Google Shape;124;p5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5" name="Google Shape;125;p5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6" name="Google Shape;126;p5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SG"/>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27"/>
        <p:cNvGrpSpPr/>
        <p:nvPr/>
      </p:nvGrpSpPr>
      <p:grpSpPr>
        <a:xfrm>
          <a:off x="0" y="0"/>
          <a:ext cx="0" cy="0"/>
          <a:chOff x="0" y="0"/>
          <a:chExt cx="0" cy="0"/>
        </a:xfrm>
      </p:grpSpPr>
      <p:sp>
        <p:nvSpPr>
          <p:cNvPr id="128" name="Google Shape;128;p5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9" name="Google Shape;129;p5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30" name="Google Shape;130;p5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1" name="Google Shape;131;p5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2" name="Google Shape;132;p5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SG"/>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g314d0ef89fb_1_70"/>
          <p:cNvSpPr txBox="1">
            <a:spLocks noGrp="1"/>
          </p:cNvSpPr>
          <p:nvPr>
            <p:ph type="title"/>
          </p:nvPr>
        </p:nvSpPr>
        <p:spPr>
          <a:xfrm>
            <a:off x="415600" y="593367"/>
            <a:ext cx="11360700" cy="763500"/>
          </a:xfrm>
          <a:prstGeom prst="rect">
            <a:avLst/>
          </a:prstGeom>
          <a:noFill/>
          <a:ln>
            <a:noFill/>
          </a:ln>
        </p:spPr>
        <p:txBody>
          <a:bodyPr spcFirstLastPara="1" wrap="square" lIns="121900" tIns="121900" rIns="121900" bIns="121900" anchor="t" anchorCtr="0">
            <a:normAutofit/>
          </a:bodyPr>
          <a:lstStyle>
            <a:lvl1pPr marR="0" lvl="0" algn="l" rtl="0">
              <a:lnSpc>
                <a:spcPct val="100000"/>
              </a:lnSpc>
              <a:spcBef>
                <a:spcPts val="0"/>
              </a:spcBef>
              <a:spcAft>
                <a:spcPts val="0"/>
              </a:spcAft>
              <a:buClr>
                <a:schemeClr val="dk1"/>
              </a:buClr>
              <a:buSzPts val="3700"/>
              <a:buFont typeface="Arial"/>
              <a:buNone/>
              <a:defRPr sz="37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3700"/>
              <a:buFont typeface="Arial"/>
              <a:buNone/>
              <a:defRPr sz="37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3700"/>
              <a:buFont typeface="Arial"/>
              <a:buNone/>
              <a:defRPr sz="37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3700"/>
              <a:buFont typeface="Arial"/>
              <a:buNone/>
              <a:defRPr sz="37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3700"/>
              <a:buFont typeface="Arial"/>
              <a:buNone/>
              <a:defRPr sz="37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3700"/>
              <a:buFont typeface="Arial"/>
              <a:buNone/>
              <a:defRPr sz="37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3700"/>
              <a:buFont typeface="Arial"/>
              <a:buNone/>
              <a:defRPr sz="37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3700"/>
              <a:buFont typeface="Arial"/>
              <a:buNone/>
              <a:defRPr sz="37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3700"/>
              <a:buFont typeface="Arial"/>
              <a:buNone/>
              <a:defRPr sz="3700" b="0" i="0" u="none" strike="noStrike" cap="none">
                <a:solidFill>
                  <a:schemeClr val="dk1"/>
                </a:solidFill>
                <a:latin typeface="Arial"/>
                <a:ea typeface="Arial"/>
                <a:cs typeface="Arial"/>
                <a:sym typeface="Arial"/>
              </a:defRPr>
            </a:lvl9pPr>
          </a:lstStyle>
          <a:p>
            <a:endParaRPr/>
          </a:p>
        </p:txBody>
      </p:sp>
      <p:sp>
        <p:nvSpPr>
          <p:cNvPr id="7" name="Google Shape;7;g314d0ef89fb_1_70"/>
          <p:cNvSpPr txBox="1">
            <a:spLocks noGrp="1"/>
          </p:cNvSpPr>
          <p:nvPr>
            <p:ph type="body" idx="1"/>
          </p:nvPr>
        </p:nvSpPr>
        <p:spPr>
          <a:xfrm>
            <a:off x="415600" y="1536633"/>
            <a:ext cx="11360700" cy="4555200"/>
          </a:xfrm>
          <a:prstGeom prst="rect">
            <a:avLst/>
          </a:prstGeom>
          <a:noFill/>
          <a:ln>
            <a:noFill/>
          </a:ln>
        </p:spPr>
        <p:txBody>
          <a:bodyPr spcFirstLastPara="1" wrap="square" lIns="121900" tIns="121900" rIns="121900" bIns="121900" anchor="t" anchorCtr="0">
            <a:normAutofit/>
          </a:bodyPr>
          <a:lstStyle>
            <a:lvl1pPr marL="457200" marR="0" lvl="0" indent="-381000" algn="l" rtl="0">
              <a:lnSpc>
                <a:spcPct val="115000"/>
              </a:lnSpc>
              <a:spcBef>
                <a:spcPts val="0"/>
              </a:spcBef>
              <a:spcAft>
                <a:spcPts val="0"/>
              </a:spcAft>
              <a:buClr>
                <a:schemeClr val="dk2"/>
              </a:buClr>
              <a:buSzPts val="2400"/>
              <a:buFont typeface="Arial"/>
              <a:buChar char="●"/>
              <a:defRPr sz="2400" b="0" i="0" u="none" strike="noStrike" cap="none">
                <a:solidFill>
                  <a:schemeClr val="dk2"/>
                </a:solidFill>
                <a:latin typeface="Arial"/>
                <a:ea typeface="Arial"/>
                <a:cs typeface="Arial"/>
                <a:sym typeface="Arial"/>
              </a:defRPr>
            </a:lvl1pPr>
            <a:lvl2pPr marL="914400" marR="0" lvl="1" indent="-349250" algn="l" rtl="0">
              <a:lnSpc>
                <a:spcPct val="115000"/>
              </a:lnSpc>
              <a:spcBef>
                <a:spcPts val="0"/>
              </a:spcBef>
              <a:spcAft>
                <a:spcPts val="0"/>
              </a:spcAft>
              <a:buClr>
                <a:schemeClr val="dk2"/>
              </a:buClr>
              <a:buSzPts val="1900"/>
              <a:buFont typeface="Arial"/>
              <a:buChar char="○"/>
              <a:defRPr sz="1900" b="0" i="0" u="none" strike="noStrike" cap="none">
                <a:solidFill>
                  <a:schemeClr val="dk2"/>
                </a:solidFill>
                <a:latin typeface="Arial"/>
                <a:ea typeface="Arial"/>
                <a:cs typeface="Arial"/>
                <a:sym typeface="Arial"/>
              </a:defRPr>
            </a:lvl2pPr>
            <a:lvl3pPr marL="1371600" marR="0" lvl="2" indent="-349250" algn="l" rtl="0">
              <a:lnSpc>
                <a:spcPct val="115000"/>
              </a:lnSpc>
              <a:spcBef>
                <a:spcPts val="0"/>
              </a:spcBef>
              <a:spcAft>
                <a:spcPts val="0"/>
              </a:spcAft>
              <a:buClr>
                <a:schemeClr val="dk2"/>
              </a:buClr>
              <a:buSzPts val="1900"/>
              <a:buFont typeface="Arial"/>
              <a:buChar char="■"/>
              <a:defRPr sz="1900" b="0" i="0" u="none" strike="noStrike" cap="none">
                <a:solidFill>
                  <a:schemeClr val="dk2"/>
                </a:solidFill>
                <a:latin typeface="Arial"/>
                <a:ea typeface="Arial"/>
                <a:cs typeface="Arial"/>
                <a:sym typeface="Arial"/>
              </a:defRPr>
            </a:lvl3pPr>
            <a:lvl4pPr marL="1828800" marR="0" lvl="3" indent="-349250" algn="l" rtl="0">
              <a:lnSpc>
                <a:spcPct val="115000"/>
              </a:lnSpc>
              <a:spcBef>
                <a:spcPts val="0"/>
              </a:spcBef>
              <a:spcAft>
                <a:spcPts val="0"/>
              </a:spcAft>
              <a:buClr>
                <a:schemeClr val="dk2"/>
              </a:buClr>
              <a:buSzPts val="1900"/>
              <a:buFont typeface="Arial"/>
              <a:buChar char="●"/>
              <a:defRPr sz="1900" b="0" i="0" u="none" strike="noStrike" cap="none">
                <a:solidFill>
                  <a:schemeClr val="dk2"/>
                </a:solidFill>
                <a:latin typeface="Arial"/>
                <a:ea typeface="Arial"/>
                <a:cs typeface="Arial"/>
                <a:sym typeface="Arial"/>
              </a:defRPr>
            </a:lvl4pPr>
            <a:lvl5pPr marL="2286000" marR="0" lvl="4" indent="-349250" algn="l" rtl="0">
              <a:lnSpc>
                <a:spcPct val="115000"/>
              </a:lnSpc>
              <a:spcBef>
                <a:spcPts val="0"/>
              </a:spcBef>
              <a:spcAft>
                <a:spcPts val="0"/>
              </a:spcAft>
              <a:buClr>
                <a:schemeClr val="dk2"/>
              </a:buClr>
              <a:buSzPts val="1900"/>
              <a:buFont typeface="Arial"/>
              <a:buChar char="○"/>
              <a:defRPr sz="1900" b="0" i="0" u="none" strike="noStrike" cap="none">
                <a:solidFill>
                  <a:schemeClr val="dk2"/>
                </a:solidFill>
                <a:latin typeface="Arial"/>
                <a:ea typeface="Arial"/>
                <a:cs typeface="Arial"/>
                <a:sym typeface="Arial"/>
              </a:defRPr>
            </a:lvl5pPr>
            <a:lvl6pPr marL="2743200" marR="0" lvl="5" indent="-349250" algn="l" rtl="0">
              <a:lnSpc>
                <a:spcPct val="115000"/>
              </a:lnSpc>
              <a:spcBef>
                <a:spcPts val="0"/>
              </a:spcBef>
              <a:spcAft>
                <a:spcPts val="0"/>
              </a:spcAft>
              <a:buClr>
                <a:schemeClr val="dk2"/>
              </a:buClr>
              <a:buSzPts val="1900"/>
              <a:buFont typeface="Arial"/>
              <a:buChar char="■"/>
              <a:defRPr sz="1900" b="0" i="0" u="none" strike="noStrike" cap="none">
                <a:solidFill>
                  <a:schemeClr val="dk2"/>
                </a:solidFill>
                <a:latin typeface="Arial"/>
                <a:ea typeface="Arial"/>
                <a:cs typeface="Arial"/>
                <a:sym typeface="Arial"/>
              </a:defRPr>
            </a:lvl6pPr>
            <a:lvl7pPr marL="3200400" marR="0" lvl="6" indent="-349250" algn="l" rtl="0">
              <a:lnSpc>
                <a:spcPct val="115000"/>
              </a:lnSpc>
              <a:spcBef>
                <a:spcPts val="0"/>
              </a:spcBef>
              <a:spcAft>
                <a:spcPts val="0"/>
              </a:spcAft>
              <a:buClr>
                <a:schemeClr val="dk2"/>
              </a:buClr>
              <a:buSzPts val="1900"/>
              <a:buFont typeface="Arial"/>
              <a:buChar char="●"/>
              <a:defRPr sz="1900" b="0" i="0" u="none" strike="noStrike" cap="none">
                <a:solidFill>
                  <a:schemeClr val="dk2"/>
                </a:solidFill>
                <a:latin typeface="Arial"/>
                <a:ea typeface="Arial"/>
                <a:cs typeface="Arial"/>
                <a:sym typeface="Arial"/>
              </a:defRPr>
            </a:lvl7pPr>
            <a:lvl8pPr marL="3657600" marR="0" lvl="7" indent="-349250" algn="l" rtl="0">
              <a:lnSpc>
                <a:spcPct val="115000"/>
              </a:lnSpc>
              <a:spcBef>
                <a:spcPts val="0"/>
              </a:spcBef>
              <a:spcAft>
                <a:spcPts val="0"/>
              </a:spcAft>
              <a:buClr>
                <a:schemeClr val="dk2"/>
              </a:buClr>
              <a:buSzPts val="1900"/>
              <a:buFont typeface="Arial"/>
              <a:buChar char="○"/>
              <a:defRPr sz="1900" b="0" i="0" u="none" strike="noStrike" cap="none">
                <a:solidFill>
                  <a:schemeClr val="dk2"/>
                </a:solidFill>
                <a:latin typeface="Arial"/>
                <a:ea typeface="Arial"/>
                <a:cs typeface="Arial"/>
                <a:sym typeface="Arial"/>
              </a:defRPr>
            </a:lvl8pPr>
            <a:lvl9pPr marL="4114800" marR="0" lvl="8" indent="-349250" algn="l" rtl="0">
              <a:lnSpc>
                <a:spcPct val="115000"/>
              </a:lnSpc>
              <a:spcBef>
                <a:spcPts val="0"/>
              </a:spcBef>
              <a:spcAft>
                <a:spcPts val="0"/>
              </a:spcAft>
              <a:buClr>
                <a:schemeClr val="dk2"/>
              </a:buClr>
              <a:buSzPts val="1900"/>
              <a:buFont typeface="Arial"/>
              <a:buChar char="■"/>
              <a:defRPr sz="1900" b="0" i="0" u="none" strike="noStrike" cap="none">
                <a:solidFill>
                  <a:schemeClr val="dk2"/>
                </a:solidFill>
                <a:latin typeface="Arial"/>
                <a:ea typeface="Arial"/>
                <a:cs typeface="Arial"/>
                <a:sym typeface="Arial"/>
              </a:defRPr>
            </a:lvl9pPr>
          </a:lstStyle>
          <a:p>
            <a:endParaRPr/>
          </a:p>
        </p:txBody>
      </p:sp>
      <p:sp>
        <p:nvSpPr>
          <p:cNvPr id="8" name="Google Shape;8;g314d0ef89fb_1_70"/>
          <p:cNvSpPr txBox="1">
            <a:spLocks noGrp="1"/>
          </p:cNvSpPr>
          <p:nvPr>
            <p:ph type="sldNum" idx="12"/>
          </p:nvPr>
        </p:nvSpPr>
        <p:spPr>
          <a:xfrm>
            <a:off x="11296611" y="6217623"/>
            <a:ext cx="731700" cy="524700"/>
          </a:xfrm>
          <a:prstGeom prst="rect">
            <a:avLst/>
          </a:prstGeom>
          <a:noFill/>
          <a:ln>
            <a:noFill/>
          </a:ln>
        </p:spPr>
        <p:txBody>
          <a:bodyPr spcFirstLastPara="1" wrap="square" lIns="121900" tIns="121900" rIns="121900" bIns="121900" anchor="ctr" anchorCtr="0">
            <a:normAutofit/>
          </a:bodyPr>
          <a:lstStyle>
            <a:lvl1pPr marL="0" marR="0" lvl="0" indent="0" algn="r" rtl="0">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SG"/>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72"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8"/>
        <p:cNvGrpSpPr/>
        <p:nvPr/>
      </p:nvGrpSpPr>
      <p:grpSpPr>
        <a:xfrm>
          <a:off x="0" y="0"/>
          <a:ext cx="0" cy="0"/>
          <a:chOff x="0" y="0"/>
          <a:chExt cx="0" cy="0"/>
        </a:xfrm>
      </p:grpSpPr>
      <p:sp>
        <p:nvSpPr>
          <p:cNvPr id="59" name="Google Shape;59;p4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Roboto Medium"/>
              <a:buNone/>
              <a:defRPr sz="4400" b="0" i="0" u="none" strike="noStrike" cap="none">
                <a:solidFill>
                  <a:schemeClr val="dk1"/>
                </a:solidFill>
                <a:latin typeface="Roboto Medium"/>
                <a:ea typeface="Roboto Medium"/>
                <a:cs typeface="Roboto Medium"/>
                <a:sym typeface="Roboto Medium"/>
              </a:defRPr>
            </a:lvl1pPr>
            <a:lvl2pPr marR="0" lvl="1" algn="l" rtl="0">
              <a:lnSpc>
                <a:spcPct val="100000"/>
              </a:lnSpc>
              <a:spcBef>
                <a:spcPts val="0"/>
              </a:spcBef>
              <a:spcAft>
                <a:spcPts val="0"/>
              </a:spcAft>
              <a:buClr>
                <a:srgbClr val="000000"/>
              </a:buClr>
              <a:buSzPts val="1400"/>
              <a:buFont typeface="Roboto Medium"/>
              <a:buNone/>
              <a:defRPr sz="1800" b="0" i="0" u="none" strike="noStrike" cap="none">
                <a:solidFill>
                  <a:srgbClr val="000000"/>
                </a:solidFill>
                <a:latin typeface="Roboto Medium"/>
                <a:ea typeface="Roboto Medium"/>
                <a:cs typeface="Roboto Medium"/>
                <a:sym typeface="Roboto Medium"/>
              </a:defRPr>
            </a:lvl2pPr>
            <a:lvl3pPr marR="0" lvl="2" algn="l" rtl="0">
              <a:lnSpc>
                <a:spcPct val="100000"/>
              </a:lnSpc>
              <a:spcBef>
                <a:spcPts val="0"/>
              </a:spcBef>
              <a:spcAft>
                <a:spcPts val="0"/>
              </a:spcAft>
              <a:buClr>
                <a:srgbClr val="000000"/>
              </a:buClr>
              <a:buSzPts val="1400"/>
              <a:buFont typeface="Roboto Medium"/>
              <a:buNone/>
              <a:defRPr sz="1800" b="0" i="0" u="none" strike="noStrike" cap="none">
                <a:solidFill>
                  <a:srgbClr val="000000"/>
                </a:solidFill>
                <a:latin typeface="Roboto Medium"/>
                <a:ea typeface="Roboto Medium"/>
                <a:cs typeface="Roboto Medium"/>
                <a:sym typeface="Roboto Medium"/>
              </a:defRPr>
            </a:lvl3pPr>
            <a:lvl4pPr marR="0" lvl="3" algn="l" rtl="0">
              <a:lnSpc>
                <a:spcPct val="100000"/>
              </a:lnSpc>
              <a:spcBef>
                <a:spcPts val="0"/>
              </a:spcBef>
              <a:spcAft>
                <a:spcPts val="0"/>
              </a:spcAft>
              <a:buClr>
                <a:srgbClr val="000000"/>
              </a:buClr>
              <a:buSzPts val="1400"/>
              <a:buFont typeface="Roboto Medium"/>
              <a:buNone/>
              <a:defRPr sz="1800" b="0" i="0" u="none" strike="noStrike" cap="none">
                <a:solidFill>
                  <a:srgbClr val="000000"/>
                </a:solidFill>
                <a:latin typeface="Roboto Medium"/>
                <a:ea typeface="Roboto Medium"/>
                <a:cs typeface="Roboto Medium"/>
                <a:sym typeface="Roboto Medium"/>
              </a:defRPr>
            </a:lvl4pPr>
            <a:lvl5pPr marR="0" lvl="4" algn="l" rtl="0">
              <a:lnSpc>
                <a:spcPct val="100000"/>
              </a:lnSpc>
              <a:spcBef>
                <a:spcPts val="0"/>
              </a:spcBef>
              <a:spcAft>
                <a:spcPts val="0"/>
              </a:spcAft>
              <a:buClr>
                <a:srgbClr val="000000"/>
              </a:buClr>
              <a:buSzPts val="1400"/>
              <a:buFont typeface="Roboto Medium"/>
              <a:buNone/>
              <a:defRPr sz="1800" b="0" i="0" u="none" strike="noStrike" cap="none">
                <a:solidFill>
                  <a:srgbClr val="000000"/>
                </a:solidFill>
                <a:latin typeface="Roboto Medium"/>
                <a:ea typeface="Roboto Medium"/>
                <a:cs typeface="Roboto Medium"/>
                <a:sym typeface="Roboto Medium"/>
              </a:defRPr>
            </a:lvl5pPr>
            <a:lvl6pPr marR="0" lvl="5" algn="l" rtl="0">
              <a:lnSpc>
                <a:spcPct val="100000"/>
              </a:lnSpc>
              <a:spcBef>
                <a:spcPts val="0"/>
              </a:spcBef>
              <a:spcAft>
                <a:spcPts val="0"/>
              </a:spcAft>
              <a:buClr>
                <a:srgbClr val="000000"/>
              </a:buClr>
              <a:buSzPts val="1400"/>
              <a:buFont typeface="Roboto Medium"/>
              <a:buNone/>
              <a:defRPr sz="1800" b="0" i="0" u="none" strike="noStrike" cap="none">
                <a:solidFill>
                  <a:srgbClr val="000000"/>
                </a:solidFill>
                <a:latin typeface="Roboto Medium"/>
                <a:ea typeface="Roboto Medium"/>
                <a:cs typeface="Roboto Medium"/>
                <a:sym typeface="Roboto Medium"/>
              </a:defRPr>
            </a:lvl6pPr>
            <a:lvl7pPr marR="0" lvl="6" algn="l" rtl="0">
              <a:lnSpc>
                <a:spcPct val="100000"/>
              </a:lnSpc>
              <a:spcBef>
                <a:spcPts val="0"/>
              </a:spcBef>
              <a:spcAft>
                <a:spcPts val="0"/>
              </a:spcAft>
              <a:buClr>
                <a:srgbClr val="000000"/>
              </a:buClr>
              <a:buSzPts val="1400"/>
              <a:buFont typeface="Roboto Medium"/>
              <a:buNone/>
              <a:defRPr sz="1800" b="0" i="0" u="none" strike="noStrike" cap="none">
                <a:solidFill>
                  <a:srgbClr val="000000"/>
                </a:solidFill>
                <a:latin typeface="Roboto Medium"/>
                <a:ea typeface="Roboto Medium"/>
                <a:cs typeface="Roboto Medium"/>
                <a:sym typeface="Roboto Medium"/>
              </a:defRPr>
            </a:lvl7pPr>
            <a:lvl8pPr marR="0" lvl="7" algn="l" rtl="0">
              <a:lnSpc>
                <a:spcPct val="100000"/>
              </a:lnSpc>
              <a:spcBef>
                <a:spcPts val="0"/>
              </a:spcBef>
              <a:spcAft>
                <a:spcPts val="0"/>
              </a:spcAft>
              <a:buClr>
                <a:srgbClr val="000000"/>
              </a:buClr>
              <a:buSzPts val="1400"/>
              <a:buFont typeface="Roboto Medium"/>
              <a:buNone/>
              <a:defRPr sz="1800" b="0" i="0" u="none" strike="noStrike" cap="none">
                <a:solidFill>
                  <a:srgbClr val="000000"/>
                </a:solidFill>
                <a:latin typeface="Roboto Medium"/>
                <a:ea typeface="Roboto Medium"/>
                <a:cs typeface="Roboto Medium"/>
                <a:sym typeface="Roboto Medium"/>
              </a:defRPr>
            </a:lvl8pPr>
            <a:lvl9pPr marR="0" lvl="8" algn="l" rtl="0">
              <a:lnSpc>
                <a:spcPct val="100000"/>
              </a:lnSpc>
              <a:spcBef>
                <a:spcPts val="0"/>
              </a:spcBef>
              <a:spcAft>
                <a:spcPts val="0"/>
              </a:spcAft>
              <a:buClr>
                <a:srgbClr val="000000"/>
              </a:buClr>
              <a:buSzPts val="1400"/>
              <a:buFont typeface="Roboto Medium"/>
              <a:buNone/>
              <a:defRPr sz="1800" b="0" i="0" u="none" strike="noStrike" cap="none">
                <a:solidFill>
                  <a:srgbClr val="000000"/>
                </a:solidFill>
                <a:latin typeface="Roboto Medium"/>
                <a:ea typeface="Roboto Medium"/>
                <a:cs typeface="Roboto Medium"/>
                <a:sym typeface="Roboto Medium"/>
              </a:defRPr>
            </a:lvl9pPr>
          </a:lstStyle>
          <a:p>
            <a:endParaRPr/>
          </a:p>
        </p:txBody>
      </p:sp>
      <p:sp>
        <p:nvSpPr>
          <p:cNvPr id="60" name="Google Shape;60;p4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Roboto"/>
              <a:buChar char="•"/>
              <a:defRPr sz="2800" b="0" i="0" u="none" strike="noStrike" cap="none">
                <a:solidFill>
                  <a:schemeClr val="dk1"/>
                </a:solidFill>
                <a:latin typeface="Roboto"/>
                <a:ea typeface="Roboto"/>
                <a:cs typeface="Roboto"/>
                <a:sym typeface="Roboto"/>
              </a:defRPr>
            </a:lvl1pPr>
            <a:lvl2pPr marL="914400" marR="0" lvl="1" indent="-381000" algn="l" rtl="0">
              <a:lnSpc>
                <a:spcPct val="90000"/>
              </a:lnSpc>
              <a:spcBef>
                <a:spcPts val="500"/>
              </a:spcBef>
              <a:spcAft>
                <a:spcPts val="0"/>
              </a:spcAft>
              <a:buClr>
                <a:schemeClr val="dk1"/>
              </a:buClr>
              <a:buSzPts val="2400"/>
              <a:buFont typeface="Roboto"/>
              <a:buChar char="•"/>
              <a:defRPr sz="2400" b="0" i="0" u="none" strike="noStrike" cap="none">
                <a:solidFill>
                  <a:schemeClr val="dk1"/>
                </a:solidFill>
                <a:latin typeface="Roboto"/>
                <a:ea typeface="Roboto"/>
                <a:cs typeface="Roboto"/>
                <a:sym typeface="Roboto"/>
              </a:defRPr>
            </a:lvl2pPr>
            <a:lvl3pPr marL="1371600" marR="0" lvl="2" indent="-355600" algn="l" rtl="0">
              <a:lnSpc>
                <a:spcPct val="90000"/>
              </a:lnSpc>
              <a:spcBef>
                <a:spcPts val="500"/>
              </a:spcBef>
              <a:spcAft>
                <a:spcPts val="0"/>
              </a:spcAft>
              <a:buClr>
                <a:schemeClr val="dk1"/>
              </a:buClr>
              <a:buSzPts val="2000"/>
              <a:buFont typeface="Roboto"/>
              <a:buChar char="•"/>
              <a:defRPr sz="20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9pPr>
          </a:lstStyle>
          <a:p>
            <a:endParaRPr/>
          </a:p>
        </p:txBody>
      </p:sp>
      <p:sp>
        <p:nvSpPr>
          <p:cNvPr id="61" name="Google Shape;61;p4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62" name="Google Shape;62;p4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63" name="Google Shape;63;p4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SG"/>
              <a:t>‹#›</a:t>
            </a:fld>
            <a:endParaRPr/>
          </a:p>
        </p:txBody>
      </p:sp>
    </p:spTree>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3.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6.xml"/><Relationship Id="rId1" Type="http://schemas.openxmlformats.org/officeDocument/2006/relationships/slideLayout" Target="../slideLayouts/slideLayout13.xml"/><Relationship Id="rId5" Type="http://schemas.openxmlformats.org/officeDocument/2006/relationships/image" Target="../media/image6.jpg"/><Relationship Id="rId4" Type="http://schemas.openxmlformats.org/officeDocument/2006/relationships/image" Target="../media/image5.jp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3.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10.gif"/><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13.xml"/><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16.gif"/><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8.xml"/><Relationship Id="rId1" Type="http://schemas.openxmlformats.org/officeDocument/2006/relationships/slideLayout" Target="../slideLayouts/slideLayout13.xml"/><Relationship Id="rId4" Type="http://schemas.openxmlformats.org/officeDocument/2006/relationships/image" Target="../media/image20.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1.xml"/><Relationship Id="rId1" Type="http://schemas.openxmlformats.org/officeDocument/2006/relationships/slideLayout" Target="../slideLayouts/slideLayout13.xml"/><Relationship Id="rId4" Type="http://schemas.openxmlformats.org/officeDocument/2006/relationships/image" Target="../media/image22.png"/></Relationships>
</file>

<file path=ppt/slides/_rels/slide2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5.xml"/><Relationship Id="rId1" Type="http://schemas.openxmlformats.org/officeDocument/2006/relationships/slideLayout" Target="../slideLayouts/slideLayout13.xml"/><Relationship Id="rId4" Type="http://schemas.openxmlformats.org/officeDocument/2006/relationships/image" Target="../media/image27.png"/></Relationships>
</file>

<file path=ppt/slides/_rels/slide3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6.xml"/><Relationship Id="rId1" Type="http://schemas.openxmlformats.org/officeDocument/2006/relationships/slideLayout" Target="../slideLayouts/slideLayout13.xml"/><Relationship Id="rId4" Type="http://schemas.openxmlformats.org/officeDocument/2006/relationships/image" Target="../media/image29.png"/></Relationships>
</file>

<file path=ppt/slides/_rels/slide3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1.xml"/><Relationship Id="rId1" Type="http://schemas.openxmlformats.org/officeDocument/2006/relationships/slideLayout" Target="../slideLayouts/slideLayout13.xml"/><Relationship Id="rId4" Type="http://schemas.openxmlformats.org/officeDocument/2006/relationships/image" Target="../media/image32.png"/></Relationships>
</file>

<file path=ppt/slides/_rels/slide3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2.xml"/><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3.xml"/><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4.xml"/><Relationship Id="rId1" Type="http://schemas.openxmlformats.org/officeDocument/2006/relationships/slideLayout" Target="../slideLayouts/slideLayout13.xml"/><Relationship Id="rId4" Type="http://schemas.openxmlformats.org/officeDocument/2006/relationships/image" Target="../media/image36.png"/></Relationships>
</file>

<file path=ppt/slides/_rels/slide3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5.xml"/><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6.xml"/><Relationship Id="rId1" Type="http://schemas.openxmlformats.org/officeDocument/2006/relationships/slideLayout" Target="../slideLayouts/slideLayout13.xml"/><Relationship Id="rId4" Type="http://schemas.openxmlformats.org/officeDocument/2006/relationships/image" Target="../media/image39.png"/></Relationships>
</file>

<file path=ppt/slides/_rels/slide4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7.xml"/><Relationship Id="rId1" Type="http://schemas.openxmlformats.org/officeDocument/2006/relationships/slideLayout" Target="../slideLayouts/slideLayout13.xml"/><Relationship Id="rId4" Type="http://schemas.openxmlformats.org/officeDocument/2006/relationships/image" Target="../media/image41.gi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B104F1-9D2F-530F-F03F-C3EEC21078A1}"/>
              </a:ext>
            </a:extLst>
          </p:cNvPr>
          <p:cNvSpPr>
            <a:spLocks noGrp="1"/>
          </p:cNvSpPr>
          <p:nvPr>
            <p:ph type="title"/>
          </p:nvPr>
        </p:nvSpPr>
        <p:spPr/>
        <p:txBody>
          <a:bodyPr/>
          <a:lstStyle/>
          <a:p>
            <a:r>
              <a:rPr lang="en-GB" dirty="0"/>
              <a:t>Credit Fundamentals</a:t>
            </a:r>
          </a:p>
        </p:txBody>
      </p:sp>
    </p:spTree>
    <p:extLst>
      <p:ext uri="{BB962C8B-B14F-4D97-AF65-F5344CB8AC3E}">
        <p14:creationId xmlns:p14="http://schemas.microsoft.com/office/powerpoint/2010/main" val="15810965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SG" dirty="0"/>
              <a:t>Structure</a:t>
            </a:r>
            <a:endParaRPr dirty="0"/>
          </a:p>
        </p:txBody>
      </p:sp>
      <p:sp>
        <p:nvSpPr>
          <p:cNvPr id="145" name="Google Shape;145;p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SG" dirty="0"/>
              <a:t>Introduction to credit </a:t>
            </a:r>
            <a:endParaRPr dirty="0"/>
          </a:p>
          <a:p>
            <a:pPr marL="228600" lvl="0" indent="-228600" algn="l" rtl="0">
              <a:lnSpc>
                <a:spcPct val="90000"/>
              </a:lnSpc>
              <a:spcBef>
                <a:spcPts val="1000"/>
              </a:spcBef>
              <a:spcAft>
                <a:spcPts val="0"/>
              </a:spcAft>
              <a:buClr>
                <a:schemeClr val="dk1"/>
              </a:buClr>
              <a:buSzPts val="2800"/>
              <a:buChar char="•"/>
            </a:pPr>
            <a:r>
              <a:rPr lang="en-SG" dirty="0"/>
              <a:t>Credit ratings – where macro and fundamentals come in</a:t>
            </a:r>
            <a:endParaRPr dirty="0"/>
          </a:p>
          <a:p>
            <a:pPr marL="228600" lvl="0" indent="-228600" algn="l" rtl="0">
              <a:lnSpc>
                <a:spcPct val="90000"/>
              </a:lnSpc>
              <a:spcBef>
                <a:spcPts val="1000"/>
              </a:spcBef>
              <a:spcAft>
                <a:spcPts val="0"/>
              </a:spcAft>
              <a:buClr>
                <a:schemeClr val="dk1"/>
              </a:buClr>
              <a:buSzPts val="2800"/>
              <a:buChar char="•"/>
            </a:pPr>
            <a:r>
              <a:rPr lang="en-SG" dirty="0"/>
              <a:t>Credit products and derivatives and how they are priced</a:t>
            </a:r>
            <a:endParaRPr dirty="0"/>
          </a:p>
          <a:p>
            <a:pPr marL="228600" lvl="0" indent="-228600" algn="l" rtl="0">
              <a:lnSpc>
                <a:spcPct val="90000"/>
              </a:lnSpc>
              <a:spcBef>
                <a:spcPts val="1000"/>
              </a:spcBef>
              <a:spcAft>
                <a:spcPts val="0"/>
              </a:spcAft>
              <a:buClr>
                <a:schemeClr val="dk1"/>
              </a:buClr>
              <a:buSzPts val="2800"/>
              <a:buChar char="•"/>
            </a:pPr>
            <a:r>
              <a:rPr lang="en-SG" dirty="0"/>
              <a:t>Idea generation </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C898A98-1B4D-54EF-4A04-6736CFBC5E51}"/>
              </a:ext>
            </a:extLst>
          </p:cNvPr>
          <p:cNvSpPr>
            <a:spLocks noGrp="1"/>
          </p:cNvSpPr>
          <p:nvPr>
            <p:ph type="title"/>
          </p:nvPr>
        </p:nvSpPr>
        <p:spPr/>
        <p:txBody>
          <a:bodyPr/>
          <a:lstStyle/>
          <a:p>
            <a:r>
              <a:rPr lang="en-GB" dirty="0"/>
              <a:t>Introduction to Credit</a:t>
            </a:r>
          </a:p>
        </p:txBody>
      </p:sp>
      <p:sp>
        <p:nvSpPr>
          <p:cNvPr id="5" name="Text Placeholder 4">
            <a:extLst>
              <a:ext uri="{FF2B5EF4-FFF2-40B4-BE49-F238E27FC236}">
                <a16:creationId xmlns:a16="http://schemas.microsoft.com/office/drawing/2014/main" id="{1BBCF089-CEE0-CD6F-E351-42F1878EBADE}"/>
              </a:ext>
            </a:extLst>
          </p:cNvPr>
          <p:cNvSpPr>
            <a:spLocks noGrp="1"/>
          </p:cNvSpPr>
          <p:nvPr>
            <p:ph type="body" idx="1"/>
          </p:nvPr>
        </p:nvSpPr>
        <p:spPr/>
        <p:txBody>
          <a:bodyPr/>
          <a:lstStyle/>
          <a:p>
            <a:endParaRPr lang="en-GB"/>
          </a:p>
        </p:txBody>
      </p:sp>
    </p:spTree>
    <p:extLst>
      <p:ext uri="{BB962C8B-B14F-4D97-AF65-F5344CB8AC3E}">
        <p14:creationId xmlns:p14="http://schemas.microsoft.com/office/powerpoint/2010/main" val="32988029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D6B7C0CF-3CE5-5903-B5DC-8D5565F628D1}"/>
            </a:ext>
          </a:extLst>
        </p:cNvPr>
        <p:cNvGrpSpPr/>
        <p:nvPr/>
      </p:nvGrpSpPr>
      <p:grpSpPr>
        <a:xfrm>
          <a:off x="0" y="0"/>
          <a:ext cx="0" cy="0"/>
          <a:chOff x="0" y="0"/>
          <a:chExt cx="0" cy="0"/>
        </a:xfrm>
      </p:grpSpPr>
      <p:sp>
        <p:nvSpPr>
          <p:cNvPr id="144" name="Google Shape;144;p2">
            <a:extLst>
              <a:ext uri="{FF2B5EF4-FFF2-40B4-BE49-F238E27FC236}">
                <a16:creationId xmlns:a16="http://schemas.microsoft.com/office/drawing/2014/main" id="{FD1812A6-B576-C94E-9B5D-A35FAE2EF575}"/>
              </a:ext>
            </a:extLst>
          </p:cNvPr>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SG" dirty="0"/>
              <a:t>Credit vs. Rates</a:t>
            </a:r>
            <a:endParaRPr dirty="0"/>
          </a:p>
        </p:txBody>
      </p:sp>
      <p:sp>
        <p:nvSpPr>
          <p:cNvPr id="145" name="Google Shape;145;p2">
            <a:extLst>
              <a:ext uri="{FF2B5EF4-FFF2-40B4-BE49-F238E27FC236}">
                <a16:creationId xmlns:a16="http://schemas.microsoft.com/office/drawing/2014/main" id="{D0218EA5-196C-E1A3-3519-9AC613402B0F}"/>
              </a:ext>
            </a:extLst>
          </p:cNvPr>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GB" dirty="0"/>
              <a:t>Credit – bet on the borrower to not default (and if they do, you cover enough for yourself)</a:t>
            </a:r>
          </a:p>
          <a:p>
            <a:pPr marL="228600" lvl="0" indent="-228600" algn="l" rtl="0">
              <a:lnSpc>
                <a:spcPct val="90000"/>
              </a:lnSpc>
              <a:spcBef>
                <a:spcPts val="0"/>
              </a:spcBef>
              <a:spcAft>
                <a:spcPts val="0"/>
              </a:spcAft>
              <a:buClr>
                <a:schemeClr val="dk1"/>
              </a:buClr>
              <a:buSzPts val="2800"/>
              <a:buChar char="•"/>
            </a:pPr>
            <a:r>
              <a:rPr lang="en-GB" dirty="0"/>
              <a:t>Rates – bet on the shape of yield curve (interest rates) of a country</a:t>
            </a:r>
            <a:endParaRPr dirty="0"/>
          </a:p>
        </p:txBody>
      </p:sp>
    </p:spTree>
    <p:extLst>
      <p:ext uri="{BB962C8B-B14F-4D97-AF65-F5344CB8AC3E}">
        <p14:creationId xmlns:p14="http://schemas.microsoft.com/office/powerpoint/2010/main" val="29818116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F4400840-CBFC-54D1-7AAE-56009192F282}"/>
            </a:ext>
          </a:extLst>
        </p:cNvPr>
        <p:cNvGrpSpPr/>
        <p:nvPr/>
      </p:nvGrpSpPr>
      <p:grpSpPr>
        <a:xfrm>
          <a:off x="0" y="0"/>
          <a:ext cx="0" cy="0"/>
          <a:chOff x="0" y="0"/>
          <a:chExt cx="0" cy="0"/>
        </a:xfrm>
      </p:grpSpPr>
      <p:sp>
        <p:nvSpPr>
          <p:cNvPr id="144" name="Google Shape;144;p2">
            <a:extLst>
              <a:ext uri="{FF2B5EF4-FFF2-40B4-BE49-F238E27FC236}">
                <a16:creationId xmlns:a16="http://schemas.microsoft.com/office/drawing/2014/main" id="{3D4BF4EA-042B-D822-16A2-BDBC17376F67}"/>
              </a:ext>
            </a:extLst>
          </p:cNvPr>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SG" dirty="0"/>
              <a:t>Categories</a:t>
            </a:r>
            <a:endParaRPr dirty="0"/>
          </a:p>
        </p:txBody>
      </p:sp>
      <p:sp>
        <p:nvSpPr>
          <p:cNvPr id="145" name="Google Shape;145;p2">
            <a:extLst>
              <a:ext uri="{FF2B5EF4-FFF2-40B4-BE49-F238E27FC236}">
                <a16:creationId xmlns:a16="http://schemas.microsoft.com/office/drawing/2014/main" id="{50C87F53-450A-675C-7D29-3876DFA8F36A}"/>
              </a:ext>
            </a:extLst>
          </p:cNvPr>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GB" dirty="0"/>
              <a:t>Sovereign vs. Corporate</a:t>
            </a:r>
          </a:p>
          <a:p>
            <a:pPr marL="228600" lvl="0" indent="-228600" algn="l" rtl="0">
              <a:lnSpc>
                <a:spcPct val="90000"/>
              </a:lnSpc>
              <a:spcBef>
                <a:spcPts val="0"/>
              </a:spcBef>
              <a:spcAft>
                <a:spcPts val="0"/>
              </a:spcAft>
              <a:buClr>
                <a:schemeClr val="dk1"/>
              </a:buClr>
              <a:buSzPts val="2800"/>
              <a:buChar char="•"/>
            </a:pPr>
            <a:r>
              <a:rPr lang="en-GB" dirty="0"/>
              <a:t>Investment Grade vs. High Yield</a:t>
            </a:r>
          </a:p>
          <a:p>
            <a:pPr marL="800100" lvl="1">
              <a:spcBef>
                <a:spcPts val="0"/>
              </a:spcBef>
              <a:buSzPts val="2800"/>
              <a:buFont typeface="Wingdings" panose="05000000000000000000" pitchFamily="2" charset="2"/>
              <a:buChar char="Ø"/>
            </a:pPr>
            <a:r>
              <a:rPr lang="en-GB" dirty="0"/>
              <a:t>Developed Markets vs. Emerging Markets</a:t>
            </a:r>
          </a:p>
          <a:p>
            <a:pPr marL="228600" lvl="0" indent="-228600" algn="l" rtl="0">
              <a:lnSpc>
                <a:spcPct val="90000"/>
              </a:lnSpc>
              <a:spcBef>
                <a:spcPts val="0"/>
              </a:spcBef>
              <a:spcAft>
                <a:spcPts val="0"/>
              </a:spcAft>
              <a:buClr>
                <a:schemeClr val="dk1"/>
              </a:buClr>
              <a:buSzPts val="2800"/>
              <a:buChar char="•"/>
            </a:pPr>
            <a:r>
              <a:rPr lang="en-GB" dirty="0"/>
              <a:t>Public (Bonds) vs. Private (Loans)</a:t>
            </a:r>
          </a:p>
          <a:p>
            <a:pPr marL="228600" lvl="0" indent="-228600" algn="l" rtl="0">
              <a:lnSpc>
                <a:spcPct val="90000"/>
              </a:lnSpc>
              <a:spcBef>
                <a:spcPts val="0"/>
              </a:spcBef>
              <a:spcAft>
                <a:spcPts val="0"/>
              </a:spcAft>
              <a:buClr>
                <a:schemeClr val="dk1"/>
              </a:buClr>
              <a:buSzPts val="2800"/>
              <a:buChar char="•"/>
            </a:pPr>
            <a:r>
              <a:rPr lang="en-GB" dirty="0"/>
              <a:t>Hard-currency vs. Local-currency</a:t>
            </a:r>
            <a:endParaRPr lang="en-SG" dirty="0"/>
          </a:p>
        </p:txBody>
      </p:sp>
    </p:spTree>
    <p:extLst>
      <p:ext uri="{BB962C8B-B14F-4D97-AF65-F5344CB8AC3E}">
        <p14:creationId xmlns:p14="http://schemas.microsoft.com/office/powerpoint/2010/main" val="39343930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p6"/>
          <p:cNvSpPr txBox="1">
            <a:spLocks noGrp="1"/>
          </p:cNvSpPr>
          <p:nvPr>
            <p:ph type="title"/>
          </p:nvPr>
        </p:nvSpPr>
        <p:spPr>
          <a:xfrm>
            <a:off x="838200" y="17367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SG"/>
              <a:t>Why Invest in Credit?</a:t>
            </a:r>
            <a:endParaRPr/>
          </a:p>
        </p:txBody>
      </p:sp>
      <p:sp>
        <p:nvSpPr>
          <p:cNvPr id="184" name="Google Shape;184;p6"/>
          <p:cNvSpPr txBox="1">
            <a:spLocks noGrp="1"/>
          </p:cNvSpPr>
          <p:nvPr>
            <p:ph type="body" idx="1"/>
          </p:nvPr>
        </p:nvSpPr>
        <p:spPr>
          <a:xfrm>
            <a:off x="838200" y="4635610"/>
            <a:ext cx="10515600" cy="1979875"/>
          </a:xfrm>
          <a:prstGeom prst="rect">
            <a:avLst/>
          </a:prstGeom>
          <a:noFill/>
          <a:ln>
            <a:noFill/>
          </a:ln>
        </p:spPr>
        <p:txBody>
          <a:bodyPr spcFirstLastPara="1" wrap="square" lIns="91425" tIns="45700" rIns="91425" bIns="45700" anchor="t" anchorCtr="0">
            <a:normAutofit lnSpcReduction="10000"/>
          </a:bodyPr>
          <a:lstStyle/>
          <a:p>
            <a:pPr marL="228600" lvl="0" indent="-215265" algn="l" rtl="0">
              <a:lnSpc>
                <a:spcPct val="90000"/>
              </a:lnSpc>
              <a:spcBef>
                <a:spcPts val="0"/>
              </a:spcBef>
              <a:spcAft>
                <a:spcPts val="0"/>
              </a:spcAft>
              <a:buClr>
                <a:schemeClr val="dk1"/>
              </a:buClr>
              <a:buSzPct val="100000"/>
              <a:buChar char="•"/>
            </a:pPr>
            <a:r>
              <a:rPr lang="en-SG" dirty="0"/>
              <a:t>Good diversification benefits</a:t>
            </a:r>
          </a:p>
          <a:p>
            <a:pPr marL="228600" lvl="0" indent="-215265" algn="l" rtl="0">
              <a:lnSpc>
                <a:spcPct val="90000"/>
              </a:lnSpc>
              <a:spcBef>
                <a:spcPts val="0"/>
              </a:spcBef>
              <a:spcAft>
                <a:spcPts val="0"/>
              </a:spcAft>
              <a:buClr>
                <a:schemeClr val="dk1"/>
              </a:buClr>
              <a:buSzPct val="100000"/>
              <a:buChar char="•"/>
            </a:pPr>
            <a:endParaRPr lang="en-SG" dirty="0"/>
          </a:p>
          <a:p>
            <a:pPr marL="228600" lvl="0" indent="-215265" algn="l" rtl="0">
              <a:lnSpc>
                <a:spcPct val="90000"/>
              </a:lnSpc>
              <a:spcBef>
                <a:spcPts val="0"/>
              </a:spcBef>
              <a:spcAft>
                <a:spcPts val="0"/>
              </a:spcAft>
              <a:buClr>
                <a:schemeClr val="dk1"/>
              </a:buClr>
              <a:buSzPct val="100000"/>
              <a:buChar char="•"/>
            </a:pPr>
            <a:r>
              <a:rPr lang="en-GB" dirty="0"/>
              <a:t>Stable stream of income (yield)</a:t>
            </a:r>
          </a:p>
          <a:p>
            <a:pPr marL="228600" lvl="0" indent="-215265" algn="l" rtl="0">
              <a:lnSpc>
                <a:spcPct val="90000"/>
              </a:lnSpc>
              <a:spcBef>
                <a:spcPts val="0"/>
              </a:spcBef>
              <a:spcAft>
                <a:spcPts val="0"/>
              </a:spcAft>
              <a:buClr>
                <a:schemeClr val="dk1"/>
              </a:buClr>
              <a:buSzPct val="100000"/>
              <a:buChar char="•"/>
            </a:pPr>
            <a:endParaRPr lang="en-GB" dirty="0"/>
          </a:p>
          <a:p>
            <a:pPr marL="228600" lvl="0" indent="-215265" algn="l" rtl="0">
              <a:lnSpc>
                <a:spcPct val="90000"/>
              </a:lnSpc>
              <a:spcBef>
                <a:spcPts val="0"/>
              </a:spcBef>
              <a:spcAft>
                <a:spcPts val="0"/>
              </a:spcAft>
              <a:buClr>
                <a:schemeClr val="dk1"/>
              </a:buClr>
              <a:buSzPct val="100000"/>
              <a:buChar char="•"/>
            </a:pPr>
            <a:r>
              <a:rPr lang="en-GB" dirty="0"/>
              <a:t>Access to borrower-specific features</a:t>
            </a:r>
            <a:endParaRPr dirty="0"/>
          </a:p>
        </p:txBody>
      </p:sp>
      <p:pic>
        <p:nvPicPr>
          <p:cNvPr id="185" name="Google Shape;185;p6"/>
          <p:cNvPicPr preferRelativeResize="0"/>
          <p:nvPr/>
        </p:nvPicPr>
        <p:blipFill rotWithShape="1">
          <a:blip r:embed="rId3">
            <a:alphaModFix/>
          </a:blip>
          <a:srcRect/>
          <a:stretch/>
        </p:blipFill>
        <p:spPr>
          <a:xfrm>
            <a:off x="838200" y="1383072"/>
            <a:ext cx="4376057" cy="3066154"/>
          </a:xfrm>
          <a:prstGeom prst="rect">
            <a:avLst/>
          </a:prstGeom>
          <a:noFill/>
          <a:ln>
            <a:noFill/>
          </a:ln>
        </p:spPr>
      </p:pic>
      <p:pic>
        <p:nvPicPr>
          <p:cNvPr id="186" name="Google Shape;186;p6"/>
          <p:cNvPicPr preferRelativeResize="0"/>
          <p:nvPr/>
        </p:nvPicPr>
        <p:blipFill rotWithShape="1">
          <a:blip r:embed="rId4">
            <a:alphaModFix/>
          </a:blip>
          <a:srcRect/>
          <a:stretch/>
        </p:blipFill>
        <p:spPr>
          <a:xfrm>
            <a:off x="6037453" y="1877072"/>
            <a:ext cx="5650302" cy="2572153"/>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g3a1423cfbf8_0_24"/>
          <p:cNvSpPr txBox="1">
            <a:spLocks noGrp="1"/>
          </p:cNvSpPr>
          <p:nvPr>
            <p:ph type="title"/>
          </p:nvPr>
        </p:nvSpPr>
        <p:spPr>
          <a:xfrm>
            <a:off x="838200" y="1214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SG" dirty="0"/>
              <a:t>Credit as a Career</a:t>
            </a:r>
            <a:endParaRPr dirty="0"/>
          </a:p>
        </p:txBody>
      </p:sp>
      <p:sp>
        <p:nvSpPr>
          <p:cNvPr id="192" name="Google Shape;192;g3a1423cfbf8_0_24"/>
          <p:cNvSpPr txBox="1">
            <a:spLocks noGrp="1"/>
          </p:cNvSpPr>
          <p:nvPr>
            <p:ph type="body" idx="1"/>
          </p:nvPr>
        </p:nvSpPr>
        <p:spPr>
          <a:xfrm>
            <a:off x="838200" y="1447124"/>
            <a:ext cx="10515600" cy="3871500"/>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SG" dirty="0"/>
              <a:t>Sales &amp; Trading – secondary market</a:t>
            </a:r>
          </a:p>
          <a:p>
            <a:pPr marL="228600" lvl="0" indent="-228600" algn="l" rtl="0">
              <a:lnSpc>
                <a:spcPct val="90000"/>
              </a:lnSpc>
              <a:spcBef>
                <a:spcPts val="0"/>
              </a:spcBef>
              <a:spcAft>
                <a:spcPts val="0"/>
              </a:spcAft>
              <a:buClr>
                <a:schemeClr val="dk1"/>
              </a:buClr>
              <a:buSzPts val="2800"/>
              <a:buChar char="•"/>
            </a:pPr>
            <a:r>
              <a:rPr lang="en-SG" dirty="0"/>
              <a:t>“Investment Banking” – primary market</a:t>
            </a:r>
          </a:p>
          <a:p>
            <a:pPr marL="685800" lvl="1" indent="-228600">
              <a:spcBef>
                <a:spcPts val="0"/>
              </a:spcBef>
              <a:buSzPts val="2800"/>
            </a:pPr>
            <a:r>
              <a:rPr lang="en-SG" dirty="0"/>
              <a:t>Leveraged Finance</a:t>
            </a:r>
          </a:p>
          <a:p>
            <a:pPr marL="685800" lvl="1" indent="-228600">
              <a:spcBef>
                <a:spcPts val="0"/>
              </a:spcBef>
              <a:buSzPts val="2800"/>
            </a:pPr>
            <a:r>
              <a:rPr lang="en-SG" dirty="0"/>
              <a:t>DCM</a:t>
            </a:r>
          </a:p>
          <a:p>
            <a:pPr marL="228600" lvl="0" indent="-228600" algn="l" rtl="0">
              <a:lnSpc>
                <a:spcPct val="90000"/>
              </a:lnSpc>
              <a:spcBef>
                <a:spcPts val="0"/>
              </a:spcBef>
              <a:spcAft>
                <a:spcPts val="0"/>
              </a:spcAft>
              <a:buClr>
                <a:schemeClr val="dk1"/>
              </a:buClr>
              <a:buSzPts val="2800"/>
              <a:buChar char="•"/>
            </a:pPr>
            <a:r>
              <a:rPr lang="en-SG" dirty="0"/>
              <a:t>Buy Side</a:t>
            </a:r>
          </a:p>
          <a:p>
            <a:pPr marL="685800" lvl="1" indent="-228600">
              <a:spcBef>
                <a:spcPts val="0"/>
              </a:spcBef>
              <a:buSzPts val="2800"/>
            </a:pPr>
            <a:r>
              <a:rPr lang="en-SG" dirty="0"/>
              <a:t>Private Credit</a:t>
            </a:r>
          </a:p>
          <a:p>
            <a:pPr marL="685800" lvl="1" indent="-228600">
              <a:spcBef>
                <a:spcPts val="0"/>
              </a:spcBef>
              <a:buSzPts val="2800"/>
            </a:pPr>
            <a:r>
              <a:rPr lang="en-SG" dirty="0"/>
              <a:t>Liquid Credit</a:t>
            </a:r>
          </a:p>
          <a:p>
            <a:pPr marL="685800" lvl="1" indent="-228600">
              <a:spcBef>
                <a:spcPts val="0"/>
              </a:spcBef>
              <a:buSzPts val="2800"/>
            </a:pPr>
            <a:r>
              <a:rPr lang="en-SG" dirty="0"/>
              <a:t>Distressed Debt / Special Situations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0" name="Google Shape;210;p4"/>
          <p:cNvSpPr txBox="1">
            <a:spLocks noGrp="1"/>
          </p:cNvSpPr>
          <p:nvPr>
            <p:ph type="title"/>
          </p:nvPr>
        </p:nvSpPr>
        <p:spPr>
          <a:xfrm>
            <a:off x="838200" y="0"/>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SG" dirty="0"/>
              <a:t>Public vs Private</a:t>
            </a:r>
            <a:endParaRPr dirty="0"/>
          </a:p>
        </p:txBody>
      </p:sp>
      <p:sp>
        <p:nvSpPr>
          <p:cNvPr id="211" name="Google Shape;211;p4"/>
          <p:cNvSpPr txBox="1">
            <a:spLocks noGrp="1"/>
          </p:cNvSpPr>
          <p:nvPr>
            <p:ph type="body" idx="1"/>
          </p:nvPr>
        </p:nvSpPr>
        <p:spPr>
          <a:xfrm>
            <a:off x="838200" y="4382650"/>
            <a:ext cx="10515600" cy="2077200"/>
          </a:xfrm>
          <a:prstGeom prst="rect">
            <a:avLst/>
          </a:prstGeom>
          <a:noFill/>
          <a:ln>
            <a:noFill/>
          </a:ln>
        </p:spPr>
        <p:txBody>
          <a:bodyPr spcFirstLastPara="1" wrap="square" lIns="91425" tIns="45700" rIns="91425" bIns="45700" anchor="t" anchorCtr="0">
            <a:normAutofit lnSpcReduction="10000"/>
          </a:bodyPr>
          <a:lstStyle/>
          <a:p>
            <a:pPr marL="228600" lvl="0" indent="-228600" algn="l" rtl="0">
              <a:lnSpc>
                <a:spcPct val="90000"/>
              </a:lnSpc>
              <a:spcBef>
                <a:spcPts val="0"/>
              </a:spcBef>
              <a:spcAft>
                <a:spcPts val="0"/>
              </a:spcAft>
              <a:buClr>
                <a:schemeClr val="dk1"/>
              </a:buClr>
              <a:buSzPts val="2800"/>
              <a:buChar char="•"/>
            </a:pPr>
            <a:r>
              <a:rPr lang="en-SG" dirty="0"/>
              <a:t>Public market debt mostly issued by “sell-side” banks, traded on public exchanges and so are liquid, subject to regulatory and disclosure requirements</a:t>
            </a:r>
            <a:endParaRPr dirty="0"/>
          </a:p>
          <a:p>
            <a:pPr marL="228600" lvl="0" indent="-228600" algn="l" rtl="0">
              <a:lnSpc>
                <a:spcPct val="90000"/>
              </a:lnSpc>
              <a:spcBef>
                <a:spcPts val="1000"/>
              </a:spcBef>
              <a:spcAft>
                <a:spcPts val="0"/>
              </a:spcAft>
              <a:buClr>
                <a:schemeClr val="dk1"/>
              </a:buClr>
              <a:buSzPts val="2800"/>
              <a:buChar char="•"/>
            </a:pPr>
            <a:r>
              <a:rPr lang="en-SG" dirty="0"/>
              <a:t>Private market debt is provided by “buy-side” firms – products are not traded and illiquid, unrated</a:t>
            </a:r>
            <a:endParaRPr dirty="0"/>
          </a:p>
        </p:txBody>
      </p:sp>
      <p:pic>
        <p:nvPicPr>
          <p:cNvPr id="212" name="Google Shape;212;p4" descr="Understanding Public and Private Credit | PIMCO"/>
          <p:cNvPicPr preferRelativeResize="0"/>
          <p:nvPr/>
        </p:nvPicPr>
        <p:blipFill rotWithShape="1">
          <a:blip r:embed="rId3">
            <a:alphaModFix/>
          </a:blip>
          <a:srcRect/>
          <a:stretch/>
        </p:blipFill>
        <p:spPr>
          <a:xfrm>
            <a:off x="3612789" y="1410987"/>
            <a:ext cx="4966422" cy="2819268"/>
          </a:xfrm>
          <a:prstGeom prst="rect">
            <a:avLst/>
          </a:prstGeom>
          <a:noFill/>
          <a:ln>
            <a:noFill/>
          </a:ln>
        </p:spPr>
      </p:pic>
      <p:pic>
        <p:nvPicPr>
          <p:cNvPr id="213" name="Google Shape;213;p4" descr="Biggest Banks in the World Logos Editorial Photo - Illustration of fargo,  america: 78364221"/>
          <p:cNvPicPr preferRelativeResize="0"/>
          <p:nvPr/>
        </p:nvPicPr>
        <p:blipFill rotWithShape="1">
          <a:blip r:embed="rId4">
            <a:alphaModFix/>
          </a:blip>
          <a:srcRect/>
          <a:stretch/>
        </p:blipFill>
        <p:spPr>
          <a:xfrm>
            <a:off x="838200" y="1690688"/>
            <a:ext cx="2646218" cy="2077281"/>
          </a:xfrm>
          <a:prstGeom prst="rect">
            <a:avLst/>
          </a:prstGeom>
          <a:noFill/>
          <a:ln>
            <a:noFill/>
          </a:ln>
        </p:spPr>
      </p:pic>
      <p:pic>
        <p:nvPicPr>
          <p:cNvPr id="214" name="Google Shape;214;p4" descr="The Rise of Private Debt Investing | GrowthCap"/>
          <p:cNvPicPr preferRelativeResize="0"/>
          <p:nvPr/>
        </p:nvPicPr>
        <p:blipFill rotWithShape="1">
          <a:blip r:embed="rId5">
            <a:alphaModFix/>
          </a:blip>
          <a:srcRect/>
          <a:stretch/>
        </p:blipFill>
        <p:spPr>
          <a:xfrm>
            <a:off x="8423562" y="2169895"/>
            <a:ext cx="2930238" cy="9157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18"/>
        <p:cNvGrpSpPr/>
        <p:nvPr/>
      </p:nvGrpSpPr>
      <p:grpSpPr>
        <a:xfrm>
          <a:off x="0" y="0"/>
          <a:ext cx="0" cy="0"/>
          <a:chOff x="0" y="0"/>
          <a:chExt cx="0" cy="0"/>
        </a:xfrm>
      </p:grpSpPr>
      <p:sp>
        <p:nvSpPr>
          <p:cNvPr id="219" name="Google Shape;219;g314c0bbca86_0_0"/>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SG"/>
              <a:t>Private credit market</a:t>
            </a:r>
            <a:endParaRPr/>
          </a:p>
        </p:txBody>
      </p:sp>
      <p:pic>
        <p:nvPicPr>
          <p:cNvPr id="220" name="Google Shape;220;g314c0bbca86_0_0"/>
          <p:cNvPicPr preferRelativeResize="0"/>
          <p:nvPr/>
        </p:nvPicPr>
        <p:blipFill rotWithShape="1">
          <a:blip r:embed="rId3">
            <a:alphaModFix/>
          </a:blip>
          <a:srcRect/>
          <a:stretch/>
        </p:blipFill>
        <p:spPr>
          <a:xfrm>
            <a:off x="838200" y="1476750"/>
            <a:ext cx="5647874" cy="3288300"/>
          </a:xfrm>
          <a:prstGeom prst="rect">
            <a:avLst/>
          </a:prstGeom>
          <a:noFill/>
          <a:ln>
            <a:noFill/>
          </a:ln>
        </p:spPr>
      </p:pic>
      <p:sp>
        <p:nvSpPr>
          <p:cNvPr id="222" name="Google Shape;222;g314c0bbca86_0_0"/>
          <p:cNvSpPr txBox="1">
            <a:spLocks noGrp="1"/>
          </p:cNvSpPr>
          <p:nvPr>
            <p:ph type="body" idx="1"/>
          </p:nvPr>
        </p:nvSpPr>
        <p:spPr>
          <a:xfrm>
            <a:off x="6724950" y="1528700"/>
            <a:ext cx="5319300" cy="3539100"/>
          </a:xfrm>
          <a:prstGeom prst="rect">
            <a:avLst/>
          </a:prstGeom>
          <a:noFill/>
          <a:ln>
            <a:noFill/>
          </a:ln>
        </p:spPr>
        <p:txBody>
          <a:bodyPr spcFirstLastPara="1" wrap="square" lIns="91425" tIns="45700" rIns="91425" bIns="45700" anchor="t" anchorCtr="0">
            <a:normAutofit lnSpcReduction="10000"/>
          </a:bodyPr>
          <a:lstStyle/>
          <a:p>
            <a:pPr marL="228600" lvl="0" indent="-228600" algn="l" rtl="0">
              <a:lnSpc>
                <a:spcPct val="115000"/>
              </a:lnSpc>
              <a:spcBef>
                <a:spcPts val="0"/>
              </a:spcBef>
              <a:spcAft>
                <a:spcPts val="0"/>
              </a:spcAft>
              <a:buSzPts val="2300"/>
              <a:buChar char="•"/>
            </a:pPr>
            <a:r>
              <a:rPr lang="en-SG" sz="2300" dirty="0"/>
              <a:t>Banks have retreated from traditional lending post-Dodd Frank</a:t>
            </a:r>
          </a:p>
          <a:p>
            <a:pPr marL="228600" lvl="0" indent="-228600" algn="l" rtl="0">
              <a:lnSpc>
                <a:spcPct val="115000"/>
              </a:lnSpc>
              <a:spcBef>
                <a:spcPts val="0"/>
              </a:spcBef>
              <a:spcAft>
                <a:spcPts val="0"/>
              </a:spcAft>
              <a:buSzPts val="2300"/>
              <a:buChar char="•"/>
            </a:pPr>
            <a:r>
              <a:rPr lang="en-SG" sz="2300" dirty="0"/>
              <a:t>Boom over the past few years and likely to continue</a:t>
            </a:r>
            <a:endParaRPr sz="2300" dirty="0"/>
          </a:p>
          <a:p>
            <a:pPr marL="228600" lvl="0" indent="-228600">
              <a:lnSpc>
                <a:spcPct val="115000"/>
              </a:lnSpc>
              <a:spcBef>
                <a:spcPts val="0"/>
              </a:spcBef>
              <a:buSzPts val="2300"/>
            </a:pPr>
            <a:r>
              <a:rPr lang="en-SG" sz="2400" dirty="0"/>
              <a:t>Heavily concentrated in sectors such as tech and health services</a:t>
            </a:r>
          </a:p>
          <a:p>
            <a:pPr marL="228600" indent="-228600">
              <a:lnSpc>
                <a:spcPct val="115000"/>
              </a:lnSpc>
              <a:spcBef>
                <a:spcPts val="0"/>
              </a:spcBef>
              <a:buSzPts val="2300"/>
            </a:pPr>
            <a:r>
              <a:rPr lang="en-GB" sz="2400" dirty="0"/>
              <a:t>Typically issued by smaller, leveraged companies financed with floating-rate debt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0" name="Google Shape;260;g313dc173f8b_0_280"/>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SG"/>
              <a:t>Sovereign credit</a:t>
            </a:r>
            <a:endParaRPr/>
          </a:p>
        </p:txBody>
      </p:sp>
      <p:sp>
        <p:nvSpPr>
          <p:cNvPr id="261" name="Google Shape;261;g313dc173f8b_0_280"/>
          <p:cNvSpPr txBox="1">
            <a:spLocks noGrp="1"/>
          </p:cNvSpPr>
          <p:nvPr>
            <p:ph type="body" idx="1"/>
          </p:nvPr>
        </p:nvSpPr>
        <p:spPr>
          <a:xfrm>
            <a:off x="838200" y="4336676"/>
            <a:ext cx="10515600" cy="2320200"/>
          </a:xfrm>
          <a:prstGeom prst="rect">
            <a:avLst/>
          </a:prstGeom>
          <a:noFill/>
          <a:ln>
            <a:noFill/>
          </a:ln>
        </p:spPr>
        <p:txBody>
          <a:bodyPr spcFirstLastPara="1" wrap="square" lIns="91425" tIns="45700" rIns="91425" bIns="45700" anchor="t" anchorCtr="0">
            <a:normAutofit lnSpcReduction="10000"/>
          </a:bodyPr>
          <a:lstStyle/>
          <a:p>
            <a:pPr marL="228600" lvl="0" indent="-228600" algn="l" rtl="0">
              <a:lnSpc>
                <a:spcPct val="90000"/>
              </a:lnSpc>
              <a:spcBef>
                <a:spcPts val="0"/>
              </a:spcBef>
              <a:spcAft>
                <a:spcPts val="0"/>
              </a:spcAft>
              <a:buClr>
                <a:schemeClr val="dk1"/>
              </a:buClr>
              <a:buSzPts val="2800"/>
              <a:buChar char="•"/>
            </a:pPr>
            <a:r>
              <a:rPr lang="en-SG"/>
              <a:t>Governments (developed or emerging) raise money in their own currency (local currency) or another currency (hard currency, usually USD and more common for EM)</a:t>
            </a:r>
            <a:endParaRPr/>
          </a:p>
          <a:p>
            <a:pPr marL="228600" lvl="0" indent="-228600" algn="l" rtl="0">
              <a:lnSpc>
                <a:spcPct val="90000"/>
              </a:lnSpc>
              <a:spcBef>
                <a:spcPts val="1000"/>
              </a:spcBef>
              <a:spcAft>
                <a:spcPts val="0"/>
              </a:spcAft>
              <a:buClr>
                <a:schemeClr val="dk1"/>
              </a:buClr>
              <a:buSzPts val="2800"/>
              <a:buChar char="•"/>
            </a:pPr>
            <a:r>
              <a:rPr lang="en-SG"/>
              <a:t>Governments can borrow domestically, but due to limited funds available may also market their debt internationally or seek out arrangements with other govts/international organisations</a:t>
            </a:r>
            <a:endParaRPr/>
          </a:p>
        </p:txBody>
      </p:sp>
      <p:pic>
        <p:nvPicPr>
          <p:cNvPr id="262" name="Google Shape;262;g313dc173f8b_0_280"/>
          <p:cNvPicPr preferRelativeResize="0"/>
          <p:nvPr/>
        </p:nvPicPr>
        <p:blipFill rotWithShape="1">
          <a:blip r:embed="rId3">
            <a:alphaModFix/>
          </a:blip>
          <a:srcRect/>
          <a:stretch/>
        </p:blipFill>
        <p:spPr>
          <a:xfrm>
            <a:off x="1981200" y="1515275"/>
            <a:ext cx="3532825" cy="2821400"/>
          </a:xfrm>
          <a:prstGeom prst="rect">
            <a:avLst/>
          </a:prstGeom>
          <a:noFill/>
          <a:ln>
            <a:noFill/>
          </a:ln>
        </p:spPr>
      </p:pic>
      <p:pic>
        <p:nvPicPr>
          <p:cNvPr id="263" name="Google Shape;263;g313dc173f8b_0_280"/>
          <p:cNvPicPr preferRelativeResize="0"/>
          <p:nvPr/>
        </p:nvPicPr>
        <p:blipFill rotWithShape="1">
          <a:blip r:embed="rId4">
            <a:alphaModFix/>
          </a:blip>
          <a:srcRect/>
          <a:stretch/>
        </p:blipFill>
        <p:spPr>
          <a:xfrm>
            <a:off x="5602925" y="1515275"/>
            <a:ext cx="5074615" cy="28214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1" name="Google Shape;241;p8"/>
          <p:cNvSpPr txBox="1">
            <a:spLocks noGrp="1"/>
          </p:cNvSpPr>
          <p:nvPr>
            <p:ph type="title"/>
          </p:nvPr>
        </p:nvSpPr>
        <p:spPr>
          <a:xfrm>
            <a:off x="838200" y="365125"/>
            <a:ext cx="10515600" cy="152768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SG"/>
              <a:t>Risk-return scatterplot for credit investments</a:t>
            </a:r>
            <a:endParaRPr/>
          </a:p>
        </p:txBody>
      </p:sp>
      <p:sp>
        <p:nvSpPr>
          <p:cNvPr id="242" name="Google Shape;242;p8" descr="Credit rating distribution of corporate bonds in 2021. Data source:... |  Download Scientific Diagram"/>
          <p:cNvSpPr/>
          <p:nvPr/>
        </p:nvSpPr>
        <p:spPr>
          <a:xfrm>
            <a:off x="5943600" y="3276600"/>
            <a:ext cx="304800" cy="30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243" name="Google Shape;243;p8" descr="A Competitive Risk/Return Profile"/>
          <p:cNvPicPr preferRelativeResize="0"/>
          <p:nvPr/>
        </p:nvPicPr>
        <p:blipFill rotWithShape="1">
          <a:blip r:embed="rId3">
            <a:alphaModFix/>
          </a:blip>
          <a:srcRect/>
          <a:stretch/>
        </p:blipFill>
        <p:spPr>
          <a:xfrm>
            <a:off x="1680413" y="2189344"/>
            <a:ext cx="8831174" cy="38943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67"/>
        <p:cNvGrpSpPr/>
        <p:nvPr/>
      </p:nvGrpSpPr>
      <p:grpSpPr>
        <a:xfrm>
          <a:off x="0" y="0"/>
          <a:ext cx="0" cy="0"/>
          <a:chOff x="0" y="0"/>
          <a:chExt cx="0" cy="0"/>
        </a:xfrm>
      </p:grpSpPr>
      <p:sp>
        <p:nvSpPr>
          <p:cNvPr id="268" name="Google Shape;268;g313dc173f8b_0_287"/>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SG"/>
              <a:t>Developed vs. emerging markets</a:t>
            </a:r>
            <a:endParaRPr/>
          </a:p>
        </p:txBody>
      </p:sp>
      <p:sp>
        <p:nvSpPr>
          <p:cNvPr id="269" name="Google Shape;269;g313dc173f8b_0_287"/>
          <p:cNvSpPr txBox="1">
            <a:spLocks noGrp="1"/>
          </p:cNvSpPr>
          <p:nvPr>
            <p:ph type="body" idx="1"/>
          </p:nvPr>
        </p:nvSpPr>
        <p:spPr>
          <a:xfrm>
            <a:off x="254700" y="4068700"/>
            <a:ext cx="11850000" cy="2953800"/>
          </a:xfrm>
          <a:prstGeom prst="rect">
            <a:avLst/>
          </a:prstGeom>
          <a:noFill/>
          <a:ln>
            <a:noFill/>
          </a:ln>
        </p:spPr>
        <p:txBody>
          <a:bodyPr spcFirstLastPara="1" wrap="square" lIns="91425" tIns="45700" rIns="91425" bIns="45700" anchor="t" anchorCtr="0">
            <a:normAutofit/>
          </a:bodyPr>
          <a:lstStyle/>
          <a:p>
            <a:pPr marL="228600" lvl="0" indent="-196850" algn="l" rtl="0">
              <a:lnSpc>
                <a:spcPct val="90000"/>
              </a:lnSpc>
              <a:spcBef>
                <a:spcPts val="0"/>
              </a:spcBef>
              <a:spcAft>
                <a:spcPts val="0"/>
              </a:spcAft>
              <a:buClr>
                <a:schemeClr val="dk1"/>
              </a:buClr>
              <a:buSzPts val="2300"/>
              <a:buChar char="•"/>
            </a:pPr>
            <a:r>
              <a:rPr lang="en-SG" sz="2300"/>
              <a:t>Developed markets: highly liquid government bond markets, stable economic conditions, and low credit risk</a:t>
            </a:r>
            <a:endParaRPr sz="2300"/>
          </a:p>
          <a:p>
            <a:pPr marL="685800" lvl="1" indent="-196850" algn="l" rtl="0">
              <a:lnSpc>
                <a:spcPct val="90000"/>
              </a:lnSpc>
              <a:spcBef>
                <a:spcPts val="0"/>
              </a:spcBef>
              <a:spcAft>
                <a:spcPts val="0"/>
              </a:spcAft>
              <a:buSzPts val="1300"/>
              <a:buChar char="•"/>
            </a:pPr>
            <a:r>
              <a:rPr lang="en-SG" sz="1900"/>
              <a:t>USTs, JGBs, Eurozone debt (but country credit risk can vary; Germany as benchmark)</a:t>
            </a:r>
            <a:endParaRPr sz="1900"/>
          </a:p>
          <a:p>
            <a:pPr marL="228600" lvl="0" indent="-196850" algn="l" rtl="0">
              <a:lnSpc>
                <a:spcPct val="90000"/>
              </a:lnSpc>
              <a:spcBef>
                <a:spcPts val="1000"/>
              </a:spcBef>
              <a:spcAft>
                <a:spcPts val="0"/>
              </a:spcAft>
              <a:buClr>
                <a:schemeClr val="dk1"/>
              </a:buClr>
              <a:buSzPts val="2300"/>
              <a:buChar char="•"/>
            </a:pPr>
            <a:r>
              <a:rPr lang="en-SG" sz="2300"/>
              <a:t>Emerging markets: higher yields due to greater credit and currency risks, number of investable EM countries has more than doubled in past 20 years. </a:t>
            </a:r>
            <a:endParaRPr sz="2300"/>
          </a:p>
          <a:p>
            <a:pPr marL="685800" lvl="1" indent="-196850" algn="l" rtl="0">
              <a:lnSpc>
                <a:spcPct val="90000"/>
              </a:lnSpc>
              <a:spcBef>
                <a:spcPts val="1000"/>
              </a:spcBef>
              <a:spcAft>
                <a:spcPts val="0"/>
              </a:spcAft>
              <a:buSzPts val="1300"/>
              <a:buChar char="•"/>
            </a:pPr>
            <a:r>
              <a:rPr lang="en-SG" sz="1900"/>
              <a:t>LatAm (Brazil, Mexico, Argentina), Eastern Europe, some ASEAN (Indonesia, Malaysia)</a:t>
            </a:r>
            <a:endParaRPr sz="1900"/>
          </a:p>
          <a:p>
            <a:pPr marL="685800" lvl="1" indent="-196850" algn="l" rtl="0">
              <a:lnSpc>
                <a:spcPct val="90000"/>
              </a:lnSpc>
              <a:spcBef>
                <a:spcPts val="1000"/>
              </a:spcBef>
              <a:spcAft>
                <a:spcPts val="0"/>
              </a:spcAft>
              <a:buSzPts val="1300"/>
              <a:buChar char="•"/>
            </a:pPr>
            <a:r>
              <a:rPr lang="en-SG" sz="1900"/>
              <a:t>More financially advanced countries can target domestic investors, others have less developed domestic capital market so issue bonds externally in hard currency</a:t>
            </a:r>
            <a:endParaRPr sz="1900"/>
          </a:p>
        </p:txBody>
      </p:sp>
      <p:pic>
        <p:nvPicPr>
          <p:cNvPr id="270" name="Google Shape;270;g313dc173f8b_0_287"/>
          <p:cNvPicPr preferRelativeResize="0"/>
          <p:nvPr/>
        </p:nvPicPr>
        <p:blipFill rotWithShape="1">
          <a:blip r:embed="rId3">
            <a:alphaModFix/>
          </a:blip>
          <a:srcRect b="10618"/>
          <a:stretch/>
        </p:blipFill>
        <p:spPr>
          <a:xfrm>
            <a:off x="320188" y="1378075"/>
            <a:ext cx="5694920" cy="2690625"/>
          </a:xfrm>
          <a:prstGeom prst="rect">
            <a:avLst/>
          </a:prstGeom>
          <a:noFill/>
          <a:ln>
            <a:noFill/>
          </a:ln>
        </p:spPr>
      </p:pic>
      <p:pic>
        <p:nvPicPr>
          <p:cNvPr id="271" name="Google Shape;271;g313dc173f8b_0_287"/>
          <p:cNvPicPr preferRelativeResize="0"/>
          <p:nvPr/>
        </p:nvPicPr>
        <p:blipFill rotWithShape="1">
          <a:blip r:embed="rId4">
            <a:alphaModFix/>
          </a:blip>
          <a:srcRect/>
          <a:stretch/>
        </p:blipFill>
        <p:spPr>
          <a:xfrm>
            <a:off x="6015107" y="1378075"/>
            <a:ext cx="6024106" cy="27449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DBEB10-05DC-1748-D4AB-4CE4A80360D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0F0BBAA-113A-989F-C3E4-C499EA401EB8}"/>
              </a:ext>
            </a:extLst>
          </p:cNvPr>
          <p:cNvSpPr>
            <a:spLocks noGrp="1"/>
          </p:cNvSpPr>
          <p:nvPr>
            <p:ph type="title"/>
          </p:nvPr>
        </p:nvSpPr>
        <p:spPr/>
        <p:txBody>
          <a:bodyPr/>
          <a:lstStyle/>
          <a:p>
            <a:r>
              <a:rPr lang="en-GB" dirty="0"/>
              <a:t>Credit Analysis</a:t>
            </a:r>
          </a:p>
        </p:txBody>
      </p:sp>
      <p:sp>
        <p:nvSpPr>
          <p:cNvPr id="5" name="Text Placeholder 4">
            <a:extLst>
              <a:ext uri="{FF2B5EF4-FFF2-40B4-BE49-F238E27FC236}">
                <a16:creationId xmlns:a16="http://schemas.microsoft.com/office/drawing/2014/main" id="{22D5AAAB-4BCC-A16B-317E-9BF85FC3B83F}"/>
              </a:ext>
            </a:extLst>
          </p:cNvPr>
          <p:cNvSpPr>
            <a:spLocks noGrp="1"/>
          </p:cNvSpPr>
          <p:nvPr>
            <p:ph type="body" idx="1"/>
          </p:nvPr>
        </p:nvSpPr>
        <p:spPr/>
        <p:txBody>
          <a:bodyPr/>
          <a:lstStyle/>
          <a:p>
            <a:endParaRPr lang="en-GB"/>
          </a:p>
        </p:txBody>
      </p:sp>
    </p:spTree>
    <p:extLst>
      <p:ext uri="{BB962C8B-B14F-4D97-AF65-F5344CB8AC3E}">
        <p14:creationId xmlns:p14="http://schemas.microsoft.com/office/powerpoint/2010/main" val="39911546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34"/>
        <p:cNvGrpSpPr/>
        <p:nvPr/>
      </p:nvGrpSpPr>
      <p:grpSpPr>
        <a:xfrm>
          <a:off x="0" y="0"/>
          <a:ext cx="0" cy="0"/>
          <a:chOff x="0" y="0"/>
          <a:chExt cx="0" cy="0"/>
        </a:xfrm>
      </p:grpSpPr>
      <p:sp>
        <p:nvSpPr>
          <p:cNvPr id="335" name="Google Shape;335;p1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SG"/>
              <a:t>5Cs of basic credit analysis</a:t>
            </a:r>
            <a:endParaRPr/>
          </a:p>
        </p:txBody>
      </p:sp>
      <p:pic>
        <p:nvPicPr>
          <p:cNvPr id="336" name="Google Shape;336;p11" descr="The 5 C's of Credit PowerPoint Template Designs - SlideSalad"/>
          <p:cNvPicPr preferRelativeResize="0"/>
          <p:nvPr/>
        </p:nvPicPr>
        <p:blipFill rotWithShape="1">
          <a:blip r:embed="rId3">
            <a:alphaModFix/>
          </a:blip>
          <a:srcRect t="13143" b="8621"/>
          <a:stretch/>
        </p:blipFill>
        <p:spPr>
          <a:xfrm>
            <a:off x="1047475" y="1690700"/>
            <a:ext cx="10097052" cy="444332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33"/>
        <p:cNvGrpSpPr/>
        <p:nvPr/>
      </p:nvGrpSpPr>
      <p:grpSpPr>
        <a:xfrm>
          <a:off x="0" y="0"/>
          <a:ext cx="0" cy="0"/>
          <a:chOff x="0" y="0"/>
          <a:chExt cx="0" cy="0"/>
        </a:xfrm>
      </p:grpSpPr>
      <p:sp>
        <p:nvSpPr>
          <p:cNvPr id="234" name="Google Shape;234;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SG"/>
              <a:t>Credit Ratings</a:t>
            </a:r>
            <a:endParaRPr/>
          </a:p>
        </p:txBody>
      </p:sp>
      <p:pic>
        <p:nvPicPr>
          <p:cNvPr id="235" name="Google Shape;235;p7" descr="Credit rating - PrepNuggets"/>
          <p:cNvPicPr preferRelativeResize="0"/>
          <p:nvPr/>
        </p:nvPicPr>
        <p:blipFill rotWithShape="1">
          <a:blip r:embed="rId3">
            <a:alphaModFix/>
          </a:blip>
          <a:srcRect/>
          <a:stretch/>
        </p:blipFill>
        <p:spPr>
          <a:xfrm>
            <a:off x="114300" y="1895171"/>
            <a:ext cx="6533919" cy="4023938"/>
          </a:xfrm>
          <a:prstGeom prst="rect">
            <a:avLst/>
          </a:prstGeom>
          <a:noFill/>
          <a:ln>
            <a:noFill/>
          </a:ln>
        </p:spPr>
      </p:pic>
      <p:sp>
        <p:nvSpPr>
          <p:cNvPr id="236" name="Google Shape;236;p7"/>
          <p:cNvSpPr txBox="1">
            <a:spLocks noGrp="1"/>
          </p:cNvSpPr>
          <p:nvPr>
            <p:ph type="body" idx="1"/>
          </p:nvPr>
        </p:nvSpPr>
        <p:spPr>
          <a:xfrm>
            <a:off x="6749125" y="2278600"/>
            <a:ext cx="5319300" cy="3539100"/>
          </a:xfrm>
          <a:prstGeom prst="rect">
            <a:avLst/>
          </a:prstGeom>
          <a:noFill/>
          <a:ln>
            <a:noFill/>
          </a:ln>
        </p:spPr>
        <p:txBody>
          <a:bodyPr spcFirstLastPara="1" wrap="square" lIns="91425" tIns="45700" rIns="91425" bIns="45700" anchor="t" anchorCtr="0">
            <a:normAutofit fontScale="92500"/>
          </a:bodyPr>
          <a:lstStyle/>
          <a:p>
            <a:pPr marL="228600" lvl="0" indent="-196850" algn="l" rtl="0">
              <a:lnSpc>
                <a:spcPct val="115000"/>
              </a:lnSpc>
              <a:spcBef>
                <a:spcPts val="0"/>
              </a:spcBef>
              <a:spcAft>
                <a:spcPts val="0"/>
              </a:spcAft>
              <a:buClr>
                <a:schemeClr val="dk1"/>
              </a:buClr>
              <a:buSzPts val="2300"/>
              <a:buChar char="•"/>
            </a:pPr>
            <a:r>
              <a:rPr lang="en-SG" sz="2300" b="1"/>
              <a:t>Risk assessment</a:t>
            </a:r>
            <a:r>
              <a:rPr lang="en-SG" sz="2300"/>
              <a:t> for investors seeking portfolio strategy and diversification </a:t>
            </a:r>
            <a:br>
              <a:rPr lang="en-SG" sz="2300"/>
            </a:br>
            <a:endParaRPr sz="2300"/>
          </a:p>
          <a:p>
            <a:pPr marL="228600" lvl="0" indent="-196850" algn="l" rtl="0">
              <a:lnSpc>
                <a:spcPct val="115000"/>
              </a:lnSpc>
              <a:spcBef>
                <a:spcPts val="0"/>
              </a:spcBef>
              <a:spcAft>
                <a:spcPts val="0"/>
              </a:spcAft>
              <a:buSzPts val="2300"/>
              <a:buChar char="•"/>
            </a:pPr>
            <a:r>
              <a:rPr lang="en-SG" sz="2300"/>
              <a:t>Higher credit ratings lead to lower interest rates and thus </a:t>
            </a:r>
            <a:r>
              <a:rPr lang="en-SG" sz="2300" b="1"/>
              <a:t>lower borrowing costs</a:t>
            </a:r>
            <a:br>
              <a:rPr lang="en-SG" sz="2300" b="1"/>
            </a:br>
            <a:endParaRPr sz="2300" b="1"/>
          </a:p>
          <a:p>
            <a:pPr marL="228600" lvl="0" indent="-196850" algn="l" rtl="0">
              <a:lnSpc>
                <a:spcPct val="115000"/>
              </a:lnSpc>
              <a:spcBef>
                <a:spcPts val="0"/>
              </a:spcBef>
              <a:spcAft>
                <a:spcPts val="0"/>
              </a:spcAft>
              <a:buSzPts val="2300"/>
              <a:buChar char="•"/>
            </a:pPr>
            <a:r>
              <a:rPr lang="en-SG" sz="2300" b="1"/>
              <a:t>Eligibility for inclusion into different bond indices</a:t>
            </a:r>
            <a:endParaRPr sz="2300" b="1"/>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sp>
        <p:nvSpPr>
          <p:cNvPr id="283" name="Google Shape;283;p1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SG"/>
              <a:t>Credit Rating Methodology – S&amp;P</a:t>
            </a:r>
            <a:endParaRPr/>
          </a:p>
        </p:txBody>
      </p:sp>
      <p:sp>
        <p:nvSpPr>
          <p:cNvPr id="284" name="Google Shape;284;p14"/>
          <p:cNvSpPr txBox="1">
            <a:spLocks noGrp="1"/>
          </p:cNvSpPr>
          <p:nvPr>
            <p:ph type="body" idx="1"/>
          </p:nvPr>
        </p:nvSpPr>
        <p:spPr>
          <a:xfrm>
            <a:off x="6842588" y="1911308"/>
            <a:ext cx="4715427" cy="4216336"/>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SG"/>
              <a:t>Country of incorporation and currency that bond is raised in is very important </a:t>
            </a:r>
            <a:endParaRPr/>
          </a:p>
          <a:p>
            <a:pPr marL="228600" lvl="0" indent="-228600" algn="l" rtl="0">
              <a:lnSpc>
                <a:spcPct val="90000"/>
              </a:lnSpc>
              <a:spcBef>
                <a:spcPts val="1000"/>
              </a:spcBef>
              <a:spcAft>
                <a:spcPts val="0"/>
              </a:spcAft>
              <a:buClr>
                <a:schemeClr val="dk1"/>
              </a:buClr>
              <a:buSzPts val="2800"/>
              <a:buChar char="•"/>
            </a:pPr>
            <a:r>
              <a:rPr lang="en-SG"/>
              <a:t>Sovereign rating determines risk-free rate for the country – becoming the base of cost of funding </a:t>
            </a:r>
            <a:endParaRPr/>
          </a:p>
        </p:txBody>
      </p:sp>
      <p:pic>
        <p:nvPicPr>
          <p:cNvPr id="285" name="Google Shape;285;p14"/>
          <p:cNvPicPr preferRelativeResize="0"/>
          <p:nvPr/>
        </p:nvPicPr>
        <p:blipFill rotWithShape="1">
          <a:blip r:embed="rId3">
            <a:alphaModFix/>
          </a:blip>
          <a:srcRect/>
          <a:stretch/>
        </p:blipFill>
        <p:spPr>
          <a:xfrm>
            <a:off x="709037" y="1408176"/>
            <a:ext cx="5640118" cy="4855464"/>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5"/>
        <p:cNvGrpSpPr/>
        <p:nvPr/>
      </p:nvGrpSpPr>
      <p:grpSpPr>
        <a:xfrm>
          <a:off x="0" y="0"/>
          <a:ext cx="0" cy="0"/>
          <a:chOff x="0" y="0"/>
          <a:chExt cx="0" cy="0"/>
        </a:xfrm>
      </p:grpSpPr>
      <p:sp>
        <p:nvSpPr>
          <p:cNvPr id="276" name="Google Shape;276;p1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SG"/>
              <a:t>Credit Rating Methodology – S&amp;P</a:t>
            </a:r>
            <a:endParaRPr/>
          </a:p>
        </p:txBody>
      </p:sp>
      <p:pic>
        <p:nvPicPr>
          <p:cNvPr id="277" name="Google Shape;277;p13" descr="Credit FAQ: How Does S&amp;P Global Ratings Incorporate Environmental, Social,  And Governance Risks Into Its Ratings Analysis | S&amp;P Global Ratings"/>
          <p:cNvPicPr preferRelativeResize="0"/>
          <p:nvPr/>
        </p:nvPicPr>
        <p:blipFill rotWithShape="1">
          <a:blip r:embed="rId3">
            <a:alphaModFix/>
          </a:blip>
          <a:srcRect/>
          <a:stretch/>
        </p:blipFill>
        <p:spPr>
          <a:xfrm>
            <a:off x="910119" y="1335641"/>
            <a:ext cx="5613971" cy="5367670"/>
          </a:xfrm>
          <a:prstGeom prst="rect">
            <a:avLst/>
          </a:prstGeom>
          <a:noFill/>
          <a:ln>
            <a:noFill/>
          </a:ln>
        </p:spPr>
      </p:pic>
      <p:sp>
        <p:nvSpPr>
          <p:cNvPr id="278" name="Google Shape;278;p13"/>
          <p:cNvSpPr txBox="1">
            <a:spLocks noGrp="1"/>
          </p:cNvSpPr>
          <p:nvPr>
            <p:ph type="body" idx="1"/>
          </p:nvPr>
        </p:nvSpPr>
        <p:spPr>
          <a:xfrm>
            <a:off x="6842588" y="1911308"/>
            <a:ext cx="4715427" cy="4216336"/>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SG"/>
              <a:t>Start with macro – country and industry that company operates in</a:t>
            </a:r>
            <a:endParaRPr/>
          </a:p>
          <a:p>
            <a:pPr marL="228600" lvl="0" indent="-228600" algn="l" rtl="0">
              <a:lnSpc>
                <a:spcPct val="90000"/>
              </a:lnSpc>
              <a:spcBef>
                <a:spcPts val="1000"/>
              </a:spcBef>
              <a:spcAft>
                <a:spcPts val="0"/>
              </a:spcAft>
              <a:buClr>
                <a:schemeClr val="dk1"/>
              </a:buClr>
              <a:buSzPts val="2800"/>
              <a:buChar char="•"/>
            </a:pPr>
            <a:r>
              <a:rPr lang="en-SG"/>
              <a:t>Continue with micro – company ratios that would affect repayment</a:t>
            </a:r>
            <a:endParaRPr/>
          </a:p>
          <a:p>
            <a:pPr marL="228600" lvl="0" indent="-228600" algn="l" rtl="0">
              <a:lnSpc>
                <a:spcPct val="90000"/>
              </a:lnSpc>
              <a:spcBef>
                <a:spcPts val="1000"/>
              </a:spcBef>
              <a:spcAft>
                <a:spcPts val="0"/>
              </a:spcAft>
              <a:buClr>
                <a:schemeClr val="dk1"/>
              </a:buClr>
              <a:buSzPts val="2800"/>
              <a:buChar char="•"/>
            </a:pPr>
            <a:r>
              <a:rPr lang="en-SG"/>
              <a:t>Finish with individual credit analysis – structure and terms of credit product</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5" name="Google Shape;315;p9"/>
          <p:cNvSpPr txBox="1">
            <a:spLocks noGrp="1"/>
          </p:cNvSpPr>
          <p:nvPr>
            <p:ph type="title"/>
          </p:nvPr>
        </p:nvSpPr>
        <p:spPr>
          <a:xfrm>
            <a:off x="716350" y="118250"/>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SG"/>
              <a:t>Basic Jargon</a:t>
            </a:r>
            <a:endParaRPr/>
          </a:p>
        </p:txBody>
      </p:sp>
      <p:sp>
        <p:nvSpPr>
          <p:cNvPr id="316" name="Google Shape;316;p9"/>
          <p:cNvSpPr txBox="1">
            <a:spLocks noGrp="1"/>
          </p:cNvSpPr>
          <p:nvPr>
            <p:ph type="body" idx="1"/>
          </p:nvPr>
        </p:nvSpPr>
        <p:spPr>
          <a:xfrm>
            <a:off x="716350" y="1356925"/>
            <a:ext cx="11177100" cy="5414100"/>
          </a:xfrm>
          <a:prstGeom prst="rect">
            <a:avLst/>
          </a:prstGeom>
          <a:noFill/>
          <a:ln>
            <a:noFill/>
          </a:ln>
        </p:spPr>
        <p:txBody>
          <a:bodyPr spcFirstLastPara="1" wrap="square" lIns="91425" tIns="45700" rIns="91425" bIns="45700" anchor="t" anchorCtr="0">
            <a:normAutofit/>
          </a:bodyPr>
          <a:lstStyle/>
          <a:p>
            <a:pPr marL="457200" lvl="0" indent="-330200" algn="l" rtl="0">
              <a:lnSpc>
                <a:spcPct val="90000"/>
              </a:lnSpc>
              <a:spcBef>
                <a:spcPts val="1000"/>
              </a:spcBef>
              <a:spcAft>
                <a:spcPts val="0"/>
              </a:spcAft>
              <a:buSzPts val="1600"/>
              <a:buAutoNum type="arabicPeriod"/>
            </a:pPr>
            <a:r>
              <a:rPr lang="en-SG" sz="2600"/>
              <a:t>Covenants: Set of rules that the issuer must follow</a:t>
            </a:r>
            <a:br>
              <a:rPr lang="en-SG" sz="2600"/>
            </a:br>
            <a:br>
              <a:rPr lang="en-SG" sz="2600"/>
            </a:br>
            <a:r>
              <a:rPr lang="en-SG" sz="2600" b="1">
                <a:solidFill>
                  <a:srgbClr val="FF0000"/>
                </a:solidFill>
              </a:rPr>
              <a:t>Split into Financial and Restrictive Covenants</a:t>
            </a:r>
            <a:br>
              <a:rPr lang="en-SG" sz="2600"/>
            </a:br>
            <a:endParaRPr sz="2600"/>
          </a:p>
          <a:p>
            <a:pPr marL="457200" lvl="0" indent="-330200" algn="l" rtl="0">
              <a:lnSpc>
                <a:spcPct val="90000"/>
              </a:lnSpc>
              <a:spcBef>
                <a:spcPts val="0"/>
              </a:spcBef>
              <a:spcAft>
                <a:spcPts val="0"/>
              </a:spcAft>
              <a:buSzPts val="1600"/>
              <a:buAutoNum type="arabicPeriod"/>
            </a:pPr>
            <a:r>
              <a:rPr lang="en-SG" sz="2600"/>
              <a:t>EBITDA: Earnings before Interest, Taxation, Depreciation and Amortisation</a:t>
            </a:r>
            <a:br>
              <a:rPr lang="en-SG" sz="2600"/>
            </a:br>
            <a:endParaRPr sz="2600"/>
          </a:p>
          <a:p>
            <a:pPr marL="457200" lvl="0" indent="-330200" algn="l" rtl="0">
              <a:lnSpc>
                <a:spcPct val="90000"/>
              </a:lnSpc>
              <a:spcBef>
                <a:spcPts val="0"/>
              </a:spcBef>
              <a:spcAft>
                <a:spcPts val="0"/>
              </a:spcAft>
              <a:buSzPts val="1600"/>
              <a:buAutoNum type="arabicPeriod"/>
            </a:pPr>
            <a:r>
              <a:rPr lang="en-SG" sz="2600"/>
              <a:t>Leverage Ratio: Debt/EBITDA</a:t>
            </a:r>
            <a:br>
              <a:rPr lang="en-SG" sz="2600"/>
            </a:br>
            <a:endParaRPr sz="2600"/>
          </a:p>
          <a:p>
            <a:pPr marL="457200" lvl="0" indent="-330200" algn="l" rtl="0">
              <a:lnSpc>
                <a:spcPct val="90000"/>
              </a:lnSpc>
              <a:spcBef>
                <a:spcPts val="0"/>
              </a:spcBef>
              <a:spcAft>
                <a:spcPts val="0"/>
              </a:spcAft>
              <a:buSzPts val="1600"/>
              <a:buAutoNum type="arabicPeriod"/>
            </a:pPr>
            <a:r>
              <a:rPr lang="en-SG" sz="2600"/>
              <a:t>Interest Coverage Ratio: EBIT/Annual Interest Expense</a:t>
            </a:r>
            <a:br>
              <a:rPr lang="en-SG" sz="2600"/>
            </a:br>
            <a:endParaRPr sz="2600"/>
          </a:p>
          <a:p>
            <a:pPr marL="457200" lvl="0" indent="-330200" algn="l" rtl="0">
              <a:lnSpc>
                <a:spcPct val="90000"/>
              </a:lnSpc>
              <a:spcBef>
                <a:spcPts val="0"/>
              </a:spcBef>
              <a:spcAft>
                <a:spcPts val="0"/>
              </a:spcAft>
              <a:buSzPts val="1600"/>
              <a:buAutoNum type="arabicPeriod"/>
            </a:pPr>
            <a:r>
              <a:rPr lang="en-SG" sz="2600"/>
              <a:t>Debt Service Coverage Ratio: EBITDA/Interest + Principal Repayments</a:t>
            </a:r>
            <a:endParaRPr sz="26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20"/>
        <p:cNvGrpSpPr/>
        <p:nvPr/>
      </p:nvGrpSpPr>
      <p:grpSpPr>
        <a:xfrm>
          <a:off x="0" y="0"/>
          <a:ext cx="0" cy="0"/>
          <a:chOff x="0" y="0"/>
          <a:chExt cx="0" cy="0"/>
        </a:xfrm>
      </p:grpSpPr>
      <p:sp>
        <p:nvSpPr>
          <p:cNvPr id="321" name="Google Shape;321;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SG"/>
              <a:t>Capital Structure</a:t>
            </a:r>
            <a:endParaRPr/>
          </a:p>
        </p:txBody>
      </p:sp>
      <p:pic>
        <p:nvPicPr>
          <p:cNvPr id="322" name="Google Shape;322;p10" descr="Rob på Twitter: &quot;@Ben_Mackovak I like the visual. But never one-size-fits  all. Mezz financing options typically come with covenants that can have it  treated as subordinated debt (or preferred equity) on the"/>
          <p:cNvPicPr preferRelativeResize="0"/>
          <p:nvPr/>
        </p:nvPicPr>
        <p:blipFill rotWithShape="1">
          <a:blip r:embed="rId3">
            <a:alphaModFix/>
          </a:blip>
          <a:srcRect/>
          <a:stretch/>
        </p:blipFill>
        <p:spPr>
          <a:xfrm>
            <a:off x="1741700" y="1353875"/>
            <a:ext cx="8303700" cy="4470175"/>
          </a:xfrm>
          <a:prstGeom prst="rect">
            <a:avLst/>
          </a:prstGeom>
          <a:noFill/>
          <a:ln>
            <a:noFill/>
          </a:ln>
        </p:spPr>
      </p:pic>
      <p:sp>
        <p:nvSpPr>
          <p:cNvPr id="323" name="Google Shape;323;p10"/>
          <p:cNvSpPr txBox="1">
            <a:spLocks noGrp="1"/>
          </p:cNvSpPr>
          <p:nvPr>
            <p:ph type="body" idx="1"/>
          </p:nvPr>
        </p:nvSpPr>
        <p:spPr>
          <a:xfrm>
            <a:off x="517358" y="5660676"/>
            <a:ext cx="10515600" cy="4807550"/>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000"/>
              <a:buChar char="•"/>
            </a:pPr>
            <a:r>
              <a:rPr lang="en-SG" sz="2000"/>
              <a:t>Main difference between bonds and loans is that bonds are traded publicly through an exchange, while loans are not traded publicly. </a:t>
            </a:r>
            <a:endParaRPr/>
          </a:p>
          <a:p>
            <a:pPr marL="228600" lvl="0" indent="-228600" algn="l" rtl="0">
              <a:lnSpc>
                <a:spcPct val="90000"/>
              </a:lnSpc>
              <a:spcBef>
                <a:spcPts val="1000"/>
              </a:spcBef>
              <a:spcAft>
                <a:spcPts val="0"/>
              </a:spcAft>
              <a:buClr>
                <a:schemeClr val="dk1"/>
              </a:buClr>
              <a:buSzPts val="2000"/>
              <a:buChar char="•"/>
            </a:pPr>
            <a:r>
              <a:rPr lang="en-SG" sz="2000"/>
              <a:t>Bonds are typically unsecured while loans are generally secured by collateral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328" name="Google Shape;328;g3a1423cfbf8_0_39"/>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SG"/>
              <a:t>Bond terms &amp; structure</a:t>
            </a:r>
            <a:endParaRPr/>
          </a:p>
        </p:txBody>
      </p:sp>
      <p:sp>
        <p:nvSpPr>
          <p:cNvPr id="329" name="Google Shape;329;g3a1423cfbf8_0_39"/>
          <p:cNvSpPr txBox="1">
            <a:spLocks noGrp="1"/>
          </p:cNvSpPr>
          <p:nvPr>
            <p:ph type="body" idx="1"/>
          </p:nvPr>
        </p:nvSpPr>
        <p:spPr>
          <a:xfrm>
            <a:off x="838200" y="1443961"/>
            <a:ext cx="5618400" cy="5414100"/>
          </a:xfrm>
          <a:prstGeom prst="rect">
            <a:avLst/>
          </a:prstGeom>
          <a:noFill/>
          <a:ln>
            <a:noFill/>
          </a:ln>
        </p:spPr>
        <p:txBody>
          <a:bodyPr spcFirstLastPara="1" wrap="square" lIns="91425" tIns="45700" rIns="91425" bIns="45700" anchor="t" anchorCtr="0">
            <a:normAutofit lnSpcReduction="10000"/>
          </a:bodyPr>
          <a:lstStyle/>
          <a:p>
            <a:pPr marL="228600" lvl="0" indent="-228600" algn="l" rtl="0">
              <a:lnSpc>
                <a:spcPct val="90000"/>
              </a:lnSpc>
              <a:spcBef>
                <a:spcPts val="0"/>
              </a:spcBef>
              <a:spcAft>
                <a:spcPts val="0"/>
              </a:spcAft>
              <a:buClr>
                <a:schemeClr val="dk1"/>
              </a:buClr>
              <a:buSzPts val="2800"/>
              <a:buChar char="•"/>
            </a:pPr>
            <a:r>
              <a:rPr lang="en-SG"/>
              <a:t>Floating rate: e.g. LIBOR + 200 or fixed rate</a:t>
            </a:r>
            <a:endParaRPr/>
          </a:p>
          <a:p>
            <a:pPr marL="228600" lvl="0" indent="-228600" algn="l" rtl="0">
              <a:lnSpc>
                <a:spcPct val="90000"/>
              </a:lnSpc>
              <a:spcBef>
                <a:spcPts val="1000"/>
              </a:spcBef>
              <a:spcAft>
                <a:spcPts val="0"/>
              </a:spcAft>
              <a:buClr>
                <a:schemeClr val="dk1"/>
              </a:buClr>
              <a:buSzPts val="2800"/>
              <a:buChar char="•"/>
            </a:pPr>
            <a:r>
              <a:rPr lang="en-SG"/>
              <a:t>Call provision: Bond can be called by issuer – usually to refinance at lower rate</a:t>
            </a:r>
            <a:endParaRPr/>
          </a:p>
          <a:p>
            <a:pPr marL="228600" lvl="0" indent="-228600" algn="l" rtl="0">
              <a:lnSpc>
                <a:spcPct val="90000"/>
              </a:lnSpc>
              <a:spcBef>
                <a:spcPts val="1000"/>
              </a:spcBef>
              <a:spcAft>
                <a:spcPts val="0"/>
              </a:spcAft>
              <a:buClr>
                <a:schemeClr val="dk1"/>
              </a:buClr>
              <a:buSzPts val="2800"/>
              <a:buChar char="•"/>
            </a:pPr>
            <a:r>
              <a:rPr lang="en-SG"/>
              <a:t>Convertibility: after a certain date or upon fulfilling a condition, into certain number of shares</a:t>
            </a:r>
            <a:endParaRPr/>
          </a:p>
          <a:p>
            <a:pPr marL="228600" lvl="0" indent="-228600" algn="l" rtl="0">
              <a:lnSpc>
                <a:spcPct val="90000"/>
              </a:lnSpc>
              <a:spcBef>
                <a:spcPts val="1000"/>
              </a:spcBef>
              <a:spcAft>
                <a:spcPts val="0"/>
              </a:spcAft>
              <a:buClr>
                <a:schemeClr val="dk1"/>
              </a:buClr>
              <a:buSzPts val="2800"/>
              <a:buChar char="•"/>
            </a:pPr>
            <a:r>
              <a:rPr lang="en-SG"/>
              <a:t>Liquidation preference: Senior &gt; Junior &gt; Hybrid (Convertibles)</a:t>
            </a:r>
            <a:endParaRPr/>
          </a:p>
          <a:p>
            <a:pPr marL="228600" lvl="0" indent="-228600" algn="l" rtl="0">
              <a:lnSpc>
                <a:spcPct val="90000"/>
              </a:lnSpc>
              <a:spcBef>
                <a:spcPts val="1000"/>
              </a:spcBef>
              <a:spcAft>
                <a:spcPts val="0"/>
              </a:spcAft>
              <a:buClr>
                <a:schemeClr val="dk1"/>
              </a:buClr>
              <a:buSzPts val="2800"/>
              <a:buChar char="•"/>
            </a:pPr>
            <a:r>
              <a:rPr lang="en-SG"/>
              <a:t>Credit enhancement: guarantee, letter of credit, collateral</a:t>
            </a:r>
            <a:endParaRPr/>
          </a:p>
        </p:txBody>
      </p:sp>
      <p:pic>
        <p:nvPicPr>
          <p:cNvPr id="330" name="Google Shape;330;g3a1423cfbf8_0_39"/>
          <p:cNvPicPr preferRelativeResize="0"/>
          <p:nvPr/>
        </p:nvPicPr>
        <p:blipFill rotWithShape="1">
          <a:blip r:embed="rId3">
            <a:alphaModFix/>
          </a:blip>
          <a:srcRect/>
          <a:stretch/>
        </p:blipFill>
        <p:spPr>
          <a:xfrm>
            <a:off x="6679095" y="1607934"/>
            <a:ext cx="5099437" cy="502743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40"/>
        <p:cNvGrpSpPr/>
        <p:nvPr/>
      </p:nvGrpSpPr>
      <p:grpSpPr>
        <a:xfrm>
          <a:off x="0" y="0"/>
          <a:ext cx="0" cy="0"/>
          <a:chOff x="0" y="0"/>
          <a:chExt cx="0" cy="0"/>
        </a:xfrm>
      </p:grpSpPr>
      <p:sp>
        <p:nvSpPr>
          <p:cNvPr id="341" name="Google Shape;341;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SG"/>
              <a:t>Basic Bond Valuation</a:t>
            </a:r>
            <a:endParaRPr/>
          </a:p>
        </p:txBody>
      </p:sp>
      <p:sp>
        <p:nvSpPr>
          <p:cNvPr id="342" name="Google Shape;342;p21"/>
          <p:cNvSpPr txBox="1">
            <a:spLocks noGrp="1"/>
          </p:cNvSpPr>
          <p:nvPr>
            <p:ph type="body" idx="1"/>
          </p:nvPr>
        </p:nvSpPr>
        <p:spPr>
          <a:xfrm>
            <a:off x="838200" y="4541178"/>
            <a:ext cx="10515600" cy="1635784"/>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SG"/>
              <a:t>Simple DCF, with simulated future default rates</a:t>
            </a:r>
            <a:endParaRPr/>
          </a:p>
          <a:p>
            <a:pPr marL="228600" lvl="0" indent="-228600" algn="l" rtl="0">
              <a:lnSpc>
                <a:spcPct val="90000"/>
              </a:lnSpc>
              <a:spcBef>
                <a:spcPts val="1000"/>
              </a:spcBef>
              <a:spcAft>
                <a:spcPts val="0"/>
              </a:spcAft>
              <a:buClr>
                <a:schemeClr val="dk1"/>
              </a:buClr>
              <a:buSzPts val="2800"/>
              <a:buChar char="•"/>
            </a:pPr>
            <a:r>
              <a:rPr lang="en-SG"/>
              <a:t>Discounted value of future expected payments (interest and principal) received</a:t>
            </a:r>
            <a:endParaRPr/>
          </a:p>
        </p:txBody>
      </p:sp>
      <p:pic>
        <p:nvPicPr>
          <p:cNvPr id="343" name="Google Shape;343;p21"/>
          <p:cNvPicPr preferRelativeResize="0"/>
          <p:nvPr/>
        </p:nvPicPr>
        <p:blipFill rotWithShape="1">
          <a:blip r:embed="rId3">
            <a:alphaModFix/>
          </a:blip>
          <a:srcRect/>
          <a:stretch/>
        </p:blipFill>
        <p:spPr>
          <a:xfrm>
            <a:off x="6652032" y="1581073"/>
            <a:ext cx="5089182" cy="2544591"/>
          </a:xfrm>
          <a:prstGeom prst="rect">
            <a:avLst/>
          </a:prstGeom>
          <a:noFill/>
          <a:ln>
            <a:noFill/>
          </a:ln>
        </p:spPr>
      </p:pic>
      <p:pic>
        <p:nvPicPr>
          <p:cNvPr id="344" name="Google Shape;344;p21" descr="Bond Valuation: Formula, Steps &amp; Examples - Video &amp; Lesson Transcript |  Study.com"/>
          <p:cNvPicPr preferRelativeResize="0"/>
          <p:nvPr/>
        </p:nvPicPr>
        <p:blipFill rotWithShape="1">
          <a:blip r:embed="rId4">
            <a:alphaModFix/>
          </a:blip>
          <a:srcRect/>
          <a:stretch/>
        </p:blipFill>
        <p:spPr>
          <a:xfrm>
            <a:off x="838200" y="1581073"/>
            <a:ext cx="4177036" cy="255779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78"/>
        <p:cNvGrpSpPr/>
        <p:nvPr/>
      </p:nvGrpSpPr>
      <p:grpSpPr>
        <a:xfrm>
          <a:off x="0" y="0"/>
          <a:ext cx="0" cy="0"/>
          <a:chOff x="0" y="0"/>
          <a:chExt cx="0" cy="0"/>
        </a:xfrm>
      </p:grpSpPr>
      <p:sp>
        <p:nvSpPr>
          <p:cNvPr id="379" name="Google Shape;379;g3a1423cfbf8_0_79"/>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SG"/>
              <a:t>Understanding Pricing/Yields</a:t>
            </a:r>
            <a:endParaRPr/>
          </a:p>
        </p:txBody>
      </p:sp>
      <p:sp>
        <p:nvSpPr>
          <p:cNvPr id="380" name="Google Shape;380;g3a1423cfbf8_0_79"/>
          <p:cNvSpPr txBox="1">
            <a:spLocks noGrp="1"/>
          </p:cNvSpPr>
          <p:nvPr>
            <p:ph type="body" idx="1"/>
          </p:nvPr>
        </p:nvSpPr>
        <p:spPr>
          <a:xfrm>
            <a:off x="838200" y="1690828"/>
            <a:ext cx="10515600" cy="16359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1000"/>
              </a:spcBef>
              <a:spcAft>
                <a:spcPts val="0"/>
              </a:spcAft>
              <a:buNone/>
            </a:pPr>
            <a:r>
              <a:rPr lang="en-SG"/>
              <a:t>Trader 1: Got any Google 4 ¼ 27’s?</a:t>
            </a:r>
            <a:endParaRPr/>
          </a:p>
          <a:p>
            <a:pPr marL="0" lvl="0" indent="0" algn="l" rtl="0">
              <a:lnSpc>
                <a:spcPct val="90000"/>
              </a:lnSpc>
              <a:spcBef>
                <a:spcPts val="1000"/>
              </a:spcBef>
              <a:spcAft>
                <a:spcPts val="0"/>
              </a:spcAft>
              <a:buNone/>
            </a:pPr>
            <a:r>
              <a:rPr lang="en-SG"/>
              <a:t>Trader 2: Offering 50 at 98 ¾ </a:t>
            </a:r>
            <a:endParaRPr/>
          </a:p>
        </p:txBody>
      </p:sp>
      <p:sp>
        <p:nvSpPr>
          <p:cNvPr id="381" name="Google Shape;381;g3a1423cfbf8_0_79"/>
          <p:cNvSpPr txBox="1">
            <a:spLocks noGrp="1"/>
          </p:cNvSpPr>
          <p:nvPr>
            <p:ph type="body" idx="1"/>
          </p:nvPr>
        </p:nvSpPr>
        <p:spPr>
          <a:xfrm>
            <a:off x="838200" y="3113878"/>
            <a:ext cx="10515600" cy="16359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1000"/>
              </a:spcBef>
              <a:spcAft>
                <a:spcPts val="0"/>
              </a:spcAft>
              <a:buNone/>
            </a:pPr>
            <a:r>
              <a:rPr lang="en-SG"/>
              <a:t>Average Price = (100 + 98.75)/2 = 99.375</a:t>
            </a:r>
            <a:endParaRPr/>
          </a:p>
          <a:p>
            <a:pPr marL="0" lvl="0" indent="0" algn="l" rtl="0">
              <a:lnSpc>
                <a:spcPct val="90000"/>
              </a:lnSpc>
              <a:spcBef>
                <a:spcPts val="1000"/>
              </a:spcBef>
              <a:spcAft>
                <a:spcPts val="0"/>
              </a:spcAft>
              <a:buNone/>
            </a:pPr>
            <a:r>
              <a:rPr lang="en-SG"/>
              <a:t>Average Yield = 4.25 + (100-98.75)/2 = 4.875%</a:t>
            </a:r>
            <a:endParaRPr/>
          </a:p>
          <a:p>
            <a:pPr marL="0" lvl="0" indent="0" algn="l" rtl="0">
              <a:lnSpc>
                <a:spcPct val="90000"/>
              </a:lnSpc>
              <a:spcBef>
                <a:spcPts val="1000"/>
              </a:spcBef>
              <a:spcAft>
                <a:spcPts val="0"/>
              </a:spcAft>
              <a:buNone/>
            </a:pPr>
            <a:r>
              <a:rPr lang="en-SG"/>
              <a:t>YTM = 4.875% / 99.375 = 4.91%</a:t>
            </a:r>
            <a:endParaRPr/>
          </a:p>
        </p:txBody>
      </p:sp>
      <p:sp>
        <p:nvSpPr>
          <p:cNvPr id="382" name="Google Shape;382;g3a1423cfbf8_0_79"/>
          <p:cNvSpPr txBox="1">
            <a:spLocks noGrp="1"/>
          </p:cNvSpPr>
          <p:nvPr>
            <p:ph type="body" idx="1"/>
          </p:nvPr>
        </p:nvSpPr>
        <p:spPr>
          <a:xfrm>
            <a:off x="838200" y="4749778"/>
            <a:ext cx="10515600" cy="16359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1000"/>
              </a:spcBef>
              <a:spcAft>
                <a:spcPts val="0"/>
              </a:spcAft>
              <a:buNone/>
            </a:pPr>
            <a:r>
              <a:rPr lang="en-SG" b="1">
                <a:solidFill>
                  <a:srgbClr val="FF0000"/>
                </a:solidFill>
              </a:rPr>
              <a:t>Actual YTM = 4.92%</a:t>
            </a:r>
            <a:endParaRPr b="1">
              <a:solidFill>
                <a:srgbClr val="FF0000"/>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BB0826-3599-8461-A523-4C301AEF56F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0D1F885-B7E9-90D3-310C-99DBAB81003A}"/>
              </a:ext>
            </a:extLst>
          </p:cNvPr>
          <p:cNvSpPr>
            <a:spLocks noGrp="1"/>
          </p:cNvSpPr>
          <p:nvPr>
            <p:ph type="title"/>
          </p:nvPr>
        </p:nvSpPr>
        <p:spPr/>
        <p:txBody>
          <a:bodyPr/>
          <a:lstStyle/>
          <a:p>
            <a:r>
              <a:rPr lang="en-GB" dirty="0"/>
              <a:t>Credit Products</a:t>
            </a:r>
          </a:p>
        </p:txBody>
      </p:sp>
      <p:sp>
        <p:nvSpPr>
          <p:cNvPr id="5" name="Text Placeholder 4">
            <a:extLst>
              <a:ext uri="{FF2B5EF4-FFF2-40B4-BE49-F238E27FC236}">
                <a16:creationId xmlns:a16="http://schemas.microsoft.com/office/drawing/2014/main" id="{185EEF27-CAA8-1881-CDD9-8C421F4EA957}"/>
              </a:ext>
            </a:extLst>
          </p:cNvPr>
          <p:cNvSpPr>
            <a:spLocks noGrp="1"/>
          </p:cNvSpPr>
          <p:nvPr>
            <p:ph type="body" idx="1"/>
          </p:nvPr>
        </p:nvSpPr>
        <p:spPr/>
        <p:txBody>
          <a:bodyPr/>
          <a:lstStyle/>
          <a:p>
            <a:endParaRPr lang="en-GB"/>
          </a:p>
        </p:txBody>
      </p:sp>
    </p:spTree>
    <p:extLst>
      <p:ext uri="{BB962C8B-B14F-4D97-AF65-F5344CB8AC3E}">
        <p14:creationId xmlns:p14="http://schemas.microsoft.com/office/powerpoint/2010/main" val="257747395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91"/>
        <p:cNvGrpSpPr/>
        <p:nvPr/>
      </p:nvGrpSpPr>
      <p:grpSpPr>
        <a:xfrm>
          <a:off x="0" y="0"/>
          <a:ext cx="0" cy="0"/>
          <a:chOff x="0" y="0"/>
          <a:chExt cx="0" cy="0"/>
        </a:xfrm>
      </p:grpSpPr>
      <p:sp>
        <p:nvSpPr>
          <p:cNvPr id="392" name="Google Shape;392;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SG"/>
              <a:t>Credit products</a:t>
            </a:r>
            <a:endParaRPr/>
          </a:p>
        </p:txBody>
      </p:sp>
      <p:sp>
        <p:nvSpPr>
          <p:cNvPr id="393" name="Google Shape;393;p1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lnSpcReduction="10000"/>
          </a:bodyPr>
          <a:lstStyle/>
          <a:p>
            <a:pPr marL="228600" lvl="0" indent="-228600" algn="l" rtl="0">
              <a:lnSpc>
                <a:spcPct val="90000"/>
              </a:lnSpc>
              <a:spcBef>
                <a:spcPts val="0"/>
              </a:spcBef>
              <a:spcAft>
                <a:spcPts val="0"/>
              </a:spcAft>
              <a:buClr>
                <a:schemeClr val="dk1"/>
              </a:buClr>
              <a:buSzPts val="2800"/>
              <a:buChar char="•"/>
            </a:pPr>
            <a:r>
              <a:rPr lang="en-SG"/>
              <a:t>Vanilla bond e.g. Bank of America 5y note</a:t>
            </a:r>
            <a:endParaRPr/>
          </a:p>
          <a:p>
            <a:pPr marL="685800" lvl="1" indent="-228600" algn="l" rtl="0">
              <a:lnSpc>
                <a:spcPct val="90000"/>
              </a:lnSpc>
              <a:spcBef>
                <a:spcPts val="500"/>
              </a:spcBef>
              <a:spcAft>
                <a:spcPts val="0"/>
              </a:spcAft>
              <a:buClr>
                <a:schemeClr val="dk1"/>
              </a:buClr>
              <a:buSzPts val="2400"/>
              <a:buChar char="•"/>
            </a:pPr>
            <a:r>
              <a:rPr lang="en-SG"/>
              <a:t>Traded in lot sizes of USD100k, USD250k, USD1m etc.</a:t>
            </a:r>
            <a:endParaRPr/>
          </a:p>
          <a:p>
            <a:pPr marL="685800" lvl="1" indent="-228600" algn="l" rtl="0">
              <a:lnSpc>
                <a:spcPct val="90000"/>
              </a:lnSpc>
              <a:spcBef>
                <a:spcPts val="500"/>
              </a:spcBef>
              <a:spcAft>
                <a:spcPts val="0"/>
              </a:spcAft>
              <a:buClr>
                <a:schemeClr val="dk1"/>
              </a:buClr>
              <a:buSzPts val="2400"/>
              <a:buChar char="•"/>
            </a:pPr>
            <a:r>
              <a:rPr lang="en-SG"/>
              <a:t>Purchased by HNW individuals, asset managers, insurance companies etc.</a:t>
            </a:r>
            <a:endParaRPr/>
          </a:p>
          <a:p>
            <a:pPr marL="685800" lvl="1" indent="-76200" algn="l" rtl="0">
              <a:lnSpc>
                <a:spcPct val="90000"/>
              </a:lnSpc>
              <a:spcBef>
                <a:spcPts val="500"/>
              </a:spcBef>
              <a:spcAft>
                <a:spcPts val="0"/>
              </a:spcAft>
              <a:buClr>
                <a:schemeClr val="dk1"/>
              </a:buClr>
              <a:buSzPts val="2400"/>
              <a:buNone/>
            </a:pPr>
            <a:endParaRPr/>
          </a:p>
          <a:p>
            <a:pPr marL="228600" lvl="0" indent="-228600" algn="l" rtl="0">
              <a:lnSpc>
                <a:spcPct val="90000"/>
              </a:lnSpc>
              <a:spcBef>
                <a:spcPts val="1000"/>
              </a:spcBef>
              <a:spcAft>
                <a:spcPts val="0"/>
              </a:spcAft>
              <a:buClr>
                <a:schemeClr val="dk1"/>
              </a:buClr>
              <a:buSzPts val="2800"/>
              <a:buChar char="•"/>
            </a:pPr>
            <a:r>
              <a:rPr lang="en-SG"/>
              <a:t>Securitized products</a:t>
            </a:r>
            <a:endParaRPr/>
          </a:p>
          <a:p>
            <a:pPr marL="685800" lvl="1" indent="-228600" algn="l" rtl="0">
              <a:lnSpc>
                <a:spcPct val="90000"/>
              </a:lnSpc>
              <a:spcBef>
                <a:spcPts val="500"/>
              </a:spcBef>
              <a:spcAft>
                <a:spcPts val="0"/>
              </a:spcAft>
              <a:buClr>
                <a:schemeClr val="dk1"/>
              </a:buClr>
              <a:buSzPts val="2400"/>
              <a:buChar char="•"/>
            </a:pPr>
            <a:r>
              <a:rPr lang="en-SG"/>
              <a:t>ABS – asset backed securities - loans, leases, receivables</a:t>
            </a:r>
            <a:endParaRPr/>
          </a:p>
          <a:p>
            <a:pPr marL="685800" lvl="1" indent="-228600" algn="l" rtl="0">
              <a:lnSpc>
                <a:spcPct val="90000"/>
              </a:lnSpc>
              <a:spcBef>
                <a:spcPts val="500"/>
              </a:spcBef>
              <a:spcAft>
                <a:spcPts val="0"/>
              </a:spcAft>
              <a:buClr>
                <a:schemeClr val="dk1"/>
              </a:buClr>
              <a:buSzPts val="2400"/>
              <a:buChar char="•"/>
            </a:pPr>
            <a:r>
              <a:rPr lang="en-SG"/>
              <a:t>MBS – mortgage backed securities</a:t>
            </a:r>
            <a:endParaRPr/>
          </a:p>
          <a:p>
            <a:pPr marL="685800" lvl="1" indent="-76200" algn="l" rtl="0">
              <a:lnSpc>
                <a:spcPct val="90000"/>
              </a:lnSpc>
              <a:spcBef>
                <a:spcPts val="500"/>
              </a:spcBef>
              <a:spcAft>
                <a:spcPts val="0"/>
              </a:spcAft>
              <a:buClr>
                <a:schemeClr val="dk1"/>
              </a:buClr>
              <a:buSzPts val="2400"/>
              <a:buNone/>
            </a:pPr>
            <a:endParaRPr/>
          </a:p>
          <a:p>
            <a:pPr marL="228600" lvl="0" indent="-228600" algn="l" rtl="0">
              <a:lnSpc>
                <a:spcPct val="90000"/>
              </a:lnSpc>
              <a:spcBef>
                <a:spcPts val="1000"/>
              </a:spcBef>
              <a:spcAft>
                <a:spcPts val="0"/>
              </a:spcAft>
              <a:buClr>
                <a:schemeClr val="dk1"/>
              </a:buClr>
              <a:buSzPts val="2800"/>
              <a:buChar char="•"/>
            </a:pPr>
            <a:r>
              <a:rPr lang="en-SG"/>
              <a:t>Convertible bonds</a:t>
            </a:r>
            <a:endParaRPr/>
          </a:p>
          <a:p>
            <a:pPr marL="685800" lvl="1" indent="-228600" algn="l" rtl="0">
              <a:lnSpc>
                <a:spcPct val="90000"/>
              </a:lnSpc>
              <a:spcBef>
                <a:spcPts val="500"/>
              </a:spcBef>
              <a:spcAft>
                <a:spcPts val="0"/>
              </a:spcAft>
              <a:buClr>
                <a:schemeClr val="dk1"/>
              </a:buClr>
              <a:buSzPts val="2400"/>
              <a:buChar char="•"/>
            </a:pPr>
            <a:r>
              <a:rPr lang="en-SG"/>
              <a:t>Can be converted into equity</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97"/>
        <p:cNvGrpSpPr/>
        <p:nvPr/>
      </p:nvGrpSpPr>
      <p:grpSpPr>
        <a:xfrm>
          <a:off x="0" y="0"/>
          <a:ext cx="0" cy="0"/>
          <a:chOff x="0" y="0"/>
          <a:chExt cx="0" cy="0"/>
        </a:xfrm>
      </p:grpSpPr>
      <p:sp>
        <p:nvSpPr>
          <p:cNvPr id="398" name="Google Shape;398;p1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SG"/>
              <a:t>Credit derivatives – Credit default swaps</a:t>
            </a:r>
            <a:endParaRPr/>
          </a:p>
        </p:txBody>
      </p:sp>
      <p:sp>
        <p:nvSpPr>
          <p:cNvPr id="399" name="Google Shape;399;p17"/>
          <p:cNvSpPr txBox="1">
            <a:spLocks noGrp="1"/>
          </p:cNvSpPr>
          <p:nvPr>
            <p:ph type="body" idx="1"/>
          </p:nvPr>
        </p:nvSpPr>
        <p:spPr>
          <a:xfrm>
            <a:off x="838200" y="3922776"/>
            <a:ext cx="10515600" cy="2782824"/>
          </a:xfrm>
          <a:prstGeom prst="rect">
            <a:avLst/>
          </a:prstGeom>
          <a:noFill/>
          <a:ln>
            <a:noFill/>
          </a:ln>
        </p:spPr>
        <p:txBody>
          <a:bodyPr spcFirstLastPara="1" wrap="square" lIns="91425" tIns="45700" rIns="91425" bIns="45700" anchor="t" anchorCtr="0">
            <a:normAutofit fontScale="92500"/>
          </a:bodyPr>
          <a:lstStyle/>
          <a:p>
            <a:pPr marL="228600" lvl="0" indent="-228600" algn="l" rtl="0">
              <a:lnSpc>
                <a:spcPct val="90000"/>
              </a:lnSpc>
              <a:spcBef>
                <a:spcPts val="0"/>
              </a:spcBef>
              <a:spcAft>
                <a:spcPts val="0"/>
              </a:spcAft>
              <a:buClr>
                <a:schemeClr val="dk1"/>
              </a:buClr>
              <a:buSzPts val="2800"/>
              <a:buChar char="•"/>
            </a:pPr>
            <a:r>
              <a:rPr lang="en-SG"/>
              <a:t>Premium paid is equal to expected loss from default – theoretically assuming risk neutrality – “credit insurance”</a:t>
            </a:r>
            <a:endParaRPr/>
          </a:p>
          <a:p>
            <a:pPr marL="685800" lvl="1" indent="-228600" algn="l" rtl="0">
              <a:lnSpc>
                <a:spcPct val="90000"/>
              </a:lnSpc>
              <a:spcBef>
                <a:spcPts val="500"/>
              </a:spcBef>
              <a:spcAft>
                <a:spcPts val="0"/>
              </a:spcAft>
              <a:buClr>
                <a:schemeClr val="dk1"/>
              </a:buClr>
              <a:buSzPts val="2400"/>
              <a:buChar char="•"/>
            </a:pPr>
            <a:r>
              <a:rPr lang="en-SG"/>
              <a:t>By speculating on loss on default, can generate alpha from buying/selling CDS</a:t>
            </a:r>
            <a:endParaRPr/>
          </a:p>
          <a:p>
            <a:pPr marL="685800" lvl="1" indent="-228600" algn="l" rtl="0">
              <a:lnSpc>
                <a:spcPct val="90000"/>
              </a:lnSpc>
              <a:spcBef>
                <a:spcPts val="500"/>
              </a:spcBef>
              <a:spcAft>
                <a:spcPts val="0"/>
              </a:spcAft>
              <a:buClr>
                <a:schemeClr val="dk1"/>
              </a:buClr>
              <a:buSzPts val="2400"/>
              <a:buChar char="•"/>
            </a:pPr>
            <a:r>
              <a:rPr lang="en-SG"/>
              <a:t>Example triggers: ratings downgrade, event of default, cross-default </a:t>
            </a:r>
            <a:endParaRPr/>
          </a:p>
          <a:p>
            <a:pPr marL="685800" lvl="1" indent="-228600" algn="l" rtl="0">
              <a:lnSpc>
                <a:spcPct val="90000"/>
              </a:lnSpc>
              <a:spcBef>
                <a:spcPts val="500"/>
              </a:spcBef>
              <a:spcAft>
                <a:spcPts val="0"/>
              </a:spcAft>
              <a:buClr>
                <a:schemeClr val="dk1"/>
              </a:buClr>
              <a:buSzPts val="2400"/>
              <a:buChar char="•"/>
            </a:pPr>
            <a:r>
              <a:rPr lang="en-SG"/>
              <a:t>Only liquid for very large corporates e.g. Apple, otherwise OTC</a:t>
            </a:r>
            <a:endParaRPr/>
          </a:p>
          <a:p>
            <a:pPr marL="228600" lvl="0" indent="-228600" algn="l" rtl="0">
              <a:lnSpc>
                <a:spcPct val="90000"/>
              </a:lnSpc>
              <a:spcBef>
                <a:spcPts val="1000"/>
              </a:spcBef>
              <a:spcAft>
                <a:spcPts val="0"/>
              </a:spcAft>
              <a:buClr>
                <a:schemeClr val="dk1"/>
              </a:buClr>
              <a:buSzPts val="2800"/>
              <a:buChar char="•"/>
            </a:pPr>
            <a:r>
              <a:rPr lang="en-SG"/>
              <a:t>Industry practice to pay 100bps per year as premium and present value of the actual premium upfront</a:t>
            </a:r>
            <a:endParaRPr/>
          </a:p>
        </p:txBody>
      </p:sp>
      <p:pic>
        <p:nvPicPr>
          <p:cNvPr id="400" name="Google Shape;400;p17"/>
          <p:cNvPicPr preferRelativeResize="0"/>
          <p:nvPr/>
        </p:nvPicPr>
        <p:blipFill rotWithShape="1">
          <a:blip r:embed="rId3">
            <a:alphaModFix/>
          </a:blip>
          <a:srcRect/>
          <a:stretch/>
        </p:blipFill>
        <p:spPr>
          <a:xfrm>
            <a:off x="3155442" y="1439682"/>
            <a:ext cx="5715000" cy="1819275"/>
          </a:xfrm>
          <a:prstGeom prst="rect">
            <a:avLst/>
          </a:prstGeom>
          <a:noFill/>
          <a:ln>
            <a:noFill/>
          </a:ln>
        </p:spPr>
      </p:pic>
      <p:sp>
        <p:nvSpPr>
          <p:cNvPr id="401" name="Google Shape;401;p17"/>
          <p:cNvSpPr txBox="1"/>
          <p:nvPr/>
        </p:nvSpPr>
        <p:spPr>
          <a:xfrm>
            <a:off x="925068" y="3368172"/>
            <a:ext cx="10175748" cy="369332"/>
          </a:xfrm>
          <a:prstGeom prst="rect">
            <a:avLst/>
          </a:prstGeom>
          <a:blipFill rotWithShape="1">
            <a:blip r:embed="rId4">
              <a:alphaModFix/>
            </a:blip>
            <a:stretch>
              <a:fillRect b="-34996"/>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SG"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405"/>
        <p:cNvGrpSpPr/>
        <p:nvPr/>
      </p:nvGrpSpPr>
      <p:grpSpPr>
        <a:xfrm>
          <a:off x="0" y="0"/>
          <a:ext cx="0" cy="0"/>
          <a:chOff x="0" y="0"/>
          <a:chExt cx="0" cy="0"/>
        </a:xfrm>
      </p:grpSpPr>
      <p:sp>
        <p:nvSpPr>
          <p:cNvPr id="406" name="Google Shape;406;p1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SG"/>
              <a:t>Credit derivatives – Credit default swaps</a:t>
            </a:r>
            <a:endParaRPr/>
          </a:p>
        </p:txBody>
      </p:sp>
      <p:pic>
        <p:nvPicPr>
          <p:cNvPr id="407" name="Google Shape;407;p18" descr="A diagram of a financial system&#10;&#10;Description automatically generated"/>
          <p:cNvPicPr preferRelativeResize="0"/>
          <p:nvPr/>
        </p:nvPicPr>
        <p:blipFill rotWithShape="1">
          <a:blip r:embed="rId3">
            <a:alphaModFix/>
          </a:blip>
          <a:srcRect/>
          <a:stretch/>
        </p:blipFill>
        <p:spPr>
          <a:xfrm>
            <a:off x="2475685" y="2572575"/>
            <a:ext cx="7240626" cy="3956324"/>
          </a:xfrm>
          <a:prstGeom prst="rect">
            <a:avLst/>
          </a:prstGeom>
          <a:noFill/>
          <a:ln>
            <a:noFill/>
          </a:ln>
        </p:spPr>
      </p:pic>
      <p:sp>
        <p:nvSpPr>
          <p:cNvPr id="408" name="Google Shape;408;p18"/>
          <p:cNvSpPr txBox="1">
            <a:spLocks noGrp="1"/>
          </p:cNvSpPr>
          <p:nvPr>
            <p:ph type="body" idx="1"/>
          </p:nvPr>
        </p:nvSpPr>
        <p:spPr>
          <a:xfrm>
            <a:off x="838200" y="1534652"/>
            <a:ext cx="10515600" cy="2782824"/>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SG"/>
              <a:t>Credit risk (counterparty risk)- risk that the company defaults (failure to repay or meet contractual obligations)</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412"/>
        <p:cNvGrpSpPr/>
        <p:nvPr/>
      </p:nvGrpSpPr>
      <p:grpSpPr>
        <a:xfrm>
          <a:off x="0" y="0"/>
          <a:ext cx="0" cy="0"/>
          <a:chOff x="0" y="0"/>
          <a:chExt cx="0" cy="0"/>
        </a:xfrm>
      </p:grpSpPr>
      <p:sp>
        <p:nvSpPr>
          <p:cNvPr id="413" name="Google Shape;413;g314c0bbca86_0_27"/>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SG"/>
              <a:t>CDS for CS 2022-2023</a:t>
            </a:r>
            <a:endParaRPr/>
          </a:p>
        </p:txBody>
      </p:sp>
      <p:pic>
        <p:nvPicPr>
          <p:cNvPr id="414" name="Google Shape;414;g314c0bbca86_0_27"/>
          <p:cNvPicPr preferRelativeResize="0"/>
          <p:nvPr/>
        </p:nvPicPr>
        <p:blipFill rotWithShape="1">
          <a:blip r:embed="rId3">
            <a:alphaModFix/>
          </a:blip>
          <a:srcRect/>
          <a:stretch/>
        </p:blipFill>
        <p:spPr>
          <a:xfrm>
            <a:off x="2390677" y="1673226"/>
            <a:ext cx="7410634" cy="495147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418"/>
        <p:cNvGrpSpPr/>
        <p:nvPr/>
      </p:nvGrpSpPr>
      <p:grpSpPr>
        <a:xfrm>
          <a:off x="0" y="0"/>
          <a:ext cx="0" cy="0"/>
          <a:chOff x="0" y="0"/>
          <a:chExt cx="0" cy="0"/>
        </a:xfrm>
      </p:grpSpPr>
      <p:sp>
        <p:nvSpPr>
          <p:cNvPr id="419" name="Google Shape;419;g314c0bbca86_0_33"/>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SG"/>
              <a:t>Asset-Backed Securities ABS</a:t>
            </a:r>
            <a:endParaRPr/>
          </a:p>
        </p:txBody>
      </p:sp>
      <p:sp>
        <p:nvSpPr>
          <p:cNvPr id="420" name="Google Shape;420;g314c0bbca86_0_33"/>
          <p:cNvSpPr txBox="1">
            <a:spLocks noGrp="1"/>
          </p:cNvSpPr>
          <p:nvPr>
            <p:ph type="body" idx="1"/>
          </p:nvPr>
        </p:nvSpPr>
        <p:spPr>
          <a:xfrm>
            <a:off x="838200" y="1825625"/>
            <a:ext cx="5977500" cy="52137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1000"/>
              </a:spcBef>
              <a:spcAft>
                <a:spcPts val="0"/>
              </a:spcAft>
              <a:buSzPts val="1800"/>
              <a:buNone/>
            </a:pPr>
            <a:r>
              <a:rPr lang="en-SG" sz="2700"/>
              <a:t>Common types: </a:t>
            </a:r>
            <a:endParaRPr sz="2700"/>
          </a:p>
          <a:p>
            <a:pPr marL="457200" lvl="0" indent="-355600" algn="l" rtl="0">
              <a:lnSpc>
                <a:spcPct val="90000"/>
              </a:lnSpc>
              <a:spcBef>
                <a:spcPts val="1000"/>
              </a:spcBef>
              <a:spcAft>
                <a:spcPts val="0"/>
              </a:spcAft>
              <a:buSzPts val="2000"/>
              <a:buAutoNum type="arabicPeriod"/>
            </a:pPr>
            <a:r>
              <a:rPr lang="en-SG" sz="2700"/>
              <a:t>Collateralized debt obligation (issued by a special purpose vehicle)</a:t>
            </a:r>
            <a:endParaRPr sz="2700"/>
          </a:p>
          <a:p>
            <a:pPr marL="914400" lvl="1" indent="-336550" algn="l" rtl="0">
              <a:lnSpc>
                <a:spcPct val="90000"/>
              </a:lnSpc>
              <a:spcBef>
                <a:spcPts val="0"/>
              </a:spcBef>
              <a:spcAft>
                <a:spcPts val="0"/>
              </a:spcAft>
              <a:buSzPts val="1700"/>
              <a:buAutoNum type="alphaLcPeriod"/>
            </a:pPr>
            <a:r>
              <a:rPr lang="en-SG" sz="2300"/>
              <a:t>Loans, bonds, cash-market debt instruments, mortgages</a:t>
            </a:r>
            <a:endParaRPr sz="2300"/>
          </a:p>
          <a:p>
            <a:pPr marL="457200" lvl="0" indent="-355600" algn="l" rtl="0">
              <a:lnSpc>
                <a:spcPct val="90000"/>
              </a:lnSpc>
              <a:spcBef>
                <a:spcPts val="0"/>
              </a:spcBef>
              <a:spcAft>
                <a:spcPts val="0"/>
              </a:spcAft>
              <a:buSzPts val="2000"/>
              <a:buAutoNum type="arabicPeriod"/>
            </a:pPr>
            <a:r>
              <a:rPr lang="en-SG" sz="2700"/>
              <a:t>Home equity loans (for those who did not qualify for a mortgage)</a:t>
            </a:r>
            <a:endParaRPr sz="2700"/>
          </a:p>
          <a:p>
            <a:pPr marL="457200" lvl="0" indent="-355600" algn="l" rtl="0">
              <a:lnSpc>
                <a:spcPct val="90000"/>
              </a:lnSpc>
              <a:spcBef>
                <a:spcPts val="0"/>
              </a:spcBef>
              <a:spcAft>
                <a:spcPts val="0"/>
              </a:spcAft>
              <a:buSzPts val="2000"/>
              <a:buAutoNum type="arabicPeriod"/>
            </a:pPr>
            <a:r>
              <a:rPr lang="en-SG" sz="2700"/>
              <a:t>Auto loan </a:t>
            </a:r>
            <a:endParaRPr sz="2700"/>
          </a:p>
          <a:p>
            <a:pPr marL="457200" lvl="0" indent="-355600" algn="l" rtl="0">
              <a:lnSpc>
                <a:spcPct val="90000"/>
              </a:lnSpc>
              <a:spcBef>
                <a:spcPts val="0"/>
              </a:spcBef>
              <a:spcAft>
                <a:spcPts val="0"/>
              </a:spcAft>
              <a:buSzPts val="2000"/>
              <a:buAutoNum type="arabicPeriod"/>
            </a:pPr>
            <a:r>
              <a:rPr lang="en-SG" sz="2700"/>
              <a:t>Student loan </a:t>
            </a:r>
            <a:endParaRPr sz="2700"/>
          </a:p>
          <a:p>
            <a:pPr marL="0" lvl="0" indent="0" algn="l" rtl="0">
              <a:lnSpc>
                <a:spcPct val="90000"/>
              </a:lnSpc>
              <a:spcBef>
                <a:spcPts val="1000"/>
              </a:spcBef>
              <a:spcAft>
                <a:spcPts val="0"/>
              </a:spcAft>
              <a:buSzPts val="1800"/>
              <a:buNone/>
            </a:pPr>
            <a:r>
              <a:rPr lang="en-SG" sz="2700"/>
              <a:t>Priced by underwriters and administered by servicers</a:t>
            </a:r>
            <a:endParaRPr sz="2700"/>
          </a:p>
        </p:txBody>
      </p:sp>
      <p:pic>
        <p:nvPicPr>
          <p:cNvPr id="421" name="Google Shape;421;g314c0bbca86_0_33"/>
          <p:cNvPicPr preferRelativeResize="0"/>
          <p:nvPr/>
        </p:nvPicPr>
        <p:blipFill rotWithShape="1">
          <a:blip r:embed="rId3">
            <a:alphaModFix/>
          </a:blip>
          <a:srcRect/>
          <a:stretch/>
        </p:blipFill>
        <p:spPr>
          <a:xfrm>
            <a:off x="6360311" y="1690825"/>
            <a:ext cx="7739289" cy="435120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425"/>
        <p:cNvGrpSpPr/>
        <p:nvPr/>
      </p:nvGrpSpPr>
      <p:grpSpPr>
        <a:xfrm>
          <a:off x="0" y="0"/>
          <a:ext cx="0" cy="0"/>
          <a:chOff x="0" y="0"/>
          <a:chExt cx="0" cy="0"/>
        </a:xfrm>
      </p:grpSpPr>
      <p:sp>
        <p:nvSpPr>
          <p:cNvPr id="426" name="Google Shape;426;p1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SG"/>
              <a:t>Credit derivatives – credit spread options</a:t>
            </a:r>
            <a:endParaRPr/>
          </a:p>
        </p:txBody>
      </p:sp>
      <p:sp>
        <p:nvSpPr>
          <p:cNvPr id="427" name="Google Shape;427;p19"/>
          <p:cNvSpPr txBox="1">
            <a:spLocks noGrp="1"/>
          </p:cNvSpPr>
          <p:nvPr>
            <p:ph type="body" idx="1"/>
          </p:nvPr>
        </p:nvSpPr>
        <p:spPr>
          <a:xfrm>
            <a:off x="838200" y="4327675"/>
            <a:ext cx="10949700" cy="2260800"/>
          </a:xfrm>
          <a:prstGeom prst="rect">
            <a:avLst/>
          </a:prstGeom>
          <a:noFill/>
          <a:ln>
            <a:noFill/>
          </a:ln>
        </p:spPr>
        <p:txBody>
          <a:bodyPr spcFirstLastPara="1" wrap="square" lIns="91425" tIns="45700" rIns="91425" bIns="45700" anchor="t" anchorCtr="0">
            <a:normAutofit fontScale="92500" lnSpcReduction="20000"/>
          </a:bodyPr>
          <a:lstStyle/>
          <a:p>
            <a:pPr marL="228600" lvl="0" indent="-215265" algn="l" rtl="0">
              <a:lnSpc>
                <a:spcPct val="90000"/>
              </a:lnSpc>
              <a:spcBef>
                <a:spcPts val="0"/>
              </a:spcBef>
              <a:spcAft>
                <a:spcPts val="0"/>
              </a:spcAft>
              <a:buClr>
                <a:schemeClr val="dk1"/>
              </a:buClr>
              <a:buSzPct val="100000"/>
              <a:buChar char="•"/>
            </a:pPr>
            <a:r>
              <a:rPr lang="en-SG"/>
              <a:t>Similar to equity puts &amp; calls but now the strike is a spread level</a:t>
            </a:r>
            <a:endParaRPr/>
          </a:p>
          <a:p>
            <a:pPr marL="685800" lvl="1" indent="-220026" algn="l" rtl="0">
              <a:lnSpc>
                <a:spcPct val="90000"/>
              </a:lnSpc>
              <a:spcBef>
                <a:spcPts val="0"/>
              </a:spcBef>
              <a:spcAft>
                <a:spcPts val="0"/>
              </a:spcAft>
              <a:buSzPct val="75000"/>
              <a:buChar char="•"/>
            </a:pPr>
            <a:r>
              <a:rPr lang="en-SG"/>
              <a:t>Usually, spread is between company’s debt and some benchmark level (e.g. LIBOR)</a:t>
            </a:r>
            <a:endParaRPr/>
          </a:p>
          <a:p>
            <a:pPr marL="228600" lvl="0" indent="-215265" algn="l" rtl="0">
              <a:lnSpc>
                <a:spcPct val="90000"/>
              </a:lnSpc>
              <a:spcBef>
                <a:spcPts val="1000"/>
              </a:spcBef>
              <a:spcAft>
                <a:spcPts val="0"/>
              </a:spcAft>
              <a:buClr>
                <a:schemeClr val="dk1"/>
              </a:buClr>
              <a:buSzPct val="100000"/>
              <a:buChar char="•"/>
            </a:pPr>
            <a:r>
              <a:rPr lang="en-SG"/>
              <a:t>Credit spread puts increase in value as the yield spread on a bond increases</a:t>
            </a:r>
            <a:endParaRPr/>
          </a:p>
          <a:p>
            <a:pPr marL="228600" lvl="0" indent="-215265" algn="l" rtl="0">
              <a:lnSpc>
                <a:spcPct val="90000"/>
              </a:lnSpc>
              <a:spcBef>
                <a:spcPts val="1000"/>
              </a:spcBef>
              <a:spcAft>
                <a:spcPts val="0"/>
              </a:spcAft>
              <a:buClr>
                <a:schemeClr val="dk1"/>
              </a:buClr>
              <a:buSzPct val="100000"/>
              <a:buChar char="•"/>
            </a:pPr>
            <a:r>
              <a:rPr lang="en-SG"/>
              <a:t>Credit spread calls increase in value as the yield spread on a bond decreases</a:t>
            </a:r>
            <a:endParaRPr/>
          </a:p>
        </p:txBody>
      </p:sp>
      <p:pic>
        <p:nvPicPr>
          <p:cNvPr id="428" name="Google Shape;428;p19"/>
          <p:cNvPicPr preferRelativeResize="0"/>
          <p:nvPr/>
        </p:nvPicPr>
        <p:blipFill rotWithShape="1">
          <a:blip r:embed="rId3">
            <a:alphaModFix/>
          </a:blip>
          <a:srcRect/>
          <a:stretch/>
        </p:blipFill>
        <p:spPr>
          <a:xfrm>
            <a:off x="950479" y="1794019"/>
            <a:ext cx="6153150" cy="1533525"/>
          </a:xfrm>
          <a:prstGeom prst="rect">
            <a:avLst/>
          </a:prstGeom>
          <a:noFill/>
          <a:ln>
            <a:noFill/>
          </a:ln>
        </p:spPr>
      </p:pic>
      <p:pic>
        <p:nvPicPr>
          <p:cNvPr id="429" name="Google Shape;429;p19"/>
          <p:cNvPicPr preferRelativeResize="0"/>
          <p:nvPr/>
        </p:nvPicPr>
        <p:blipFill rotWithShape="1">
          <a:blip r:embed="rId4">
            <a:alphaModFix/>
          </a:blip>
          <a:srcRect/>
          <a:stretch/>
        </p:blipFill>
        <p:spPr>
          <a:xfrm>
            <a:off x="7704859" y="1371168"/>
            <a:ext cx="2933700" cy="277177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433"/>
        <p:cNvGrpSpPr/>
        <p:nvPr/>
      </p:nvGrpSpPr>
      <p:grpSpPr>
        <a:xfrm>
          <a:off x="0" y="0"/>
          <a:ext cx="0" cy="0"/>
          <a:chOff x="0" y="0"/>
          <a:chExt cx="0" cy="0"/>
        </a:xfrm>
      </p:grpSpPr>
      <p:sp>
        <p:nvSpPr>
          <p:cNvPr id="434" name="Google Shape;434;p2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SG"/>
              <a:t>Credit derivatives – Swaps</a:t>
            </a:r>
            <a:endParaRPr/>
          </a:p>
        </p:txBody>
      </p:sp>
      <p:sp>
        <p:nvSpPr>
          <p:cNvPr id="435" name="Google Shape;435;p20"/>
          <p:cNvSpPr txBox="1">
            <a:spLocks noGrp="1"/>
          </p:cNvSpPr>
          <p:nvPr>
            <p:ph type="body" idx="1"/>
          </p:nvPr>
        </p:nvSpPr>
        <p:spPr>
          <a:xfrm>
            <a:off x="838200" y="4251959"/>
            <a:ext cx="10515600" cy="2240915"/>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SG"/>
              <a:t>Total return swaps utilise the bank’s balance sheet – essentially provides leverage as investor can obtain the asset’s return without owning it</a:t>
            </a:r>
            <a:endParaRPr/>
          </a:p>
          <a:p>
            <a:pPr marL="228600" lvl="0" indent="-228600" algn="l" rtl="0">
              <a:lnSpc>
                <a:spcPct val="90000"/>
              </a:lnSpc>
              <a:spcBef>
                <a:spcPts val="1000"/>
              </a:spcBef>
              <a:spcAft>
                <a:spcPts val="0"/>
              </a:spcAft>
              <a:buClr>
                <a:schemeClr val="dk1"/>
              </a:buClr>
              <a:buSzPts val="2800"/>
              <a:buChar char="•"/>
            </a:pPr>
            <a:r>
              <a:rPr lang="en-SG"/>
              <a:t>Asset swaps allow investors to exchange the fixed payment of their assets into a floating one – allowing them to speculate</a:t>
            </a:r>
            <a:endParaRPr/>
          </a:p>
        </p:txBody>
      </p:sp>
      <p:pic>
        <p:nvPicPr>
          <p:cNvPr id="436" name="Google Shape;436;p20"/>
          <p:cNvPicPr preferRelativeResize="0"/>
          <p:nvPr/>
        </p:nvPicPr>
        <p:blipFill rotWithShape="1">
          <a:blip r:embed="rId3">
            <a:alphaModFix/>
          </a:blip>
          <a:srcRect/>
          <a:stretch/>
        </p:blipFill>
        <p:spPr>
          <a:xfrm>
            <a:off x="6354127" y="2123599"/>
            <a:ext cx="4695825" cy="1695450"/>
          </a:xfrm>
          <a:prstGeom prst="rect">
            <a:avLst/>
          </a:prstGeom>
          <a:noFill/>
          <a:ln>
            <a:noFill/>
          </a:ln>
        </p:spPr>
      </p:pic>
      <p:pic>
        <p:nvPicPr>
          <p:cNvPr id="437" name="Google Shape;437;p20"/>
          <p:cNvPicPr preferRelativeResize="0"/>
          <p:nvPr/>
        </p:nvPicPr>
        <p:blipFill rotWithShape="1">
          <a:blip r:embed="rId4">
            <a:alphaModFix/>
          </a:blip>
          <a:srcRect/>
          <a:stretch/>
        </p:blipFill>
        <p:spPr>
          <a:xfrm>
            <a:off x="702945" y="2123599"/>
            <a:ext cx="5393055" cy="1913894"/>
          </a:xfrm>
          <a:prstGeom prst="rect">
            <a:avLst/>
          </a:prstGeom>
          <a:noFill/>
          <a:ln>
            <a:noFill/>
          </a:ln>
        </p:spPr>
      </p:pic>
      <p:sp>
        <p:nvSpPr>
          <p:cNvPr id="438" name="Google Shape;438;p20"/>
          <p:cNvSpPr txBox="1"/>
          <p:nvPr/>
        </p:nvSpPr>
        <p:spPr>
          <a:xfrm>
            <a:off x="1041758" y="1431362"/>
            <a:ext cx="4715427" cy="585004"/>
          </a:xfrm>
          <a:prstGeom prst="rect">
            <a:avLst/>
          </a:prstGeom>
          <a:noFill/>
          <a:ln>
            <a:noFill/>
          </a:ln>
        </p:spPr>
        <p:txBody>
          <a:bodyPr spcFirstLastPara="1" wrap="square" lIns="91425" tIns="45700" rIns="91425" bIns="45700" anchor="t" anchorCtr="0">
            <a:normAutofit/>
          </a:bodyPr>
          <a:lstStyle/>
          <a:p>
            <a:pPr marL="0" marR="0" lvl="0" indent="0" algn="ctr" rtl="0">
              <a:lnSpc>
                <a:spcPct val="90000"/>
              </a:lnSpc>
              <a:spcBef>
                <a:spcPts val="0"/>
              </a:spcBef>
              <a:spcAft>
                <a:spcPts val="0"/>
              </a:spcAft>
              <a:buClr>
                <a:schemeClr val="dk1"/>
              </a:buClr>
              <a:buSzPts val="2800"/>
              <a:buFont typeface="Arial"/>
              <a:buNone/>
            </a:pPr>
            <a:r>
              <a:rPr lang="en-SG" sz="2800" b="0" i="0" u="sng" strike="noStrike" cap="none">
                <a:solidFill>
                  <a:schemeClr val="dk1"/>
                </a:solidFill>
                <a:latin typeface="Calibri"/>
                <a:ea typeface="Calibri"/>
                <a:cs typeface="Calibri"/>
                <a:sym typeface="Calibri"/>
              </a:rPr>
              <a:t>Total return swap</a:t>
            </a:r>
            <a:endParaRPr sz="1400" b="0" i="0" u="none" strike="noStrike" cap="none">
              <a:solidFill>
                <a:srgbClr val="000000"/>
              </a:solidFill>
              <a:latin typeface="Arial"/>
              <a:ea typeface="Arial"/>
              <a:cs typeface="Arial"/>
              <a:sym typeface="Arial"/>
            </a:endParaRPr>
          </a:p>
        </p:txBody>
      </p:sp>
      <p:sp>
        <p:nvSpPr>
          <p:cNvPr id="439" name="Google Shape;439;p20"/>
          <p:cNvSpPr txBox="1"/>
          <p:nvPr/>
        </p:nvSpPr>
        <p:spPr>
          <a:xfrm>
            <a:off x="6344325" y="1436660"/>
            <a:ext cx="4715427" cy="585004"/>
          </a:xfrm>
          <a:prstGeom prst="rect">
            <a:avLst/>
          </a:prstGeom>
          <a:noFill/>
          <a:ln>
            <a:noFill/>
          </a:ln>
        </p:spPr>
        <p:txBody>
          <a:bodyPr spcFirstLastPara="1" wrap="square" lIns="91425" tIns="45700" rIns="91425" bIns="45700" anchor="t" anchorCtr="0">
            <a:normAutofit/>
          </a:bodyPr>
          <a:lstStyle/>
          <a:p>
            <a:pPr marL="0" marR="0" lvl="0" indent="0" algn="ctr" rtl="0">
              <a:lnSpc>
                <a:spcPct val="90000"/>
              </a:lnSpc>
              <a:spcBef>
                <a:spcPts val="0"/>
              </a:spcBef>
              <a:spcAft>
                <a:spcPts val="0"/>
              </a:spcAft>
              <a:buClr>
                <a:schemeClr val="dk1"/>
              </a:buClr>
              <a:buSzPts val="2800"/>
              <a:buFont typeface="Arial"/>
              <a:buNone/>
            </a:pPr>
            <a:r>
              <a:rPr lang="en-SG" sz="2800" b="0" i="0" u="sng" strike="noStrike" cap="none">
                <a:solidFill>
                  <a:schemeClr val="dk1"/>
                </a:solidFill>
                <a:latin typeface="Calibri"/>
                <a:ea typeface="Calibri"/>
                <a:cs typeface="Calibri"/>
                <a:sym typeface="Calibri"/>
              </a:rPr>
              <a:t>Asset swap</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443"/>
        <p:cNvGrpSpPr/>
        <p:nvPr/>
      </p:nvGrpSpPr>
      <p:grpSpPr>
        <a:xfrm>
          <a:off x="0" y="0"/>
          <a:ext cx="0" cy="0"/>
          <a:chOff x="0" y="0"/>
          <a:chExt cx="0" cy="0"/>
        </a:xfrm>
      </p:grpSpPr>
      <p:sp>
        <p:nvSpPr>
          <p:cNvPr id="444" name="Google Shape;444;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SG"/>
              <a:t>Fixed Income ETFs</a:t>
            </a:r>
            <a:endParaRPr/>
          </a:p>
        </p:txBody>
      </p:sp>
      <p:sp>
        <p:nvSpPr>
          <p:cNvPr id="445" name="Google Shape;445;p23"/>
          <p:cNvSpPr txBox="1">
            <a:spLocks noGrp="1"/>
          </p:cNvSpPr>
          <p:nvPr>
            <p:ph type="body" idx="1"/>
          </p:nvPr>
        </p:nvSpPr>
        <p:spPr>
          <a:xfrm>
            <a:off x="838200" y="1825625"/>
            <a:ext cx="4594500" cy="4351200"/>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SG"/>
              <a:t>Credit index ETFs can be used to gain exposure to various diversified fixed income portfolios (it replicates an underlying bond index, and it’s more liquid)</a:t>
            </a:r>
            <a:endParaRPr/>
          </a:p>
          <a:p>
            <a:pPr marL="228600" lvl="0" indent="-228600" algn="l" rtl="0">
              <a:lnSpc>
                <a:spcPct val="90000"/>
              </a:lnSpc>
              <a:spcBef>
                <a:spcPts val="1000"/>
              </a:spcBef>
              <a:spcAft>
                <a:spcPts val="0"/>
              </a:spcAft>
              <a:buClr>
                <a:schemeClr val="dk1"/>
              </a:buClr>
              <a:buSzPts val="2800"/>
              <a:buChar char="•"/>
            </a:pPr>
            <a:r>
              <a:rPr lang="en-SG"/>
              <a:t>List of common fixed income ETFs</a:t>
            </a:r>
            <a:endParaRPr/>
          </a:p>
        </p:txBody>
      </p:sp>
      <p:pic>
        <p:nvPicPr>
          <p:cNvPr id="446" name="Google Shape;446;p23" descr="A screenshot of a computer&#10;&#10;Description automatically generated"/>
          <p:cNvPicPr preferRelativeResize="0"/>
          <p:nvPr/>
        </p:nvPicPr>
        <p:blipFill rotWithShape="1">
          <a:blip r:embed="rId3">
            <a:alphaModFix/>
          </a:blip>
          <a:srcRect/>
          <a:stretch/>
        </p:blipFill>
        <p:spPr>
          <a:xfrm>
            <a:off x="5339700" y="1508224"/>
            <a:ext cx="6369877" cy="5231649"/>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461"/>
        <p:cNvGrpSpPr/>
        <p:nvPr/>
      </p:nvGrpSpPr>
      <p:grpSpPr>
        <a:xfrm>
          <a:off x="0" y="0"/>
          <a:ext cx="0" cy="0"/>
          <a:chOff x="0" y="0"/>
          <a:chExt cx="0" cy="0"/>
        </a:xfrm>
      </p:grpSpPr>
      <p:sp>
        <p:nvSpPr>
          <p:cNvPr id="462" name="Google Shape;462;g3a1423cfbf8_0_90"/>
          <p:cNvSpPr txBox="1">
            <a:spLocks noGrp="1"/>
          </p:cNvSpPr>
          <p:nvPr>
            <p:ph type="ctrTitle"/>
          </p:nvPr>
        </p:nvSpPr>
        <p:spPr>
          <a:xfrm>
            <a:off x="415611" y="1161867"/>
            <a:ext cx="11360700" cy="2736900"/>
          </a:xfrm>
          <a:prstGeom prst="rect">
            <a:avLst/>
          </a:prstGeom>
          <a:noFill/>
          <a:ln>
            <a:noFill/>
          </a:ln>
        </p:spPr>
        <p:txBody>
          <a:bodyPr spcFirstLastPara="1" wrap="square" lIns="121900" tIns="121900" rIns="121900" bIns="121900" anchor="b" anchorCtr="0">
            <a:normAutofit/>
          </a:bodyPr>
          <a:lstStyle/>
          <a:p>
            <a:pPr marL="0" lvl="0" indent="0" algn="ctr" rtl="0">
              <a:lnSpc>
                <a:spcPct val="100000"/>
              </a:lnSpc>
              <a:spcBef>
                <a:spcPts val="0"/>
              </a:spcBef>
              <a:spcAft>
                <a:spcPts val="0"/>
              </a:spcAft>
              <a:buSzPts val="6900"/>
              <a:buNone/>
            </a:pPr>
            <a:r>
              <a:rPr lang="en-SG" b="1">
                <a:solidFill>
                  <a:srgbClr val="059C92"/>
                </a:solidFill>
              </a:rPr>
              <a:t>Idea Generation</a:t>
            </a:r>
            <a:endParaRPr b="1">
              <a:solidFill>
                <a:srgbClr val="059C92"/>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466"/>
        <p:cNvGrpSpPr/>
        <p:nvPr/>
      </p:nvGrpSpPr>
      <p:grpSpPr>
        <a:xfrm>
          <a:off x="0" y="0"/>
          <a:ext cx="0" cy="0"/>
          <a:chOff x="0" y="0"/>
          <a:chExt cx="0" cy="0"/>
        </a:xfrm>
      </p:grpSpPr>
      <p:sp>
        <p:nvSpPr>
          <p:cNvPr id="467" name="Google Shape;467;p27"/>
          <p:cNvSpPr txBox="1">
            <a:spLocks noGrp="1"/>
          </p:cNvSpPr>
          <p:nvPr>
            <p:ph type="title"/>
          </p:nvPr>
        </p:nvSpPr>
        <p:spPr>
          <a:xfrm>
            <a:off x="907825" y="0"/>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SG"/>
              <a:t>Type 1: Single Company Fundamentals</a:t>
            </a:r>
            <a:endParaRPr/>
          </a:p>
        </p:txBody>
      </p:sp>
      <p:sp>
        <p:nvSpPr>
          <p:cNvPr id="468" name="Google Shape;468;p27"/>
          <p:cNvSpPr txBox="1">
            <a:spLocks noGrp="1"/>
          </p:cNvSpPr>
          <p:nvPr>
            <p:ph type="body" idx="1"/>
          </p:nvPr>
        </p:nvSpPr>
        <p:spPr>
          <a:xfrm>
            <a:off x="838200" y="1111204"/>
            <a:ext cx="10515600" cy="5060400"/>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SG"/>
              <a:t>Trade ideas based on change in company’s fundamentals which may affect future repayment/default probability </a:t>
            </a:r>
            <a:endParaRPr/>
          </a:p>
          <a:p>
            <a:pPr marL="457200" lvl="0" indent="0" algn="l" rtl="0">
              <a:lnSpc>
                <a:spcPct val="90000"/>
              </a:lnSpc>
              <a:spcBef>
                <a:spcPts val="0"/>
              </a:spcBef>
              <a:spcAft>
                <a:spcPts val="0"/>
              </a:spcAft>
              <a:buNone/>
            </a:pPr>
            <a:endParaRPr/>
          </a:p>
          <a:p>
            <a:pPr marL="228600" lvl="0" indent="-228600" algn="l" rtl="0">
              <a:lnSpc>
                <a:spcPct val="90000"/>
              </a:lnSpc>
              <a:spcBef>
                <a:spcPts val="0"/>
              </a:spcBef>
              <a:spcAft>
                <a:spcPts val="0"/>
              </a:spcAft>
              <a:buClr>
                <a:schemeClr val="dk1"/>
              </a:buClr>
              <a:buSzPts val="2800"/>
              <a:buChar char="•"/>
            </a:pPr>
            <a:r>
              <a:rPr lang="en-SG"/>
              <a:t>Bond prices are direct indicators of credit quality, barring any changes to the underlying base rate. E.g. If a bond is trading at 70, the company is probably distressed.</a:t>
            </a:r>
            <a:endParaRPr/>
          </a:p>
          <a:p>
            <a:pPr marL="0" lvl="0" indent="0" algn="l" rtl="0">
              <a:lnSpc>
                <a:spcPct val="90000"/>
              </a:lnSpc>
              <a:spcBef>
                <a:spcPts val="0"/>
              </a:spcBef>
              <a:spcAft>
                <a:spcPts val="0"/>
              </a:spcAft>
              <a:buNone/>
            </a:pPr>
            <a:endParaRPr/>
          </a:p>
          <a:p>
            <a:pPr marL="457200" lvl="0" indent="-342900" algn="l" rtl="0">
              <a:lnSpc>
                <a:spcPct val="90000"/>
              </a:lnSpc>
              <a:spcBef>
                <a:spcPts val="0"/>
              </a:spcBef>
              <a:spcAft>
                <a:spcPts val="0"/>
              </a:spcAft>
              <a:buSzPts val="1800"/>
              <a:buChar char="•"/>
            </a:pPr>
            <a:r>
              <a:rPr lang="en-SG"/>
              <a:t>If you believe credit conditions will improve, you long</a:t>
            </a:r>
            <a:endParaRPr/>
          </a:p>
          <a:p>
            <a:pPr marL="457200" lvl="0" indent="-342900" algn="l" rtl="0">
              <a:lnSpc>
                <a:spcPct val="90000"/>
              </a:lnSpc>
              <a:spcBef>
                <a:spcPts val="0"/>
              </a:spcBef>
              <a:spcAft>
                <a:spcPts val="0"/>
              </a:spcAft>
              <a:buSzPts val="1800"/>
              <a:buChar char="•"/>
            </a:pPr>
            <a:r>
              <a:rPr lang="en-SG"/>
              <a:t>If you believe otherwise, you short</a:t>
            </a:r>
            <a:endParaRPr/>
          </a:p>
          <a:p>
            <a:pPr marL="0" lvl="0" indent="0" algn="l" rtl="0">
              <a:lnSpc>
                <a:spcPct val="90000"/>
              </a:lnSpc>
              <a:spcBef>
                <a:spcPts val="0"/>
              </a:spcBef>
              <a:spcAft>
                <a:spcPts val="0"/>
              </a:spcAft>
              <a:buNone/>
            </a:pPr>
            <a:endParaRPr/>
          </a:p>
          <a:p>
            <a:pPr marL="0" lvl="0" indent="0" algn="l" rtl="0">
              <a:lnSpc>
                <a:spcPct val="90000"/>
              </a:lnSpc>
              <a:spcBef>
                <a:spcPts val="0"/>
              </a:spcBef>
              <a:spcAft>
                <a:spcPts val="0"/>
              </a:spcAft>
              <a:buNone/>
            </a:pPr>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472"/>
        <p:cNvGrpSpPr/>
        <p:nvPr/>
      </p:nvGrpSpPr>
      <p:grpSpPr>
        <a:xfrm>
          <a:off x="0" y="0"/>
          <a:ext cx="0" cy="0"/>
          <a:chOff x="0" y="0"/>
          <a:chExt cx="0" cy="0"/>
        </a:xfrm>
      </p:grpSpPr>
      <p:sp>
        <p:nvSpPr>
          <p:cNvPr id="473" name="Google Shape;473;g3a1423cfbf8_0_101"/>
          <p:cNvSpPr txBox="1">
            <a:spLocks noGrp="1"/>
          </p:cNvSpPr>
          <p:nvPr>
            <p:ph type="title"/>
          </p:nvPr>
        </p:nvSpPr>
        <p:spPr>
          <a:xfrm>
            <a:off x="907825" y="0"/>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SG"/>
              <a:t>Type 1: Single Company Fundamentals</a:t>
            </a:r>
            <a:endParaRPr/>
          </a:p>
        </p:txBody>
      </p:sp>
      <p:sp>
        <p:nvSpPr>
          <p:cNvPr id="474" name="Google Shape;474;g3a1423cfbf8_0_101"/>
          <p:cNvSpPr txBox="1">
            <a:spLocks noGrp="1"/>
          </p:cNvSpPr>
          <p:nvPr>
            <p:ph type="body" idx="1"/>
          </p:nvPr>
        </p:nvSpPr>
        <p:spPr>
          <a:xfrm>
            <a:off x="838200" y="1111204"/>
            <a:ext cx="10515600" cy="5060400"/>
          </a:xfrm>
          <a:prstGeom prst="rect">
            <a:avLst/>
          </a:prstGeom>
          <a:noFill/>
          <a:ln>
            <a:noFill/>
          </a:ln>
        </p:spPr>
        <p:txBody>
          <a:bodyPr spcFirstLastPara="1" wrap="square" lIns="91425" tIns="45700" rIns="91425" bIns="45700" anchor="t" anchorCtr="0">
            <a:normAutofit/>
          </a:bodyPr>
          <a:lstStyle/>
          <a:p>
            <a:pPr marL="457200" lvl="0" indent="-342900" algn="l" rtl="0">
              <a:lnSpc>
                <a:spcPct val="90000"/>
              </a:lnSpc>
              <a:spcBef>
                <a:spcPts val="0"/>
              </a:spcBef>
              <a:spcAft>
                <a:spcPts val="0"/>
              </a:spcAft>
              <a:buSzPts val="1800"/>
              <a:buChar char="•"/>
            </a:pPr>
            <a:r>
              <a:rPr lang="en-SG"/>
              <a:t>Longing a bond is very straightforward, you just collect the yield and wait for price appreciation </a:t>
            </a:r>
            <a:endParaRPr/>
          </a:p>
          <a:p>
            <a:pPr marL="457200" lvl="0" indent="0" algn="l" rtl="0">
              <a:lnSpc>
                <a:spcPct val="90000"/>
              </a:lnSpc>
              <a:spcBef>
                <a:spcPts val="0"/>
              </a:spcBef>
              <a:spcAft>
                <a:spcPts val="0"/>
              </a:spcAft>
              <a:buNone/>
            </a:pPr>
            <a:endParaRPr/>
          </a:p>
          <a:p>
            <a:pPr marL="457200" lvl="0" indent="-342900" algn="l" rtl="0">
              <a:lnSpc>
                <a:spcPct val="90000"/>
              </a:lnSpc>
              <a:spcBef>
                <a:spcPts val="0"/>
              </a:spcBef>
              <a:spcAft>
                <a:spcPts val="0"/>
              </a:spcAft>
              <a:buSzPts val="1800"/>
              <a:buChar char="•"/>
            </a:pPr>
            <a:r>
              <a:rPr lang="en-SG"/>
              <a:t>Shorting is much more complicated, because it requires you selling the bond and then buying it back at a lower price</a:t>
            </a:r>
            <a:endParaRPr/>
          </a:p>
          <a:p>
            <a:pPr marL="457200" lvl="0" indent="0" algn="l" rtl="0">
              <a:lnSpc>
                <a:spcPct val="90000"/>
              </a:lnSpc>
              <a:spcBef>
                <a:spcPts val="0"/>
              </a:spcBef>
              <a:spcAft>
                <a:spcPts val="0"/>
              </a:spcAft>
              <a:buNone/>
            </a:pPr>
            <a:endParaRPr/>
          </a:p>
          <a:p>
            <a:pPr marL="457200" lvl="0" indent="-342900" algn="l" rtl="0">
              <a:lnSpc>
                <a:spcPct val="90000"/>
              </a:lnSpc>
              <a:spcBef>
                <a:spcPts val="0"/>
              </a:spcBef>
              <a:spcAft>
                <a:spcPts val="0"/>
              </a:spcAft>
              <a:buSzPts val="1800"/>
              <a:buChar char="•"/>
            </a:pPr>
            <a:r>
              <a:rPr lang="en-SG"/>
              <a:t>Unlike shorting a stock, shorting a bond requires you to pay the coupon during the duration of the whole trade. This gets expensive quickly, especially amongst high-yield issuers.</a:t>
            </a:r>
            <a:endParaRPr/>
          </a:p>
          <a:p>
            <a:pPr marL="457200" lvl="0" indent="0" algn="l" rtl="0">
              <a:lnSpc>
                <a:spcPct val="90000"/>
              </a:lnSpc>
              <a:spcBef>
                <a:spcPts val="0"/>
              </a:spcBef>
              <a:spcAft>
                <a:spcPts val="0"/>
              </a:spcAft>
              <a:buNone/>
            </a:pPr>
            <a:endParaRPr/>
          </a:p>
          <a:p>
            <a:pPr marL="457200" lvl="0" indent="-342900" algn="l" rtl="0">
              <a:lnSpc>
                <a:spcPct val="90000"/>
              </a:lnSpc>
              <a:spcBef>
                <a:spcPts val="0"/>
              </a:spcBef>
              <a:spcAft>
                <a:spcPts val="0"/>
              </a:spcAft>
              <a:buSzPts val="1800"/>
              <a:buChar char="•"/>
            </a:pPr>
            <a:r>
              <a:rPr lang="en-SG"/>
              <a:t>Hence, the more efficient way is to purchase a CDS on that specific credit instead.</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478"/>
        <p:cNvGrpSpPr/>
        <p:nvPr/>
      </p:nvGrpSpPr>
      <p:grpSpPr>
        <a:xfrm>
          <a:off x="0" y="0"/>
          <a:ext cx="0" cy="0"/>
          <a:chOff x="0" y="0"/>
          <a:chExt cx="0" cy="0"/>
        </a:xfrm>
      </p:grpSpPr>
      <p:sp>
        <p:nvSpPr>
          <p:cNvPr id="479" name="Google Shape;479;g3a1423cfbf8_0_94"/>
          <p:cNvSpPr txBox="1">
            <a:spLocks noGrp="1"/>
          </p:cNvSpPr>
          <p:nvPr>
            <p:ph type="title"/>
          </p:nvPr>
        </p:nvSpPr>
        <p:spPr>
          <a:xfrm>
            <a:off x="907825" y="0"/>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SG"/>
              <a:t>Type 1: Single Company Fundamentals</a:t>
            </a:r>
            <a:endParaRPr/>
          </a:p>
        </p:txBody>
      </p:sp>
      <p:pic>
        <p:nvPicPr>
          <p:cNvPr id="480" name="Google Shape;480;g3a1423cfbf8_0_94" descr="Credit Suisse Bonds Drop to Record Lows Amid Concerns"/>
          <p:cNvPicPr preferRelativeResize="0"/>
          <p:nvPr/>
        </p:nvPicPr>
        <p:blipFill rotWithShape="1">
          <a:blip r:embed="rId3">
            <a:alphaModFix/>
          </a:blip>
          <a:srcRect/>
          <a:stretch/>
        </p:blipFill>
        <p:spPr>
          <a:xfrm>
            <a:off x="316000" y="1416421"/>
            <a:ext cx="5050537" cy="3122702"/>
          </a:xfrm>
          <a:prstGeom prst="rect">
            <a:avLst/>
          </a:prstGeom>
          <a:noFill/>
          <a:ln>
            <a:noFill/>
          </a:ln>
        </p:spPr>
      </p:pic>
      <p:pic>
        <p:nvPicPr>
          <p:cNvPr id="481" name="Google Shape;481;g3a1423cfbf8_0_94" descr="World shares skid as China Evergrande contagion fears rise | Reuters"/>
          <p:cNvPicPr preferRelativeResize="0"/>
          <p:nvPr/>
        </p:nvPicPr>
        <p:blipFill rotWithShape="1">
          <a:blip r:embed="rId4">
            <a:alphaModFix/>
          </a:blip>
          <a:srcRect/>
          <a:stretch/>
        </p:blipFill>
        <p:spPr>
          <a:xfrm>
            <a:off x="5540100" y="2739625"/>
            <a:ext cx="6370701" cy="3710475"/>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485"/>
        <p:cNvGrpSpPr/>
        <p:nvPr/>
      </p:nvGrpSpPr>
      <p:grpSpPr>
        <a:xfrm>
          <a:off x="0" y="0"/>
          <a:ext cx="0" cy="0"/>
          <a:chOff x="0" y="0"/>
          <a:chExt cx="0" cy="0"/>
        </a:xfrm>
      </p:grpSpPr>
      <p:sp>
        <p:nvSpPr>
          <p:cNvPr id="486" name="Google Shape;486;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SG"/>
              <a:t>Type 2: Mispricings</a:t>
            </a:r>
            <a:endParaRPr/>
          </a:p>
        </p:txBody>
      </p:sp>
      <p:sp>
        <p:nvSpPr>
          <p:cNvPr id="487" name="Google Shape;487;p25"/>
          <p:cNvSpPr txBox="1">
            <a:spLocks noGrp="1"/>
          </p:cNvSpPr>
          <p:nvPr>
            <p:ph type="body" idx="1"/>
          </p:nvPr>
        </p:nvSpPr>
        <p:spPr>
          <a:xfrm>
            <a:off x="838200" y="1825625"/>
            <a:ext cx="5913582" cy="4351338"/>
          </a:xfrm>
          <a:prstGeom prst="rect">
            <a:avLst/>
          </a:prstGeom>
          <a:noFill/>
          <a:ln>
            <a:noFill/>
          </a:ln>
        </p:spPr>
        <p:txBody>
          <a:bodyPr spcFirstLastPara="1" wrap="square" lIns="91425" tIns="45700" rIns="91425" bIns="45700" anchor="t" anchorCtr="0">
            <a:normAutofit fontScale="92500"/>
          </a:bodyPr>
          <a:lstStyle/>
          <a:p>
            <a:pPr marL="228600" lvl="0" indent="-228600" algn="l" rtl="0">
              <a:lnSpc>
                <a:spcPct val="90000"/>
              </a:lnSpc>
              <a:spcBef>
                <a:spcPts val="0"/>
              </a:spcBef>
              <a:spcAft>
                <a:spcPts val="0"/>
              </a:spcAft>
              <a:buClr>
                <a:schemeClr val="dk1"/>
              </a:buClr>
              <a:buSzPts val="2800"/>
              <a:buChar char="•"/>
            </a:pPr>
            <a:r>
              <a:rPr lang="en-SG"/>
              <a:t>Pricing of public bonds and credit derivatives are often based on credit ratings from reputable firms</a:t>
            </a:r>
            <a:endParaRPr/>
          </a:p>
          <a:p>
            <a:pPr marL="685800" lvl="1" indent="-228600" algn="l" rtl="0">
              <a:lnSpc>
                <a:spcPct val="90000"/>
              </a:lnSpc>
              <a:spcBef>
                <a:spcPts val="500"/>
              </a:spcBef>
              <a:spcAft>
                <a:spcPts val="0"/>
              </a:spcAft>
              <a:buClr>
                <a:schemeClr val="dk1"/>
              </a:buClr>
              <a:buSzPts val="2400"/>
              <a:buChar char="•"/>
            </a:pPr>
            <a:r>
              <a:rPr lang="en-SG"/>
              <a:t>Banks have their own internal ratings system to manage their portfolio of debtors and to make lending decisions</a:t>
            </a:r>
            <a:endParaRPr/>
          </a:p>
          <a:p>
            <a:pPr marL="685800" lvl="1" indent="-228600" algn="l" rtl="0">
              <a:lnSpc>
                <a:spcPct val="90000"/>
              </a:lnSpc>
              <a:spcBef>
                <a:spcPts val="500"/>
              </a:spcBef>
              <a:spcAft>
                <a:spcPts val="0"/>
              </a:spcAft>
              <a:buClr>
                <a:schemeClr val="dk1"/>
              </a:buClr>
              <a:buSzPts val="2400"/>
              <a:buChar char="•"/>
            </a:pPr>
            <a:r>
              <a:rPr lang="en-SG"/>
              <a:t>Private credit firms have to make their own assessments of firm default probability to price private credit</a:t>
            </a:r>
            <a:endParaRPr/>
          </a:p>
          <a:p>
            <a:pPr marL="228600" lvl="0" indent="-228600" algn="l" rtl="0">
              <a:lnSpc>
                <a:spcPct val="90000"/>
              </a:lnSpc>
              <a:spcBef>
                <a:spcPts val="1000"/>
              </a:spcBef>
              <a:spcAft>
                <a:spcPts val="0"/>
              </a:spcAft>
              <a:buClr>
                <a:schemeClr val="dk1"/>
              </a:buClr>
              <a:buSzPts val="2800"/>
              <a:buChar char="•"/>
            </a:pPr>
            <a:r>
              <a:rPr lang="en-SG"/>
              <a:t>Generating alpha by locating mispricings</a:t>
            </a:r>
            <a:endParaRPr/>
          </a:p>
        </p:txBody>
      </p:sp>
      <p:pic>
        <p:nvPicPr>
          <p:cNvPr id="488" name="Google Shape;488;p25" descr="Quantifying the risk of bonds with S&amp;P credit ratings - Elizabeth Moran |  Livewire"/>
          <p:cNvPicPr preferRelativeResize="0"/>
          <p:nvPr/>
        </p:nvPicPr>
        <p:blipFill rotWithShape="1">
          <a:blip r:embed="rId3">
            <a:alphaModFix/>
          </a:blip>
          <a:srcRect/>
          <a:stretch/>
        </p:blipFill>
        <p:spPr>
          <a:xfrm>
            <a:off x="6639956" y="2538703"/>
            <a:ext cx="5337444" cy="3243262"/>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492"/>
        <p:cNvGrpSpPr/>
        <p:nvPr/>
      </p:nvGrpSpPr>
      <p:grpSpPr>
        <a:xfrm>
          <a:off x="0" y="0"/>
          <a:ext cx="0" cy="0"/>
          <a:chOff x="0" y="0"/>
          <a:chExt cx="0" cy="0"/>
        </a:xfrm>
      </p:grpSpPr>
      <p:sp>
        <p:nvSpPr>
          <p:cNvPr id="493" name="Google Shape;493;p26"/>
          <p:cNvSpPr txBox="1">
            <a:spLocks noGrp="1"/>
          </p:cNvSpPr>
          <p:nvPr>
            <p:ph type="body" idx="1"/>
          </p:nvPr>
        </p:nvSpPr>
        <p:spPr>
          <a:xfrm>
            <a:off x="838200" y="1825625"/>
            <a:ext cx="1074685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SG"/>
              <a:t>Finding the market default rates of any firm</a:t>
            </a:r>
            <a:endParaRPr/>
          </a:p>
          <a:p>
            <a:pPr marL="685800" lvl="1" indent="-228600" algn="l" rtl="0">
              <a:lnSpc>
                <a:spcPct val="90000"/>
              </a:lnSpc>
              <a:spcBef>
                <a:spcPts val="500"/>
              </a:spcBef>
              <a:spcAft>
                <a:spcPts val="0"/>
              </a:spcAft>
              <a:buClr>
                <a:schemeClr val="dk1"/>
              </a:buClr>
              <a:buSzPts val="2400"/>
              <a:buChar char="•"/>
            </a:pPr>
            <a:r>
              <a:rPr lang="en-SG"/>
              <a:t>Market CDS premium</a:t>
            </a:r>
            <a:endParaRPr/>
          </a:p>
          <a:p>
            <a:pPr marL="685800" lvl="1" indent="-228600" algn="l" rtl="0">
              <a:lnSpc>
                <a:spcPct val="90000"/>
              </a:lnSpc>
              <a:spcBef>
                <a:spcPts val="500"/>
              </a:spcBef>
              <a:spcAft>
                <a:spcPts val="0"/>
              </a:spcAft>
              <a:buClr>
                <a:schemeClr val="dk1"/>
              </a:buClr>
              <a:buSzPts val="2400"/>
              <a:buChar char="•"/>
            </a:pPr>
            <a:r>
              <a:rPr lang="en-SG"/>
              <a:t>How much their bonds are trading at</a:t>
            </a:r>
            <a:endParaRPr/>
          </a:p>
          <a:p>
            <a:pPr marL="685800" lvl="1" indent="-228600" algn="l" rtl="0">
              <a:lnSpc>
                <a:spcPct val="90000"/>
              </a:lnSpc>
              <a:spcBef>
                <a:spcPts val="500"/>
              </a:spcBef>
              <a:spcAft>
                <a:spcPts val="0"/>
              </a:spcAft>
              <a:buClr>
                <a:schemeClr val="dk1"/>
              </a:buClr>
              <a:buSzPts val="2400"/>
              <a:buChar char="•"/>
            </a:pPr>
            <a:r>
              <a:rPr lang="en-SG"/>
              <a:t>Recent loan/financing rate</a:t>
            </a:r>
            <a:endParaRPr/>
          </a:p>
          <a:p>
            <a:pPr marL="685800" lvl="1" indent="-228600" algn="l" rtl="0">
              <a:lnSpc>
                <a:spcPct val="90000"/>
              </a:lnSpc>
              <a:spcBef>
                <a:spcPts val="500"/>
              </a:spcBef>
              <a:spcAft>
                <a:spcPts val="0"/>
              </a:spcAft>
              <a:buClr>
                <a:schemeClr val="dk1"/>
              </a:buClr>
              <a:buSzPts val="2400"/>
              <a:buChar char="•"/>
            </a:pPr>
            <a:r>
              <a:rPr lang="en-SG"/>
              <a:t>Recovery rate – generally set at 40% </a:t>
            </a:r>
            <a:endParaRPr/>
          </a:p>
        </p:txBody>
      </p:sp>
      <p:pic>
        <p:nvPicPr>
          <p:cNvPr id="494" name="Google Shape;494;p26" descr="Bootstrapping a Default Probability Curve - MATLAB &amp; Simulink"/>
          <p:cNvPicPr preferRelativeResize="0"/>
          <p:nvPr/>
        </p:nvPicPr>
        <p:blipFill rotWithShape="1">
          <a:blip r:embed="rId3">
            <a:alphaModFix/>
          </a:blip>
          <a:srcRect t="17123"/>
          <a:stretch/>
        </p:blipFill>
        <p:spPr>
          <a:xfrm>
            <a:off x="4452730" y="3917465"/>
            <a:ext cx="3495923" cy="2575410"/>
          </a:xfrm>
          <a:prstGeom prst="rect">
            <a:avLst/>
          </a:prstGeom>
          <a:noFill/>
          <a:ln>
            <a:noFill/>
          </a:ln>
        </p:spPr>
      </p:pic>
      <p:sp>
        <p:nvSpPr>
          <p:cNvPr id="495" name="Google Shape;495;p26"/>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SG"/>
              <a:t>Type 2: Mispricings</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499"/>
        <p:cNvGrpSpPr/>
        <p:nvPr/>
      </p:nvGrpSpPr>
      <p:grpSpPr>
        <a:xfrm>
          <a:off x="0" y="0"/>
          <a:ext cx="0" cy="0"/>
          <a:chOff x="0" y="0"/>
          <a:chExt cx="0" cy="0"/>
        </a:xfrm>
      </p:grpSpPr>
      <p:sp>
        <p:nvSpPr>
          <p:cNvPr id="500" name="Google Shape;500;p2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SG"/>
              <a:t>Idea generation – macro driven</a:t>
            </a:r>
            <a:endParaRPr/>
          </a:p>
        </p:txBody>
      </p:sp>
      <p:sp>
        <p:nvSpPr>
          <p:cNvPr id="501" name="Google Shape;501;p28"/>
          <p:cNvSpPr txBox="1">
            <a:spLocks noGrp="1"/>
          </p:cNvSpPr>
          <p:nvPr>
            <p:ph type="body" idx="1"/>
          </p:nvPr>
        </p:nvSpPr>
        <p:spPr>
          <a:xfrm>
            <a:off x="838200" y="4636655"/>
            <a:ext cx="10515600" cy="194887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SG"/>
              <a:t>Predicting recessions, political events, business cycles where industries perform poorer – credit is a cyclical market where spreads will reflect macro outlook</a:t>
            </a:r>
            <a:endParaRPr/>
          </a:p>
          <a:p>
            <a:pPr marL="228600" lvl="0" indent="-228600" algn="l" rtl="0">
              <a:lnSpc>
                <a:spcPct val="90000"/>
              </a:lnSpc>
              <a:spcBef>
                <a:spcPts val="1000"/>
              </a:spcBef>
              <a:spcAft>
                <a:spcPts val="0"/>
              </a:spcAft>
              <a:buClr>
                <a:schemeClr val="dk1"/>
              </a:buClr>
              <a:buSzPts val="2800"/>
              <a:buChar char="•"/>
            </a:pPr>
            <a:r>
              <a:rPr lang="en-SG"/>
              <a:t>Market confidence in credit will be reflected in credit spreads</a:t>
            </a:r>
            <a:endParaRPr/>
          </a:p>
        </p:txBody>
      </p:sp>
      <p:pic>
        <p:nvPicPr>
          <p:cNvPr id="502" name="Google Shape;502;p28"/>
          <p:cNvPicPr preferRelativeResize="0"/>
          <p:nvPr/>
        </p:nvPicPr>
        <p:blipFill rotWithShape="1">
          <a:blip r:embed="rId3">
            <a:alphaModFix/>
          </a:blip>
          <a:srcRect/>
          <a:stretch/>
        </p:blipFill>
        <p:spPr>
          <a:xfrm>
            <a:off x="6584255" y="1449896"/>
            <a:ext cx="4769546" cy="2843842"/>
          </a:xfrm>
          <a:prstGeom prst="rect">
            <a:avLst/>
          </a:prstGeom>
          <a:noFill/>
          <a:ln>
            <a:noFill/>
          </a:ln>
        </p:spPr>
      </p:pic>
      <p:pic>
        <p:nvPicPr>
          <p:cNvPr id="503" name="Google Shape;503;p28" descr="Mispricing Risk and Market Conditions at the Dawn of the New Year: Rules,  Aleppo and the Banks of the Nile | BlackSummit Financial Group - Investment  Advisor - Financial Consulting and Asset Management"/>
          <p:cNvPicPr preferRelativeResize="0"/>
          <p:nvPr/>
        </p:nvPicPr>
        <p:blipFill rotWithShape="1">
          <a:blip r:embed="rId4">
            <a:alphaModFix/>
          </a:blip>
          <a:srcRect/>
          <a:stretch/>
        </p:blipFill>
        <p:spPr>
          <a:xfrm>
            <a:off x="838199" y="1284097"/>
            <a:ext cx="4454237" cy="3175440"/>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514"/>
        <p:cNvGrpSpPr/>
        <p:nvPr/>
      </p:nvGrpSpPr>
      <p:grpSpPr>
        <a:xfrm>
          <a:off x="0" y="0"/>
          <a:ext cx="0" cy="0"/>
          <a:chOff x="0" y="0"/>
          <a:chExt cx="0" cy="0"/>
        </a:xfrm>
      </p:grpSpPr>
      <p:sp>
        <p:nvSpPr>
          <p:cNvPr id="515" name="Google Shape;515;p3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SG"/>
              <a:t>Idea generation – steepeners/flatteners</a:t>
            </a:r>
            <a:endParaRPr/>
          </a:p>
        </p:txBody>
      </p:sp>
      <p:sp>
        <p:nvSpPr>
          <p:cNvPr id="516" name="Google Shape;516;p32"/>
          <p:cNvSpPr txBox="1">
            <a:spLocks noGrp="1"/>
          </p:cNvSpPr>
          <p:nvPr>
            <p:ph type="body" idx="1"/>
          </p:nvPr>
        </p:nvSpPr>
        <p:spPr>
          <a:xfrm>
            <a:off x="838200" y="4587902"/>
            <a:ext cx="10515600" cy="2034333"/>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SG"/>
              <a:t>Steepener: Short short term CDS and Long long term CDS</a:t>
            </a:r>
            <a:endParaRPr/>
          </a:p>
          <a:p>
            <a:pPr marL="228600" lvl="0" indent="-228600" algn="l" rtl="0">
              <a:lnSpc>
                <a:spcPct val="90000"/>
              </a:lnSpc>
              <a:spcBef>
                <a:spcPts val="1000"/>
              </a:spcBef>
              <a:spcAft>
                <a:spcPts val="0"/>
              </a:spcAft>
              <a:buClr>
                <a:schemeClr val="dk1"/>
              </a:buClr>
              <a:buSzPts val="2800"/>
              <a:buChar char="•"/>
            </a:pPr>
            <a:r>
              <a:rPr lang="en-SG"/>
              <a:t>A play on general market recovery/recession or mispricing of certain ends of the curve, can look at business cycles</a:t>
            </a:r>
            <a:endParaRPr/>
          </a:p>
          <a:p>
            <a:pPr marL="228600" lvl="0" indent="-228600" algn="l" rtl="0">
              <a:lnSpc>
                <a:spcPct val="90000"/>
              </a:lnSpc>
              <a:spcBef>
                <a:spcPts val="1000"/>
              </a:spcBef>
              <a:spcAft>
                <a:spcPts val="0"/>
              </a:spcAft>
              <a:buClr>
                <a:schemeClr val="dk1"/>
              </a:buClr>
              <a:buSzPts val="2800"/>
              <a:buChar char="•"/>
            </a:pPr>
            <a:r>
              <a:rPr lang="en-SG"/>
              <a:t>Generally only 5y CDS is liquid, sometimes 1y and 10y as well</a:t>
            </a:r>
            <a:endParaRPr/>
          </a:p>
          <a:p>
            <a:pPr marL="228600" lvl="0" indent="-50800" algn="l" rtl="0">
              <a:lnSpc>
                <a:spcPct val="90000"/>
              </a:lnSpc>
              <a:spcBef>
                <a:spcPts val="1000"/>
              </a:spcBef>
              <a:spcAft>
                <a:spcPts val="0"/>
              </a:spcAft>
              <a:buClr>
                <a:schemeClr val="dk1"/>
              </a:buClr>
              <a:buSzPts val="2800"/>
              <a:buNone/>
            </a:pPr>
            <a:endParaRPr/>
          </a:p>
        </p:txBody>
      </p:sp>
      <p:pic>
        <p:nvPicPr>
          <p:cNvPr id="517" name="Google Shape;517;p32" descr="Sober Look: The inverted CDS curve of distressed credits"/>
          <p:cNvPicPr preferRelativeResize="0"/>
          <p:nvPr/>
        </p:nvPicPr>
        <p:blipFill rotWithShape="1">
          <a:blip r:embed="rId3">
            <a:alphaModFix/>
          </a:blip>
          <a:srcRect/>
          <a:stretch/>
        </p:blipFill>
        <p:spPr>
          <a:xfrm>
            <a:off x="4365928" y="1421234"/>
            <a:ext cx="3810000" cy="2990850"/>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521"/>
        <p:cNvGrpSpPr/>
        <p:nvPr/>
      </p:nvGrpSpPr>
      <p:grpSpPr>
        <a:xfrm>
          <a:off x="0" y="0"/>
          <a:ext cx="0" cy="0"/>
          <a:chOff x="0" y="0"/>
          <a:chExt cx="0" cy="0"/>
        </a:xfrm>
      </p:grpSpPr>
      <p:sp>
        <p:nvSpPr>
          <p:cNvPr id="522" name="Google Shape;522;p3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SG"/>
              <a:t>Case study – 08’ financial crisis</a:t>
            </a:r>
            <a:endParaRPr/>
          </a:p>
        </p:txBody>
      </p:sp>
      <p:sp>
        <p:nvSpPr>
          <p:cNvPr id="523" name="Google Shape;523;p33"/>
          <p:cNvSpPr txBox="1">
            <a:spLocks noGrp="1"/>
          </p:cNvSpPr>
          <p:nvPr>
            <p:ph type="body" idx="1"/>
          </p:nvPr>
        </p:nvSpPr>
        <p:spPr>
          <a:xfrm>
            <a:off x="838200" y="4399659"/>
            <a:ext cx="10515600" cy="212299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SG"/>
              <a:t>CDS trades shown in The Big Short (2015) and The Greatest Trade Ever (2009)</a:t>
            </a:r>
            <a:endParaRPr/>
          </a:p>
          <a:p>
            <a:pPr marL="228600" lvl="0" indent="-228600" algn="l" rtl="0">
              <a:lnSpc>
                <a:spcPct val="90000"/>
              </a:lnSpc>
              <a:spcBef>
                <a:spcPts val="1000"/>
              </a:spcBef>
              <a:spcAft>
                <a:spcPts val="0"/>
              </a:spcAft>
              <a:buClr>
                <a:schemeClr val="dk1"/>
              </a:buClr>
              <a:buSzPts val="2800"/>
              <a:buChar char="•"/>
            </a:pPr>
            <a:r>
              <a:rPr lang="en-SG"/>
              <a:t>Both cases investors made bets against the US housing market and that people would default on their mortgages</a:t>
            </a:r>
            <a:endParaRPr/>
          </a:p>
        </p:txBody>
      </p:sp>
      <p:pic>
        <p:nvPicPr>
          <p:cNvPr id="524" name="Google Shape;524;p33" descr="Bespoke Investment Group: Credit Default Swap Index vs S&amp;P 500"/>
          <p:cNvPicPr preferRelativeResize="0"/>
          <p:nvPr/>
        </p:nvPicPr>
        <p:blipFill rotWithShape="1">
          <a:blip r:embed="rId3">
            <a:alphaModFix/>
          </a:blip>
          <a:srcRect/>
          <a:stretch/>
        </p:blipFill>
        <p:spPr>
          <a:xfrm>
            <a:off x="1256968" y="1422662"/>
            <a:ext cx="4314763" cy="2815383"/>
          </a:xfrm>
          <a:prstGeom prst="rect">
            <a:avLst/>
          </a:prstGeom>
          <a:noFill/>
          <a:ln>
            <a:noFill/>
          </a:ln>
        </p:spPr>
      </p:pic>
      <p:pic>
        <p:nvPicPr>
          <p:cNvPr id="525" name="Google Shape;525;p33" descr="2020 saw highest credit default events since 2009 - what about this year? |  IHS Markit"/>
          <p:cNvPicPr preferRelativeResize="0"/>
          <p:nvPr/>
        </p:nvPicPr>
        <p:blipFill rotWithShape="1">
          <a:blip r:embed="rId4">
            <a:alphaModFix/>
          </a:blip>
          <a:srcRect/>
          <a:stretch/>
        </p:blipFill>
        <p:spPr>
          <a:xfrm>
            <a:off x="6340172" y="1588238"/>
            <a:ext cx="5013628" cy="2484230"/>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529"/>
        <p:cNvGrpSpPr/>
        <p:nvPr/>
      </p:nvGrpSpPr>
      <p:grpSpPr>
        <a:xfrm>
          <a:off x="0" y="0"/>
          <a:ext cx="0" cy="0"/>
          <a:chOff x="0" y="0"/>
          <a:chExt cx="0" cy="0"/>
        </a:xfrm>
      </p:grpSpPr>
      <p:sp>
        <p:nvSpPr>
          <p:cNvPr id="530" name="Google Shape;530;p3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SG"/>
              <a:t>Case study – 08’ financial crisis</a:t>
            </a:r>
            <a:endParaRPr/>
          </a:p>
        </p:txBody>
      </p:sp>
      <p:pic>
        <p:nvPicPr>
          <p:cNvPr id="531" name="Google Shape;531;p34" descr="Collateralized debt obligation - Wikipedia"/>
          <p:cNvPicPr preferRelativeResize="0">
            <a:picLocks noGrp="1"/>
          </p:cNvPicPr>
          <p:nvPr>
            <p:ph type="body" idx="1"/>
          </p:nvPr>
        </p:nvPicPr>
        <p:blipFill rotWithShape="1">
          <a:blip r:embed="rId3">
            <a:alphaModFix/>
          </a:blip>
          <a:srcRect/>
          <a:stretch/>
        </p:blipFill>
        <p:spPr>
          <a:xfrm>
            <a:off x="1733443" y="1420308"/>
            <a:ext cx="3330880" cy="3686175"/>
          </a:xfrm>
          <a:prstGeom prst="rect">
            <a:avLst/>
          </a:prstGeom>
          <a:noFill/>
          <a:ln>
            <a:noFill/>
          </a:ln>
        </p:spPr>
      </p:pic>
      <p:pic>
        <p:nvPicPr>
          <p:cNvPr id="532" name="Google Shape;532;p34" descr="Collateralized debt obligation - Wikipedia"/>
          <p:cNvPicPr preferRelativeResize="0"/>
          <p:nvPr/>
        </p:nvPicPr>
        <p:blipFill rotWithShape="1">
          <a:blip r:embed="rId4">
            <a:alphaModFix/>
          </a:blip>
          <a:srcRect/>
          <a:stretch/>
        </p:blipFill>
        <p:spPr>
          <a:xfrm>
            <a:off x="6608610" y="1514351"/>
            <a:ext cx="4286250" cy="3686175"/>
          </a:xfrm>
          <a:prstGeom prst="rect">
            <a:avLst/>
          </a:prstGeom>
          <a:noFill/>
          <a:ln>
            <a:noFill/>
          </a:ln>
        </p:spPr>
      </p:pic>
      <p:sp>
        <p:nvSpPr>
          <p:cNvPr id="533" name="Google Shape;533;p34"/>
          <p:cNvSpPr txBox="1"/>
          <p:nvPr/>
        </p:nvSpPr>
        <p:spPr>
          <a:xfrm>
            <a:off x="838200" y="5197092"/>
            <a:ext cx="10515600" cy="1450197"/>
          </a:xfrm>
          <a:prstGeom prst="rect">
            <a:avLst/>
          </a:prstGeom>
          <a:noFill/>
          <a:ln>
            <a:noFill/>
          </a:ln>
        </p:spPr>
        <p:txBody>
          <a:bodyPr spcFirstLastPara="1" wrap="square" lIns="91425" tIns="45700" rIns="91425" bIns="45700" anchor="t" anchorCtr="0">
            <a:normAutofit/>
          </a:bodyPr>
          <a:lstStyle/>
          <a:p>
            <a:pPr marL="228600" marR="0" lvl="0" indent="-228600" algn="l" rtl="0">
              <a:lnSpc>
                <a:spcPct val="90000"/>
              </a:lnSpc>
              <a:spcBef>
                <a:spcPts val="0"/>
              </a:spcBef>
              <a:spcAft>
                <a:spcPts val="0"/>
              </a:spcAft>
              <a:buClr>
                <a:schemeClr val="dk1"/>
              </a:buClr>
              <a:buSzPts val="2800"/>
              <a:buFont typeface="Arial"/>
              <a:buChar char="•"/>
            </a:pPr>
            <a:r>
              <a:rPr lang="en-SG" sz="2800" b="0" i="0" u="none" strike="noStrike" cap="none">
                <a:solidFill>
                  <a:schemeClr val="dk1"/>
                </a:solidFill>
                <a:latin typeface="Calibri"/>
                <a:ea typeface="Calibri"/>
                <a:cs typeface="Calibri"/>
                <a:sym typeface="Calibri"/>
              </a:rPr>
              <a:t>CDS on subprime mortgage-backed securities</a:t>
            </a:r>
            <a:endParaRPr sz="1400" b="0" i="0" u="none" strike="noStrike" cap="none">
              <a:solidFill>
                <a:srgbClr val="000000"/>
              </a:solidFill>
              <a:latin typeface="Arial"/>
              <a:ea typeface="Arial"/>
              <a:cs typeface="Arial"/>
              <a:sym typeface="Arial"/>
            </a:endParaRPr>
          </a:p>
          <a:p>
            <a:pPr marL="228600" marR="0" lvl="0" indent="-228600" algn="l" rtl="0">
              <a:lnSpc>
                <a:spcPct val="90000"/>
              </a:lnSpc>
              <a:spcBef>
                <a:spcPts val="1000"/>
              </a:spcBef>
              <a:spcAft>
                <a:spcPts val="0"/>
              </a:spcAft>
              <a:buClr>
                <a:schemeClr val="dk1"/>
              </a:buClr>
              <a:buSzPts val="2800"/>
              <a:buFont typeface="Arial"/>
              <a:buChar char="•"/>
            </a:pPr>
            <a:r>
              <a:rPr lang="en-SG" sz="2800" b="0" i="0" u="none" strike="noStrike" cap="none">
                <a:solidFill>
                  <a:schemeClr val="dk1"/>
                </a:solidFill>
                <a:latin typeface="Calibri"/>
                <a:ea typeface="Calibri"/>
                <a:cs typeface="Calibri"/>
                <a:sym typeface="Calibri"/>
              </a:rPr>
              <a:t>Came at a low price as these were highly rated securities by ratings firms – poor quality assets, but they were highly diversified</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22</TotalTime>
  <Words>4768</Words>
  <Application>Microsoft Office PowerPoint</Application>
  <PresentationFormat>Widescreen</PresentationFormat>
  <Paragraphs>307</Paragraphs>
  <Slides>41</Slides>
  <Notes>37</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41</vt:i4>
      </vt:variant>
    </vt:vector>
  </HeadingPairs>
  <TitlesOfParts>
    <vt:vector size="49" baseType="lpstr">
      <vt:lpstr>Wingdings</vt:lpstr>
      <vt:lpstr>Roboto</vt:lpstr>
      <vt:lpstr>Roboto Medium</vt:lpstr>
      <vt:lpstr>Roboto Mono</vt:lpstr>
      <vt:lpstr>Calibri</vt:lpstr>
      <vt:lpstr>Arial</vt:lpstr>
      <vt:lpstr>Simple Light</vt:lpstr>
      <vt:lpstr>Office Theme</vt:lpstr>
      <vt:lpstr>Credit Fundamentals</vt:lpstr>
      <vt:lpstr>Structure</vt:lpstr>
      <vt:lpstr>Introduction to Credit</vt:lpstr>
      <vt:lpstr>Credit vs. Rates</vt:lpstr>
      <vt:lpstr>Categories</vt:lpstr>
      <vt:lpstr>Why Invest in Credit?</vt:lpstr>
      <vt:lpstr>Credit as a Career</vt:lpstr>
      <vt:lpstr>Public vs Private</vt:lpstr>
      <vt:lpstr>Private credit market</vt:lpstr>
      <vt:lpstr>Sovereign credit</vt:lpstr>
      <vt:lpstr>Risk-return scatterplot for credit investments</vt:lpstr>
      <vt:lpstr>Developed vs. emerging markets</vt:lpstr>
      <vt:lpstr>Credit Analysis</vt:lpstr>
      <vt:lpstr>5Cs of basic credit analysis</vt:lpstr>
      <vt:lpstr>Credit Ratings</vt:lpstr>
      <vt:lpstr>Credit Rating Methodology – S&amp;P</vt:lpstr>
      <vt:lpstr>Credit Rating Methodology – S&amp;P</vt:lpstr>
      <vt:lpstr>Basic Jargon</vt:lpstr>
      <vt:lpstr>Capital Structure</vt:lpstr>
      <vt:lpstr>Bond terms &amp; structure</vt:lpstr>
      <vt:lpstr>Basic Bond Valuation</vt:lpstr>
      <vt:lpstr>Understanding Pricing/Yields</vt:lpstr>
      <vt:lpstr>Credit Products</vt:lpstr>
      <vt:lpstr>Credit products</vt:lpstr>
      <vt:lpstr>Credit derivatives – Credit default swaps</vt:lpstr>
      <vt:lpstr>Credit derivatives – Credit default swaps</vt:lpstr>
      <vt:lpstr>CDS for CS 2022-2023</vt:lpstr>
      <vt:lpstr>Asset-Backed Securities ABS</vt:lpstr>
      <vt:lpstr>Credit derivatives – credit spread options</vt:lpstr>
      <vt:lpstr>Credit derivatives – Swaps</vt:lpstr>
      <vt:lpstr>Fixed Income ETFs</vt:lpstr>
      <vt:lpstr>Idea Generation</vt:lpstr>
      <vt:lpstr>Type 1: Single Company Fundamentals</vt:lpstr>
      <vt:lpstr>Type 1: Single Company Fundamentals</vt:lpstr>
      <vt:lpstr>Type 1: Single Company Fundamentals</vt:lpstr>
      <vt:lpstr>Type 2: Mispricings</vt:lpstr>
      <vt:lpstr>Type 2: Mispricings</vt:lpstr>
      <vt:lpstr>Idea generation – macro driven</vt:lpstr>
      <vt:lpstr>Idea generation – steepeners/flatteners</vt:lpstr>
      <vt:lpstr>Case study – 08’ financial crisis</vt:lpstr>
      <vt:lpstr>Case study – 08’ financial crisis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Kevin</dc:creator>
  <cp:lastModifiedBy>L C</cp:lastModifiedBy>
  <cp:revision>21</cp:revision>
  <dcterms:created xsi:type="dcterms:W3CDTF">2022-10-20T14:56:59Z</dcterms:created>
  <dcterms:modified xsi:type="dcterms:W3CDTF">2026-01-03T11:06:03Z</dcterms:modified>
</cp:coreProperties>
</file>