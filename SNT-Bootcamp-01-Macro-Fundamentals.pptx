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42" r:id="rId3"/>
    <p:sldId id="257" r:id="rId4"/>
    <p:sldId id="275" r:id="rId5"/>
    <p:sldId id="330" r:id="rId6"/>
    <p:sldId id="331" r:id="rId7"/>
    <p:sldId id="343" r:id="rId8"/>
    <p:sldId id="332" r:id="rId9"/>
    <p:sldId id="320" r:id="rId10"/>
    <p:sldId id="333" r:id="rId11"/>
    <p:sldId id="334" r:id="rId12"/>
    <p:sldId id="337" r:id="rId13"/>
    <p:sldId id="336" r:id="rId14"/>
    <p:sldId id="338" r:id="rId15"/>
    <p:sldId id="339" r:id="rId16"/>
    <p:sldId id="344" r:id="rId17"/>
    <p:sldId id="259" r:id="rId18"/>
    <p:sldId id="270" r:id="rId19"/>
    <p:sldId id="340" r:id="rId20"/>
    <p:sldId id="260" r:id="rId21"/>
    <p:sldId id="341" r:id="rId22"/>
    <p:sldId id="262" r:id="rId23"/>
    <p:sldId id="263" r:id="rId24"/>
    <p:sldId id="264" r:id="rId25"/>
    <p:sldId id="267" r:id="rId26"/>
    <p:sldId id="329" r:id="rId27"/>
    <p:sldId id="271" r:id="rId28"/>
    <p:sldId id="273" r:id="rId29"/>
    <p:sldId id="274" r:id="rId30"/>
    <p:sldId id="328" r:id="rId31"/>
    <p:sldId id="327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LiNLFWfdtQfcgFOpLcRfU4vC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3A3D7793-8AFB-3AA1-366C-CDF891F8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F373AF1B-D7B3-0499-C611-A071169CF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A46EBCE7-8137-9480-F911-D8ED16371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954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5ACE038A-0387-478C-FEEC-7B8E15AF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A86003C3-1F14-B61C-F6CB-37194D208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4FA2C489-11A6-787C-8C44-A585A565B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452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932F6E7C-9C5F-CC97-38A1-0B8A3BC6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0C1C0E00-A635-787A-9DAD-EE35C2064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1FFEA4F9-2A45-6828-FFF1-A734C8645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4013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5">
            <a:extLst>
              <a:ext uri="{FF2B5EF4-FFF2-40B4-BE49-F238E27FC236}">
                <a16:creationId xmlns:a16="http://schemas.microsoft.com/office/drawing/2014/main" id="{4A912C35-9BAF-4CC9-80BB-298C09F50D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6">
            <a:extLst>
              <a:ext uri="{FF2B5EF4-FFF2-40B4-BE49-F238E27FC236}">
                <a16:creationId xmlns:a16="http://schemas.microsoft.com/office/drawing/2014/main" id="{87343257-CE23-4AFE-9CFD-BC220CC9E9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284285AB-096A-40E3-9B75-FC1E6A12C0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60315A-6CC0-44C7-B968-E4185CD8C9DE}" type="slidenum">
              <a:rPr lang="en-GB" altLang="en-US"/>
              <a:pPr>
                <a:spcBef>
                  <a:spcPct val="0"/>
                </a:spcBef>
              </a:pPr>
              <a:t>9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490B4B79-5B80-49BB-3FF9-CA8C7539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EF856EFC-9955-B4F4-6469-9033ED295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E9AA1921-9CAE-C5E2-0D99-09F0E0F7A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6029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011EA639-2D51-63A8-E2C0-7874D23B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4FDF4E21-0065-0EDE-8E5B-C762BB6BC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78C9BE2F-F4E1-E9E1-EFB4-19885F5C34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7598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03211A4B-085D-3075-F06C-8B3CBF76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67324E69-348C-39B9-D880-4105B673E1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6BDC4B6E-C871-85AC-D6BE-FBE7952C7E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0593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0E9EC5AE-927C-3D5F-2D71-04091E769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05A4669B-D699-69EB-41FD-8D5CC7F4F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90E43CF5-60BD-1B29-14D3-28C172BAB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43976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764312f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764312f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c764312f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c764312f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cf6768b9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cf6768b9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 dirty="0"/>
              <a:t>Macro Fundamentals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CA501B-B0DC-5B25-45B4-708A43F7E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8934-CAB1-E8EE-0A83-685C782DE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002F0-A848-5D34-7EA0-479F52B68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82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17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Why is macro important?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1800" dirty="0"/>
              <a:t>Market may swing dramatically in either direction on a day-to-day basis (even in the absence of any corporate news)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1800" b="1" dirty="0"/>
              <a:t>Shifting macro perspectives and interpretations</a:t>
            </a:r>
            <a:r>
              <a:rPr lang="en-GB" sz="1800" dirty="0"/>
              <a:t> by the market may play a significant role in these volatile short-term trends, not necessarily because of the intrinsic value of the company itself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GB" sz="1800" dirty="0"/>
          </a:p>
          <a:p>
            <a:pPr marL="0" indent="0">
              <a:buSzPts val="2800"/>
              <a:buNone/>
            </a:pPr>
            <a:r>
              <a:rPr lang="en-GB" sz="1800" dirty="0"/>
              <a:t>Macroeconomic news influences daily swings in the market. By building an understanding of what impacts the markets the most, you can successfully navigate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45F731-0F8A-81C2-19C9-69FB996C105C}"/>
              </a:ext>
            </a:extLst>
          </p:cNvPr>
          <p:cNvSpPr/>
          <p:nvPr/>
        </p:nvSpPr>
        <p:spPr>
          <a:xfrm>
            <a:off x="1632857" y="1426028"/>
            <a:ext cx="1338943" cy="805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Geopolitics</a:t>
            </a:r>
          </a:p>
          <a:p>
            <a:pPr algn="ctr"/>
            <a:r>
              <a:rPr lang="en-GB" dirty="0"/>
              <a:t>(&amp; politics)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E8E6B9-57BD-2289-A136-68BD88F89FBD}"/>
              </a:ext>
            </a:extLst>
          </p:cNvPr>
          <p:cNvSpPr/>
          <p:nvPr/>
        </p:nvSpPr>
        <p:spPr>
          <a:xfrm>
            <a:off x="7984671" y="2971800"/>
            <a:ext cx="1970315" cy="1186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Market perception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0E784D-3C77-4515-DDDD-B034ECD21BEF}"/>
              </a:ext>
            </a:extLst>
          </p:cNvPr>
          <p:cNvSpPr/>
          <p:nvPr/>
        </p:nvSpPr>
        <p:spPr>
          <a:xfrm>
            <a:off x="5001985" y="2971800"/>
            <a:ext cx="1970315" cy="1186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Macro regime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178295-F6BD-A67F-3345-FF12F47D980D}"/>
              </a:ext>
            </a:extLst>
          </p:cNvPr>
          <p:cNvSpPr/>
          <p:nvPr/>
        </p:nvSpPr>
        <p:spPr>
          <a:xfrm>
            <a:off x="3461657" y="1426028"/>
            <a:ext cx="1338943" cy="805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Monetary policy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4D06F4-EB5B-F38B-EEF2-38398C853CD2}"/>
              </a:ext>
            </a:extLst>
          </p:cNvPr>
          <p:cNvSpPr/>
          <p:nvPr/>
        </p:nvSpPr>
        <p:spPr>
          <a:xfrm>
            <a:off x="5317672" y="1426031"/>
            <a:ext cx="1338943" cy="805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Fiscal </a:t>
            </a:r>
          </a:p>
          <a:p>
            <a:pPr algn="ctr"/>
            <a:r>
              <a:rPr lang="en-GB" dirty="0"/>
              <a:t>policy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EC2D5B-D9CA-E7D7-FF78-F463022EB853}"/>
              </a:ext>
            </a:extLst>
          </p:cNvPr>
          <p:cNvSpPr/>
          <p:nvPr/>
        </p:nvSpPr>
        <p:spPr>
          <a:xfrm>
            <a:off x="7173687" y="1436917"/>
            <a:ext cx="1338943" cy="805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Inflation vs. economy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E0F4E6-AC2A-C21C-CB7D-4DCCC7CDAC75}"/>
              </a:ext>
            </a:extLst>
          </p:cNvPr>
          <p:cNvSpPr/>
          <p:nvPr/>
        </p:nvSpPr>
        <p:spPr>
          <a:xfrm>
            <a:off x="8948057" y="1436914"/>
            <a:ext cx="1338943" cy="805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Market structures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57154D0-AEBF-6209-4C45-607BEBC17982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3774621" y="759278"/>
            <a:ext cx="740230" cy="36848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439D0C9-DBFB-3194-09AF-552A89B1B42E}"/>
              </a:ext>
            </a:extLst>
          </p:cNvPr>
          <p:cNvCxnSpPr>
            <a:stCxn id="11" idx="2"/>
            <a:endCxn id="6" idx="0"/>
          </p:cNvCxnSpPr>
          <p:nvPr/>
        </p:nvCxnSpPr>
        <p:spPr>
          <a:xfrm rot="5400000">
            <a:off x="7437664" y="791935"/>
            <a:ext cx="729344" cy="3630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082AB6-CDFF-35E1-6D9D-C0C5AD65708B}"/>
              </a:ext>
            </a:extLst>
          </p:cNvPr>
          <p:cNvCxnSpPr>
            <a:stCxn id="8" idx="2"/>
          </p:cNvCxnSpPr>
          <p:nvPr/>
        </p:nvCxnSpPr>
        <p:spPr>
          <a:xfrm flipH="1">
            <a:off x="4131128" y="2231570"/>
            <a:ext cx="1" cy="364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BC4606-C8F8-1C6B-13BA-00906DF8149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987144" y="2231573"/>
            <a:ext cx="0" cy="419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7AFD58-DF48-4A78-0598-CB93D0426D9C}"/>
              </a:ext>
            </a:extLst>
          </p:cNvPr>
          <p:cNvCxnSpPr>
            <a:cxnSpLocks/>
          </p:cNvCxnSpPr>
          <p:nvPr/>
        </p:nvCxnSpPr>
        <p:spPr>
          <a:xfrm>
            <a:off x="7843159" y="2198915"/>
            <a:ext cx="0" cy="419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F78AC79-24C1-C45A-E22F-57C75F0202DD}"/>
              </a:ext>
            </a:extLst>
          </p:cNvPr>
          <p:cNvSpPr/>
          <p:nvPr/>
        </p:nvSpPr>
        <p:spPr>
          <a:xfrm>
            <a:off x="2811235" y="3162300"/>
            <a:ext cx="1338943" cy="805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Financial conditions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19CED6-51A8-A2C4-1AA7-345FAF207637}"/>
              </a:ext>
            </a:extLst>
          </p:cNvPr>
          <p:cNvCxnSpPr>
            <a:stCxn id="26" idx="0"/>
          </p:cNvCxnSpPr>
          <p:nvPr/>
        </p:nvCxnSpPr>
        <p:spPr>
          <a:xfrm flipH="1" flipV="1">
            <a:off x="3480706" y="2607128"/>
            <a:ext cx="1" cy="555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6626D68-B038-F6D8-DE2C-600D9A89CE49}"/>
              </a:ext>
            </a:extLst>
          </p:cNvPr>
          <p:cNvSpPr/>
          <p:nvPr/>
        </p:nvSpPr>
        <p:spPr>
          <a:xfrm>
            <a:off x="1632857" y="827314"/>
            <a:ext cx="8654143" cy="408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Business cycle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28EBAE-24F5-88E5-4EED-82F1A9AEA813}"/>
              </a:ext>
            </a:extLst>
          </p:cNvPr>
          <p:cNvSpPr/>
          <p:nvPr/>
        </p:nvSpPr>
        <p:spPr>
          <a:xfrm>
            <a:off x="6493327" y="4827812"/>
            <a:ext cx="1970315" cy="11865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“Macro opportunity”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2056F3-A548-F3EA-642C-EC9D093FEB28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6972300" y="3565071"/>
            <a:ext cx="10123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31330A9-53BF-C82C-6A57-DA3AE5857E43}"/>
              </a:ext>
            </a:extLst>
          </p:cNvPr>
          <p:cNvCxnSpPr>
            <a:endCxn id="32" idx="0"/>
          </p:cNvCxnSpPr>
          <p:nvPr/>
        </p:nvCxnSpPr>
        <p:spPr>
          <a:xfrm>
            <a:off x="7478484" y="3565071"/>
            <a:ext cx="1" cy="1262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5F200D-CB4D-2797-6F22-C1284F9846CB}"/>
              </a:ext>
            </a:extLst>
          </p:cNvPr>
          <p:cNvSpPr/>
          <p:nvPr/>
        </p:nvSpPr>
        <p:spPr>
          <a:xfrm>
            <a:off x="8643257" y="4904009"/>
            <a:ext cx="2068286" cy="49530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Right (trending)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65CFDD-4EB8-6A3E-D5F8-4B5233AD0439}"/>
              </a:ext>
            </a:extLst>
          </p:cNvPr>
          <p:cNvSpPr/>
          <p:nvPr/>
        </p:nvSpPr>
        <p:spPr>
          <a:xfrm>
            <a:off x="8643257" y="5475510"/>
            <a:ext cx="2068286" cy="4953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Wrong (contrarian)</a:t>
            </a:r>
          </a:p>
        </p:txBody>
      </p:sp>
    </p:spTree>
    <p:extLst>
      <p:ext uri="{BB962C8B-B14F-4D97-AF65-F5344CB8AC3E}">
        <p14:creationId xmlns:p14="http://schemas.microsoft.com/office/powerpoint/2010/main" val="352370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CD8F790-C35E-F420-0289-02369B00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98842934-568A-DC2C-DC8B-6C4BF97AF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7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dirty="0"/>
              <a:t>Types of macro regimes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52580C-8FCC-66ED-001D-C65342D9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385540"/>
              </p:ext>
            </p:extLst>
          </p:nvPr>
        </p:nvGraphicFramePr>
        <p:xfrm>
          <a:off x="838200" y="1564362"/>
          <a:ext cx="10515604" cy="4883440"/>
        </p:xfrm>
        <a:graphic>
          <a:graphicData uri="http://schemas.openxmlformats.org/drawingml/2006/table">
            <a:tbl>
              <a:tblPr/>
              <a:tblGrid>
                <a:gridCol w="2628901">
                  <a:extLst>
                    <a:ext uri="{9D8B030D-6E8A-4147-A177-3AD203B41FA5}">
                      <a16:colId xmlns:a16="http://schemas.microsoft.com/office/drawing/2014/main" val="1321803119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880087213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3763367132"/>
                    </a:ext>
                  </a:extLst>
                </a:gridCol>
                <a:gridCol w="2628901">
                  <a:extLst>
                    <a:ext uri="{9D8B030D-6E8A-4147-A177-3AD203B41FA5}">
                      <a16:colId xmlns:a16="http://schemas.microsoft.com/office/drawing/2014/main" val="3077428562"/>
                    </a:ext>
                  </a:extLst>
                </a:gridCol>
              </a:tblGrid>
              <a:tr h="37964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Regime</a:t>
                      </a:r>
                      <a:endParaRPr lang="en-GB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Economic Growth (Trend)</a:t>
                      </a:r>
                      <a:endParaRPr lang="en-GB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Inflation (Trend)</a:t>
                      </a:r>
                      <a:endParaRPr lang="en-GB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 &amp; Asset Performance</a:t>
                      </a:r>
                      <a:endParaRPr lang="en-GB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037467"/>
                  </a:ext>
                </a:extLst>
              </a:tr>
              <a:tr h="8396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Expansive (Goldilocks)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Rising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Falling/Low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Peak performance for risk assets.</a:t>
                      </a: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Strong profits, low input costs, and easy monetary policy.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for:</a:t>
                      </a: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Equities, Credit (Corporate Bonds).</a:t>
                      </a: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046261"/>
                  </a:ext>
                </a:extLst>
              </a:tr>
              <a:tr h="9929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Contractionary (</a:t>
                      </a:r>
                      <a:r>
                        <a:rPr lang="en-GB" sz="1200" b="1" dirty="0" err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Stagflationary</a:t>
                      </a: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Falling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Rising/High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Most challenging regime.</a:t>
                      </a: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Falling demand meets rising costs. Central banks face a dilemma.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for:</a:t>
                      </a: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Commodities, Gold, Cash/Short-Term Bonds (Defensive).</a:t>
                      </a: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988408"/>
                  </a:ext>
                </a:extLst>
              </a:tr>
              <a:tr h="9929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Recovery (Reflationary)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Rising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Rising/High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Early cycle growth and policy stimulus.</a:t>
                      </a: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Demand picks up, driving both growth and prices higher. 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for:</a:t>
                      </a: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Cyclical Equities, Commodities, Inflation-Protected Bonds (TIPS).</a:t>
                      </a: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849673"/>
                  </a:ext>
                </a:extLst>
              </a:tr>
              <a:tr h="114624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Slowdown (Deflationary)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Falling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Falling/Low</a:t>
                      </a:r>
                      <a:endParaRPr lang="en-GB" sz="12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Late cycle risk reduction.</a:t>
                      </a: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Weak demand, low pricing power, and falling rates.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for:</a:t>
                      </a:r>
                      <a:r>
                        <a:rPr lang="en-GB" sz="12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High-Quality/Long-Duration Government Bonds, Defensive Equities, Quality/Low Volatility Factors.</a:t>
                      </a:r>
                    </a:p>
                  </a:txBody>
                  <a:tcPr marL="54757" marR="54757" marT="36505" marB="36505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302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831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AA4417C-4FFD-5318-54F7-0546D7F0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E62F6C40-5FB0-7681-CB2C-1FA481B86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7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dirty="0"/>
              <a:t>How to tell?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E9C654-2CD2-64C7-5BB1-C33AE9748F47}"/>
              </a:ext>
            </a:extLst>
          </p:cNvPr>
          <p:cNvSpPr/>
          <p:nvPr/>
        </p:nvSpPr>
        <p:spPr>
          <a:xfrm>
            <a:off x="838200" y="1872342"/>
            <a:ext cx="8458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Econometric analysis of macro and market data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E21EDA-FFFA-59ED-6EBD-92183F8DAC28}"/>
              </a:ext>
            </a:extLst>
          </p:cNvPr>
          <p:cNvSpPr/>
          <p:nvPr/>
        </p:nvSpPr>
        <p:spPr>
          <a:xfrm>
            <a:off x="838200" y="2754301"/>
            <a:ext cx="8458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Policy analysis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16E17F-04CC-1E6E-143A-6B3B40E813F8}"/>
              </a:ext>
            </a:extLst>
          </p:cNvPr>
          <p:cNvSpPr/>
          <p:nvPr/>
        </p:nvSpPr>
        <p:spPr>
          <a:xfrm>
            <a:off x="838200" y="3636260"/>
            <a:ext cx="8458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Technical analysis of security prices (volume, charts, sentiment…)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50ED04-C369-EF47-C32A-9854472B51BC}"/>
              </a:ext>
            </a:extLst>
          </p:cNvPr>
          <p:cNvSpPr/>
          <p:nvPr/>
        </p:nvSpPr>
        <p:spPr>
          <a:xfrm>
            <a:off x="838200" y="4518219"/>
            <a:ext cx="8458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Fundamental analysis of stocks (earnings releases)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31DB9C-9EA2-93A2-1D3F-78CE320688F9}"/>
              </a:ext>
            </a:extLst>
          </p:cNvPr>
          <p:cNvSpPr/>
          <p:nvPr/>
        </p:nvSpPr>
        <p:spPr>
          <a:xfrm>
            <a:off x="838200" y="5737419"/>
            <a:ext cx="84582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Mainstream media (The Economist, Barron’s…)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A30876-6E38-8F1C-8237-ED7B8E87052E}"/>
              </a:ext>
            </a:extLst>
          </p:cNvPr>
          <p:cNvSpPr/>
          <p:nvPr/>
        </p:nvSpPr>
        <p:spPr>
          <a:xfrm>
            <a:off x="9622971" y="1872341"/>
            <a:ext cx="1491343" cy="325547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Regime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D59E1D-4217-3972-4411-3259E5A41527}"/>
              </a:ext>
            </a:extLst>
          </p:cNvPr>
          <p:cNvSpPr/>
          <p:nvPr/>
        </p:nvSpPr>
        <p:spPr>
          <a:xfrm>
            <a:off x="9622971" y="5737419"/>
            <a:ext cx="1491344" cy="6096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Perception</a:t>
            </a:r>
          </a:p>
        </p:txBody>
      </p:sp>
    </p:spTree>
    <p:extLst>
      <p:ext uri="{BB962C8B-B14F-4D97-AF65-F5344CB8AC3E}">
        <p14:creationId xmlns:p14="http://schemas.microsoft.com/office/powerpoint/2010/main" val="126336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B3A42-784B-09BF-6C72-7C9F5E81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F35B-9B73-6C20-1939-3CDB2D30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Financial Markets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C12CB-E5D2-CA64-BF50-1ACA602F4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20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E6505CC-4F91-A76F-E593-8ADF1B14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9C0B8EC9-AD37-0802-9760-550D622AB9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7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GB" altLang="en-US" dirty="0">
                <a:solidFill>
                  <a:schemeClr val="tx1"/>
                </a:solidFill>
              </a:rPr>
              <a:t>Structure of Financial Markets</a:t>
            </a:r>
            <a:endParaRPr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15EAFFE-9FF4-60E3-3B46-3A851B0799FE}"/>
              </a:ext>
            </a:extLst>
          </p:cNvPr>
          <p:cNvSpPr txBox="1">
            <a:spLocks/>
          </p:cNvSpPr>
          <p:nvPr/>
        </p:nvSpPr>
        <p:spPr>
          <a:xfrm>
            <a:off x="1524000" y="4797426"/>
            <a:ext cx="4052888" cy="122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GB" alt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Provision of a payment mechanisms</a:t>
            </a:r>
          </a:p>
          <a:p>
            <a:pPr lvl="1">
              <a:lnSpc>
                <a:spcPct val="100000"/>
              </a:lnSpc>
            </a:pPr>
            <a:r>
              <a:rPr lang="en-GB" alt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of maturity terms</a:t>
            </a:r>
          </a:p>
          <a:p>
            <a:pPr lvl="1">
              <a:lnSpc>
                <a:spcPct val="100000"/>
              </a:lnSpc>
            </a:pPr>
            <a:r>
              <a:rPr lang="en-GB" alt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of risk</a:t>
            </a:r>
            <a:endParaRPr lang="en-GB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ADBBC15-325F-2F9A-5BB0-C7E4100DBBB3}"/>
              </a:ext>
            </a:extLst>
          </p:cNvPr>
          <p:cNvSpPr txBox="1">
            <a:spLocks noChangeArrowheads="1"/>
          </p:cNvSpPr>
          <p:nvPr/>
        </p:nvSpPr>
        <p:spPr>
          <a:xfrm>
            <a:off x="6629400" y="4724400"/>
            <a:ext cx="4038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98" tIns="45699" rIns="91398" bIns="45699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GB" altLang="en-US" sz="17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Provision of liquidity </a:t>
            </a:r>
          </a:p>
          <a:p>
            <a:pPr lvl="1">
              <a:lnSpc>
                <a:spcPct val="100000"/>
              </a:lnSpc>
            </a:pPr>
            <a:r>
              <a:rPr lang="en-GB" altLang="en-US" sz="17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efficiency</a:t>
            </a:r>
          </a:p>
          <a:p>
            <a:pPr>
              <a:lnSpc>
                <a:spcPct val="100000"/>
              </a:lnSpc>
            </a:pPr>
            <a:endParaRPr lang="en-GB" alt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EFEBBB-7BED-33E9-B8CB-92887D824D06}"/>
              </a:ext>
            </a:extLst>
          </p:cNvPr>
          <p:cNvGrpSpPr/>
          <p:nvPr/>
        </p:nvGrpSpPr>
        <p:grpSpPr>
          <a:xfrm>
            <a:off x="1991931" y="1642878"/>
            <a:ext cx="8223637" cy="2827132"/>
            <a:chOff x="449216" y="2082799"/>
            <a:chExt cx="8223637" cy="2827132"/>
          </a:xfrm>
        </p:grpSpPr>
        <p:sp>
          <p:nvSpPr>
            <p:cNvPr id="7" name="Right Bracket 6">
              <a:extLst>
                <a:ext uri="{FF2B5EF4-FFF2-40B4-BE49-F238E27FC236}">
                  <a16:creationId xmlns:a16="http://schemas.microsoft.com/office/drawing/2014/main" id="{F57653E7-32D7-A861-0059-C1E636C482CD}"/>
                </a:ext>
              </a:extLst>
            </p:cNvPr>
            <p:cNvSpPr/>
            <p:nvPr/>
          </p:nvSpPr>
          <p:spPr>
            <a:xfrm rot="16200000">
              <a:off x="4413855" y="2023751"/>
              <a:ext cx="344187" cy="4216183"/>
            </a:xfrm>
            <a:prstGeom prst="rightBracke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Elbow Connector 19">
              <a:extLst>
                <a:ext uri="{FF2B5EF4-FFF2-40B4-BE49-F238E27FC236}">
                  <a16:creationId xmlns:a16="http://schemas.microsoft.com/office/drawing/2014/main" id="{2D26EE22-E2FA-1379-6F1F-B3BA0A44EE8B}"/>
                </a:ext>
              </a:extLst>
            </p:cNvPr>
            <p:cNvCxnSpPr/>
            <p:nvPr/>
          </p:nvCxnSpPr>
          <p:spPr>
            <a:xfrm rot="5400000">
              <a:off x="5932234" y="3034001"/>
              <a:ext cx="1045451" cy="2706410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619F14D-3C90-47F4-A39F-3B993ADFC343}"/>
                </a:ext>
              </a:extLst>
            </p:cNvPr>
            <p:cNvSpPr/>
            <p:nvPr/>
          </p:nvSpPr>
          <p:spPr>
            <a:xfrm>
              <a:off x="3476676" y="2082799"/>
              <a:ext cx="2162754" cy="62064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Markets and intermediaries</a:t>
              </a: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0A631E39-0050-A651-03F3-F67D3FF2ACB0}"/>
                </a:ext>
              </a:extLst>
            </p:cNvPr>
            <p:cNvSpPr/>
            <p:nvPr/>
          </p:nvSpPr>
          <p:spPr>
            <a:xfrm>
              <a:off x="4212021" y="3959750"/>
              <a:ext cx="692063" cy="8825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DA641263-4650-9098-FADF-BFB5F4202ADD}"/>
                </a:ext>
              </a:extLst>
            </p:cNvPr>
            <p:cNvSpPr/>
            <p:nvPr/>
          </p:nvSpPr>
          <p:spPr>
            <a:xfrm>
              <a:off x="1884459" y="4277804"/>
              <a:ext cx="1311965" cy="341907"/>
            </a:xfrm>
            <a:prstGeom prst="rect">
              <a:avLst/>
            </a:prstGeom>
            <a:solidFill>
              <a:srgbClr val="007A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Reward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2307B81-B580-8C5B-488D-55B4525134A3}"/>
                </a:ext>
              </a:extLst>
            </p:cNvPr>
            <p:cNvSpPr/>
            <p:nvPr/>
          </p:nvSpPr>
          <p:spPr>
            <a:xfrm>
              <a:off x="5919681" y="4277804"/>
              <a:ext cx="1311965" cy="341907"/>
            </a:xfrm>
            <a:prstGeom prst="rect">
              <a:avLst/>
            </a:prstGeom>
            <a:solidFill>
              <a:srgbClr val="CC00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Risk</a:t>
              </a:r>
            </a:p>
          </p:txBody>
        </p:sp>
        <p:sp>
          <p:nvSpPr>
            <p:cNvPr id="13" name="Rounded Rectangle 6">
              <a:extLst>
                <a:ext uri="{FF2B5EF4-FFF2-40B4-BE49-F238E27FC236}">
                  <a16:creationId xmlns:a16="http://schemas.microsoft.com/office/drawing/2014/main" id="{BA12D122-5747-A7D4-6208-8013DBB794BE}"/>
                </a:ext>
              </a:extLst>
            </p:cNvPr>
            <p:cNvSpPr/>
            <p:nvPr/>
          </p:nvSpPr>
          <p:spPr>
            <a:xfrm>
              <a:off x="449216" y="2731419"/>
              <a:ext cx="1717449" cy="1160890"/>
            </a:xfrm>
            <a:prstGeom prst="rect">
              <a:avLst/>
            </a:prstGeom>
            <a:solidFill>
              <a:srgbClr val="D8D4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Lenders</a:t>
              </a:r>
            </a:p>
            <a:p>
              <a:pPr marL="182563" indent="-182563">
                <a:buClr>
                  <a:srgbClr val="CC0033"/>
                </a:buClr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Retail</a:t>
              </a:r>
            </a:p>
            <a:p>
              <a:pPr marL="182563" indent="-182563">
                <a:buClr>
                  <a:srgbClr val="CC0033"/>
                </a:buClr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Companies/</a:t>
              </a:r>
            </a:p>
            <a:p>
              <a:pPr>
                <a:buClr>
                  <a:srgbClr val="CC0033"/>
                </a:buClr>
              </a:pPr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Institutions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1C13CEF-01AA-32D3-9E6E-3D539868FDB1}"/>
                </a:ext>
              </a:extLst>
            </p:cNvPr>
            <p:cNvSpPr/>
            <p:nvPr/>
          </p:nvSpPr>
          <p:spPr>
            <a:xfrm>
              <a:off x="6949440" y="2731419"/>
              <a:ext cx="1723413" cy="1160890"/>
            </a:xfrm>
            <a:prstGeom prst="rect">
              <a:avLst/>
            </a:prstGeom>
            <a:solidFill>
              <a:srgbClr val="D8D4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Borrowers</a:t>
              </a:r>
            </a:p>
            <a:p>
              <a:pPr marL="182563" indent="-182563">
                <a:buClr>
                  <a:srgbClr val="CC0033"/>
                </a:buClr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Retail</a:t>
              </a:r>
            </a:p>
            <a:p>
              <a:pPr marL="182563" indent="-182563">
                <a:buClr>
                  <a:srgbClr val="CC0033"/>
                </a:buClr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Companies</a:t>
              </a:r>
            </a:p>
            <a:p>
              <a:pPr marL="182563" indent="-182563">
                <a:buClr>
                  <a:srgbClr val="CC0033"/>
                </a:buClr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Governments</a:t>
              </a:r>
            </a:p>
          </p:txBody>
        </p:sp>
        <p:cxnSp>
          <p:nvCxnSpPr>
            <p:cNvPr id="15" name="Elbow Connector 17">
              <a:extLst>
                <a:ext uri="{FF2B5EF4-FFF2-40B4-BE49-F238E27FC236}">
                  <a16:creationId xmlns:a16="http://schemas.microsoft.com/office/drawing/2014/main" id="{3357EB97-CEA1-B4DE-7437-7C215BA0D90B}"/>
                </a:ext>
              </a:extLst>
            </p:cNvPr>
            <p:cNvCxnSpPr/>
            <p:nvPr/>
          </p:nvCxnSpPr>
          <p:spPr>
            <a:xfrm rot="5400000" flipH="1" flipV="1">
              <a:off x="2223159" y="1477903"/>
              <a:ext cx="338298" cy="2168735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22">
              <a:extLst>
                <a:ext uri="{FF2B5EF4-FFF2-40B4-BE49-F238E27FC236}">
                  <a16:creationId xmlns:a16="http://schemas.microsoft.com/office/drawing/2014/main" id="{474B2512-6A30-E99B-5808-4B2D0BC53CFD}"/>
                </a:ext>
              </a:extLst>
            </p:cNvPr>
            <p:cNvCxnSpPr/>
            <p:nvPr/>
          </p:nvCxnSpPr>
          <p:spPr>
            <a:xfrm rot="16200000" flipV="1">
              <a:off x="6554648" y="1479852"/>
              <a:ext cx="338298" cy="2168735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21">
              <a:extLst>
                <a:ext uri="{FF2B5EF4-FFF2-40B4-BE49-F238E27FC236}">
                  <a16:creationId xmlns:a16="http://schemas.microsoft.com/office/drawing/2014/main" id="{F668A41D-5082-FADF-488A-11D05351477A}"/>
                </a:ext>
              </a:extLst>
            </p:cNvPr>
            <p:cNvCxnSpPr/>
            <p:nvPr/>
          </p:nvCxnSpPr>
          <p:spPr>
            <a:xfrm rot="10800000">
              <a:off x="1307941" y="3892310"/>
              <a:ext cx="2750736" cy="1017621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5072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8905AB4B-1E74-444C-A61D-8F8630BF4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525" y="688976"/>
            <a:ext cx="8870950" cy="598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5E14BB4-F3B6-43DE-CB70-F706DFCB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B73DFA64-919B-9291-F4FF-42F8AB8B4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7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GB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Sell-side – A typical Investment Bank</a:t>
            </a:r>
            <a:endParaRPr dirty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967252" y="1931432"/>
            <a:ext cx="6760630" cy="1636772"/>
          </a:xfrm>
          <a:prstGeom prst="rect">
            <a:avLst/>
          </a:prstGeom>
          <a:noFill/>
          <a:ln w="38100" algn="ctr">
            <a:solidFill>
              <a:srgbClr val="3B26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063750" y="2271216"/>
            <a:ext cx="1079500" cy="1082675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Traders and market makers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3721087" y="4360420"/>
            <a:ext cx="1727200" cy="838200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Credit/market risk analysts (reporting)</a:t>
            </a: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4583114" y="2271216"/>
            <a:ext cx="936625" cy="593725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people</a:t>
            </a: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5807063" y="4360420"/>
            <a:ext cx="1728787" cy="838200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controllers (finance)</a:t>
            </a: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 rot="16200000">
            <a:off x="7176654" y="4069680"/>
            <a:ext cx="4655907" cy="379413"/>
          </a:xfrm>
          <a:prstGeom prst="rect">
            <a:avLst/>
          </a:prstGeom>
          <a:noFill/>
          <a:ln w="38100" algn="ctr">
            <a:solidFill>
              <a:srgbClr val="3B26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 and compliance officers, HR</a:t>
            </a: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4221957" y="6044262"/>
            <a:ext cx="2881312" cy="349250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Operations/support analysts</a:t>
            </a: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 rot="16200000">
            <a:off x="6671829" y="4069680"/>
            <a:ext cx="4655906" cy="379413"/>
          </a:xfrm>
          <a:prstGeom prst="rect">
            <a:avLst/>
          </a:prstGeom>
          <a:noFill/>
          <a:ln w="38100" algn="ctr">
            <a:solidFill>
              <a:srgbClr val="3B26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analysts, business analysts, prime brokerage</a:t>
            </a:r>
            <a:endParaRPr lang="en-GB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3216275" y="2271215"/>
            <a:ext cx="1296988" cy="838200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Fund/quant research analysts</a:t>
            </a:r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3511550" y="4215958"/>
            <a:ext cx="4249738" cy="1103259"/>
          </a:xfrm>
          <a:prstGeom prst="rect">
            <a:avLst/>
          </a:prstGeom>
          <a:noFill/>
          <a:ln w="38100">
            <a:solidFill>
              <a:srgbClr val="3B26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4043363" y="5919809"/>
            <a:ext cx="3238500" cy="598156"/>
          </a:xfrm>
          <a:prstGeom prst="rect">
            <a:avLst/>
          </a:prstGeom>
          <a:noFill/>
          <a:ln w="38100">
            <a:solidFill>
              <a:srgbClr val="3B26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1967253" y="1563190"/>
            <a:ext cx="78486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 office – Revenue generating; clients = Corporates/Governments/Banks/Asset Managers</a:t>
            </a:r>
          </a:p>
        </p:txBody>
      </p:sp>
      <p:sp>
        <p:nvSpPr>
          <p:cNvPr id="36878" name="Text Box 14"/>
          <p:cNvSpPr txBox="1">
            <a:spLocks noChangeArrowheads="1"/>
          </p:cNvSpPr>
          <p:nvPr/>
        </p:nvSpPr>
        <p:spPr bwMode="auto">
          <a:xfrm>
            <a:off x="1967253" y="3627789"/>
            <a:ext cx="7523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 office – Reporting, cost saving and efficiency improvements </a:t>
            </a:r>
            <a:br>
              <a:rPr lang="en-GB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Clients = Front office, senior management</a:t>
            </a:r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1967253" y="5396976"/>
            <a:ext cx="748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 office – Processing, cost saving and efficiency improvements</a:t>
            </a:r>
            <a:br>
              <a:rPr lang="en-GB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Clients = Front/middle office, external clients, senior management</a:t>
            </a:r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6938662" y="2358304"/>
            <a:ext cx="1719387" cy="838200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 financiers and M&amp;A specialists</a:t>
            </a:r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 rot="16200000">
            <a:off x="7666395" y="4084761"/>
            <a:ext cx="4655907" cy="349250"/>
          </a:xfrm>
          <a:prstGeom prst="rect">
            <a:avLst/>
          </a:prstGeom>
          <a:noFill/>
          <a:ln w="38100" algn="ctr">
            <a:solidFill>
              <a:srgbClr val="3B26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 management – CEO, COO, CTO, CFO, etc.</a:t>
            </a:r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4583114" y="2991940"/>
            <a:ext cx="1296987" cy="349250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Structurers</a:t>
            </a:r>
          </a:p>
        </p:txBody>
      </p:sp>
      <p:sp>
        <p:nvSpPr>
          <p:cNvPr id="36883" name="Text Box 19"/>
          <p:cNvSpPr txBox="1">
            <a:spLocks noChangeArrowheads="1"/>
          </p:cNvSpPr>
          <p:nvPr/>
        </p:nvSpPr>
        <p:spPr bwMode="auto">
          <a:xfrm>
            <a:off x="5937101" y="2271216"/>
            <a:ext cx="936625" cy="1082675"/>
          </a:xfrm>
          <a:prstGeom prst="rect">
            <a:avLst/>
          </a:prstGeom>
          <a:noFill/>
          <a:ln w="12700" algn="ctr">
            <a:solidFill>
              <a:srgbClr val="CC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Debt/ equity capital markets</a:t>
            </a:r>
          </a:p>
        </p:txBody>
      </p:sp>
      <p:sp>
        <p:nvSpPr>
          <p:cNvPr id="36884" name="Text Box 20"/>
          <p:cNvSpPr txBox="1">
            <a:spLocks noChangeArrowheads="1"/>
          </p:cNvSpPr>
          <p:nvPr/>
        </p:nvSpPr>
        <p:spPr bwMode="auto">
          <a:xfrm>
            <a:off x="2063750" y="1942562"/>
            <a:ext cx="4895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Capital markets</a:t>
            </a:r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6368774" y="1983879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886" name="Text Box 22"/>
          <p:cNvSpPr txBox="1">
            <a:spLocks noChangeArrowheads="1"/>
          </p:cNvSpPr>
          <p:nvPr/>
        </p:nvSpPr>
        <p:spPr bwMode="auto">
          <a:xfrm>
            <a:off x="6494185" y="1942562"/>
            <a:ext cx="23034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 banking</a:t>
            </a:r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>
            <a:off x="6368774" y="335230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200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7EB54CC-46B8-706B-743F-91E90219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056B56FB-964F-B2F4-0935-FE8FCABA0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17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GB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 Side – Asset Manager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F49E28-B0E5-2DF4-B3FF-7975DCC0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2131119"/>
            <a:ext cx="7704856" cy="29796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311366-2547-9029-BC2A-007256D02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203" y="2903737"/>
            <a:ext cx="1747144" cy="8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6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3AD17-FF35-6545-9EED-2A00C907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6166-668D-D6F8-882F-6708A7DD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Buy Side – Hedge Funds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7B5E0-1172-9125-02FA-E55C34349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Hedge funds: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</a:rPr>
              <a:t>Are generally not open to the public or promoted to private investors (with exceptions)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</a:rPr>
              <a:t>Use creative, innovative and often aggressive investment strategies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altLang="en-US" sz="1800" dirty="0">
                <a:solidFill>
                  <a:schemeClr val="tx1"/>
                </a:solidFill>
              </a:rPr>
              <a:t>Invest their own money alongside their clients</a:t>
            </a:r>
          </a:p>
          <a:p>
            <a:pPr>
              <a:lnSpc>
                <a:spcPct val="100000"/>
              </a:lnSpc>
            </a:pPr>
            <a:endParaRPr lang="en-GB" altLang="en-US" sz="1800" dirty="0">
              <a:solidFill>
                <a:schemeClr val="tx1"/>
              </a:solidFill>
            </a:endParaRPr>
          </a:p>
          <a:p>
            <a:pPr marL="400050" lvl="1" indent="0"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Hedge fund managers earn a management fee and will also earn a performance fee if targets are met. For example: </a:t>
            </a:r>
            <a:r>
              <a:rPr lang="en-GB" sz="1800" dirty="0">
                <a:solidFill>
                  <a:schemeClr val="tx1"/>
                </a:solidFill>
              </a:rPr>
              <a:t>'Two And Twenty’ - hedge fund managers charge a flat 2% of total asset value management fee and an additional 20% of performance</a:t>
            </a:r>
            <a:br>
              <a:rPr lang="en-GB" sz="1800" dirty="0">
                <a:solidFill>
                  <a:srgbClr val="000000"/>
                </a:solidFill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3779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89D3-813E-B6D4-86C3-9A4BB4ED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tx1"/>
                </a:solidFill>
                <a:ea typeface="Calibri" panose="020F0502020204030204" pitchFamily="34" charset="0"/>
              </a:rPr>
              <a:t>Different Investment Philosophies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3AD64-5A17-2845-C256-A3E205B1F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400050" lvl="1" indent="0">
              <a:spcBef>
                <a:spcPts val="300"/>
              </a:spcBef>
              <a:buNone/>
            </a:pPr>
            <a:r>
              <a:rPr lang="en-GB" altLang="en-US" sz="1900" b="1" dirty="0">
                <a:solidFill>
                  <a:schemeClr val="tx1"/>
                </a:solidFill>
                <a:ea typeface="Calibri" panose="020F0502020204030204" pitchFamily="34" charset="0"/>
              </a:rPr>
              <a:t>Active fund managers do not believe the markets to be efficient: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Pick assets that could outperform the benchmark over the fund’s </a:t>
            </a:r>
            <a:b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</a:b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investment horizon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Theoretically cheap, recovery plays, </a:t>
            </a:r>
            <a:r>
              <a:rPr lang="en-GB" altLang="en-US" sz="1900" dirty="0" err="1">
                <a:solidFill>
                  <a:schemeClr val="tx1"/>
                </a:solidFill>
                <a:ea typeface="Calibri" panose="020F0502020204030204" pitchFamily="34" charset="0"/>
              </a:rPr>
              <a:t>unethicals</a:t>
            </a: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, etc.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Seek to beat the market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Consumes research – broker and in-house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Styles: Growth, value, income, etc. </a:t>
            </a:r>
          </a:p>
          <a:p>
            <a:pPr marL="857250" lvl="2" indent="0">
              <a:spcBef>
                <a:spcPts val="300"/>
              </a:spcBef>
              <a:buNone/>
            </a:pPr>
            <a:endParaRPr lang="en-GB" altLang="en-US" sz="19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400050" lvl="1" indent="0">
              <a:spcBef>
                <a:spcPts val="300"/>
              </a:spcBef>
              <a:buNone/>
            </a:pPr>
            <a:r>
              <a:rPr lang="en-GB" altLang="en-US" sz="1900" b="1" dirty="0">
                <a:solidFill>
                  <a:schemeClr val="tx1"/>
                </a:solidFill>
                <a:ea typeface="Calibri" panose="020F0502020204030204" pitchFamily="34" charset="0"/>
              </a:rPr>
              <a:t>Passive fund managers believe the market is efficient, it is impossible to </a:t>
            </a:r>
          </a:p>
          <a:p>
            <a:pPr marL="400050" lvl="1" indent="0">
              <a:spcBef>
                <a:spcPts val="300"/>
              </a:spcBef>
              <a:buNone/>
            </a:pPr>
            <a:r>
              <a:rPr lang="en-GB" altLang="en-US" sz="1900" b="1" dirty="0">
                <a:solidFill>
                  <a:schemeClr val="tx1"/>
                </a:solidFill>
                <a:ea typeface="Calibri" panose="020F0502020204030204" pitchFamily="34" charset="0"/>
              </a:rPr>
              <a:t>outperform the index: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Benchmark should therefore be replicated or tracked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No one can beat the market (in the long run)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Light on research, heavy on IT</a:t>
            </a:r>
          </a:p>
          <a:p>
            <a:pPr marL="400050" lvl="1" indent="0">
              <a:spcBef>
                <a:spcPts val="300"/>
              </a:spcBef>
              <a:buNone/>
            </a:pPr>
            <a:endParaRPr lang="en-GB" altLang="en-US" sz="1900" b="1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400050" lvl="1" indent="0">
              <a:spcBef>
                <a:spcPts val="300"/>
              </a:spcBef>
              <a:buNone/>
            </a:pPr>
            <a:r>
              <a:rPr lang="en-GB" altLang="en-US" sz="1900" b="1" dirty="0">
                <a:solidFill>
                  <a:schemeClr val="tx1"/>
                </a:solidFill>
                <a:ea typeface="Calibri" panose="020F0502020204030204" pitchFamily="34" charset="0"/>
              </a:rPr>
              <a:t>A hedge fund’s aim is to: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Provide </a:t>
            </a:r>
            <a:r>
              <a:rPr lang="en-GB" altLang="en-US" sz="1900" b="1" dirty="0">
                <a:solidFill>
                  <a:schemeClr val="tx1"/>
                </a:solidFill>
                <a:ea typeface="Calibri" panose="020F0502020204030204" pitchFamily="34" charset="0"/>
              </a:rPr>
              <a:t>absolute returns </a:t>
            </a: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(Alpha) – regardless of market direction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Take short or long positions</a:t>
            </a:r>
          </a:p>
          <a:p>
            <a:pPr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en-US" sz="1900" dirty="0">
                <a:solidFill>
                  <a:schemeClr val="tx1"/>
                </a:solidFill>
                <a:ea typeface="Calibri" panose="020F0502020204030204" pitchFamily="34" charset="0"/>
              </a:rPr>
              <a:t>Consumes research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270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053A-FBC0-DD88-0C2E-0BA1EE38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8CFD-82B6-280C-311A-A41C0E5F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Central Banks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D3A5E-2DA8-D481-CAD9-2E631069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buFont typeface="Wingdings" pitchFamily="2" charset="2"/>
              <a:buNone/>
            </a:pPr>
            <a:r>
              <a:rPr lang="en-GB" altLang="en-US" sz="1800" b="1" dirty="0">
                <a:ea typeface="ＭＳ Ｐゴシック" panose="020B0600070205080204" pitchFamily="34" charset="-128"/>
              </a:rPr>
              <a:t>The Role of Central Banks</a:t>
            </a:r>
          </a:p>
          <a:p>
            <a:pPr lvl="1"/>
            <a:r>
              <a:rPr lang="en-GB" altLang="en-US" sz="1800" u="sng" dirty="0">
                <a:ea typeface="ＭＳ Ｐゴシック" panose="020B0600070205080204" pitchFamily="34" charset="-128"/>
              </a:rPr>
              <a:t>Mandate</a:t>
            </a: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Monetary policy – management of the supply and demand of money</a:t>
            </a:r>
            <a:endParaRPr lang="en-GB" altLang="en-US" sz="1600" dirty="0">
              <a:ea typeface="ＭＳ Ｐゴシック" panose="020B0600070205080204" pitchFamily="34" charset="-128"/>
            </a:endParaRP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Regulatory policy – ensuring financial stability</a:t>
            </a: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Debt relief – ensuring smooth functioning of fiscal policy</a:t>
            </a:r>
          </a:p>
        </p:txBody>
      </p:sp>
    </p:spTree>
    <p:extLst>
      <p:ext uri="{BB962C8B-B14F-4D97-AF65-F5344CB8AC3E}">
        <p14:creationId xmlns:p14="http://schemas.microsoft.com/office/powerpoint/2010/main" val="852272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FC58-CA51-ACAF-061A-DA5B905A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3089-28E4-84A6-37C1-622E0391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tx1"/>
                </a:solidFill>
                <a:ea typeface="ＭＳ Ｐゴシック" panose="020B0600070205080204" pitchFamily="34" charset="-128"/>
              </a:rPr>
              <a:t>Circular Flow of Income</a:t>
            </a:r>
            <a:endParaRPr lang="en-GB" dirty="0"/>
          </a:p>
        </p:txBody>
      </p:sp>
      <p:sp>
        <p:nvSpPr>
          <p:cNvPr id="92" name="TextBox 91"/>
          <p:cNvSpPr txBox="1"/>
          <p:nvPr/>
        </p:nvSpPr>
        <p:spPr>
          <a:xfrm>
            <a:off x="5851724" y="2116165"/>
            <a:ext cx="820340" cy="32316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Taxes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99856" y="2390008"/>
            <a:ext cx="913208" cy="32316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Savings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0123" y="2831731"/>
            <a:ext cx="1197769" cy="323165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2060"/>
                </a:solidFill>
                <a:latin typeface="Arial"/>
              </a:rPr>
              <a:t>Households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2059" y="4754590"/>
            <a:ext cx="661813" cy="323165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2060"/>
                </a:solidFill>
                <a:latin typeface="Arial"/>
              </a:rPr>
              <a:t>Firms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175" y="3660405"/>
            <a:ext cx="1106685" cy="553998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2060"/>
                </a:solidFill>
                <a:latin typeface="Arial"/>
              </a:rPr>
              <a:t>Factors of Production</a:t>
            </a:r>
          </a:p>
        </p:txBody>
      </p:sp>
      <p:cxnSp>
        <p:nvCxnSpPr>
          <p:cNvPr id="19465" name="Straight Arrow Connector 9"/>
          <p:cNvCxnSpPr>
            <a:cxnSpLocks noChangeShapeType="1"/>
            <a:stCxn id="6" idx="2"/>
            <a:endCxn id="8" idx="0"/>
          </p:cNvCxnSpPr>
          <p:nvPr/>
        </p:nvCxnSpPr>
        <p:spPr bwMode="auto">
          <a:xfrm flipH="1">
            <a:off x="4617517" y="3154895"/>
            <a:ext cx="1490" cy="50551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6" name="Straight Arrow Connector 11"/>
          <p:cNvCxnSpPr>
            <a:cxnSpLocks noChangeShapeType="1"/>
            <a:stCxn id="8" idx="2"/>
            <a:endCxn id="7" idx="0"/>
          </p:cNvCxnSpPr>
          <p:nvPr/>
        </p:nvCxnSpPr>
        <p:spPr bwMode="auto">
          <a:xfrm flipH="1">
            <a:off x="4612965" y="4214403"/>
            <a:ext cx="4552" cy="54018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3003327" y="3796137"/>
            <a:ext cx="825701" cy="323165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FF0000"/>
                </a:solidFill>
                <a:latin typeface="Arial"/>
              </a:rPr>
              <a:t>Wages</a:t>
            </a:r>
          </a:p>
        </p:txBody>
      </p:sp>
      <p:cxnSp>
        <p:nvCxnSpPr>
          <p:cNvPr id="19468" name="Shape 18"/>
          <p:cNvCxnSpPr>
            <a:cxnSpLocks noChangeShapeType="1"/>
            <a:stCxn id="7" idx="1"/>
            <a:endCxn id="13" idx="2"/>
          </p:cNvCxnSpPr>
          <p:nvPr/>
        </p:nvCxnSpPr>
        <p:spPr bwMode="auto">
          <a:xfrm rot="10800000">
            <a:off x="3416179" y="4119303"/>
            <a:ext cx="865881" cy="796871"/>
          </a:xfrm>
          <a:prstGeom prst="bentConnector2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9" name="Shape 20"/>
          <p:cNvCxnSpPr>
            <a:cxnSpLocks noChangeShapeType="1"/>
            <a:stCxn id="13" idx="0"/>
            <a:endCxn id="6" idx="1"/>
          </p:cNvCxnSpPr>
          <p:nvPr/>
        </p:nvCxnSpPr>
        <p:spPr bwMode="auto">
          <a:xfrm rot="5400000" flipH="1" flipV="1">
            <a:off x="3316739" y="3092754"/>
            <a:ext cx="802823" cy="603945"/>
          </a:xfrm>
          <a:prstGeom prst="bentConnector2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5475067" y="3361558"/>
            <a:ext cx="1026319" cy="553998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FF0000"/>
                </a:solidFill>
                <a:latin typeface="Arial"/>
              </a:rPr>
              <a:t>Good and services</a:t>
            </a:r>
          </a:p>
        </p:txBody>
      </p:sp>
      <p:cxnSp>
        <p:nvCxnSpPr>
          <p:cNvPr id="19471" name="Shape 23"/>
          <p:cNvCxnSpPr>
            <a:cxnSpLocks noChangeShapeType="1"/>
            <a:stCxn id="6" idx="3"/>
            <a:endCxn id="22" idx="0"/>
          </p:cNvCxnSpPr>
          <p:nvPr/>
        </p:nvCxnSpPr>
        <p:spPr bwMode="auto">
          <a:xfrm>
            <a:off x="5217892" y="2993314"/>
            <a:ext cx="770335" cy="368245"/>
          </a:xfrm>
          <a:prstGeom prst="bentConnector2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Shape 25"/>
          <p:cNvCxnSpPr>
            <a:cxnSpLocks noChangeShapeType="1"/>
            <a:stCxn id="22" idx="2"/>
            <a:endCxn id="7" idx="3"/>
          </p:cNvCxnSpPr>
          <p:nvPr/>
        </p:nvCxnSpPr>
        <p:spPr bwMode="auto">
          <a:xfrm rot="5400000">
            <a:off x="4965741" y="3893688"/>
            <a:ext cx="1000616" cy="1044355"/>
          </a:xfrm>
          <a:prstGeom prst="bentConnector2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" name="TextBox 73"/>
          <p:cNvSpPr txBox="1"/>
          <p:nvPr/>
        </p:nvSpPr>
        <p:spPr>
          <a:xfrm>
            <a:off x="6260877" y="2599557"/>
            <a:ext cx="951310" cy="553998"/>
          </a:xfrm>
          <a:prstGeom prst="rect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Financial System</a:t>
            </a:r>
          </a:p>
        </p:txBody>
      </p:sp>
      <p:cxnSp>
        <p:nvCxnSpPr>
          <p:cNvPr id="19474" name="Shape 75"/>
          <p:cNvCxnSpPr>
            <a:cxnSpLocks noChangeShapeType="1"/>
            <a:stCxn id="6" idx="0"/>
          </p:cNvCxnSpPr>
          <p:nvPr/>
        </p:nvCxnSpPr>
        <p:spPr bwMode="auto">
          <a:xfrm rot="5400000" flipH="1" flipV="1">
            <a:off x="5339930" y="1938167"/>
            <a:ext cx="172640" cy="1614486"/>
          </a:xfrm>
          <a:prstGeom prst="bentConnector2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5" name="Straight Arrow Connector 86"/>
          <p:cNvCxnSpPr>
            <a:cxnSpLocks noChangeShapeType="1"/>
          </p:cNvCxnSpPr>
          <p:nvPr/>
        </p:nvCxnSpPr>
        <p:spPr bwMode="auto">
          <a:xfrm rot="10800000">
            <a:off x="5991797" y="4435502"/>
            <a:ext cx="809625" cy="1191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TextBox 87"/>
          <p:cNvSpPr txBox="1"/>
          <p:nvPr/>
        </p:nvSpPr>
        <p:spPr>
          <a:xfrm>
            <a:off x="6918103" y="2228083"/>
            <a:ext cx="1285875" cy="323165"/>
          </a:xfrm>
          <a:prstGeom prst="rect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Government</a:t>
            </a:r>
          </a:p>
        </p:txBody>
      </p:sp>
      <p:cxnSp>
        <p:nvCxnSpPr>
          <p:cNvPr id="19477" name="Elbow Connector 95"/>
          <p:cNvCxnSpPr>
            <a:cxnSpLocks noChangeShapeType="1"/>
            <a:endCxn id="88" idx="1"/>
          </p:cNvCxnSpPr>
          <p:nvPr/>
        </p:nvCxnSpPr>
        <p:spPr bwMode="auto">
          <a:xfrm flipV="1">
            <a:off x="4613052" y="2389665"/>
            <a:ext cx="2305050" cy="269424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TextBox 97"/>
          <p:cNvSpPr txBox="1"/>
          <p:nvPr/>
        </p:nvSpPr>
        <p:spPr>
          <a:xfrm>
            <a:off x="6931199" y="3356992"/>
            <a:ext cx="1252538" cy="553998"/>
          </a:xfrm>
          <a:prstGeom prst="rect">
            <a:avLst/>
          </a:prstGeom>
          <a:ln w="12700"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Government spending </a:t>
            </a:r>
          </a:p>
        </p:txBody>
      </p:sp>
      <p:cxnSp>
        <p:nvCxnSpPr>
          <p:cNvPr id="19479" name="Straight Arrow Connector 99"/>
          <p:cNvCxnSpPr>
            <a:cxnSpLocks noChangeShapeType="1"/>
            <a:stCxn id="88" idx="2"/>
          </p:cNvCxnSpPr>
          <p:nvPr/>
        </p:nvCxnSpPr>
        <p:spPr bwMode="auto">
          <a:xfrm>
            <a:off x="7561041" y="2551248"/>
            <a:ext cx="7143" cy="779501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0" name="Elbow Connector 101"/>
          <p:cNvCxnSpPr>
            <a:cxnSpLocks noChangeShapeType="1"/>
          </p:cNvCxnSpPr>
          <p:nvPr/>
        </p:nvCxnSpPr>
        <p:spPr bwMode="auto">
          <a:xfrm rot="10800000" flipV="1">
            <a:off x="6665691" y="3955682"/>
            <a:ext cx="917972" cy="486965"/>
          </a:xfrm>
          <a:prstGeom prst="bentConnector3">
            <a:avLst>
              <a:gd name="adj1" fmla="val -1630"/>
            </a:avLst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" name="TextBox 109"/>
          <p:cNvSpPr txBox="1"/>
          <p:nvPr/>
        </p:nvSpPr>
        <p:spPr>
          <a:xfrm>
            <a:off x="8015860" y="1855418"/>
            <a:ext cx="864394" cy="323165"/>
          </a:xfrm>
          <a:prstGeom prst="rect">
            <a:avLst/>
          </a:prstGeom>
          <a:ln w="127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Abroad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094191" y="1728021"/>
            <a:ext cx="820341" cy="32316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Imports </a:t>
            </a:r>
          </a:p>
        </p:txBody>
      </p:sp>
      <p:cxnSp>
        <p:nvCxnSpPr>
          <p:cNvPr id="19483" name="Shape 112"/>
          <p:cNvCxnSpPr>
            <a:cxnSpLocks noChangeShapeType="1"/>
            <a:stCxn id="6" idx="0"/>
            <a:endCxn id="110" idx="1"/>
          </p:cNvCxnSpPr>
          <p:nvPr/>
        </p:nvCxnSpPr>
        <p:spPr bwMode="auto">
          <a:xfrm rot="5400000" flipH="1" flipV="1">
            <a:off x="5910068" y="725940"/>
            <a:ext cx="814730" cy="3396853"/>
          </a:xfrm>
          <a:prstGeom prst="bentConnector2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" name="TextBox 121"/>
          <p:cNvSpPr txBox="1"/>
          <p:nvPr/>
        </p:nvSpPr>
        <p:spPr>
          <a:xfrm>
            <a:off x="8049196" y="2996953"/>
            <a:ext cx="831058" cy="323165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Exports </a:t>
            </a:r>
          </a:p>
        </p:txBody>
      </p:sp>
      <p:cxnSp>
        <p:nvCxnSpPr>
          <p:cNvPr id="19485" name="Straight Arrow Connector 123"/>
          <p:cNvCxnSpPr>
            <a:cxnSpLocks noChangeShapeType="1"/>
            <a:stCxn id="110" idx="2"/>
            <a:endCxn id="122" idx="0"/>
          </p:cNvCxnSpPr>
          <p:nvPr/>
        </p:nvCxnSpPr>
        <p:spPr bwMode="auto">
          <a:xfrm>
            <a:off x="8448057" y="2178582"/>
            <a:ext cx="16668" cy="818370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6" name="Straight Connector 127"/>
          <p:cNvCxnSpPr>
            <a:cxnSpLocks noChangeShapeType="1"/>
            <a:stCxn id="122" idx="2"/>
          </p:cNvCxnSpPr>
          <p:nvPr/>
        </p:nvCxnSpPr>
        <p:spPr bwMode="auto">
          <a:xfrm flipH="1">
            <a:off x="8448057" y="3320117"/>
            <a:ext cx="16668" cy="1115384"/>
          </a:xfrm>
          <a:prstGeom prst="line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7" name="Straight Arrow Connector 129"/>
          <p:cNvCxnSpPr>
            <a:cxnSpLocks noChangeShapeType="1"/>
          </p:cNvCxnSpPr>
          <p:nvPr/>
        </p:nvCxnSpPr>
        <p:spPr bwMode="auto">
          <a:xfrm rot="10800000">
            <a:off x="7583663" y="4441456"/>
            <a:ext cx="864394" cy="1190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TextBox 130"/>
          <p:cNvSpPr txBox="1"/>
          <p:nvPr/>
        </p:nvSpPr>
        <p:spPr>
          <a:xfrm>
            <a:off x="6158484" y="3933057"/>
            <a:ext cx="1134666" cy="323165"/>
          </a:xfrm>
          <a:prstGeom prst="rect">
            <a:avLst/>
          </a:prstGeom>
          <a:ln w="12700"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GB" sz="1500" dirty="0">
                <a:solidFill>
                  <a:srgbClr val="00B050"/>
                </a:solidFill>
                <a:latin typeface="Arial"/>
              </a:rPr>
              <a:t>Investment </a:t>
            </a:r>
          </a:p>
        </p:txBody>
      </p:sp>
      <p:cxnSp>
        <p:nvCxnSpPr>
          <p:cNvPr id="19489" name="Straight Arrow Connector 134"/>
          <p:cNvCxnSpPr>
            <a:cxnSpLocks noChangeShapeType="1"/>
            <a:stCxn id="74" idx="2"/>
            <a:endCxn id="131" idx="0"/>
          </p:cNvCxnSpPr>
          <p:nvPr/>
        </p:nvCxnSpPr>
        <p:spPr bwMode="auto">
          <a:xfrm flipH="1">
            <a:off x="6725818" y="3153556"/>
            <a:ext cx="10715" cy="779501"/>
          </a:xfrm>
          <a:prstGeom prst="straightConnector1">
            <a:avLst/>
          </a:prstGeom>
          <a:noFill/>
          <a:ln w="28575" algn="ctr">
            <a:noFill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90" name="Straight Arrow Connector 138"/>
          <p:cNvCxnSpPr>
            <a:cxnSpLocks noChangeShapeType="1"/>
            <a:stCxn id="131" idx="2"/>
          </p:cNvCxnSpPr>
          <p:nvPr/>
        </p:nvCxnSpPr>
        <p:spPr bwMode="auto">
          <a:xfrm flipH="1">
            <a:off x="6719271" y="4256222"/>
            <a:ext cx="6546" cy="159039"/>
          </a:xfrm>
          <a:prstGeom prst="straightConnector1">
            <a:avLst/>
          </a:prstGeom>
          <a:noFill/>
          <a:ln w="28575" algn="ctr">
            <a:solidFill>
              <a:srgbClr val="00B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72AF84F-039D-4AC4-9E1A-479779A9435C}"/>
              </a:ext>
            </a:extLst>
          </p:cNvPr>
          <p:cNvCxnSpPr>
            <a:cxnSpLocks/>
            <a:stCxn id="74" idx="2"/>
            <a:endCxn id="131" idx="0"/>
          </p:cNvCxnSpPr>
          <p:nvPr/>
        </p:nvCxnSpPr>
        <p:spPr>
          <a:xfrm flipH="1">
            <a:off x="6725818" y="3153556"/>
            <a:ext cx="10715" cy="779501"/>
          </a:xfrm>
          <a:prstGeom prst="line">
            <a:avLst/>
          </a:prstGeom>
          <a:ln w="28575">
            <a:solidFill>
              <a:srgbClr val="4AAA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184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284ED-3F5D-254E-2D12-46466FBCE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FBD4-E8A6-A23F-08AB-401EF982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Economic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50E5B-1940-4A2F-5CF9-2C05CF26A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000" dirty="0"/>
              <a:t>Types of data</a:t>
            </a:r>
            <a:endParaRPr sz="4000" dirty="0"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b="1" dirty="0"/>
              <a:t>Leading</a:t>
            </a:r>
            <a:r>
              <a:rPr lang="en-GB" dirty="0"/>
              <a:t> indicators vs. </a:t>
            </a:r>
            <a:r>
              <a:rPr lang="en-GB" b="1" dirty="0"/>
              <a:t>lagging</a:t>
            </a:r>
            <a:r>
              <a:rPr lang="en-GB" dirty="0"/>
              <a:t> indicators</a:t>
            </a:r>
          </a:p>
          <a:p>
            <a:pPr marL="685800" lvl="1" indent="-228600">
              <a:spcBef>
                <a:spcPts val="0"/>
              </a:spcBef>
              <a:buSzPts val="2800"/>
            </a:pPr>
            <a:r>
              <a:rPr lang="en-GB" dirty="0"/>
              <a:t>Leading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r>
              <a:rPr lang="en-GB" dirty="0"/>
              <a:t>Stock prices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r>
              <a:rPr lang="en-GB" dirty="0"/>
              <a:t>Yield curve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r>
              <a:rPr lang="en-GB" dirty="0"/>
              <a:t>Jobless claims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r>
              <a:rPr lang="en-GB" dirty="0"/>
              <a:t>Consumer sentiment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r>
              <a:rPr lang="en-GB" dirty="0"/>
              <a:t>PMI…</a:t>
            </a:r>
          </a:p>
          <a:p>
            <a:pPr marL="685800" lvl="1" indent="-228600">
              <a:spcBef>
                <a:spcPts val="0"/>
              </a:spcBef>
              <a:buSzPts val="2800"/>
            </a:pPr>
            <a:r>
              <a:rPr lang="en-GB" dirty="0"/>
              <a:t>Lagging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r>
              <a:rPr lang="en-GB" dirty="0"/>
              <a:t>GDP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r>
              <a:rPr lang="en-GB" dirty="0"/>
              <a:t>Non-farm payrolls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r>
              <a:rPr lang="en-GB" dirty="0"/>
              <a:t>Inflation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GB" b="1" dirty="0"/>
              <a:t>Hard</a:t>
            </a:r>
            <a:r>
              <a:rPr lang="en-GB" dirty="0"/>
              <a:t> data vs. </a:t>
            </a:r>
            <a:r>
              <a:rPr lang="en-GB" b="1" dirty="0"/>
              <a:t>soft</a:t>
            </a:r>
            <a:r>
              <a:rPr lang="en-GB" dirty="0"/>
              <a:t> data</a:t>
            </a:r>
          </a:p>
          <a:p>
            <a:pPr marL="685800" lvl="1" indent="-228600">
              <a:spcBef>
                <a:spcPts val="0"/>
              </a:spcBef>
              <a:buSzPts val="2800"/>
            </a:pPr>
            <a:r>
              <a:rPr lang="en-GB" dirty="0"/>
              <a:t>Hard: objective</a:t>
            </a:r>
          </a:p>
          <a:p>
            <a:pPr marL="685800" lvl="1" indent="-228600">
              <a:spcBef>
                <a:spcPts val="0"/>
              </a:spcBef>
              <a:buSzPts val="2800"/>
            </a:pPr>
            <a:r>
              <a:rPr lang="en-GB" dirty="0"/>
              <a:t>Soft: subjective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000" dirty="0"/>
              <a:t>Bloomberg calendar</a:t>
            </a:r>
            <a:endParaRPr sz="4000" dirty="0"/>
          </a:p>
        </p:txBody>
      </p:sp>
      <p:pic>
        <p:nvPicPr>
          <p:cNvPr id="168" name="Google Shape;168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56818" y="1792375"/>
            <a:ext cx="9244620" cy="4351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3"/>
          <p:cNvCxnSpPr/>
          <p:nvPr/>
        </p:nvCxnSpPr>
        <p:spPr>
          <a:xfrm rot="10800000" flipH="1">
            <a:off x="1113905" y="4854633"/>
            <a:ext cx="1521230" cy="1471353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0" name="Google Shape;170;p13"/>
          <p:cNvCxnSpPr/>
          <p:nvPr/>
        </p:nvCxnSpPr>
        <p:spPr>
          <a:xfrm>
            <a:off x="7913716" y="1512916"/>
            <a:ext cx="1471353" cy="76477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1" name="Google Shape;171;p13"/>
          <p:cNvCxnSpPr/>
          <p:nvPr/>
        </p:nvCxnSpPr>
        <p:spPr>
          <a:xfrm flipH="1">
            <a:off x="9966960" y="1105593"/>
            <a:ext cx="399011" cy="1072342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/>
        </p:nvSpPr>
        <p:spPr>
          <a:xfrm>
            <a:off x="5810596" y="881149"/>
            <a:ext cx="239406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(economist survey consensus)</a:t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8393776" y="674749"/>
            <a:ext cx="30507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Actual, data reported by gov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914400" y="6267796"/>
            <a:ext cx="4563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Relative importance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77ED6445-F6AE-D6D8-E292-3CEC02BDC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>
            <a:extLst>
              <a:ext uri="{FF2B5EF4-FFF2-40B4-BE49-F238E27FC236}">
                <a16:creationId xmlns:a16="http://schemas.microsoft.com/office/drawing/2014/main" id="{4F4EA560-E995-5C45-7985-985CE0E9E6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GB" altLang="en-US" sz="4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Gross Domestic Product (GDP)</a:t>
            </a:r>
            <a:endParaRPr sz="4000" dirty="0"/>
          </a:p>
        </p:txBody>
      </p:sp>
      <p:sp>
        <p:nvSpPr>
          <p:cNvPr id="20483" name="Content Placeholder 2"/>
          <p:cNvSpPr txBox="1">
            <a:spLocks/>
          </p:cNvSpPr>
          <p:nvPr/>
        </p:nvSpPr>
        <p:spPr>
          <a:xfrm>
            <a:off x="1524001" y="1989138"/>
            <a:ext cx="6107113" cy="326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2"/>
            <a:r>
              <a:rPr lang="en-GB" altLang="en-US" sz="1600">
                <a:ea typeface="ＭＳ Ｐゴシック" panose="020B0600070205080204" pitchFamily="34" charset="-128"/>
              </a:rPr>
              <a:t>The total value of output from WITHIN a country</a:t>
            </a:r>
          </a:p>
          <a:p>
            <a:pPr lvl="1"/>
            <a:endParaRPr lang="en-GB" altLang="en-US" sz="1600">
              <a:latin typeface="+mn-lt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endParaRPr lang="en-GB" altLang="en-US" sz="1600">
              <a:latin typeface="+mn-lt"/>
              <a:ea typeface="ＭＳ Ｐゴシック" panose="020B0600070205080204" pitchFamily="34" charset="-128"/>
            </a:endParaRPr>
          </a:p>
          <a:p>
            <a:pPr lvl="2"/>
            <a:r>
              <a:rPr lang="en-GB" altLang="en-US" sz="1600">
                <a:ea typeface="ＭＳ Ｐゴシック" panose="020B0600070205080204" pitchFamily="34" charset="-128"/>
              </a:rPr>
              <a:t>Where:</a:t>
            </a:r>
          </a:p>
          <a:p>
            <a:pPr lvl="3">
              <a:buFont typeface="Arial" pitchFamily="34" charset="0"/>
              <a:buNone/>
            </a:pPr>
            <a:r>
              <a:rPr lang="en-GB" altLang="en-US" sz="1600">
                <a:ea typeface="ＭＳ Ｐゴシック" panose="020B0600070205080204" pitchFamily="34" charset="-128"/>
              </a:rPr>
              <a:t>C = Consumer expenditure</a:t>
            </a:r>
          </a:p>
          <a:p>
            <a:pPr lvl="3">
              <a:buFont typeface="Arial" pitchFamily="34" charset="0"/>
              <a:buNone/>
            </a:pPr>
            <a:r>
              <a:rPr lang="en-GB" altLang="en-US" sz="1600">
                <a:ea typeface="ＭＳ Ｐゴシック" panose="020B0600070205080204" pitchFamily="34" charset="-128"/>
              </a:rPr>
              <a:t> I = Private investment in firms</a:t>
            </a:r>
          </a:p>
          <a:p>
            <a:pPr lvl="3">
              <a:buFont typeface="Arial" pitchFamily="34" charset="0"/>
              <a:buNone/>
            </a:pPr>
            <a:r>
              <a:rPr lang="en-GB" altLang="en-US" sz="1600">
                <a:ea typeface="ＭＳ Ｐゴシック" panose="020B0600070205080204" pitchFamily="34" charset="-128"/>
              </a:rPr>
              <a:t>G = Government expenditure</a:t>
            </a:r>
          </a:p>
          <a:p>
            <a:pPr lvl="3">
              <a:buFont typeface="Arial" pitchFamily="34" charset="0"/>
              <a:buNone/>
            </a:pPr>
            <a:r>
              <a:rPr lang="en-GB" altLang="en-US" sz="1600">
                <a:ea typeface="ＭＳ Ｐゴシック" panose="020B0600070205080204" pitchFamily="34" charset="-128"/>
              </a:rPr>
              <a:t>X = Exports</a:t>
            </a:r>
          </a:p>
          <a:p>
            <a:pPr lvl="3">
              <a:buFont typeface="Arial" pitchFamily="34" charset="0"/>
              <a:buNone/>
            </a:pPr>
            <a:r>
              <a:rPr lang="en-GB" altLang="en-US" sz="1600">
                <a:ea typeface="ＭＳ Ｐゴシック" panose="020B0600070205080204" pitchFamily="34" charset="-128"/>
              </a:rPr>
              <a:t>M = Imports</a:t>
            </a:r>
          </a:p>
          <a:p>
            <a:pPr lvl="1"/>
            <a:endParaRPr lang="en-GB" altLang="en-US" sz="1600">
              <a:latin typeface="+mn-lt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endParaRPr lang="en-GB" altLang="en-US" sz="1600" dirty="0">
              <a:latin typeface="+mn-lt"/>
              <a:ea typeface="ＭＳ Ｐゴシック" panose="020B0600070205080204" pitchFamily="34" charset="-128"/>
            </a:endParaRPr>
          </a:p>
        </p:txBody>
      </p:sp>
      <p:graphicFrame>
        <p:nvGraphicFramePr>
          <p:cNvPr id="20484" name="Object 2"/>
          <p:cNvGraphicFramePr>
            <a:graphicFrameLocks noChangeAspect="1"/>
          </p:cNvGraphicFramePr>
          <p:nvPr/>
        </p:nvGraphicFramePr>
        <p:xfrm>
          <a:off x="4010025" y="2564904"/>
          <a:ext cx="41719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62600" imgH="304800" progId="Equation.DSMT4">
                  <p:embed/>
                </p:oleObj>
              </mc:Choice>
              <mc:Fallback>
                <p:oleObj name="Equation" r:id="rId3" imgW="5562600" imgH="304800" progId="Equation.DSMT4">
                  <p:embed/>
                  <p:pic>
                    <p:nvPicPr>
                      <p:cNvPr id="2048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5" y="2564904"/>
                        <a:ext cx="41719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4897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000" dirty="0"/>
              <a:t>Key macro-economic indicators</a:t>
            </a:r>
            <a:endParaRPr sz="4000" dirty="0"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506168"/>
            <a:ext cx="10515600" cy="49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b="1" dirty="0"/>
              <a:t>Inflation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dirty="0"/>
              <a:t>CPI vs. PPI vs. PCE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dirty="0"/>
              <a:t>Each country will have a slightly different basket for their inflation data</a:t>
            </a:r>
          </a:p>
          <a:p>
            <a:pPr marL="1143000" lvl="2" indent="-228600">
              <a:buSzPts val="2400"/>
            </a:pPr>
            <a:r>
              <a:rPr lang="en-GB" dirty="0"/>
              <a:t>In the US: Headline, Core (ex-food and energy) and </a:t>
            </a:r>
            <a:r>
              <a:rPr lang="en-GB" dirty="0" err="1"/>
              <a:t>Supercore</a:t>
            </a:r>
            <a:r>
              <a:rPr lang="en-GB" dirty="0"/>
              <a:t> (services inflation ex-food, energy and housing)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dirty="0"/>
              <a:t>The Fed’s mandate is to return inflation back down to 2%, so they closely watch inflation numbers, as well as the overall trend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dirty="0"/>
              <a:t>To some degree, you can ‘predict’ what the number will be (Even though this is highly difficult and complex)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dirty="0"/>
              <a:t>For example, say it’s October. On the 12</a:t>
            </a:r>
            <a:r>
              <a:rPr lang="en-GB" baseline="30000" dirty="0"/>
              <a:t>th</a:t>
            </a:r>
            <a:r>
              <a:rPr lang="en-GB" dirty="0"/>
              <a:t> October, </a:t>
            </a:r>
            <a:r>
              <a:rPr lang="en-GB" b="1" dirty="0"/>
              <a:t>September’s</a:t>
            </a:r>
            <a:r>
              <a:rPr lang="en-GB" dirty="0"/>
              <a:t> CPI readings are released. Technically, one can review all of the past monthly increases in prices to ‘predict’ what CPI would be for the month of September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F6E53497-9A33-E6AD-B641-378DA0AB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>
            <a:extLst>
              <a:ext uri="{FF2B5EF4-FFF2-40B4-BE49-F238E27FC236}">
                <a16:creationId xmlns:a16="http://schemas.microsoft.com/office/drawing/2014/main" id="{005D6596-84AF-79AD-5206-56E3CFB2A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GB" altLang="en-US" sz="4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Inflation</a:t>
            </a:r>
            <a:endParaRPr sz="4000" dirty="0"/>
          </a:p>
        </p:txBody>
      </p:sp>
      <p:sp>
        <p:nvSpPr>
          <p:cNvPr id="17411" name="Content Placeholder 2"/>
          <p:cNvSpPr txBox="1">
            <a:spLocks/>
          </p:cNvSpPr>
          <p:nvPr/>
        </p:nvSpPr>
        <p:spPr>
          <a:xfrm>
            <a:off x="2238715" y="1907496"/>
            <a:ext cx="6107113" cy="326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/>
              <a:buNone/>
            </a:pPr>
            <a:r>
              <a:rPr lang="en-GB" altLang="en-US" sz="1800" b="1" dirty="0">
                <a:ea typeface="ＭＳ Ｐゴシック" panose="020B0600070205080204" pitchFamily="34" charset="-128"/>
              </a:rPr>
              <a:t>Credit Creation</a:t>
            </a:r>
          </a:p>
          <a:p>
            <a:pPr lvl="1"/>
            <a:r>
              <a:rPr lang="en-GB" altLang="en-US" sz="1800" dirty="0">
                <a:ea typeface="ＭＳ Ｐゴシック" panose="020B0600070205080204" pitchFamily="34" charset="-128"/>
              </a:rPr>
              <a:t>Cause? Banks lend more than they hold in reserves</a:t>
            </a:r>
          </a:p>
          <a:p>
            <a:pPr lvl="1"/>
            <a:endParaRPr lang="en-GB" altLang="en-US" sz="1800" dirty="0">
              <a:ea typeface="ＭＳ Ｐゴシック" panose="020B0600070205080204" pitchFamily="34" charset="-128"/>
            </a:endParaRPr>
          </a:p>
          <a:p>
            <a:pPr marL="0" indent="0">
              <a:buFont typeface="Arial"/>
              <a:buNone/>
            </a:pPr>
            <a:r>
              <a:rPr lang="en-GB" altLang="en-US" sz="1800" b="1" dirty="0">
                <a:ea typeface="ＭＳ Ｐゴシック" panose="020B0600070205080204" pitchFamily="34" charset="-128"/>
              </a:rPr>
              <a:t>Impact of Inflation</a:t>
            </a:r>
          </a:p>
          <a:p>
            <a:pPr lvl="1"/>
            <a:r>
              <a:rPr lang="en-GB" altLang="en-US" sz="1800" dirty="0">
                <a:ea typeface="ＭＳ Ｐゴシック" panose="020B0600070205080204" pitchFamily="34" charset="-128"/>
              </a:rPr>
              <a:t>Problems caused by inflation:</a:t>
            </a: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Real value of salaries/pensions eroded</a:t>
            </a: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Real value of investments eroded</a:t>
            </a: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Exports may become less competitive</a:t>
            </a:r>
          </a:p>
          <a:p>
            <a:pPr lvl="1"/>
            <a:r>
              <a:rPr lang="en-GB" altLang="en-US" sz="1800" dirty="0">
                <a:ea typeface="ＭＳ Ｐゴシック" panose="020B0600070205080204" pitchFamily="34" charset="-128"/>
              </a:rPr>
              <a:t>Positive aspects:</a:t>
            </a: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Rising house prices contribute to a ‘feel good factor’</a:t>
            </a: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Borrowers benefit: the real value of debt falls</a:t>
            </a:r>
          </a:p>
          <a:p>
            <a:pPr lvl="2"/>
            <a:r>
              <a:rPr lang="en-GB" altLang="en-US" sz="1800" dirty="0">
                <a:ea typeface="ＭＳ Ｐゴシック" panose="020B0600070205080204" pitchFamily="34" charset="-128"/>
              </a:rPr>
              <a:t>Real value of a country’s national debt may fall</a:t>
            </a:r>
          </a:p>
          <a:p>
            <a:pPr lvl="2"/>
            <a:endParaRPr lang="en-GB" altLang="en-US" sz="1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7555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000" dirty="0"/>
              <a:t>Key macro-economic indicators</a:t>
            </a:r>
            <a:endParaRPr sz="4000" dirty="0"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b="1" dirty="0"/>
              <a:t>Unemployment data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dirty="0"/>
              <a:t>This is known as an NFP (Non Farm Payrolls) report, and is published by the BLS (Bureau of Labor Statistics.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dirty="0"/>
              <a:t>Philips curve</a:t>
            </a:r>
            <a:endParaRPr dirty="0"/>
          </a:p>
        </p:txBody>
      </p:sp>
      <p:pic>
        <p:nvPicPr>
          <p:cNvPr id="2050" name="Picture 2" descr="images (283×178)">
            <a:extLst>
              <a:ext uri="{FF2B5EF4-FFF2-40B4-BE49-F238E27FC236}">
                <a16:creationId xmlns:a16="http://schemas.microsoft.com/office/drawing/2014/main" id="{85C7F701-4509-E9E0-F8B4-327E99CB6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3429000"/>
            <a:ext cx="4238067" cy="266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0c764312f9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375" y="828175"/>
            <a:ext cx="7613598" cy="5774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0c764312f9_0_2"/>
          <p:cNvSpPr txBox="1"/>
          <p:nvPr/>
        </p:nvSpPr>
        <p:spPr>
          <a:xfrm>
            <a:off x="1805375" y="144941"/>
            <a:ext cx="761359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United States Non-Farm Payrolls</a:t>
            </a:r>
            <a:endParaRPr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0c764312f9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050" y="244725"/>
            <a:ext cx="8241651" cy="636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000" dirty="0"/>
              <a:t>PMI (Purchasing Managers Index)</a:t>
            </a:r>
            <a:endParaRPr sz="4000" dirty="0"/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199" y="1484802"/>
            <a:ext cx="11148753" cy="5240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Purchasing Manager’s Index data is considered a </a:t>
            </a:r>
            <a:r>
              <a:rPr lang="en-GB" b="1"/>
              <a:t>leading indicator</a:t>
            </a:r>
            <a:r>
              <a:rPr lang="en-GB"/>
              <a:t>, as it provides insights into the health and direction of a country’s </a:t>
            </a:r>
            <a:r>
              <a:rPr lang="en-GB" i="1"/>
              <a:t>manufacturing/service </a:t>
            </a:r>
            <a:r>
              <a:rPr lang="en-GB"/>
              <a:t>industry over the coming months.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These reports are released </a:t>
            </a:r>
            <a:r>
              <a:rPr lang="en-GB" b="1"/>
              <a:t>early on in the month</a:t>
            </a:r>
            <a:r>
              <a:rPr lang="en-GB"/>
              <a:t>, usually at the beginning, and have a </a:t>
            </a:r>
            <a:r>
              <a:rPr lang="en-GB" b="1"/>
              <a:t>significant impact</a:t>
            </a:r>
            <a:r>
              <a:rPr lang="en-GB"/>
              <a:t> on financial market performance that day.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b="1"/>
              <a:t>Prices Paid Index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Can influence the path of inflation, as it’s direct data from businesses showing how much they paid for goods/services, raw materials etc.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b="1"/>
              <a:t>Main Index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Measures confidence of business leaders going forward.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Below 50 = contractionary, above 50 = expansionary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/>
              <a:t>Higher confidence = higher investment = higher inflation and tighter labor market = higher interest rates(prevent economy from overheating)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27A4-C521-084F-25FC-7A164665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D05F-82D1-053E-BDC8-609C206F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Carry Trade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54C1B-17B6-ED82-62A2-9D78BEB071F0}"/>
              </a:ext>
            </a:extLst>
          </p:cNvPr>
          <p:cNvSpPr/>
          <p:nvPr/>
        </p:nvSpPr>
        <p:spPr>
          <a:xfrm>
            <a:off x="1415142" y="2084614"/>
            <a:ext cx="2416628" cy="1578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Borrow in a low-interest asset (e.g. JPY)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5A752-976A-F2C3-7015-E813008FC729}"/>
              </a:ext>
            </a:extLst>
          </p:cNvPr>
          <p:cNvSpPr/>
          <p:nvPr/>
        </p:nvSpPr>
        <p:spPr>
          <a:xfrm>
            <a:off x="5192485" y="2084614"/>
            <a:ext cx="2416628" cy="1578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Invest in a high-interest asset (e.g. USD)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2E7BF3-FDE6-9017-9688-4435AC913B4E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831770" y="2873828"/>
            <a:ext cx="1360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EEFD8B5-A38C-E104-F163-82D5303E1401}"/>
              </a:ext>
            </a:extLst>
          </p:cNvPr>
          <p:cNvSpPr/>
          <p:nvPr/>
        </p:nvSpPr>
        <p:spPr>
          <a:xfrm>
            <a:off x="3303813" y="4272643"/>
            <a:ext cx="2416628" cy="1578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Assumption: </a:t>
            </a:r>
            <a:r>
              <a:rPr lang="en-GB" dirty="0"/>
              <a:t>direction stays the same forever i.e. the macro narrative needs to stay the same (no volatility)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118D92-0E82-8BB5-D236-4CB8E1E0FEE9}"/>
              </a:ext>
            </a:extLst>
          </p:cNvPr>
          <p:cNvCxnSpPr>
            <a:stCxn id="7" idx="0"/>
          </p:cNvCxnSpPr>
          <p:nvPr/>
        </p:nvCxnSpPr>
        <p:spPr>
          <a:xfrm flipV="1">
            <a:off x="4512127" y="2873828"/>
            <a:ext cx="0" cy="1398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836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/>
          </p:nvPr>
        </p:nvSpPr>
        <p:spPr>
          <a:xfrm>
            <a:off x="152400" y="-169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000" b="1" dirty="0"/>
              <a:t>Data prints taken together could shape markets narratives </a:t>
            </a:r>
            <a:endParaRPr sz="3000" b="1" dirty="0"/>
          </a:p>
        </p:txBody>
      </p:sp>
      <p:pic>
        <p:nvPicPr>
          <p:cNvPr id="180" name="Google Shape;1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00" y="2847699"/>
            <a:ext cx="3646899" cy="1720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500" y="1025324"/>
            <a:ext cx="3646899" cy="170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4"/>
          <p:cNvSpPr txBox="1"/>
          <p:nvPr/>
        </p:nvSpPr>
        <p:spPr>
          <a:xfrm>
            <a:off x="184500" y="846775"/>
            <a:ext cx="6138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Core CPI YoY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184500" y="2575400"/>
            <a:ext cx="6138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Core PCE YoY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720550"/>
            <a:ext cx="3666230" cy="172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 txBox="1"/>
          <p:nvPr/>
        </p:nvSpPr>
        <p:spPr>
          <a:xfrm>
            <a:off x="184500" y="4375950"/>
            <a:ext cx="6138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Unemployment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3100" y="1455800"/>
            <a:ext cx="5564101" cy="421041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/>
          <p:nvPr/>
        </p:nvSpPr>
        <p:spPr>
          <a:xfrm>
            <a:off x="4520275" y="3105913"/>
            <a:ext cx="1282800" cy="91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 rot="5400000">
            <a:off x="1510325" y="6797200"/>
            <a:ext cx="16137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>
            <a:spLocks noGrp="1"/>
          </p:cNvSpPr>
          <p:nvPr>
            <p:ph type="title"/>
          </p:nvPr>
        </p:nvSpPr>
        <p:spPr>
          <a:xfrm>
            <a:off x="175175" y="-1204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000" b="1"/>
              <a:t>A shock to markets narratives - Japan carry trade unwind</a:t>
            </a:r>
            <a:r>
              <a:rPr lang="en-GB"/>
              <a:t> </a:t>
            </a:r>
            <a:endParaRPr/>
          </a:p>
        </p:txBody>
      </p:sp>
      <p:pic>
        <p:nvPicPr>
          <p:cNvPr id="200" name="Google Shape;2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050" y="1319788"/>
            <a:ext cx="4651443" cy="217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6695525" y="846775"/>
            <a:ext cx="6138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BoJ surprise rate hike in July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6695525" y="3610100"/>
            <a:ext cx="6138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Non-farm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4050" y="4182325"/>
            <a:ext cx="4885312" cy="21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/>
          <p:cNvPicPr preferRelativeResize="0"/>
          <p:nvPr/>
        </p:nvPicPr>
        <p:blipFill rotWithShape="1">
          <a:blip r:embed="rId5">
            <a:alphaModFix/>
          </a:blip>
          <a:srcRect t="6620" r="764"/>
          <a:stretch/>
        </p:blipFill>
        <p:spPr>
          <a:xfrm>
            <a:off x="432775" y="1925838"/>
            <a:ext cx="5971951" cy="40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238150" y="1205275"/>
            <a:ext cx="63612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Japanese funds’ heavy footprints in major global markets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0cf6768b9b_0_13"/>
          <p:cNvSpPr txBox="1">
            <a:spLocks noGrp="1"/>
          </p:cNvSpPr>
          <p:nvPr>
            <p:ph type="title"/>
          </p:nvPr>
        </p:nvSpPr>
        <p:spPr>
          <a:xfrm>
            <a:off x="175175" y="-1204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000" b="1"/>
              <a:t>A shock to markets narratives - Japan carry trade unwind</a:t>
            </a:r>
            <a:r>
              <a:rPr lang="en-GB"/>
              <a:t> </a:t>
            </a:r>
            <a:endParaRPr/>
          </a:p>
        </p:txBody>
      </p:sp>
      <p:pic>
        <p:nvPicPr>
          <p:cNvPr id="211" name="Google Shape;211;g30cf6768b9b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575" y="1250347"/>
            <a:ext cx="4280773" cy="2045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0cf6768b9b_0_13"/>
          <p:cNvSpPr txBox="1"/>
          <p:nvPr/>
        </p:nvSpPr>
        <p:spPr>
          <a:xfrm>
            <a:off x="708575" y="829850"/>
            <a:ext cx="63612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S&amp;P500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0cf6768b9b_0_13"/>
          <p:cNvSpPr txBox="1"/>
          <p:nvPr/>
        </p:nvSpPr>
        <p:spPr>
          <a:xfrm>
            <a:off x="708575" y="3340550"/>
            <a:ext cx="63612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10yr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0cf6768b9b_0_13"/>
          <p:cNvSpPr txBox="1"/>
          <p:nvPr/>
        </p:nvSpPr>
        <p:spPr>
          <a:xfrm>
            <a:off x="708575" y="5053025"/>
            <a:ext cx="63612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2yr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g30cf6768b9b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175" y="2540950"/>
            <a:ext cx="5768776" cy="310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0cf6768b9b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575" y="3727325"/>
            <a:ext cx="35262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0cf6768b9b_0_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575" y="5484875"/>
            <a:ext cx="3849098" cy="12045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0cf6768b9b_0_13"/>
          <p:cNvSpPr txBox="1"/>
          <p:nvPr/>
        </p:nvSpPr>
        <p:spPr>
          <a:xfrm>
            <a:off x="6096175" y="2085200"/>
            <a:ext cx="63612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USDJPY hence sold off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3C8D-4F7C-D986-8861-C5117475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E05B-849C-0B48-D2B1-2668F435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Biggest Macro Narratives?</a:t>
            </a:r>
          </a:p>
        </p:txBody>
      </p:sp>
    </p:spTree>
    <p:extLst>
      <p:ext uri="{BB962C8B-B14F-4D97-AF65-F5344CB8AC3E}">
        <p14:creationId xmlns:p14="http://schemas.microsoft.com/office/powerpoint/2010/main" val="3404362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D17D-9EC0-6C4F-F53D-A61C052F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Biggest Macro Narratives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8A9C38-22AE-EE11-DAE0-64C0D482E23F}"/>
              </a:ext>
            </a:extLst>
          </p:cNvPr>
          <p:cNvSpPr/>
          <p:nvPr/>
        </p:nvSpPr>
        <p:spPr>
          <a:xfrm>
            <a:off x="1817915" y="1690688"/>
            <a:ext cx="6183086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Fiscal Dominance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122CB1-8D67-D473-38D5-E8466994728F}"/>
              </a:ext>
            </a:extLst>
          </p:cNvPr>
          <p:cNvSpPr/>
          <p:nvPr/>
        </p:nvSpPr>
        <p:spPr>
          <a:xfrm>
            <a:off x="1088571" y="1690688"/>
            <a:ext cx="555172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FE54BD-7874-F611-CE53-5048F68601DE}"/>
              </a:ext>
            </a:extLst>
          </p:cNvPr>
          <p:cNvSpPr/>
          <p:nvPr/>
        </p:nvSpPr>
        <p:spPr>
          <a:xfrm>
            <a:off x="1817915" y="2496231"/>
            <a:ext cx="6183086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Fiat Debasement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3001C9-7514-BD7A-5998-8E336A302B43}"/>
              </a:ext>
            </a:extLst>
          </p:cNvPr>
          <p:cNvSpPr/>
          <p:nvPr/>
        </p:nvSpPr>
        <p:spPr>
          <a:xfrm>
            <a:off x="1088571" y="2496231"/>
            <a:ext cx="555172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1291DE-999A-D04D-2FF3-CEC03280100D}"/>
              </a:ext>
            </a:extLst>
          </p:cNvPr>
          <p:cNvSpPr/>
          <p:nvPr/>
        </p:nvSpPr>
        <p:spPr>
          <a:xfrm>
            <a:off x="1817915" y="3301775"/>
            <a:ext cx="6183086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(End of) US Exceptionalism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079051-9E5F-CDC3-DBF8-5696E055AF88}"/>
              </a:ext>
            </a:extLst>
          </p:cNvPr>
          <p:cNvSpPr/>
          <p:nvPr/>
        </p:nvSpPr>
        <p:spPr>
          <a:xfrm>
            <a:off x="1088571" y="3301775"/>
            <a:ext cx="555172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783F83-5B59-F8FE-E178-6EDC7546A56B}"/>
              </a:ext>
            </a:extLst>
          </p:cNvPr>
          <p:cNvSpPr/>
          <p:nvPr/>
        </p:nvSpPr>
        <p:spPr>
          <a:xfrm>
            <a:off x="1817915" y="4107319"/>
            <a:ext cx="6183086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AI Bubble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7FE66A-2139-3143-89CF-E5C2B43BFD1C}"/>
              </a:ext>
            </a:extLst>
          </p:cNvPr>
          <p:cNvSpPr/>
          <p:nvPr/>
        </p:nvSpPr>
        <p:spPr>
          <a:xfrm>
            <a:off x="1088571" y="4107319"/>
            <a:ext cx="555172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9436B7-5B84-1E26-75C6-34A154AEFFEE}"/>
              </a:ext>
            </a:extLst>
          </p:cNvPr>
          <p:cNvSpPr/>
          <p:nvPr/>
        </p:nvSpPr>
        <p:spPr>
          <a:xfrm>
            <a:off x="1817915" y="4912863"/>
            <a:ext cx="6183086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K-Shaped Economy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97856A-10E1-5E91-192E-01BA80185D62}"/>
              </a:ext>
            </a:extLst>
          </p:cNvPr>
          <p:cNvSpPr/>
          <p:nvPr/>
        </p:nvSpPr>
        <p:spPr>
          <a:xfrm>
            <a:off x="1088571" y="4912863"/>
            <a:ext cx="555172" cy="5660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45653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1405</Words>
  <Application>Microsoft Office PowerPoint</Application>
  <PresentationFormat>Widescreen</PresentationFormat>
  <Paragraphs>234</Paragraphs>
  <Slides>31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ＭＳ Ｐゴシック</vt:lpstr>
      <vt:lpstr>Arial</vt:lpstr>
      <vt:lpstr>Calibri</vt:lpstr>
      <vt:lpstr>Wingdings</vt:lpstr>
      <vt:lpstr>Office Theme</vt:lpstr>
      <vt:lpstr>Equation</vt:lpstr>
      <vt:lpstr>Macro Fundamentals</vt:lpstr>
      <vt:lpstr>What is Macro</vt:lpstr>
      <vt:lpstr>Why is macro important?</vt:lpstr>
      <vt:lpstr>PowerPoint Presentation</vt:lpstr>
      <vt:lpstr>Types of macro regimes</vt:lpstr>
      <vt:lpstr>How to tell?</vt:lpstr>
      <vt:lpstr>Financial Markets</vt:lpstr>
      <vt:lpstr>Structure of Financial Markets</vt:lpstr>
      <vt:lpstr>PowerPoint Presentation</vt:lpstr>
      <vt:lpstr>Sell-side – A typical Investment Bank</vt:lpstr>
      <vt:lpstr>Buy Side – Asset Manager</vt:lpstr>
      <vt:lpstr>Buy Side – Hedge Funds</vt:lpstr>
      <vt:lpstr>Different Investment Philosophies</vt:lpstr>
      <vt:lpstr>Central Banks</vt:lpstr>
      <vt:lpstr>Circular Flow of Income</vt:lpstr>
      <vt:lpstr>Economic data</vt:lpstr>
      <vt:lpstr>Types of data</vt:lpstr>
      <vt:lpstr>Bloomberg calendar</vt:lpstr>
      <vt:lpstr>Gross Domestic Product (GDP)</vt:lpstr>
      <vt:lpstr>Key macro-economic indicators</vt:lpstr>
      <vt:lpstr>Inflation</vt:lpstr>
      <vt:lpstr>Key macro-economic indicators</vt:lpstr>
      <vt:lpstr>PowerPoint Presentation</vt:lpstr>
      <vt:lpstr>PowerPoint Presentation</vt:lpstr>
      <vt:lpstr>PMI (Purchasing Managers Index)</vt:lpstr>
      <vt:lpstr>Carry Trade</vt:lpstr>
      <vt:lpstr>Data prints taken together could shape markets narratives </vt:lpstr>
      <vt:lpstr>A shock to markets narratives - Japan carry trade unwind </vt:lpstr>
      <vt:lpstr>A shock to markets narratives - Japan carry trade unwind </vt:lpstr>
      <vt:lpstr>Biggest Macro Narratives?</vt:lpstr>
      <vt:lpstr>Biggest Macro Narratives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bloomberg</dc:creator>
  <cp:lastModifiedBy>L C</cp:lastModifiedBy>
  <cp:revision>62</cp:revision>
  <dcterms:created xsi:type="dcterms:W3CDTF">2023-10-01T14:19:17Z</dcterms:created>
  <dcterms:modified xsi:type="dcterms:W3CDTF">2025-12-06T16:08:54Z</dcterms:modified>
</cp:coreProperties>
</file>